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9711223a9c442c" /><Relationship Type="http://schemas.openxmlformats.org/officeDocument/2006/relationships/extended-properties" Target="/docProps/app.xml" Id="R2de089ea75ab4614" /><Relationship Type="http://schemas.openxmlformats.org/officeDocument/2006/relationships/officeDocument" Target="/ppt/presentation.xml" Id="R001dab9c7edd400a" /></Relationships>
</file>

<file path=ppt/presentation.xml><?xml version="1.0" encoding="utf-8"?>
<p:presentation xmlns:p="http://schemas.openxmlformats.org/presentationml/2006/main">
  <p:sldMasterIdLst>
    <p:sldMasterId xmlns:r="http://schemas.openxmlformats.org/officeDocument/2006/relationships" id="2147483648" r:id="R825aa4c81e9c4c12"/>
  </p:sldMasterIdLst>
  <p:notesMasterIdLst>
    <p:notesMasterId xmlns:r="http://schemas.openxmlformats.org/officeDocument/2006/relationships" r:id="R74ed161dd45841dd"/>
  </p:notesMasterIdLst>
  <p:sldIdLst>
    <p:sldId xmlns:r="http://schemas.openxmlformats.org/officeDocument/2006/relationships" id="256" r:id="Rd2298c4ea5f048fe"/>
    <p:sldId xmlns:r="http://schemas.openxmlformats.org/officeDocument/2006/relationships" id="257" r:id="R4b02edd72932465b"/>
    <p:sldId xmlns:r="http://schemas.openxmlformats.org/officeDocument/2006/relationships" id="258" r:id="Rde7d986e063b4844"/>
    <p:sldId xmlns:r="http://schemas.openxmlformats.org/officeDocument/2006/relationships" id="259" r:id="Rdf5cf33623604b77"/>
    <p:sldId xmlns:r="http://schemas.openxmlformats.org/officeDocument/2006/relationships" id="260" r:id="Rcadfe27e366d4788"/>
    <p:sldId xmlns:r="http://schemas.openxmlformats.org/officeDocument/2006/relationships" id="261" r:id="R03ced7facdb84f10"/>
    <p:sldId xmlns:r="http://schemas.openxmlformats.org/officeDocument/2006/relationships" id="262" r:id="R8706d5abcb8d4c9a"/>
    <p:sldId xmlns:r="http://schemas.openxmlformats.org/officeDocument/2006/relationships" id="263" r:id="R23503da00b3f4813"/>
    <p:sldId xmlns:r="http://schemas.openxmlformats.org/officeDocument/2006/relationships" id="264" r:id="Rda6c6fbb69f340a3"/>
    <p:sldId xmlns:r="http://schemas.openxmlformats.org/officeDocument/2006/relationships" id="265" r:id="Rc0ae3507a33e4920"/>
    <p:sldId xmlns:r="http://schemas.openxmlformats.org/officeDocument/2006/relationships" id="266" r:id="R7f907e46a1e14899"/>
    <p:sldId xmlns:r="http://schemas.openxmlformats.org/officeDocument/2006/relationships" id="267" r:id="R4ad9c4d820aa47a9"/>
    <p:sldId xmlns:r="http://schemas.openxmlformats.org/officeDocument/2006/relationships" id="268" r:id="R2e2e95cd59334d1c"/>
    <p:sldId xmlns:r="http://schemas.openxmlformats.org/officeDocument/2006/relationships" id="269" r:id="R46ecb9c092674793"/>
    <p:sldId xmlns:r="http://schemas.openxmlformats.org/officeDocument/2006/relationships" id="270" r:id="R1dbef5bf09cf4d9c"/>
    <p:sldId xmlns:r="http://schemas.openxmlformats.org/officeDocument/2006/relationships" id="271" r:id="Rfda1dba823294da6"/>
    <p:sldId xmlns:r="http://schemas.openxmlformats.org/officeDocument/2006/relationships" id="272" r:id="R2c372637d4894f3f"/>
    <p:sldId xmlns:r="http://schemas.openxmlformats.org/officeDocument/2006/relationships" id="273" r:id="R3b53d0d3477d4ed8"/>
    <p:sldId xmlns:r="http://schemas.openxmlformats.org/officeDocument/2006/relationships" id="274" r:id="R7cbf46798047492c"/>
    <p:sldId xmlns:r="http://schemas.openxmlformats.org/officeDocument/2006/relationships" id="275" r:id="Rc254c390cd5e4bfd"/>
    <p:sldId xmlns:r="http://schemas.openxmlformats.org/officeDocument/2006/relationships" id="276" r:id="Reeed8720bb0441c7"/>
    <p:sldId xmlns:r="http://schemas.openxmlformats.org/officeDocument/2006/relationships" id="277" r:id="R989e4484f05a4070"/>
    <p:sldId xmlns:r="http://schemas.openxmlformats.org/officeDocument/2006/relationships" id="278" r:id="R17b17a4db1d545de"/>
    <p:sldId xmlns:r="http://schemas.openxmlformats.org/officeDocument/2006/relationships" id="279" r:id="R54a1a30e174e4d8e"/>
    <p:sldId xmlns:r="http://schemas.openxmlformats.org/officeDocument/2006/relationships" id="280" r:id="R28d4ffae5d8b45b5"/>
    <p:sldId xmlns:r="http://schemas.openxmlformats.org/officeDocument/2006/relationships" id="281" r:id="Rddfd66a7c06245fc"/>
    <p:sldId xmlns:r="http://schemas.openxmlformats.org/officeDocument/2006/relationships" id="282" r:id="Rd4eff366e9c94358"/>
    <p:sldId xmlns:r="http://schemas.openxmlformats.org/officeDocument/2006/relationships" id="283" r:id="R99d4c7a63fde4afe"/>
    <p:sldId xmlns:r="http://schemas.openxmlformats.org/officeDocument/2006/relationships" id="284" r:id="Rc4b4d76cccdb4078"/>
    <p:sldId xmlns:r="http://schemas.openxmlformats.org/officeDocument/2006/relationships" id="285" r:id="R7a7bd79818224471"/>
    <p:sldId xmlns:r="http://schemas.openxmlformats.org/officeDocument/2006/relationships" id="286" r:id="Rde92cf0914cc4acb"/>
    <p:sldId xmlns:r="http://schemas.openxmlformats.org/officeDocument/2006/relationships" id="287" r:id="R2d57b20eb27f4497"/>
    <p:sldId xmlns:r="http://schemas.openxmlformats.org/officeDocument/2006/relationships" id="288" r:id="Rf13e8b38cd774909"/>
    <p:sldId xmlns:r="http://schemas.openxmlformats.org/officeDocument/2006/relationships" id="289" r:id="R4468b4886c21480c"/>
    <p:sldId xmlns:r="http://schemas.openxmlformats.org/officeDocument/2006/relationships" id="290" r:id="Rb3719ce956384ccf"/>
    <p:sldId xmlns:r="http://schemas.openxmlformats.org/officeDocument/2006/relationships" id="291" r:id="Ra64ab008c472426a"/>
    <p:sldId xmlns:r="http://schemas.openxmlformats.org/officeDocument/2006/relationships" id="292" r:id="R02e721511d5e4c8f"/>
    <p:sldId xmlns:r="http://schemas.openxmlformats.org/officeDocument/2006/relationships" id="293" r:id="Rd25b5ad75dce4e4c"/>
    <p:sldId xmlns:r="http://schemas.openxmlformats.org/officeDocument/2006/relationships" id="294" r:id="R842a4b2f883a47af"/>
    <p:sldId xmlns:r="http://schemas.openxmlformats.org/officeDocument/2006/relationships" id="295" r:id="Rce3d5808e1614045"/>
    <p:sldId xmlns:r="http://schemas.openxmlformats.org/officeDocument/2006/relationships" id="296" r:id="R094470a6eb4345de"/>
    <p:sldId xmlns:r="http://schemas.openxmlformats.org/officeDocument/2006/relationships" id="297" r:id="R297cfd734e1b438c"/>
    <p:sldId xmlns:r="http://schemas.openxmlformats.org/officeDocument/2006/relationships" id="298" r:id="R0365ea6012714c12"/>
    <p:sldId xmlns:r="http://schemas.openxmlformats.org/officeDocument/2006/relationships" id="299" r:id="R1e2881cb3a8442e2"/>
    <p:sldId xmlns:r="http://schemas.openxmlformats.org/officeDocument/2006/relationships" id="300" r:id="R0f90296333744c24"/>
    <p:sldId xmlns:r="http://schemas.openxmlformats.org/officeDocument/2006/relationships" id="301" r:id="R27fec28c9e8d4c4f"/>
    <p:sldId xmlns:r="http://schemas.openxmlformats.org/officeDocument/2006/relationships" id="302" r:id="Rd17d94139e174554"/>
    <p:sldId xmlns:r="http://schemas.openxmlformats.org/officeDocument/2006/relationships" id="303" r:id="R989523aa32a347a1"/>
    <p:sldId xmlns:r="http://schemas.openxmlformats.org/officeDocument/2006/relationships" id="304" r:id="R27af4c41a96f4f3f"/>
    <p:sldId xmlns:r="http://schemas.openxmlformats.org/officeDocument/2006/relationships" id="305" r:id="R57c6880441394751"/>
    <p:sldId xmlns:r="http://schemas.openxmlformats.org/officeDocument/2006/relationships" id="306" r:id="Reefcf0b517694135"/>
    <p:sldId xmlns:r="http://schemas.openxmlformats.org/officeDocument/2006/relationships" id="307" r:id="R3fb5a3435a384e38"/>
    <p:sldId xmlns:r="http://schemas.openxmlformats.org/officeDocument/2006/relationships" id="308" r:id="R3750230ca9df4e4e"/>
    <p:sldId xmlns:r="http://schemas.openxmlformats.org/officeDocument/2006/relationships" id="309" r:id="R39991b82bfc442a1"/>
    <p:sldId xmlns:r="http://schemas.openxmlformats.org/officeDocument/2006/relationships" id="310" r:id="Re7f03be58a0d4f8a"/>
    <p:sldId xmlns:r="http://schemas.openxmlformats.org/officeDocument/2006/relationships" id="311" r:id="Ra7abbe3343d34d12"/>
    <p:sldId xmlns:r="http://schemas.openxmlformats.org/officeDocument/2006/relationships" id="312" r:id="Rf0f250258da046ef"/>
    <p:sldId xmlns:r="http://schemas.openxmlformats.org/officeDocument/2006/relationships" id="313" r:id="Rd7e1a7e726f44bff"/>
    <p:sldId xmlns:r="http://schemas.openxmlformats.org/officeDocument/2006/relationships" id="314" r:id="Rcf6197a9a02748e4"/>
    <p:sldId xmlns:r="http://schemas.openxmlformats.org/officeDocument/2006/relationships" id="315" r:id="R2053b666a9bb415d"/>
    <p:sldId xmlns:r="http://schemas.openxmlformats.org/officeDocument/2006/relationships" id="316" r:id="R94f8d968ee1a4708"/>
    <p:sldId xmlns:r="http://schemas.openxmlformats.org/officeDocument/2006/relationships" id="317" r:id="Rad537902f92f4b44"/>
    <p:sldId xmlns:r="http://schemas.openxmlformats.org/officeDocument/2006/relationships" id="318" r:id="Ra9047789983e455a"/>
    <p:sldId xmlns:r="http://schemas.openxmlformats.org/officeDocument/2006/relationships" id="319" r:id="Rf8c0afd5a6d64da9"/>
    <p:sldId xmlns:r="http://schemas.openxmlformats.org/officeDocument/2006/relationships" id="320" r:id="R720bb3bf8c164477"/>
    <p:sldId xmlns:r="http://schemas.openxmlformats.org/officeDocument/2006/relationships" id="321" r:id="R9100b612cfcd416d"/>
    <p:sldId xmlns:r="http://schemas.openxmlformats.org/officeDocument/2006/relationships" id="322" r:id="Rbe3f2e0a52cd4127"/>
    <p:sldId xmlns:r="http://schemas.openxmlformats.org/officeDocument/2006/relationships" id="323" r:id="R1652202a7b13408c"/>
    <p:sldId xmlns:r="http://schemas.openxmlformats.org/officeDocument/2006/relationships" id="324" r:id="R14dc6d4b94144478"/>
    <p:sldId xmlns:r="http://schemas.openxmlformats.org/officeDocument/2006/relationships" id="325" r:id="R0ad34d3d4f7145b9"/>
    <p:sldId xmlns:r="http://schemas.openxmlformats.org/officeDocument/2006/relationships" id="326" r:id="R8d12a8043edf4601"/>
    <p:sldId xmlns:r="http://schemas.openxmlformats.org/officeDocument/2006/relationships" id="327" r:id="Rc279a91f2e634c01"/>
    <p:sldId xmlns:r="http://schemas.openxmlformats.org/officeDocument/2006/relationships" id="328" r:id="Rd698cacad0924f4c"/>
    <p:sldId xmlns:r="http://schemas.openxmlformats.org/officeDocument/2006/relationships" id="329" r:id="R672d6531e99b4cfc"/>
    <p:sldId xmlns:r="http://schemas.openxmlformats.org/officeDocument/2006/relationships" id="330" r:id="R9044deefb47b4a02"/>
    <p:sldId xmlns:r="http://schemas.openxmlformats.org/officeDocument/2006/relationships" id="331" r:id="R89afa4eeddc640cd"/>
    <p:sldId xmlns:r="http://schemas.openxmlformats.org/officeDocument/2006/relationships" id="332" r:id="R70bd9f4415a442ff"/>
    <p:sldId xmlns:r="http://schemas.openxmlformats.org/officeDocument/2006/relationships" id="333" r:id="Rc0c46ec9d11349bf"/>
    <p:sldId xmlns:r="http://schemas.openxmlformats.org/officeDocument/2006/relationships" id="334" r:id="Rb56ed0e2d0b3486a"/>
    <p:sldId xmlns:r="http://schemas.openxmlformats.org/officeDocument/2006/relationships" id="335" r:id="R1d974e7012674328"/>
    <p:sldId xmlns:r="http://schemas.openxmlformats.org/officeDocument/2006/relationships" id="336" r:id="R4b9145f30d61439b"/>
    <p:sldId xmlns:r="http://schemas.openxmlformats.org/officeDocument/2006/relationships" id="337" r:id="R1424b44b278a46f6"/>
    <p:sldId xmlns:r="http://schemas.openxmlformats.org/officeDocument/2006/relationships" id="338" r:id="Rdcc90ce4760748ef"/>
    <p:sldId xmlns:r="http://schemas.openxmlformats.org/officeDocument/2006/relationships" id="339" r:id="R9cedb93ccf1e42b5"/>
    <p:sldId xmlns:r="http://schemas.openxmlformats.org/officeDocument/2006/relationships" id="340" r:id="R14d2c8eafe8c43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1f62bb41fa4af4" /><Relationship Type="http://schemas.openxmlformats.org/officeDocument/2006/relationships/slideMaster" Target="/ppt/slideMasters/slideMaster1.xml" Id="R825aa4c81e9c4c12" /><Relationship Type="http://schemas.openxmlformats.org/officeDocument/2006/relationships/notesMaster" Target="/ppt/notesMasters/notesMaster1.xml" Id="R74ed161dd45841dd" /><Relationship Type="http://schemas.openxmlformats.org/officeDocument/2006/relationships/presProps" Target="/ppt/presProps.xml" Id="R350e37c6e11a4f9b" /><Relationship Type="http://schemas.openxmlformats.org/officeDocument/2006/relationships/tableStyles" Target="/ppt/tableStyles.xml" Id="R3a6091476dc54eed" /><Relationship Type="http://schemas.openxmlformats.org/officeDocument/2006/relationships/slide" Target="/ppt/slides/slide1.xml" Id="Rd2298c4ea5f048fe" /><Relationship Type="http://schemas.openxmlformats.org/officeDocument/2006/relationships/slide" Target="/ppt/slides/slide2.xml" Id="R4b02edd72932465b" /><Relationship Type="http://schemas.openxmlformats.org/officeDocument/2006/relationships/slide" Target="/ppt/slides/slide3.xml" Id="Rde7d986e063b4844" /><Relationship Type="http://schemas.openxmlformats.org/officeDocument/2006/relationships/slide" Target="/ppt/slides/slide4.xml" Id="Rdf5cf33623604b77" /><Relationship Type="http://schemas.openxmlformats.org/officeDocument/2006/relationships/slide" Target="/ppt/slides/slide5.xml" Id="Rcadfe27e366d4788" /><Relationship Type="http://schemas.openxmlformats.org/officeDocument/2006/relationships/slide" Target="/ppt/slides/slide6.xml" Id="R03ced7facdb84f10" /><Relationship Type="http://schemas.openxmlformats.org/officeDocument/2006/relationships/slide" Target="/ppt/slides/slide7.xml" Id="R8706d5abcb8d4c9a" /><Relationship Type="http://schemas.openxmlformats.org/officeDocument/2006/relationships/slide" Target="/ppt/slides/slide8.xml" Id="R23503da00b3f4813" /><Relationship Type="http://schemas.openxmlformats.org/officeDocument/2006/relationships/slide" Target="/ppt/slides/slide9.xml" Id="Rda6c6fbb69f340a3" /><Relationship Type="http://schemas.openxmlformats.org/officeDocument/2006/relationships/slide" Target="/ppt/slides/slide10.xml" Id="Rc0ae3507a33e4920" /><Relationship Type="http://schemas.openxmlformats.org/officeDocument/2006/relationships/slide" Target="/ppt/slides/slide11.xml" Id="R7f907e46a1e14899" /><Relationship Type="http://schemas.openxmlformats.org/officeDocument/2006/relationships/slide" Target="/ppt/slides/slide12.xml" Id="R4ad9c4d820aa47a9" /><Relationship Type="http://schemas.openxmlformats.org/officeDocument/2006/relationships/slide" Target="/ppt/slides/slide13.xml" Id="R2e2e95cd59334d1c" /><Relationship Type="http://schemas.openxmlformats.org/officeDocument/2006/relationships/slide" Target="/ppt/slides/slide14.xml" Id="R46ecb9c092674793" /><Relationship Type="http://schemas.openxmlformats.org/officeDocument/2006/relationships/slide" Target="/ppt/slides/slide15.xml" Id="R1dbef5bf09cf4d9c" /><Relationship Type="http://schemas.openxmlformats.org/officeDocument/2006/relationships/slide" Target="/ppt/slides/slide16.xml" Id="Rfda1dba823294da6" /><Relationship Type="http://schemas.openxmlformats.org/officeDocument/2006/relationships/slide" Target="/ppt/slides/slide17.xml" Id="R2c372637d4894f3f" /><Relationship Type="http://schemas.openxmlformats.org/officeDocument/2006/relationships/slide" Target="/ppt/slides/slide18.xml" Id="R3b53d0d3477d4ed8" /><Relationship Type="http://schemas.openxmlformats.org/officeDocument/2006/relationships/slide" Target="/ppt/slides/slide19.xml" Id="R7cbf46798047492c" /><Relationship Type="http://schemas.openxmlformats.org/officeDocument/2006/relationships/slide" Target="/ppt/slides/slide20.xml" Id="Rc254c390cd5e4bfd" /><Relationship Type="http://schemas.openxmlformats.org/officeDocument/2006/relationships/slide" Target="/ppt/slides/slide21.xml" Id="Reeed8720bb0441c7" /><Relationship Type="http://schemas.openxmlformats.org/officeDocument/2006/relationships/slide" Target="/ppt/slides/slide22.xml" Id="R989e4484f05a4070" /><Relationship Type="http://schemas.openxmlformats.org/officeDocument/2006/relationships/slide" Target="/ppt/slides/slide23.xml" Id="R17b17a4db1d545de" /><Relationship Type="http://schemas.openxmlformats.org/officeDocument/2006/relationships/slide" Target="/ppt/slides/slide24.xml" Id="R54a1a30e174e4d8e" /><Relationship Type="http://schemas.openxmlformats.org/officeDocument/2006/relationships/slide" Target="/ppt/slides/slide25.xml" Id="R28d4ffae5d8b45b5" /><Relationship Type="http://schemas.openxmlformats.org/officeDocument/2006/relationships/slide" Target="/ppt/slides/slide26.xml" Id="Rddfd66a7c06245fc" /><Relationship Type="http://schemas.openxmlformats.org/officeDocument/2006/relationships/slide" Target="/ppt/slides/slide27.xml" Id="Rd4eff366e9c94358" /><Relationship Type="http://schemas.openxmlformats.org/officeDocument/2006/relationships/slide" Target="/ppt/slides/slide28.xml" Id="R99d4c7a63fde4afe" /><Relationship Type="http://schemas.openxmlformats.org/officeDocument/2006/relationships/slide" Target="/ppt/slides/slide29.xml" Id="Rc4b4d76cccdb4078" /><Relationship Type="http://schemas.openxmlformats.org/officeDocument/2006/relationships/slide" Target="/ppt/slides/slide30.xml" Id="R7a7bd79818224471" /><Relationship Type="http://schemas.openxmlformats.org/officeDocument/2006/relationships/slide" Target="/ppt/slides/slide31.xml" Id="Rde92cf0914cc4acb" /><Relationship Type="http://schemas.openxmlformats.org/officeDocument/2006/relationships/slide" Target="/ppt/slides/slide32.xml" Id="R2d57b20eb27f4497" /><Relationship Type="http://schemas.openxmlformats.org/officeDocument/2006/relationships/slide" Target="/ppt/slides/slide33.xml" Id="Rf13e8b38cd774909" /><Relationship Type="http://schemas.openxmlformats.org/officeDocument/2006/relationships/slide" Target="/ppt/slides/slide34.xml" Id="R4468b4886c21480c" /><Relationship Type="http://schemas.openxmlformats.org/officeDocument/2006/relationships/slide" Target="/ppt/slides/slide35.xml" Id="Rb3719ce956384ccf" /><Relationship Type="http://schemas.openxmlformats.org/officeDocument/2006/relationships/slide" Target="/ppt/slides/slide36.xml" Id="Ra64ab008c472426a" /><Relationship Type="http://schemas.openxmlformats.org/officeDocument/2006/relationships/slide" Target="/ppt/slides/slide37.xml" Id="R02e721511d5e4c8f" /><Relationship Type="http://schemas.openxmlformats.org/officeDocument/2006/relationships/slide" Target="/ppt/slides/slide38.xml" Id="Rd25b5ad75dce4e4c" /><Relationship Type="http://schemas.openxmlformats.org/officeDocument/2006/relationships/slide" Target="/ppt/slides/slide39.xml" Id="R842a4b2f883a47af" /><Relationship Type="http://schemas.openxmlformats.org/officeDocument/2006/relationships/slide" Target="/ppt/slides/slide40.xml" Id="Rce3d5808e1614045" /><Relationship Type="http://schemas.openxmlformats.org/officeDocument/2006/relationships/slide" Target="/ppt/slides/slide41.xml" Id="R094470a6eb4345de" /><Relationship Type="http://schemas.openxmlformats.org/officeDocument/2006/relationships/slide" Target="/ppt/slides/slide42.xml" Id="R297cfd734e1b438c" /><Relationship Type="http://schemas.openxmlformats.org/officeDocument/2006/relationships/slide" Target="/ppt/slides/slide43.xml" Id="R0365ea6012714c12" /><Relationship Type="http://schemas.openxmlformats.org/officeDocument/2006/relationships/slide" Target="/ppt/slides/slide44.xml" Id="R1e2881cb3a8442e2" /><Relationship Type="http://schemas.openxmlformats.org/officeDocument/2006/relationships/slide" Target="/ppt/slides/slide45.xml" Id="R0f90296333744c24" /><Relationship Type="http://schemas.openxmlformats.org/officeDocument/2006/relationships/slide" Target="/ppt/slides/slide46.xml" Id="R27fec28c9e8d4c4f" /><Relationship Type="http://schemas.openxmlformats.org/officeDocument/2006/relationships/slide" Target="/ppt/slides/slide47.xml" Id="Rd17d94139e174554" /><Relationship Type="http://schemas.openxmlformats.org/officeDocument/2006/relationships/slide" Target="/ppt/slides/slide48.xml" Id="R989523aa32a347a1" /><Relationship Type="http://schemas.openxmlformats.org/officeDocument/2006/relationships/slide" Target="/ppt/slides/slide49.xml" Id="R27af4c41a96f4f3f" /><Relationship Type="http://schemas.openxmlformats.org/officeDocument/2006/relationships/slide" Target="/ppt/slides/slide50.xml" Id="R57c6880441394751" /><Relationship Type="http://schemas.openxmlformats.org/officeDocument/2006/relationships/slide" Target="/ppt/slides/slide51.xml" Id="Reefcf0b517694135" /><Relationship Type="http://schemas.openxmlformats.org/officeDocument/2006/relationships/slide" Target="/ppt/slides/slide52.xml" Id="R3fb5a3435a384e38" /><Relationship Type="http://schemas.openxmlformats.org/officeDocument/2006/relationships/slide" Target="/ppt/slides/slide53.xml" Id="R3750230ca9df4e4e" /><Relationship Type="http://schemas.openxmlformats.org/officeDocument/2006/relationships/slide" Target="/ppt/slides/slide54.xml" Id="R39991b82bfc442a1" /><Relationship Type="http://schemas.openxmlformats.org/officeDocument/2006/relationships/slide" Target="/ppt/slides/slide55.xml" Id="Re7f03be58a0d4f8a" /><Relationship Type="http://schemas.openxmlformats.org/officeDocument/2006/relationships/slide" Target="/ppt/slides/slide56.xml" Id="Ra7abbe3343d34d12" /><Relationship Type="http://schemas.openxmlformats.org/officeDocument/2006/relationships/slide" Target="/ppt/slides/slide57.xml" Id="Rf0f250258da046ef" /><Relationship Type="http://schemas.openxmlformats.org/officeDocument/2006/relationships/slide" Target="/ppt/slides/slide58.xml" Id="Rd7e1a7e726f44bff" /><Relationship Type="http://schemas.openxmlformats.org/officeDocument/2006/relationships/slide" Target="/ppt/slides/slide59.xml" Id="Rcf6197a9a02748e4" /><Relationship Type="http://schemas.openxmlformats.org/officeDocument/2006/relationships/slide" Target="/ppt/slides/slide60.xml" Id="R2053b666a9bb415d" /><Relationship Type="http://schemas.openxmlformats.org/officeDocument/2006/relationships/slide" Target="/ppt/slides/slide61.xml" Id="R94f8d968ee1a4708" /><Relationship Type="http://schemas.openxmlformats.org/officeDocument/2006/relationships/slide" Target="/ppt/slides/slide62.xml" Id="Rad537902f92f4b44" /><Relationship Type="http://schemas.openxmlformats.org/officeDocument/2006/relationships/slide" Target="/ppt/slides/slide63.xml" Id="Ra9047789983e455a" /><Relationship Type="http://schemas.openxmlformats.org/officeDocument/2006/relationships/slide" Target="/ppt/slides/slide64.xml" Id="Rf8c0afd5a6d64da9" /><Relationship Type="http://schemas.openxmlformats.org/officeDocument/2006/relationships/slide" Target="/ppt/slides/slide65.xml" Id="R720bb3bf8c164477" /><Relationship Type="http://schemas.openxmlformats.org/officeDocument/2006/relationships/slide" Target="/ppt/slides/slide66.xml" Id="R9100b612cfcd416d" /><Relationship Type="http://schemas.openxmlformats.org/officeDocument/2006/relationships/slide" Target="/ppt/slides/slide67.xml" Id="Rbe3f2e0a52cd4127" /><Relationship Type="http://schemas.openxmlformats.org/officeDocument/2006/relationships/slide" Target="/ppt/slides/slide68.xml" Id="R1652202a7b13408c" /><Relationship Type="http://schemas.openxmlformats.org/officeDocument/2006/relationships/slide" Target="/ppt/slides/slide69.xml" Id="R14dc6d4b94144478" /><Relationship Type="http://schemas.openxmlformats.org/officeDocument/2006/relationships/slide" Target="/ppt/slides/slide70.xml" Id="R0ad34d3d4f7145b9" /><Relationship Type="http://schemas.openxmlformats.org/officeDocument/2006/relationships/slide" Target="/ppt/slides/slide71.xml" Id="R8d12a8043edf4601" /><Relationship Type="http://schemas.openxmlformats.org/officeDocument/2006/relationships/slide" Target="/ppt/slides/slide72.xml" Id="Rc279a91f2e634c01" /><Relationship Type="http://schemas.openxmlformats.org/officeDocument/2006/relationships/slide" Target="/ppt/slides/slide73.xml" Id="Rd698cacad0924f4c" /><Relationship Type="http://schemas.openxmlformats.org/officeDocument/2006/relationships/slide" Target="/ppt/slides/slide74.xml" Id="R672d6531e99b4cfc" /><Relationship Type="http://schemas.openxmlformats.org/officeDocument/2006/relationships/slide" Target="/ppt/slides/slide75.xml" Id="R9044deefb47b4a02" /><Relationship Type="http://schemas.openxmlformats.org/officeDocument/2006/relationships/slide" Target="/ppt/slides/slide76.xml" Id="R89afa4eeddc640cd" /><Relationship Type="http://schemas.openxmlformats.org/officeDocument/2006/relationships/slide" Target="/ppt/slides/slide77.xml" Id="R70bd9f4415a442ff" /><Relationship Type="http://schemas.openxmlformats.org/officeDocument/2006/relationships/slide" Target="/ppt/slides/slide78.xml" Id="Rc0c46ec9d11349bf" /><Relationship Type="http://schemas.openxmlformats.org/officeDocument/2006/relationships/slide" Target="/ppt/slides/slide79.xml" Id="Rb56ed0e2d0b3486a" /><Relationship Type="http://schemas.openxmlformats.org/officeDocument/2006/relationships/slide" Target="/ppt/slides/slide80.xml" Id="R1d974e7012674328" /><Relationship Type="http://schemas.openxmlformats.org/officeDocument/2006/relationships/slide" Target="/ppt/slides/slide81.xml" Id="R4b9145f30d61439b" /><Relationship Type="http://schemas.openxmlformats.org/officeDocument/2006/relationships/slide" Target="/ppt/slides/slide82.xml" Id="R1424b44b278a46f6" /><Relationship Type="http://schemas.openxmlformats.org/officeDocument/2006/relationships/slide" Target="/ppt/slides/slide83.xml" Id="Rdcc90ce4760748ef" /><Relationship Type="http://schemas.openxmlformats.org/officeDocument/2006/relationships/slide" Target="/ppt/slides/slide84.xml" Id="R9cedb93ccf1e42b5" /><Relationship Type="http://schemas.openxmlformats.org/officeDocument/2006/relationships/slide" Target="/ppt/slides/slide85.xml" Id="R14d2c8eafe8c43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64c6fb66ab4b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d60244e6884ee1" /><Relationship Type="http://schemas.openxmlformats.org/officeDocument/2006/relationships/notesMaster" Target="/ppt/notesMasters/notesMaster1.xml" Id="R6bbcdd6dfb0c4a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70b943370843b1" /><Relationship Type="http://schemas.openxmlformats.org/officeDocument/2006/relationships/notesMaster" Target="/ppt/notesMasters/notesMaster1.xml" Id="R1d06c85d47a94a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d9eb84d02b43b9" /><Relationship Type="http://schemas.openxmlformats.org/officeDocument/2006/relationships/notesMaster" Target="/ppt/notesMasters/notesMaster1.xml" Id="R5c01a4fab47644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04bf095ec4448c" /><Relationship Type="http://schemas.openxmlformats.org/officeDocument/2006/relationships/notesMaster" Target="/ppt/notesMasters/notesMaster1.xml" Id="R98ca1d70b6844f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020c89f297445d" /><Relationship Type="http://schemas.openxmlformats.org/officeDocument/2006/relationships/notesMaster" Target="/ppt/notesMasters/notesMaster1.xml" Id="Rbecb16276e544e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1a7bcf5dc841dc" /><Relationship Type="http://schemas.openxmlformats.org/officeDocument/2006/relationships/notesMaster" Target="/ppt/notesMasters/notesMaster1.xml" Id="R861f35e75b124f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a1a180230c41fa" /><Relationship Type="http://schemas.openxmlformats.org/officeDocument/2006/relationships/notesMaster" Target="/ppt/notesMasters/notesMaster1.xml" Id="R2d20f4a05a1b43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910cd665bb4bd9" /><Relationship Type="http://schemas.openxmlformats.org/officeDocument/2006/relationships/notesMaster" Target="/ppt/notesMasters/notesMaster1.xml" Id="R02da6f92192843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38fb8bf2704a30" /><Relationship Type="http://schemas.openxmlformats.org/officeDocument/2006/relationships/notesMaster" Target="/ppt/notesMasters/notesMaster1.xml" Id="R7ac9602f58a849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1552b2680e44bf" /><Relationship Type="http://schemas.openxmlformats.org/officeDocument/2006/relationships/notesMaster" Target="/ppt/notesMasters/notesMaster1.xml" Id="Rbb9979ffd51e47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4d776cad82406c" /><Relationship Type="http://schemas.openxmlformats.org/officeDocument/2006/relationships/notesMaster" Target="/ppt/notesMasters/notesMaster1.xml" Id="R8c7f73b7e2644a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7e354eca124d7d" /><Relationship Type="http://schemas.openxmlformats.org/officeDocument/2006/relationships/notesMaster" Target="/ppt/notesMasters/notesMaster1.xml" Id="Rcab8d45ce71c43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1321fb952540d6" /><Relationship Type="http://schemas.openxmlformats.org/officeDocument/2006/relationships/notesMaster" Target="/ppt/notesMasters/notesMaster1.xml" Id="Rc4b9e17807f941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b71f75171b34389" /><Relationship Type="http://schemas.openxmlformats.org/officeDocument/2006/relationships/notesMaster" Target="/ppt/notesMasters/notesMaster1.xml" Id="Rc6e5e26be4f34a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bc849183e9b43b5" /><Relationship Type="http://schemas.openxmlformats.org/officeDocument/2006/relationships/notesMaster" Target="/ppt/notesMasters/notesMaster1.xml" Id="R5c5f058214e84d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8aff692c08494a" /><Relationship Type="http://schemas.openxmlformats.org/officeDocument/2006/relationships/notesMaster" Target="/ppt/notesMasters/notesMaster1.xml" Id="R27cdf01433f44a5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b271dfd5dc4956" /><Relationship Type="http://schemas.openxmlformats.org/officeDocument/2006/relationships/notesMaster" Target="/ppt/notesMasters/notesMaster1.xml" Id="R5871de698ea646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ea551cc05bf47e6" /><Relationship Type="http://schemas.openxmlformats.org/officeDocument/2006/relationships/notesMaster" Target="/ppt/notesMasters/notesMaster1.xml" Id="Rf54b09725fc644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d5bfc2e436b4b52" /><Relationship Type="http://schemas.openxmlformats.org/officeDocument/2006/relationships/notesMaster" Target="/ppt/notesMasters/notesMaster1.xml" Id="R60cf2f30f19144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1a5f0f50774fe0" /><Relationship Type="http://schemas.openxmlformats.org/officeDocument/2006/relationships/notesMaster" Target="/ppt/notesMasters/notesMaster1.xml" Id="Ra2399148468b42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a2e9a249bbc4840" /><Relationship Type="http://schemas.openxmlformats.org/officeDocument/2006/relationships/notesMaster" Target="/ppt/notesMasters/notesMaster1.xml" Id="R776e35a77829462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d6d823c94814b9e" /><Relationship Type="http://schemas.openxmlformats.org/officeDocument/2006/relationships/notesMaster" Target="/ppt/notesMasters/notesMaster1.xml" Id="Rd654cf3405df479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746020247064167" /><Relationship Type="http://schemas.openxmlformats.org/officeDocument/2006/relationships/notesMaster" Target="/ppt/notesMasters/notesMaster1.xml" Id="Rf13740b3fa444f1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5aee01ddc4641db" /><Relationship Type="http://schemas.openxmlformats.org/officeDocument/2006/relationships/notesMaster" Target="/ppt/notesMasters/notesMaster1.xml" Id="R0e3c0a057c5249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f86bcc6ef6f458c" /><Relationship Type="http://schemas.openxmlformats.org/officeDocument/2006/relationships/notesMaster" Target="/ppt/notesMasters/notesMaster1.xml" Id="Rcaec85d0e75a4b8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1d867aed4664fd3" /><Relationship Type="http://schemas.openxmlformats.org/officeDocument/2006/relationships/notesMaster" Target="/ppt/notesMasters/notesMaster1.xml" Id="Rec2fe92795ef434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d50dce0a6d74313" /><Relationship Type="http://schemas.openxmlformats.org/officeDocument/2006/relationships/notesMaster" Target="/ppt/notesMasters/notesMaster1.xml" Id="R6f9465e81557406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64173ce629543c2" /><Relationship Type="http://schemas.openxmlformats.org/officeDocument/2006/relationships/notesMaster" Target="/ppt/notesMasters/notesMaster1.xml" Id="R137106c6d8a848c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32885e049df4868" /><Relationship Type="http://schemas.openxmlformats.org/officeDocument/2006/relationships/notesMaster" Target="/ppt/notesMasters/notesMaster1.xml" Id="Rfab1a949e7064fb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791a774ac6b4b8a" /><Relationship Type="http://schemas.openxmlformats.org/officeDocument/2006/relationships/notesMaster" Target="/ppt/notesMasters/notesMaster1.xml" Id="Ra9bc5d86fde04ff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f1a1ebb27654f33" /><Relationship Type="http://schemas.openxmlformats.org/officeDocument/2006/relationships/notesMaster" Target="/ppt/notesMasters/notesMaster1.xml" Id="R787179326e1f48f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6ed0ed28d634b39" /><Relationship Type="http://schemas.openxmlformats.org/officeDocument/2006/relationships/notesMaster" Target="/ppt/notesMasters/notesMaster1.xml" Id="R50a247e22dcb4b7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965bce9fc80459b" /><Relationship Type="http://schemas.openxmlformats.org/officeDocument/2006/relationships/notesMaster" Target="/ppt/notesMasters/notesMaster1.xml" Id="R8ea9a2b712b142f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fd18a980c864469" /><Relationship Type="http://schemas.openxmlformats.org/officeDocument/2006/relationships/notesMaster" Target="/ppt/notesMasters/notesMaster1.xml" Id="Rcd8aa6c969384af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8bb1539d1a8461f" /><Relationship Type="http://schemas.openxmlformats.org/officeDocument/2006/relationships/notesMaster" Target="/ppt/notesMasters/notesMaster1.xml" Id="R7945d2179a2d429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b912d1fdb754845" /><Relationship Type="http://schemas.openxmlformats.org/officeDocument/2006/relationships/notesMaster" Target="/ppt/notesMasters/notesMaster1.xml" Id="R5dd675c3e3b6474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e5d310a8bc042fc" /><Relationship Type="http://schemas.openxmlformats.org/officeDocument/2006/relationships/notesMaster" Target="/ppt/notesMasters/notesMaster1.xml" Id="R78b3ca4616d842a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e27d0bfead84b91" /><Relationship Type="http://schemas.openxmlformats.org/officeDocument/2006/relationships/notesMaster" Target="/ppt/notesMasters/notesMaster1.xml" Id="Rf87b1605f32e4e9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9a05192ae2e4668" /><Relationship Type="http://schemas.openxmlformats.org/officeDocument/2006/relationships/notesMaster" Target="/ppt/notesMasters/notesMaster1.xml" Id="R1469643ec0ab4e2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238fce77acb43cf" /><Relationship Type="http://schemas.openxmlformats.org/officeDocument/2006/relationships/notesMaster" Target="/ppt/notesMasters/notesMaster1.xml" Id="Rd282e5086c26439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a08d2cc88754c7a" /><Relationship Type="http://schemas.openxmlformats.org/officeDocument/2006/relationships/notesMaster" Target="/ppt/notesMasters/notesMaster1.xml" Id="Rd4378b77896e418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fb5a28f568a4395" /><Relationship Type="http://schemas.openxmlformats.org/officeDocument/2006/relationships/notesMaster" Target="/ppt/notesMasters/notesMaster1.xml" Id="Rb459544d896c429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9613617ab6d49ae" /><Relationship Type="http://schemas.openxmlformats.org/officeDocument/2006/relationships/notesMaster" Target="/ppt/notesMasters/notesMaster1.xml" Id="R88785cf16a1b44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c0f10c94d634766" /><Relationship Type="http://schemas.openxmlformats.org/officeDocument/2006/relationships/notesMaster" Target="/ppt/notesMasters/notesMaster1.xml" Id="R590db7b3638445b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361e9c31a4f4461" /><Relationship Type="http://schemas.openxmlformats.org/officeDocument/2006/relationships/notesMaster" Target="/ppt/notesMasters/notesMaster1.xml" Id="R270e5f3f5f13466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b5692d3cfad4b20" /><Relationship Type="http://schemas.openxmlformats.org/officeDocument/2006/relationships/notesMaster" Target="/ppt/notesMasters/notesMaster1.xml" Id="R485df2e9c0f24dc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975eb34c23a4043" /><Relationship Type="http://schemas.openxmlformats.org/officeDocument/2006/relationships/notesMaster" Target="/ppt/notesMasters/notesMaster1.xml" Id="R312f0548d1624e9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77897b88c8d4422" /><Relationship Type="http://schemas.openxmlformats.org/officeDocument/2006/relationships/notesMaster" Target="/ppt/notesMasters/notesMaster1.xml" Id="R6bf47b256cd6497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a69e99a541340bb" /><Relationship Type="http://schemas.openxmlformats.org/officeDocument/2006/relationships/notesMaster" Target="/ppt/notesMasters/notesMaster1.xml" Id="Rf97cbbac7da84a1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621b708a98e437d" /><Relationship Type="http://schemas.openxmlformats.org/officeDocument/2006/relationships/notesMaster" Target="/ppt/notesMasters/notesMaster1.xml" Id="R0c6aca5536f94bb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0cb6e7234d84656" /><Relationship Type="http://schemas.openxmlformats.org/officeDocument/2006/relationships/notesMaster" Target="/ppt/notesMasters/notesMaster1.xml" Id="R2a775277d2a841c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9f8942b38ca4c70" /><Relationship Type="http://schemas.openxmlformats.org/officeDocument/2006/relationships/notesMaster" Target="/ppt/notesMasters/notesMaster1.xml" Id="R5cc98b93851b4e1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90793884fef4337" /><Relationship Type="http://schemas.openxmlformats.org/officeDocument/2006/relationships/notesMaster" Target="/ppt/notesMasters/notesMaster1.xml" Id="R8b0b34c817e3421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f9d239bac11435d" /><Relationship Type="http://schemas.openxmlformats.org/officeDocument/2006/relationships/notesMaster" Target="/ppt/notesMasters/notesMaster1.xml" Id="Raadaf0a62f7b4f1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658549f4df64ad2" /><Relationship Type="http://schemas.openxmlformats.org/officeDocument/2006/relationships/notesMaster" Target="/ppt/notesMasters/notesMaster1.xml" Id="R2c414893ca5a468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185816884704cca" /><Relationship Type="http://schemas.openxmlformats.org/officeDocument/2006/relationships/notesMaster" Target="/ppt/notesMasters/notesMaster1.xml" Id="R421e3b238495461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4b402efa4394977" /><Relationship Type="http://schemas.openxmlformats.org/officeDocument/2006/relationships/notesMaster" Target="/ppt/notesMasters/notesMaster1.xml" Id="R1e2cd7335c3041a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7bc06ee71824551" /><Relationship Type="http://schemas.openxmlformats.org/officeDocument/2006/relationships/notesMaster" Target="/ppt/notesMasters/notesMaster1.xml" Id="R44621c0260cb4d3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4f45f3f078542d1" /><Relationship Type="http://schemas.openxmlformats.org/officeDocument/2006/relationships/notesMaster" Target="/ppt/notesMasters/notesMaster1.xml" Id="Ree5366b540e44a8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4e707fa8b47d43ee" /><Relationship Type="http://schemas.openxmlformats.org/officeDocument/2006/relationships/notesMaster" Target="/ppt/notesMasters/notesMaster1.xml" Id="Rd3532ecc442e4213"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fae6193c2dc45d6" /><Relationship Type="http://schemas.openxmlformats.org/officeDocument/2006/relationships/notesMaster" Target="/ppt/notesMasters/notesMaster1.xml" Id="Rb878c334bb8e438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819f4d37cd84b76" /><Relationship Type="http://schemas.openxmlformats.org/officeDocument/2006/relationships/notesMaster" Target="/ppt/notesMasters/notesMaster1.xml" Id="Re9ce1aafda0e4be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973992f76d84ded" /><Relationship Type="http://schemas.openxmlformats.org/officeDocument/2006/relationships/notesMaster" Target="/ppt/notesMasters/notesMaster1.xml" Id="Rd594d2a4c05a4175"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bf8f596d0e946de" /><Relationship Type="http://schemas.openxmlformats.org/officeDocument/2006/relationships/notesMaster" Target="/ppt/notesMasters/notesMaster1.xml" Id="R849b1a817a1941f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384d21c58ae4777" /><Relationship Type="http://schemas.openxmlformats.org/officeDocument/2006/relationships/notesMaster" Target="/ppt/notesMasters/notesMaster1.xml" Id="R3d575a9b49d6458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b26cef15b81411b" /><Relationship Type="http://schemas.openxmlformats.org/officeDocument/2006/relationships/notesMaster" Target="/ppt/notesMasters/notesMaster1.xml" Id="Rcc842e6e1f514212"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aafdcde3fd54e27" /><Relationship Type="http://schemas.openxmlformats.org/officeDocument/2006/relationships/notesMaster" Target="/ppt/notesMasters/notesMaster1.xml" Id="R14b6effbfb7f44a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99bf8a6c5cd04ff9" /><Relationship Type="http://schemas.openxmlformats.org/officeDocument/2006/relationships/notesMaster" Target="/ppt/notesMasters/notesMaster1.xml" Id="Rdfd3beebff2849a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7820e4f301f048e2" /><Relationship Type="http://schemas.openxmlformats.org/officeDocument/2006/relationships/notesMaster" Target="/ppt/notesMasters/notesMaster1.xml" Id="R6640eee51ab64421"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f1219dad95b41fd" /><Relationship Type="http://schemas.openxmlformats.org/officeDocument/2006/relationships/notesMaster" Target="/ppt/notesMasters/notesMaster1.xml" Id="Rd54d5a155ab6452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961960d8f014c05" /><Relationship Type="http://schemas.openxmlformats.org/officeDocument/2006/relationships/notesMaster" Target="/ppt/notesMasters/notesMaster1.xml" Id="Ra1cbdc13b8434651"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bc0ed6a5ad84a67" /><Relationship Type="http://schemas.openxmlformats.org/officeDocument/2006/relationships/notesMaster" Target="/ppt/notesMasters/notesMaster1.xml" Id="Rb44e2f78b32745d9"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d9d055d42a3f445e" /><Relationship Type="http://schemas.openxmlformats.org/officeDocument/2006/relationships/notesMaster" Target="/ppt/notesMasters/notesMaster1.xml" Id="Rc71be752c39143c3"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7e7e4c32820a41ce" /><Relationship Type="http://schemas.openxmlformats.org/officeDocument/2006/relationships/notesMaster" Target="/ppt/notesMasters/notesMaster1.xml" Id="R330d136e2606489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4a4e3fa045a941d3" /><Relationship Type="http://schemas.openxmlformats.org/officeDocument/2006/relationships/notesMaster" Target="/ppt/notesMasters/notesMaster1.xml" Id="R8432dcc38e81402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62927ff565c24621" /><Relationship Type="http://schemas.openxmlformats.org/officeDocument/2006/relationships/notesMaster" Target="/ppt/notesMasters/notesMaster1.xml" Id="R75c53e1744714510"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404690be33ed4ccc" /><Relationship Type="http://schemas.openxmlformats.org/officeDocument/2006/relationships/notesMaster" Target="/ppt/notesMasters/notesMaster1.xml" Id="R785886be55bd48a6"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919c9ba1e1f4633" /><Relationship Type="http://schemas.openxmlformats.org/officeDocument/2006/relationships/notesMaster" Target="/ppt/notesMasters/notesMaster1.xml" Id="R700576941c8e4e67"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a15d46fae6f54d48" /><Relationship Type="http://schemas.openxmlformats.org/officeDocument/2006/relationships/notesMaster" Target="/ppt/notesMasters/notesMaster1.xml" Id="R0a66961ac25840f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2ecffcd562cc449a" /><Relationship Type="http://schemas.openxmlformats.org/officeDocument/2006/relationships/notesMaster" Target="/ppt/notesMasters/notesMaster1.xml" Id="R2deb49e3d4f7483c"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86b6655a6e0a4802" /><Relationship Type="http://schemas.openxmlformats.org/officeDocument/2006/relationships/notesMaster" Target="/ppt/notesMasters/notesMaster1.xml" Id="R866b5e3859cd4c9b"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673b8cb016564175" /><Relationship Type="http://schemas.openxmlformats.org/officeDocument/2006/relationships/notesMaster" Target="/ppt/notesMasters/notesMaster1.xml" Id="R5913a6dc9e1741e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8211357290d4585" /><Relationship Type="http://schemas.openxmlformats.org/officeDocument/2006/relationships/notesMaster" Target="/ppt/notesMasters/notesMaster1.xml" Id="Rce4869e6b67a4705"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f1d685f3da8b4d03" /><Relationship Type="http://schemas.openxmlformats.org/officeDocument/2006/relationships/notesMaster" Target="/ppt/notesMasters/notesMaster1.xml" Id="R5c7aa56fd330479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3d7752e47eb942d7" /><Relationship Type="http://schemas.openxmlformats.org/officeDocument/2006/relationships/notesMaster" Target="/ppt/notesMasters/notesMaster1.xml" Id="R2128f4c2156c46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https://tdk.gov.tr/icerik/yazim-kurallari/noktalama-isaretleri-aciklamalar/ (erişim: 28.09.2026). Metin TDK sayfasından aynen aktarılmıştır.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d12fd8398c4a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17ef2a46e14254" /><Relationship Type="http://schemas.openxmlformats.org/officeDocument/2006/relationships/slideLayout" Target="/ppt/slideLayouts/slideLayout1.xml" Id="Ra06a3f1d645a42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6a3f1d645a42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a30c3fe1fd4ba2" /><Relationship Type="http://schemas.openxmlformats.org/officeDocument/2006/relationships/notesSlide" Target="/ppt/notesSlides/notesSlide1.xml" Id="R7a8e7b31c8e742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15c662f72e46e5" /><Relationship Type="http://schemas.openxmlformats.org/officeDocument/2006/relationships/notesSlide" Target="/ppt/notesSlides/notesSlide2.xml" Id="Radd06d3dc69949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228dfd711b4270" /><Relationship Type="http://schemas.openxmlformats.org/officeDocument/2006/relationships/notesSlide" Target="/ppt/notesSlides/notesSlide3.xml" Id="R89fbbea7f5f847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6273527fe04c02" /><Relationship Type="http://schemas.openxmlformats.org/officeDocument/2006/relationships/notesSlide" Target="/ppt/notesSlides/notesSlide4.xml" Id="Rd7acbe76e78b46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a8f9a266684c06" /><Relationship Type="http://schemas.openxmlformats.org/officeDocument/2006/relationships/notesSlide" Target="/ppt/notesSlides/notesSlide5.xml" Id="R7a787e5d306049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aa82a7a5e64157" /><Relationship Type="http://schemas.openxmlformats.org/officeDocument/2006/relationships/notesSlide" Target="/ppt/notesSlides/notesSlide6.xml" Id="R2aafec6c33144a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450c9667644c26" /><Relationship Type="http://schemas.openxmlformats.org/officeDocument/2006/relationships/notesSlide" Target="/ppt/notesSlides/notesSlide7.xml" Id="R2f00d5fcfbee4a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9b476a2aa049e2" /><Relationship Type="http://schemas.openxmlformats.org/officeDocument/2006/relationships/notesSlide" Target="/ppt/notesSlides/notesSlide8.xml" Id="R99d1b26f5fb943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75f57c5e6c4a9f" /><Relationship Type="http://schemas.openxmlformats.org/officeDocument/2006/relationships/notesSlide" Target="/ppt/notesSlides/notesSlide9.xml" Id="R63e5f2a717cb48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4ecc870ec0d46f0" /><Relationship Type="http://schemas.openxmlformats.org/officeDocument/2006/relationships/notesSlide" Target="/ppt/notesSlides/notesSlide10.xml" Id="Rb0bdb9d15c9845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a248d7cdf347e8" /><Relationship Type="http://schemas.openxmlformats.org/officeDocument/2006/relationships/notesSlide" Target="/ppt/notesSlides/notesSlide11.xml" Id="Rc837e695c38742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d978d3023f64b5c" /><Relationship Type="http://schemas.openxmlformats.org/officeDocument/2006/relationships/notesSlide" Target="/ppt/notesSlides/notesSlide12.xml" Id="Re2e74cbe122e4d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0e04e0495174376" /><Relationship Type="http://schemas.openxmlformats.org/officeDocument/2006/relationships/notesSlide" Target="/ppt/notesSlides/notesSlide13.xml" Id="R0109cf31f14249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9799ca67774de4" /><Relationship Type="http://schemas.openxmlformats.org/officeDocument/2006/relationships/notesSlide" Target="/ppt/notesSlides/notesSlide14.xml" Id="R6f7fa4ecfcf24e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b771c30e014cbb" /><Relationship Type="http://schemas.openxmlformats.org/officeDocument/2006/relationships/notesSlide" Target="/ppt/notesSlides/notesSlide15.xml" Id="Rc92e6bbd19a2444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274cb5a4d18434f" /><Relationship Type="http://schemas.openxmlformats.org/officeDocument/2006/relationships/notesSlide" Target="/ppt/notesSlides/notesSlide16.xml" Id="Re6a25c73b1f449e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98cb386c8d46a1" /><Relationship Type="http://schemas.openxmlformats.org/officeDocument/2006/relationships/notesSlide" Target="/ppt/notesSlides/notesSlide17.xml" Id="Rbcaaeb58878243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0a38f9fcacf46fb" /><Relationship Type="http://schemas.openxmlformats.org/officeDocument/2006/relationships/notesSlide" Target="/ppt/notesSlides/notesSlide18.xml" Id="R881631a6a32b4a0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b009226d2454310" /><Relationship Type="http://schemas.openxmlformats.org/officeDocument/2006/relationships/notesSlide" Target="/ppt/notesSlides/notesSlide19.xml" Id="R20ec5784c5cd416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0d2e2afcdc44630" /><Relationship Type="http://schemas.openxmlformats.org/officeDocument/2006/relationships/notesSlide" Target="/ppt/notesSlides/notesSlide20.xml" Id="Rafc6b2b633364c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456e055de5f435b" /><Relationship Type="http://schemas.openxmlformats.org/officeDocument/2006/relationships/notesSlide" Target="/ppt/notesSlides/notesSlide21.xml" Id="R348bed4289db47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f56a3438dbe42bb" /><Relationship Type="http://schemas.openxmlformats.org/officeDocument/2006/relationships/notesSlide" Target="/ppt/notesSlides/notesSlide22.xml" Id="R1aecb5e966a1472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7e35ee993ae4f62" /><Relationship Type="http://schemas.openxmlformats.org/officeDocument/2006/relationships/notesSlide" Target="/ppt/notesSlides/notesSlide23.xml" Id="R0457c135d0364ff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f77fe37a78e4e8e" /><Relationship Type="http://schemas.openxmlformats.org/officeDocument/2006/relationships/notesSlide" Target="/ppt/notesSlides/notesSlide24.xml" Id="Ra90e2536d2fd45c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682e9dbfa354d93" /><Relationship Type="http://schemas.openxmlformats.org/officeDocument/2006/relationships/notesSlide" Target="/ppt/notesSlides/notesSlide25.xml" Id="R3932ee1f7e5b439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c1a44992fed4892" /><Relationship Type="http://schemas.openxmlformats.org/officeDocument/2006/relationships/notesSlide" Target="/ppt/notesSlides/notesSlide26.xml" Id="Rf23e6447cb90497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477bbad8acc4565" /><Relationship Type="http://schemas.openxmlformats.org/officeDocument/2006/relationships/notesSlide" Target="/ppt/notesSlides/notesSlide27.xml" Id="Racbd29b8e00b4e0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d15da8f0c1f4fd4" /><Relationship Type="http://schemas.openxmlformats.org/officeDocument/2006/relationships/notesSlide" Target="/ppt/notesSlides/notesSlide28.xml" Id="Rcb4dc27a6cf44dd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e3eac0f4b2e453d" /><Relationship Type="http://schemas.openxmlformats.org/officeDocument/2006/relationships/notesSlide" Target="/ppt/notesSlides/notesSlide29.xml" Id="Rff46461302e548d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196f2915cbc43e1" /><Relationship Type="http://schemas.openxmlformats.org/officeDocument/2006/relationships/notesSlide" Target="/ppt/notesSlides/notesSlide30.xml" Id="R19ee357732ef435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8dcc767b39a40f2" /><Relationship Type="http://schemas.openxmlformats.org/officeDocument/2006/relationships/notesSlide" Target="/ppt/notesSlides/notesSlide31.xml" Id="R8439ab9814d9493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844172d345f4ddf" /><Relationship Type="http://schemas.openxmlformats.org/officeDocument/2006/relationships/notesSlide" Target="/ppt/notesSlides/notesSlide32.xml" Id="R5fc7e53dce1844b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939d5ebf5074117" /><Relationship Type="http://schemas.openxmlformats.org/officeDocument/2006/relationships/notesSlide" Target="/ppt/notesSlides/notesSlide33.xml" Id="Rf21b2c966cd94bb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467be7ac8094fb0" /><Relationship Type="http://schemas.openxmlformats.org/officeDocument/2006/relationships/notesSlide" Target="/ppt/notesSlides/notesSlide34.xml" Id="R13a530f4d99145a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8839c4780e24ed8" /><Relationship Type="http://schemas.openxmlformats.org/officeDocument/2006/relationships/notesSlide" Target="/ppt/notesSlides/notesSlide35.xml" Id="Rcdc64143a63d442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bfaf9957cdb456e" /><Relationship Type="http://schemas.openxmlformats.org/officeDocument/2006/relationships/notesSlide" Target="/ppt/notesSlides/notesSlide36.xml" Id="Re4ecff5228d64ab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28fa677e9ff4c3b" /><Relationship Type="http://schemas.openxmlformats.org/officeDocument/2006/relationships/notesSlide" Target="/ppt/notesSlides/notesSlide37.xml" Id="Rd95f41b363fa485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4d96ee5d2dd4fd1" /><Relationship Type="http://schemas.openxmlformats.org/officeDocument/2006/relationships/notesSlide" Target="/ppt/notesSlides/notesSlide38.xml" Id="Re2057a8c86d440f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8dd8d08399b4e08" /><Relationship Type="http://schemas.openxmlformats.org/officeDocument/2006/relationships/notesSlide" Target="/ppt/notesSlides/notesSlide39.xml" Id="R0cd6bea573f643a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28b9996848349bf" /><Relationship Type="http://schemas.openxmlformats.org/officeDocument/2006/relationships/notesSlide" Target="/ppt/notesSlides/notesSlide40.xml" Id="Rf8ae9bff484d4e0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0cf6168f6a14c46" /><Relationship Type="http://schemas.openxmlformats.org/officeDocument/2006/relationships/notesSlide" Target="/ppt/notesSlides/notesSlide41.xml" Id="R3822f53207d84c4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ac7eb374e864f14" /><Relationship Type="http://schemas.openxmlformats.org/officeDocument/2006/relationships/notesSlide" Target="/ppt/notesSlides/notesSlide42.xml" Id="Rf6d2fd44818447b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58cc1cffea74b76" /><Relationship Type="http://schemas.openxmlformats.org/officeDocument/2006/relationships/notesSlide" Target="/ppt/notesSlides/notesSlide43.xml" Id="R028e9b5731ed43f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c38205689f84e5d" /><Relationship Type="http://schemas.openxmlformats.org/officeDocument/2006/relationships/notesSlide" Target="/ppt/notesSlides/notesSlide44.xml" Id="Rd7a30804147e493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0fbc949a55a4ce1" /><Relationship Type="http://schemas.openxmlformats.org/officeDocument/2006/relationships/notesSlide" Target="/ppt/notesSlides/notesSlide45.xml" Id="Red873493a8f54b4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164dc379bc742b8" /><Relationship Type="http://schemas.openxmlformats.org/officeDocument/2006/relationships/notesSlide" Target="/ppt/notesSlides/notesSlide46.xml" Id="R68578aa515d444b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642229083ef410d" /><Relationship Type="http://schemas.openxmlformats.org/officeDocument/2006/relationships/notesSlide" Target="/ppt/notesSlides/notesSlide47.xml" Id="R92c675150ba34be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fdde9bee6824f22" /><Relationship Type="http://schemas.openxmlformats.org/officeDocument/2006/relationships/notesSlide" Target="/ppt/notesSlides/notesSlide48.xml" Id="R733603e5fe1742f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98a9f4c4cca4c16" /><Relationship Type="http://schemas.openxmlformats.org/officeDocument/2006/relationships/notesSlide" Target="/ppt/notesSlides/notesSlide49.xml" Id="R50d2204000c84fc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967259dd94394fdf" /><Relationship Type="http://schemas.openxmlformats.org/officeDocument/2006/relationships/notesSlide" Target="/ppt/notesSlides/notesSlide50.xml" Id="Rd9ae623cc9e9424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661efbf336641cc" /><Relationship Type="http://schemas.openxmlformats.org/officeDocument/2006/relationships/notesSlide" Target="/ppt/notesSlides/notesSlide51.xml" Id="Rcfd42bfcf5b140d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ddd0768eece49f5" /><Relationship Type="http://schemas.openxmlformats.org/officeDocument/2006/relationships/notesSlide" Target="/ppt/notesSlides/notesSlide52.xml" Id="R13381b46e9c14b5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58fcd9e62df44f0" /><Relationship Type="http://schemas.openxmlformats.org/officeDocument/2006/relationships/notesSlide" Target="/ppt/notesSlides/notesSlide53.xml" Id="R53de9ff46fc6468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65cb84d82fec46cb" /><Relationship Type="http://schemas.openxmlformats.org/officeDocument/2006/relationships/notesSlide" Target="/ppt/notesSlides/notesSlide54.xml" Id="Ra2c34a0b9a2249c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dc5b991d2974842" /><Relationship Type="http://schemas.openxmlformats.org/officeDocument/2006/relationships/notesSlide" Target="/ppt/notesSlides/notesSlide55.xml" Id="R811dbc5616e04a3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41ca5e1757364b41" /><Relationship Type="http://schemas.openxmlformats.org/officeDocument/2006/relationships/notesSlide" Target="/ppt/notesSlides/notesSlide56.xml" Id="Rc5d22c7d808a40f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c2018ca75494ec1" /><Relationship Type="http://schemas.openxmlformats.org/officeDocument/2006/relationships/notesSlide" Target="/ppt/notesSlides/notesSlide57.xml" Id="Rea5ef31c6c6f49d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bfdeed075fc4c5a" /><Relationship Type="http://schemas.openxmlformats.org/officeDocument/2006/relationships/notesSlide" Target="/ppt/notesSlides/notesSlide58.xml" Id="R0896c5143222418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b2d62795e9543e1" /><Relationship Type="http://schemas.openxmlformats.org/officeDocument/2006/relationships/notesSlide" Target="/ppt/notesSlides/notesSlide59.xml" Id="Rf589df619dba4f3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6bd9cc263d34bdb" /><Relationship Type="http://schemas.openxmlformats.org/officeDocument/2006/relationships/notesSlide" Target="/ppt/notesSlides/notesSlide60.xml" Id="Rf83255cda25745a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1afd269a7c014355" /><Relationship Type="http://schemas.openxmlformats.org/officeDocument/2006/relationships/notesSlide" Target="/ppt/notesSlides/notesSlide61.xml" Id="Ra3639efb02a2437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616aa56bc5dc4aea" /><Relationship Type="http://schemas.openxmlformats.org/officeDocument/2006/relationships/notesSlide" Target="/ppt/notesSlides/notesSlide62.xml" Id="R128f4836030744a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afbf8af6634b44b3" /><Relationship Type="http://schemas.openxmlformats.org/officeDocument/2006/relationships/notesSlide" Target="/ppt/notesSlides/notesSlide63.xml" Id="R168c3467e55a40a9"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c49b005033bc42ab" /><Relationship Type="http://schemas.openxmlformats.org/officeDocument/2006/relationships/notesSlide" Target="/ppt/notesSlides/notesSlide64.xml" Id="R8090447fd6d540c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23bba5133f564e47" /><Relationship Type="http://schemas.openxmlformats.org/officeDocument/2006/relationships/notesSlide" Target="/ppt/notesSlides/notesSlide65.xml" Id="Rce47b6ace2544fda"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5d7b2ffe193453e" /><Relationship Type="http://schemas.openxmlformats.org/officeDocument/2006/relationships/notesSlide" Target="/ppt/notesSlides/notesSlide66.xml" Id="R080aae96d1814d7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39999cd8c43b4c8f" /><Relationship Type="http://schemas.openxmlformats.org/officeDocument/2006/relationships/notesSlide" Target="/ppt/notesSlides/notesSlide67.xml" Id="Rf36b2cadc5a748f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07b2a7ec716048c6" /><Relationship Type="http://schemas.openxmlformats.org/officeDocument/2006/relationships/notesSlide" Target="/ppt/notesSlides/notesSlide68.xml" Id="Rdf62282e92a94323"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afa4db61c9c24d7b" /><Relationship Type="http://schemas.openxmlformats.org/officeDocument/2006/relationships/notesSlide" Target="/ppt/notesSlides/notesSlide69.xml" Id="Rdfd5f7badb984624"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9f5244a1fde64760" /><Relationship Type="http://schemas.openxmlformats.org/officeDocument/2006/relationships/notesSlide" Target="/ppt/notesSlides/notesSlide70.xml" Id="Rb6b6a323cc3243f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7bfddf3e0b8b424f" /><Relationship Type="http://schemas.openxmlformats.org/officeDocument/2006/relationships/notesSlide" Target="/ppt/notesSlides/notesSlide71.xml" Id="R8241f38c9ab447d4"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003a431c3fa248e0" /><Relationship Type="http://schemas.openxmlformats.org/officeDocument/2006/relationships/notesSlide" Target="/ppt/notesSlides/notesSlide72.xml" Id="Re7f0866bbcdd4ae4"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91fcd858f2ea4618" /><Relationship Type="http://schemas.openxmlformats.org/officeDocument/2006/relationships/notesSlide" Target="/ppt/notesSlides/notesSlide73.xml" Id="Ra3b0b756de144a5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8581ff9d2a694d43" /><Relationship Type="http://schemas.openxmlformats.org/officeDocument/2006/relationships/notesSlide" Target="/ppt/notesSlides/notesSlide74.xml" Id="Rf51f08fc7ad147fe"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817754d7cced4a53" /><Relationship Type="http://schemas.openxmlformats.org/officeDocument/2006/relationships/notesSlide" Target="/ppt/notesSlides/notesSlide75.xml" Id="R060efe8fbeb94130"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e2b2271848884269" /><Relationship Type="http://schemas.openxmlformats.org/officeDocument/2006/relationships/notesSlide" Target="/ppt/notesSlides/notesSlide76.xml" Id="R7b21a73dcf034079"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ec3d9f770087434b" /><Relationship Type="http://schemas.openxmlformats.org/officeDocument/2006/relationships/notesSlide" Target="/ppt/notesSlides/notesSlide77.xml" Id="Ra93314aa22494d95"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ac8e17b95bf8415c" /><Relationship Type="http://schemas.openxmlformats.org/officeDocument/2006/relationships/notesSlide" Target="/ppt/notesSlides/notesSlide78.xml" Id="Rc8eaf5a047274798"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06944678b78043c3" /><Relationship Type="http://schemas.openxmlformats.org/officeDocument/2006/relationships/notesSlide" Target="/ppt/notesSlides/notesSlide79.xml" Id="R5e0f7923ab64428b"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cc249278867a4edd" /><Relationship Type="http://schemas.openxmlformats.org/officeDocument/2006/relationships/notesSlide" Target="/ppt/notesSlides/notesSlide80.xml" Id="R4f85d0e37ac24917"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c4e0920c87fe4ea6" /><Relationship Type="http://schemas.openxmlformats.org/officeDocument/2006/relationships/notesSlide" Target="/ppt/notesSlides/notesSlide81.xml" Id="Rd2dd766f8d284111"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7500d87086e543bc" /><Relationship Type="http://schemas.openxmlformats.org/officeDocument/2006/relationships/notesSlide" Target="/ppt/notesSlides/notesSlide82.xml" Id="R65976fa55a4841cc"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dfb926e22d964843" /><Relationship Type="http://schemas.openxmlformats.org/officeDocument/2006/relationships/notesSlide" Target="/ppt/notesSlides/notesSlide83.xml" Id="Rfcc707cb5b334e0f"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9f005779dcf44ed1" /><Relationship Type="http://schemas.openxmlformats.org/officeDocument/2006/relationships/notesSlide" Target="/ppt/notesSlides/notesSlide84.xml" Id="R73456384c95f4218"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f1c319b89eff4f52" /><Relationship Type="http://schemas.openxmlformats.org/officeDocument/2006/relationships/notesSlide" Target="/ppt/notesSlides/notesSlide85.xml" Id="R97ef71dfe91140f7" /></Relationships>
</file>

<file path=ppt/slides/slide1.xml><?xml version="1.0" encoding="utf-8"?>
<p:sld xmlns:p="http://schemas.openxmlformats.org/presentationml/2006/main">
  <p:cSld>
    <p:bg>
      <p:bgPr>
        <a:solidFill xmlns:a="http://schemas.openxmlformats.org/drawingml/2006/main">
          <a:srgbClr val="14324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A0D5D3-26A0-4606-B25C-74EA98E0E0F5}"/>
              </a:ext>
            </a:extLst>
          </p:cNvPr>
          <p:cNvSpPr>
            <a:spLocks xmlns:a="http://schemas.openxmlformats.org/drawingml/2006/main" noGrp="1"/>
          </p:cNvSpPr>
          <p:nvPr/>
        </p:nvSpPr>
        <p:spPr>
          <a:xfrm xmlns:a="http://schemas.openxmlformats.org/drawingml/2006/main">
            <a:off x="666750" y="1028700"/>
            <a:ext cx="7810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5100" b="1">
                <a:solidFill>
                  <a:srgbClr val="FFFFFF"/>
                </a:solidFill>
                <a:latin typeface="Aptos"/>
                <a:ea typeface="Aptos"/>
                <a:cs typeface="Aptos"/>
              </a:defRPr>
            </a:pPr>
            <a:r>
              <a:rPr sz="5100" b="1">
                <a:solidFill>
                  <a:srgbClr val="FFFFFF"/>
                </a:solidFill>
                <a:latin typeface="Aptos"/>
                <a:ea typeface="Aptos"/>
                <a:cs typeface="Aptos"/>
              </a:rPr>
              <a:t>NOKTALAMA</a:t>
            </a:r>
          </a:p>
          <a:p xmlns:a="http://schemas.openxmlformats.org/drawingml/2006/main">
            <a:pPr>
              <a:defRPr sz="5100" b="1">
                <a:solidFill>
                  <a:srgbClr val="FFFFFF"/>
                </a:solidFill>
                <a:latin typeface="Aptos"/>
                <a:ea typeface="Aptos"/>
                <a:cs typeface="Aptos"/>
              </a:defRPr>
            </a:pPr>
            <a:r>
              <a:rPr sz="5100" b="1">
                <a:solidFill>
                  <a:srgbClr val="FFFFFF"/>
                </a:solidFill>
                <a:latin typeface="Aptos"/>
                <a:ea typeface="Aptos"/>
                <a:cs typeface="Aptos"/>
              </a:rPr>
              <a:t>İŞARETLERİ</a:t>
            </a:r>
          </a:p>
        </p:txBody>
      </p:sp>
      <p:sp>
        <p:nvSpPr>
          <p:cNvPr id="2" name="">
            <a:extLst xmlns:a="http://schemas.openxmlformats.org/drawingml/2006/main">
              <a:ext uri="{FF2B5EF4-FFF2-40B4-BE49-F238E27FC236}">
                <a16:creationId xmlns:a16="http://schemas.microsoft.com/office/drawing/2014/main" id="{168A24BF-17B8-40B6-A6B3-D0CF448FAD45}"/>
              </a:ext>
            </a:extLst>
          </p:cNvPr>
          <p:cNvSpPr>
            <a:spLocks xmlns:a="http://schemas.openxmlformats.org/drawingml/2006/main" noGrp="1"/>
          </p:cNvSpPr>
          <p:nvPr/>
        </p:nvSpPr>
        <p:spPr>
          <a:xfrm xmlns:a="http://schemas.openxmlformats.org/drawingml/2006/main">
            <a:off x="704850" y="33051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b="0">
                <a:solidFill>
                  <a:srgbClr val="CFE7EC"/>
                </a:solidFill>
                <a:latin typeface="Aptos"/>
                <a:ea typeface="Aptos"/>
                <a:cs typeface="Aptos"/>
              </a:defRPr>
            </a:pPr>
            <a:r>
              <a:rPr sz="2325" b="0">
                <a:solidFill>
                  <a:srgbClr val="CFE7EC"/>
                </a:solidFill>
                <a:latin typeface="Aptos"/>
                <a:ea typeface="Aptos"/>
                <a:cs typeface="Aptos"/>
              </a:rPr>
              <a:t>TDK açıklamaları, uyarıları ve örnekleri</a:t>
            </a:r>
          </a:p>
        </p:txBody>
      </p:sp>
      <p:sp>
        <p:nvSpPr>
          <p:cNvPr id="3" name="">
            <a:extLst xmlns:a="http://schemas.openxmlformats.org/drawingml/2006/main">
              <a:ext uri="{FF2B5EF4-FFF2-40B4-BE49-F238E27FC236}">
                <a16:creationId xmlns:a16="http://schemas.microsoft.com/office/drawing/2014/main" id="{1C7924EE-4D77-4770-9F97-7C1A0E346837}"/>
              </a:ext>
            </a:extLst>
          </p:cNvPr>
          <p:cNvSpPr>
            <a:spLocks xmlns:a="http://schemas.openxmlformats.org/drawingml/2006/main" noGrp="1"/>
          </p:cNvSpPr>
          <p:nvPr/>
        </p:nvSpPr>
        <p:spPr>
          <a:xfrm xmlns:a="http://schemas.openxmlformats.org/drawingml/2006/main">
            <a:off x="704850" y="43338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600" b="1">
                <a:solidFill>
                  <a:srgbClr val="E9C46A"/>
                </a:solidFill>
                <a:latin typeface="Aptos"/>
                <a:ea typeface="Aptos"/>
                <a:cs typeface="Aptos"/>
              </a:defRPr>
            </a:pPr>
            <a:r>
              <a:rPr sz="3600" b="1">
                <a:solidFill>
                  <a:srgbClr val="E9C46A"/>
                </a:solidFill>
                <a:latin typeface="Aptos"/>
                <a:ea typeface="Aptos"/>
                <a:cs typeface="Aptos"/>
              </a:rPr>
              <a:t>.  ,  ;  :  …  ?  !  —  /  “ ”  ( )  [ ]  ’</a:t>
            </a:r>
          </a:p>
        </p:txBody>
      </p:sp>
      <p:sp>
        <p:nvSpPr>
          <p:cNvPr id="4" name="">
            <a:extLst xmlns:a="http://schemas.openxmlformats.org/drawingml/2006/main">
              <a:ext uri="{FF2B5EF4-FFF2-40B4-BE49-F238E27FC236}">
                <a16:creationId xmlns:a16="http://schemas.microsoft.com/office/drawing/2014/main" id="{00E3745E-CC56-4EF6-ADCC-18FAE8035BBB}"/>
              </a:ext>
            </a:extLst>
          </p:cNvPr>
          <p:cNvSpPr>
            <a:spLocks xmlns:a="http://schemas.openxmlformats.org/drawingml/2006/main" noGrp="1"/>
          </p:cNvSpPr>
          <p:nvPr/>
        </p:nvSpPr>
        <p:spPr>
          <a:xfrm xmlns:a="http://schemas.openxmlformats.org/drawingml/2006/main">
            <a:off x="704850" y="5619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a:solidFill>
                  <a:srgbClr val="FFFFFF"/>
                </a:solidFill>
                <a:latin typeface="Aptos"/>
                <a:ea typeface="Aptos"/>
                <a:cs typeface="Aptos"/>
              </a:defRPr>
            </a:pPr>
            <a:r>
              <a:rPr sz="1875" b="0">
                <a:solidFill>
                  <a:srgbClr val="FFFFFF"/>
                </a:solidFill>
                <a:latin typeface="Aptos"/>
                <a:ea typeface="Aptos"/>
                <a:cs typeface="Aptos"/>
              </a:rPr>
              <a:t>Kaynak metne sadık tam sunum</a:t>
            </a:r>
          </a:p>
        </p:txBody>
      </p:sp>
    </p:spTree>
    <p:extLst>
      <p:ext uri="{BB962C8B-B14F-4D97-AF65-F5344CB8AC3E}">
        <p14:creationId xmlns:p14="http://schemas.microsoft.com/office/powerpoint/2010/main" val="1963279779"/>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15449F-9B11-4B6B-8212-5D5E73CB397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F16E50-1779-4760-9EE3-2CBEFE161A21}"/>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Aa</a:t>
            </a:r>
          </a:p>
        </p:txBody>
      </p:sp>
      <p:sp>
        <p:nvSpPr>
          <p:cNvPr id="3" name="">
            <a:extLst xmlns:a="http://schemas.openxmlformats.org/drawingml/2006/main">
              <a:ext uri="{FF2B5EF4-FFF2-40B4-BE49-F238E27FC236}">
                <a16:creationId xmlns:a16="http://schemas.microsoft.com/office/drawing/2014/main" id="{47DF15FF-C761-4DEB-993D-3F3B44AD3C63}"/>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Temel İlkeler</a:t>
            </a:r>
          </a:p>
        </p:txBody>
      </p:sp>
      <p:sp>
        <p:nvSpPr>
          <p:cNvPr id="4" name="">
            <a:extLst xmlns:a="http://schemas.openxmlformats.org/drawingml/2006/main">
              <a:ext uri="{FF2B5EF4-FFF2-40B4-BE49-F238E27FC236}">
                <a16:creationId xmlns:a16="http://schemas.microsoft.com/office/drawing/2014/main" id="{848F53D1-CA29-4E0F-8CD8-947E5B113BBC}"/>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11828800-582B-4341-9873-D59DB068CC5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6" name="">
            <a:extLst xmlns:a="http://schemas.openxmlformats.org/drawingml/2006/main">
              <a:ext uri="{FF2B5EF4-FFF2-40B4-BE49-F238E27FC236}">
                <a16:creationId xmlns:a16="http://schemas.microsoft.com/office/drawing/2014/main" id="{B330B3F6-E9BA-428A-9E1A-819EA00C35B3}"/>
              </a:ext>
            </a:extLst>
          </p:cNvPr>
          <p:cNvSpPr>
            <a:spLocks xmlns:a="http://schemas.openxmlformats.org/drawingml/2006/main" noGrp="1"/>
          </p:cNvSpPr>
          <p:nvPr/>
        </p:nvSpPr>
        <p:spPr>
          <a:xfrm xmlns:a="http://schemas.openxmlformats.org/drawingml/2006/main">
            <a:off x="666750" y="1571625"/>
            <a:ext cx="10858500" cy="184023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Duygu ve düşünceleri daha açık ifade etmek, cümlenin yapısını ve duraklama noktalarını belirlemek, okumayı ve anlamayı kolaylaştırmak, sözün vurgu ve ton gibi özelliklerini belirtmek üzere noktalama işaretleri kullanılır.</a:t>
            </a:r>
          </a:p>
        </p:txBody>
      </p:sp>
      <p:sp>
        <p:nvSpPr>
          <p:cNvPr id="7" name="">
            <a:extLst xmlns:a="http://schemas.openxmlformats.org/drawingml/2006/main">
              <a:ext uri="{FF2B5EF4-FFF2-40B4-BE49-F238E27FC236}">
                <a16:creationId xmlns:a16="http://schemas.microsoft.com/office/drawing/2014/main" id="{BE109804-41BC-40DA-8A77-51C4E9E7818C}"/>
              </a:ext>
            </a:extLst>
          </p:cNvPr>
          <p:cNvSpPr>
            <a:spLocks xmlns:a="http://schemas.openxmlformats.org/drawingml/2006/main" noGrp="1"/>
          </p:cNvSpPr>
          <p:nvPr/>
        </p:nvSpPr>
        <p:spPr>
          <a:xfrm xmlns:a="http://schemas.openxmlformats.org/drawingml/2006/main">
            <a:off x="666750" y="3526155"/>
            <a:ext cx="10858500" cy="276034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Noktalama işaretlerinden nokta, virgül, noktalı virgül, iki nokta, üç nokta, soru, ünlem, tırnak, ayraç ve kesme işaretleri ait oldukları kelimelere bitişik olarak yazılır ve kesme dışındaki işaretlerden sonra bir harf boşluğu ara verilir.</a:t>
            </a:r>
          </a:p>
        </p:txBody>
      </p:sp>
    </p:spTree>
    <p:extLst>
      <p:ext uri="{BB962C8B-B14F-4D97-AF65-F5344CB8AC3E}">
        <p14:creationId xmlns:p14="http://schemas.microsoft.com/office/powerpoint/2010/main" val="596390565"/>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D59887-9BE9-448C-9652-CBF901FA8B8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F77302-DCCA-4E8E-BFBF-E6427F8BAB32}"/>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F82A3B02-0292-44CD-989D-CAC5F370D9A7}"/>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4" name="">
            <a:extLst xmlns:a="http://schemas.openxmlformats.org/drawingml/2006/main">
              <a:ext uri="{FF2B5EF4-FFF2-40B4-BE49-F238E27FC236}">
                <a16:creationId xmlns:a16="http://schemas.microsoft.com/office/drawing/2014/main" id="{9A4BA082-3333-49CC-9DAD-E31525961E47}"/>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979397C2-811D-43AA-8FD8-5FB64BEF16A8}"/>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E051CA05-EF4D-44AE-B0BF-40E75AA64AC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73EDEF6-4A71-46A3-A0DB-C95D636122CC}"/>
              </a:ext>
            </a:extLst>
          </p:cNvPr>
          <p:cNvSpPr>
            <a:spLocks xmlns:a="http://schemas.openxmlformats.org/drawingml/2006/main" noGrp="1"/>
          </p:cNvSpPr>
          <p:nvPr/>
        </p:nvSpPr>
        <p:spPr>
          <a:xfrm xmlns:a="http://schemas.openxmlformats.org/drawingml/2006/main">
            <a:off x="666750" y="1571625"/>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Cümlenin sonuna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Türk Dil Kurumu, 1932 yılında kurulmuştur.</a:t>
            </a:r>
          </a:p>
        </p:txBody>
      </p:sp>
      <p:sp>
        <p:nvSpPr>
          <p:cNvPr id="8" name="">
            <a:extLst xmlns:a="http://schemas.openxmlformats.org/drawingml/2006/main">
              <a:ext uri="{FF2B5EF4-FFF2-40B4-BE49-F238E27FC236}">
                <a16:creationId xmlns:a16="http://schemas.microsoft.com/office/drawing/2014/main" id="{A7FE1AB5-CD92-417F-AB0A-F52EB870DC21}"/>
              </a:ext>
            </a:extLst>
          </p:cNvPr>
          <p:cNvSpPr>
            <a:spLocks xmlns:a="http://schemas.openxmlformats.org/drawingml/2006/main" noGrp="1"/>
          </p:cNvSpPr>
          <p:nvPr/>
        </p:nvSpPr>
        <p:spPr>
          <a:xfrm xmlns:a="http://schemas.openxmlformats.org/drawingml/2006/main">
            <a:off x="666750" y="2583180"/>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Saatler geçtikçe yollara daha mahzun bir ıssızlık çöküyordu. (Reşat Nuri Güntekin)</a:t>
            </a:r>
          </a:p>
        </p:txBody>
      </p:sp>
      <p:sp>
        <p:nvSpPr>
          <p:cNvPr id="9" name="">
            <a:extLst xmlns:a="http://schemas.openxmlformats.org/drawingml/2006/main">
              <a:ext uri="{FF2B5EF4-FFF2-40B4-BE49-F238E27FC236}">
                <a16:creationId xmlns:a16="http://schemas.microsoft.com/office/drawing/2014/main" id="{DBFF1563-97CA-430E-8983-52CCE16F5E03}"/>
              </a:ext>
            </a:extLst>
          </p:cNvPr>
          <p:cNvSpPr>
            <a:spLocks xmlns:a="http://schemas.openxmlformats.org/drawingml/2006/main" noGrp="1"/>
          </p:cNvSpPr>
          <p:nvPr/>
        </p:nvSpPr>
        <p:spPr>
          <a:xfrm xmlns:a="http://schemas.openxmlformats.org/drawingml/2006/main">
            <a:off x="666750" y="3594735"/>
            <a:ext cx="10858500" cy="269176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Bazı kısaltmaların sonuna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Alb. (albay), Dr. (doktor), Yrd. Doç. (yardımcı doçent), Prof. (profesör), Cad. (cadde), Sok. (sokak), s. (sayfa), sf. (sıfat), vb. (ve başkası, ve benzeri, ve benzerleri, ve bunun gibi), Alm. (Almanca), Ar. (Arapça), İng. (İngilizce) vb.</a:t>
            </a:r>
          </a:p>
        </p:txBody>
      </p:sp>
    </p:spTree>
    <p:extLst>
      <p:ext uri="{BB962C8B-B14F-4D97-AF65-F5344CB8AC3E}">
        <p14:creationId xmlns:p14="http://schemas.microsoft.com/office/powerpoint/2010/main" val="191119547"/>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A42B38-15E2-4DEC-8437-10D822A6EBD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3350A9-3AF4-47B3-8E91-EE23FD2CB4FD}"/>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AD311DDB-46D2-4EF4-905A-AA89F41DE506}"/>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4" name="">
            <a:extLst xmlns:a="http://schemas.openxmlformats.org/drawingml/2006/main">
              <a:ext uri="{FF2B5EF4-FFF2-40B4-BE49-F238E27FC236}">
                <a16:creationId xmlns:a16="http://schemas.microsoft.com/office/drawing/2014/main" id="{E22B0AB2-D691-46E1-9304-0664C577D0CE}"/>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2/5</a:t>
            </a:r>
          </a:p>
        </p:txBody>
      </p:sp>
      <p:sp>
        <p:nvSpPr>
          <p:cNvPr id="5" name="">
            <a:extLst xmlns:a="http://schemas.openxmlformats.org/drawingml/2006/main">
              <a:ext uri="{FF2B5EF4-FFF2-40B4-BE49-F238E27FC236}">
                <a16:creationId xmlns:a16="http://schemas.microsoft.com/office/drawing/2014/main" id="{E3376ED4-F2BB-408F-B002-C0607DF0F32F}"/>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CC366FF5-0ECE-49DB-B4FD-399B9999D59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020F013-6AC2-40CA-8B7E-C932EC501C84}"/>
              </a:ext>
            </a:extLst>
          </p:cNvPr>
          <p:cNvSpPr>
            <a:spLocks xmlns:a="http://schemas.openxmlformats.org/drawingml/2006/main" noGrp="1"/>
          </p:cNvSpPr>
          <p:nvPr/>
        </p:nvSpPr>
        <p:spPr>
          <a:xfrm xmlns:a="http://schemas.openxmlformats.org/drawingml/2006/main">
            <a:off x="666750" y="157162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Sayılardan sonra sıra bildirmek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3. (üçüncü), 15. (on beşinci); II. Mehmet, XIV. Louis, XV. yüzyıl; 2. Cadde, 20. Sokak, 4. Levent vb.</a:t>
            </a:r>
          </a:p>
        </p:txBody>
      </p:sp>
      <p:sp>
        <p:nvSpPr>
          <p:cNvPr id="8" name="">
            <a:extLst xmlns:a="http://schemas.openxmlformats.org/drawingml/2006/main">
              <a:ext uri="{FF2B5EF4-FFF2-40B4-BE49-F238E27FC236}">
                <a16:creationId xmlns:a16="http://schemas.microsoft.com/office/drawing/2014/main" id="{786FF53F-B914-4B7D-8906-CEF91ABCD004}"/>
              </a:ext>
            </a:extLst>
          </p:cNvPr>
          <p:cNvSpPr>
            <a:spLocks xmlns:a="http://schemas.openxmlformats.org/drawingml/2006/main" noGrp="1"/>
          </p:cNvSpPr>
          <p:nvPr/>
        </p:nvSpPr>
        <p:spPr>
          <a:xfrm xmlns:a="http://schemas.openxmlformats.org/drawingml/2006/main">
            <a:off x="666750" y="3143250"/>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4. Arka arkaya sıralandıkları için virgülle veya çizgiyle ayrılan rakamlardan yalnızca sonuncu rakamdan sonra nokta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3, 4 ve 7. maddeler; XII – XIV. yüzyıllar arasında vb.</a:t>
            </a:r>
          </a:p>
        </p:txBody>
      </p:sp>
      <p:sp>
        <p:nvSpPr>
          <p:cNvPr id="9" name="">
            <a:extLst xmlns:a="http://schemas.openxmlformats.org/drawingml/2006/main">
              <a:ext uri="{FF2B5EF4-FFF2-40B4-BE49-F238E27FC236}">
                <a16:creationId xmlns:a16="http://schemas.microsoft.com/office/drawing/2014/main" id="{06C24A37-0ABE-4D27-83F2-8082BDF1ECC6}"/>
              </a:ext>
            </a:extLst>
          </p:cNvPr>
          <p:cNvSpPr>
            <a:spLocks xmlns:a="http://schemas.openxmlformats.org/drawingml/2006/main" noGrp="1"/>
          </p:cNvSpPr>
          <p:nvPr/>
        </p:nvSpPr>
        <p:spPr>
          <a:xfrm xmlns:a="http://schemas.openxmlformats.org/drawingml/2006/main">
            <a:off x="666750" y="471487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Bir yazının maddelerini gösteren rakam veya harflerden sonra konur:</a:t>
            </a:r>
          </a:p>
        </p:txBody>
      </p:sp>
      <p:sp>
        <p:nvSpPr>
          <p:cNvPr id="10" name="">
            <a:extLst xmlns:a="http://schemas.openxmlformats.org/drawingml/2006/main">
              <a:ext uri="{FF2B5EF4-FFF2-40B4-BE49-F238E27FC236}">
                <a16:creationId xmlns:a16="http://schemas.microsoft.com/office/drawing/2014/main" id="{28C6049A-5375-484B-87B0-B051BBD3642E}"/>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 1. A. a.</a:t>
            </a:r>
          </a:p>
        </p:txBody>
      </p:sp>
    </p:spTree>
    <p:extLst>
      <p:ext uri="{BB962C8B-B14F-4D97-AF65-F5344CB8AC3E}">
        <p14:creationId xmlns:p14="http://schemas.microsoft.com/office/powerpoint/2010/main" val="842541365"/>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0D0354-8D73-4892-B9AB-E1AFCDC8BD6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A47C86-824C-48B2-84D9-512B73F9A099}"/>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5453819E-F84B-4790-81DA-343161646830}"/>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4" name="">
            <a:extLst xmlns:a="http://schemas.openxmlformats.org/drawingml/2006/main">
              <a:ext uri="{FF2B5EF4-FFF2-40B4-BE49-F238E27FC236}">
                <a16:creationId xmlns:a16="http://schemas.microsoft.com/office/drawing/2014/main" id="{6425F99E-BB8F-4303-90AF-828BF132B298}"/>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3/5</a:t>
            </a:r>
          </a:p>
        </p:txBody>
      </p:sp>
      <p:sp>
        <p:nvSpPr>
          <p:cNvPr id="5" name="">
            <a:extLst xmlns:a="http://schemas.openxmlformats.org/drawingml/2006/main">
              <a:ext uri="{FF2B5EF4-FFF2-40B4-BE49-F238E27FC236}">
                <a16:creationId xmlns:a16="http://schemas.microsoft.com/office/drawing/2014/main" id="{23DA7B7E-89DA-4B0C-B7F4-CDB514CD09A1}"/>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A4902080-23BA-439A-8898-0090FD01851A}"/>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60A3193-716F-430D-8DE0-43600DBCA6F6}"/>
              </a:ext>
            </a:extLst>
          </p:cNvPr>
          <p:cNvSpPr>
            <a:spLocks xmlns:a="http://schemas.openxmlformats.org/drawingml/2006/main" noGrp="1"/>
          </p:cNvSpPr>
          <p:nvPr/>
        </p:nvSpPr>
        <p:spPr>
          <a:xfrm xmlns:a="http://schemas.openxmlformats.org/drawingml/2006/main">
            <a:off x="666750" y="1571625"/>
            <a:ext cx="10858500" cy="74771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II. 2. B. b.</a:t>
            </a:r>
          </a:p>
        </p:txBody>
      </p:sp>
      <p:sp>
        <p:nvSpPr>
          <p:cNvPr id="8" name="">
            <a:extLst xmlns:a="http://schemas.openxmlformats.org/drawingml/2006/main">
              <a:ext uri="{FF2B5EF4-FFF2-40B4-BE49-F238E27FC236}">
                <a16:creationId xmlns:a16="http://schemas.microsoft.com/office/drawing/2014/main" id="{2E94DBA4-3BD4-4C0F-A1F9-B1CD728E8D4D}"/>
              </a:ext>
            </a:extLst>
          </p:cNvPr>
          <p:cNvSpPr>
            <a:spLocks xmlns:a="http://schemas.openxmlformats.org/drawingml/2006/main" noGrp="1"/>
          </p:cNvSpPr>
          <p:nvPr/>
        </p:nvSpPr>
        <p:spPr>
          <a:xfrm xmlns:a="http://schemas.openxmlformats.org/drawingml/2006/main">
            <a:off x="666750" y="2433638"/>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Tarihlerin yazılışında gün, ay ve yılı gösteren sayıları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29.5.1453, 29.X.1923 vb.</a:t>
            </a:r>
          </a:p>
        </p:txBody>
      </p:sp>
      <p:sp>
        <p:nvSpPr>
          <p:cNvPr id="9" name="">
            <a:extLst xmlns:a="http://schemas.openxmlformats.org/drawingml/2006/main">
              <a:ext uri="{FF2B5EF4-FFF2-40B4-BE49-F238E27FC236}">
                <a16:creationId xmlns:a16="http://schemas.microsoft.com/office/drawing/2014/main" id="{798BC535-9F88-4AA3-8EE0-30941167C5E2}"/>
              </a:ext>
            </a:extLst>
          </p:cNvPr>
          <p:cNvSpPr>
            <a:spLocks xmlns:a="http://schemas.openxmlformats.org/drawingml/2006/main" noGrp="1"/>
          </p:cNvSpPr>
          <p:nvPr/>
        </p:nvSpPr>
        <p:spPr>
          <a:xfrm xmlns:a="http://schemas.openxmlformats.org/drawingml/2006/main">
            <a:off x="666750" y="4043363"/>
            <a:ext cx="10858500" cy="224313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Tarihlerde ay adları yazıyla da yazılabilir. Bu durumda ay adlarından önce ve sonra nokta kullanılmaz: 29 Mayıs 1453, 29 Ekim 1923 vb.</a:t>
            </a:r>
          </a:p>
        </p:txBody>
      </p:sp>
    </p:spTree>
    <p:extLst>
      <p:ext uri="{BB962C8B-B14F-4D97-AF65-F5344CB8AC3E}">
        <p14:creationId xmlns:p14="http://schemas.microsoft.com/office/powerpoint/2010/main" val="1884727441"/>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E5A83B-7328-4C77-B407-2B8974EDD5C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231426-6AFB-472B-B9CB-96CE1D270E3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292D07E2-B73C-479A-9B71-E4EB16EE9EA5}"/>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4" name="">
            <a:extLst xmlns:a="http://schemas.openxmlformats.org/drawingml/2006/main">
              <a:ext uri="{FF2B5EF4-FFF2-40B4-BE49-F238E27FC236}">
                <a16:creationId xmlns:a16="http://schemas.microsoft.com/office/drawing/2014/main" id="{78311E76-F3EB-40FC-8542-E46E64E321CD}"/>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4/5</a:t>
            </a:r>
          </a:p>
        </p:txBody>
      </p:sp>
      <p:sp>
        <p:nvSpPr>
          <p:cNvPr id="5" name="">
            <a:extLst xmlns:a="http://schemas.openxmlformats.org/drawingml/2006/main">
              <a:ext uri="{FF2B5EF4-FFF2-40B4-BE49-F238E27FC236}">
                <a16:creationId xmlns:a16="http://schemas.microsoft.com/office/drawing/2014/main" id="{2FAE0AEB-6784-482D-85C3-7ECB97A12BB0}"/>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9BBE4962-7251-4656-8DE9-1E08BFCC5BA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6CF8425-79B8-4687-A57F-3EF0D7D0F04A}"/>
              </a:ext>
            </a:extLst>
          </p:cNvPr>
          <p:cNvSpPr>
            <a:spLocks xmlns:a="http://schemas.openxmlformats.org/drawingml/2006/main" noGrp="1"/>
          </p:cNvSpPr>
          <p:nvPr/>
        </p:nvSpPr>
        <p:spPr>
          <a:xfrm xmlns:a="http://schemas.openxmlformats.org/drawingml/2006/main">
            <a:off x="666750" y="1571625"/>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Saat ve dakika gösteren sayıları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Tren 09.15’te kalktı. Toplantı 13.00’te başladı.</a:t>
            </a:r>
          </a:p>
        </p:txBody>
      </p:sp>
      <p:sp>
        <p:nvSpPr>
          <p:cNvPr id="8" name="">
            <a:extLst xmlns:a="http://schemas.openxmlformats.org/drawingml/2006/main">
              <a:ext uri="{FF2B5EF4-FFF2-40B4-BE49-F238E27FC236}">
                <a16:creationId xmlns:a16="http://schemas.microsoft.com/office/drawing/2014/main" id="{C432C954-167B-4E24-84E2-A0CD31D68261}"/>
              </a:ext>
            </a:extLst>
          </p:cNvPr>
          <p:cNvSpPr>
            <a:spLocks xmlns:a="http://schemas.openxmlformats.org/drawingml/2006/main" noGrp="1"/>
          </p:cNvSpPr>
          <p:nvPr/>
        </p:nvSpPr>
        <p:spPr>
          <a:xfrm xmlns:a="http://schemas.openxmlformats.org/drawingml/2006/main">
            <a:off x="666750" y="34347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Tören 17.30’da, hükûmet daireleri kapandıktan yarım saat sonra başlayacaktır. (Tarık Buğra)</a:t>
            </a:r>
          </a:p>
        </p:txBody>
      </p:sp>
      <p:sp>
        <p:nvSpPr>
          <p:cNvPr id="9" name="">
            <a:extLst xmlns:a="http://schemas.openxmlformats.org/drawingml/2006/main">
              <a:ext uri="{FF2B5EF4-FFF2-40B4-BE49-F238E27FC236}">
                <a16:creationId xmlns:a16="http://schemas.microsoft.com/office/drawing/2014/main" id="{3F451A9A-C080-4A7F-9AFC-B3BB4DFDA419}"/>
              </a:ext>
            </a:extLst>
          </p:cNvPr>
          <p:cNvSpPr>
            <a:spLocks xmlns:a="http://schemas.openxmlformats.org/drawingml/2006/main" noGrp="1"/>
          </p:cNvSpPr>
          <p:nvPr/>
        </p:nvSpPr>
        <p:spPr>
          <a:xfrm xmlns:a="http://schemas.openxmlformats.org/drawingml/2006/main">
            <a:off x="666750" y="442341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8. Kitap, dergi vb.nin künyelerinin sonuna konur:</a:t>
            </a:r>
          </a:p>
        </p:txBody>
      </p:sp>
      <p:sp>
        <p:nvSpPr>
          <p:cNvPr id="10" name="">
            <a:extLst xmlns:a="http://schemas.openxmlformats.org/drawingml/2006/main">
              <a:ext uri="{FF2B5EF4-FFF2-40B4-BE49-F238E27FC236}">
                <a16:creationId xmlns:a16="http://schemas.microsoft.com/office/drawing/2014/main" id="{9A1A03D3-D389-483F-A20B-3BF6A7BEAE20}"/>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Agâh Sırrı Levend, Türk Dilinde Gelişme ve Sadeleşme Evreleri, TDK Yayınları, Ankara, 1960.</a:t>
            </a:r>
          </a:p>
        </p:txBody>
      </p:sp>
    </p:spTree>
    <p:extLst>
      <p:ext uri="{BB962C8B-B14F-4D97-AF65-F5344CB8AC3E}">
        <p14:creationId xmlns:p14="http://schemas.microsoft.com/office/powerpoint/2010/main" val="1661035586"/>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458E4E-DCC9-4666-BDA5-3449C9C5AD4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AFE614-F98E-44BE-8E15-5363FE098DB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36D1B3A7-C5F1-4D16-82E7-1D5B57F6537B}"/>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 ( . )</a:t>
            </a:r>
          </a:p>
        </p:txBody>
      </p:sp>
      <p:sp>
        <p:nvSpPr>
          <p:cNvPr id="4" name="">
            <a:extLst xmlns:a="http://schemas.openxmlformats.org/drawingml/2006/main">
              <a:ext uri="{FF2B5EF4-FFF2-40B4-BE49-F238E27FC236}">
                <a16:creationId xmlns:a16="http://schemas.microsoft.com/office/drawing/2014/main" id="{5A8B273E-872C-4E25-9D7D-3BB5EFD2999B}"/>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5/5</a:t>
            </a:r>
          </a:p>
        </p:txBody>
      </p:sp>
      <p:sp>
        <p:nvSpPr>
          <p:cNvPr id="5" name="">
            <a:extLst xmlns:a="http://schemas.openxmlformats.org/drawingml/2006/main">
              <a:ext uri="{FF2B5EF4-FFF2-40B4-BE49-F238E27FC236}">
                <a16:creationId xmlns:a16="http://schemas.microsoft.com/office/drawing/2014/main" id="{2D2AE901-B676-4061-8EE3-B65150C4FCBA}"/>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0CBDE1A6-6504-42F6-BBE0-9130B574B10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5BD769E-24F5-4D1C-8106-BFD072F78274}"/>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9. Dört ve dörtten çok rakamlı sayılar sondan sayılmak üzere üçlü gruplara ayrılarak yazılır ve araya nokta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1.000, 326.197, 49.750.812 vb.</a:t>
            </a:r>
          </a:p>
        </p:txBody>
      </p:sp>
      <p:sp>
        <p:nvSpPr>
          <p:cNvPr id="8" name="">
            <a:extLst xmlns:a="http://schemas.openxmlformats.org/drawingml/2006/main">
              <a:ext uri="{FF2B5EF4-FFF2-40B4-BE49-F238E27FC236}">
                <a16:creationId xmlns:a16="http://schemas.microsoft.com/office/drawing/2014/main" id="{ABE8276F-6ABF-4705-9A92-683C1102F45D}"/>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10. Genel ağ adreslerinde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http://tdk.gov.tr</a:t>
            </a:r>
          </a:p>
        </p:txBody>
      </p:sp>
      <p:sp>
        <p:nvSpPr>
          <p:cNvPr id="9" name="">
            <a:extLst xmlns:a="http://schemas.openxmlformats.org/drawingml/2006/main">
              <a:ext uri="{FF2B5EF4-FFF2-40B4-BE49-F238E27FC236}">
                <a16:creationId xmlns:a16="http://schemas.microsoft.com/office/drawing/2014/main" id="{1561B4C5-ACC4-4BAB-A525-CA2169D81B0D}"/>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11. Matematikte çarpma işareti yerine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4.5=20, 12.6=72 vb.</a:t>
            </a:r>
          </a:p>
        </p:txBody>
      </p:sp>
    </p:spTree>
    <p:extLst>
      <p:ext uri="{BB962C8B-B14F-4D97-AF65-F5344CB8AC3E}">
        <p14:creationId xmlns:p14="http://schemas.microsoft.com/office/powerpoint/2010/main" val="602892385"/>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31416F-50EE-4F9F-AD54-CA95E454021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31E8D4-241F-462C-8540-C261EF238D35}"/>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13229027-A1E6-4189-BAB6-44F899B2323D}"/>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888356D6-FD3F-4491-935F-04E6968F8242}"/>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1/18</a:t>
            </a:r>
          </a:p>
        </p:txBody>
      </p:sp>
      <p:sp>
        <p:nvSpPr>
          <p:cNvPr id="5" name="">
            <a:extLst xmlns:a="http://schemas.openxmlformats.org/drawingml/2006/main">
              <a:ext uri="{FF2B5EF4-FFF2-40B4-BE49-F238E27FC236}">
                <a16:creationId xmlns:a16="http://schemas.microsoft.com/office/drawing/2014/main" id="{45408E0F-B196-445D-9AD3-B517724D614C}"/>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12536FB9-ECEE-4022-BB36-2C917431ACD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F0A7FD6-D4A1-4F51-A460-6CA796D51061}"/>
              </a:ext>
            </a:extLst>
          </p:cNvPr>
          <p:cNvSpPr>
            <a:spLocks xmlns:a="http://schemas.openxmlformats.org/drawingml/2006/main" noGrp="1"/>
          </p:cNvSpPr>
          <p:nvPr/>
        </p:nvSpPr>
        <p:spPr>
          <a:xfrm xmlns:a="http://schemas.openxmlformats.org/drawingml/2006/main">
            <a:off x="666750" y="157162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Birbiri ardınca sıralanan eş görevli kelime ve kelime gruplarının arasına konur:</a:t>
            </a:r>
          </a:p>
        </p:txBody>
      </p:sp>
      <p:sp>
        <p:nvSpPr>
          <p:cNvPr id="8" name="">
            <a:extLst xmlns:a="http://schemas.openxmlformats.org/drawingml/2006/main">
              <a:ext uri="{FF2B5EF4-FFF2-40B4-BE49-F238E27FC236}">
                <a16:creationId xmlns:a16="http://schemas.microsoft.com/office/drawing/2014/main" id="{2CA2275F-89F4-4C8E-8746-8A07B7DFA1E7}"/>
              </a:ext>
            </a:extLst>
          </p:cNvPr>
          <p:cNvSpPr>
            <a:spLocks xmlns:a="http://schemas.openxmlformats.org/drawingml/2006/main" noGrp="1"/>
          </p:cNvSpPr>
          <p:nvPr/>
        </p:nvSpPr>
        <p:spPr>
          <a:xfrm xmlns:a="http://schemas.openxmlformats.org/drawingml/2006/main">
            <a:off x="666750" y="2560320"/>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Fırtınadan, soğuktan, karanlıktan ve biraz da korkudan sonra bu sıcak, aydınlık ve sevimli odanın havasında erir gibi oldum. (Halide Edip Adıvar)</a:t>
            </a:r>
          </a:p>
        </p:txBody>
      </p:sp>
      <p:sp>
        <p:nvSpPr>
          <p:cNvPr id="9" name="">
            <a:extLst xmlns:a="http://schemas.openxmlformats.org/drawingml/2006/main">
              <a:ext uri="{FF2B5EF4-FFF2-40B4-BE49-F238E27FC236}">
                <a16:creationId xmlns:a16="http://schemas.microsoft.com/office/drawing/2014/main" id="{23E67BBF-D390-44A0-9A33-3E9076121C99}"/>
              </a:ext>
            </a:extLst>
          </p:cNvPr>
          <p:cNvSpPr>
            <a:spLocks xmlns:a="http://schemas.openxmlformats.org/drawingml/2006/main" noGrp="1"/>
          </p:cNvSpPr>
          <p:nvPr/>
        </p:nvSpPr>
        <p:spPr>
          <a:xfrm xmlns:a="http://schemas.openxmlformats.org/drawingml/2006/main">
            <a:off x="666750" y="442341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Sessiz dereler, solgun ağaçlar, sarı güller</a:t>
            </a:r>
          </a:p>
        </p:txBody>
      </p:sp>
      <p:sp>
        <p:nvSpPr>
          <p:cNvPr id="10" name="">
            <a:extLst xmlns:a="http://schemas.openxmlformats.org/drawingml/2006/main">
              <a:ext uri="{FF2B5EF4-FFF2-40B4-BE49-F238E27FC236}">
                <a16:creationId xmlns:a16="http://schemas.microsoft.com/office/drawing/2014/main" id="{F125114E-86F8-4592-9513-E51726B95FAF}"/>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Dillenmiş ağızlarda tutuk dilli gönüller (Faruk Nafiz Çamlıbel)</a:t>
            </a:r>
          </a:p>
        </p:txBody>
      </p:sp>
    </p:spTree>
    <p:extLst>
      <p:ext uri="{BB962C8B-B14F-4D97-AF65-F5344CB8AC3E}">
        <p14:creationId xmlns:p14="http://schemas.microsoft.com/office/powerpoint/2010/main" val="115818380"/>
      </p:ext>
    </p:extLst>
  </p:cSld>
</p:sld>
</file>

<file path=ppt/slides/slide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CDF34D-DF45-4F6A-A426-C119CEDBDAA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0DF673-F9B2-488A-9396-CF7A6AB3991D}"/>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F791368E-13B9-4182-90CD-C09001A149BC}"/>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267FF10A-E7E8-44A4-B67C-C987DF52705A}"/>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2/18</a:t>
            </a:r>
          </a:p>
        </p:txBody>
      </p:sp>
      <p:sp>
        <p:nvSpPr>
          <p:cNvPr id="5" name="">
            <a:extLst xmlns:a="http://schemas.openxmlformats.org/drawingml/2006/main">
              <a:ext uri="{FF2B5EF4-FFF2-40B4-BE49-F238E27FC236}">
                <a16:creationId xmlns:a16="http://schemas.microsoft.com/office/drawing/2014/main" id="{FB57AEBB-A21A-4BA7-B61D-3FDF915B30F0}"/>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0E517F02-9513-4113-BB0F-11F3C9C94B6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D25627A-B7DD-4D55-86CB-086FED9273C8}"/>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Zindana atılan mahkûmlar gibi titreşerek, haykırarak geri geri kaçmaya uğraşıyorduk. (Hüseyin Rahmi Gürpınar)</a:t>
            </a:r>
          </a:p>
        </p:txBody>
      </p:sp>
      <p:sp>
        <p:nvSpPr>
          <p:cNvPr id="8" name="">
            <a:extLst xmlns:a="http://schemas.openxmlformats.org/drawingml/2006/main">
              <a:ext uri="{FF2B5EF4-FFF2-40B4-BE49-F238E27FC236}">
                <a16:creationId xmlns:a16="http://schemas.microsoft.com/office/drawing/2014/main" id="{6D6C9A46-8643-453D-BFBA-34ADDC8488B2}"/>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Köyde kim çaresiz kalırsa, kimin işi bozulursa İstanbul yolunu tutar. (Ömer Seyfettin)</a:t>
            </a:r>
          </a:p>
        </p:txBody>
      </p:sp>
      <p:sp>
        <p:nvSpPr>
          <p:cNvPr id="9" name="">
            <a:extLst xmlns:a="http://schemas.openxmlformats.org/drawingml/2006/main">
              <a:ext uri="{FF2B5EF4-FFF2-40B4-BE49-F238E27FC236}">
                <a16:creationId xmlns:a16="http://schemas.microsoft.com/office/drawing/2014/main" id="{5B7E9EE9-769C-4D1E-95F5-D116D3163B05}"/>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Sıralı cümleleri birbirinden ayırmak için konur:</a:t>
            </a:r>
          </a:p>
        </p:txBody>
      </p:sp>
      <p:sp>
        <p:nvSpPr>
          <p:cNvPr id="10" name="">
            <a:extLst xmlns:a="http://schemas.openxmlformats.org/drawingml/2006/main">
              <a:ext uri="{FF2B5EF4-FFF2-40B4-BE49-F238E27FC236}">
                <a16:creationId xmlns:a16="http://schemas.microsoft.com/office/drawing/2014/main" id="{443D49A5-6F5B-485E-8C42-6A2D36A76098}"/>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Umduk, bekledik, düşündük. (Yakup Kadri Karaosmanoğlu)</a:t>
            </a:r>
          </a:p>
        </p:txBody>
      </p:sp>
    </p:spTree>
    <p:extLst>
      <p:ext uri="{BB962C8B-B14F-4D97-AF65-F5344CB8AC3E}">
        <p14:creationId xmlns:p14="http://schemas.microsoft.com/office/powerpoint/2010/main" val="533849717"/>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9D43F6-AF4D-4349-A739-660DC3FFB20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425291-E2D6-4EAD-A9C0-20FC91CD8782}"/>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BAFBF774-CF2A-4559-88E9-F2F2C31A6471}"/>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45668D82-E890-4C0A-B715-98A67A0127D3}"/>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3/18</a:t>
            </a:r>
          </a:p>
        </p:txBody>
      </p:sp>
      <p:sp>
        <p:nvSpPr>
          <p:cNvPr id="5" name="">
            <a:extLst xmlns:a="http://schemas.openxmlformats.org/drawingml/2006/main">
              <a:ext uri="{FF2B5EF4-FFF2-40B4-BE49-F238E27FC236}">
                <a16:creationId xmlns:a16="http://schemas.microsoft.com/office/drawing/2014/main" id="{1787DCA1-C893-46E6-834C-90B514A364CF}"/>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31B4D5B3-EE5C-4144-A5DB-B226D5F99A4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F5EF12C-D6C7-4F01-9BA3-6E18F4205356}"/>
              </a:ext>
            </a:extLst>
          </p:cNvPr>
          <p:cNvSpPr>
            <a:spLocks xmlns:a="http://schemas.openxmlformats.org/drawingml/2006/main" noGrp="1"/>
          </p:cNvSpPr>
          <p:nvPr/>
        </p:nvSpPr>
        <p:spPr>
          <a:xfrm xmlns:a="http://schemas.openxmlformats.org/drawingml/2006/main">
            <a:off x="666750" y="1571625"/>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Uzun cümlelerde yüklemden uzak düşmüş olan özneyi belirtmek için konur:</a:t>
            </a:r>
          </a:p>
        </p:txBody>
      </p:sp>
      <p:sp>
        <p:nvSpPr>
          <p:cNvPr id="8" name="">
            <a:extLst xmlns:a="http://schemas.openxmlformats.org/drawingml/2006/main">
              <a:ext uri="{FF2B5EF4-FFF2-40B4-BE49-F238E27FC236}">
                <a16:creationId xmlns:a16="http://schemas.microsoft.com/office/drawing/2014/main" id="{680D8482-C5FF-4416-AF44-7714CC5B694F}"/>
              </a:ext>
            </a:extLst>
          </p:cNvPr>
          <p:cNvSpPr>
            <a:spLocks xmlns:a="http://schemas.openxmlformats.org/drawingml/2006/main" noGrp="1"/>
          </p:cNvSpPr>
          <p:nvPr/>
        </p:nvSpPr>
        <p:spPr>
          <a:xfrm xmlns:a="http://schemas.openxmlformats.org/drawingml/2006/main">
            <a:off x="666750" y="2583180"/>
            <a:ext cx="10858500" cy="179451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Saniye Hanımefendi, merdivenlerde oğlunun ayak seslerini duyar duymaz, hasretlisini karşılamaya atılan bir genç kadın gibi koltuğundan fırlamış ve ona kapıyı kendi eliyle açmaya gelmişti. (Yakup Kadri Karaosmanoğlu)</a:t>
            </a:r>
          </a:p>
        </p:txBody>
      </p:sp>
      <p:sp>
        <p:nvSpPr>
          <p:cNvPr id="9" name="">
            <a:extLst xmlns:a="http://schemas.openxmlformats.org/drawingml/2006/main">
              <a:ext uri="{FF2B5EF4-FFF2-40B4-BE49-F238E27FC236}">
                <a16:creationId xmlns:a16="http://schemas.microsoft.com/office/drawing/2014/main" id="{FE9CE084-D1CB-41C1-A612-E5FCD7E95EC9}"/>
              </a:ext>
            </a:extLst>
          </p:cNvPr>
          <p:cNvSpPr>
            <a:spLocks xmlns:a="http://schemas.openxmlformats.org/drawingml/2006/main" noGrp="1"/>
          </p:cNvSpPr>
          <p:nvPr/>
        </p:nvSpPr>
        <p:spPr>
          <a:xfrm xmlns:a="http://schemas.openxmlformats.org/drawingml/2006/main">
            <a:off x="666750" y="4491990"/>
            <a:ext cx="10858500" cy="179451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Cümle içinde ara sözleri veya ara cümleleri ayırmak için ara sözlerin veya ara cümlelerin başına ve sonuna konur:</a:t>
            </a:r>
          </a:p>
        </p:txBody>
      </p:sp>
    </p:spTree>
    <p:extLst>
      <p:ext uri="{BB962C8B-B14F-4D97-AF65-F5344CB8AC3E}">
        <p14:creationId xmlns:p14="http://schemas.microsoft.com/office/powerpoint/2010/main" val="227164201"/>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1121BC-8271-4026-A27C-A314E47FA0F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D0FA93-6254-434B-A51F-36FB171A094F}"/>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3F00663C-8D1E-4C0F-B461-4B6E63591A35}"/>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7931254D-AF31-4B2A-BC33-146AE08A10D1}"/>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4/18</a:t>
            </a:r>
          </a:p>
        </p:txBody>
      </p:sp>
      <p:sp>
        <p:nvSpPr>
          <p:cNvPr id="5" name="">
            <a:extLst xmlns:a="http://schemas.openxmlformats.org/drawingml/2006/main">
              <a:ext uri="{FF2B5EF4-FFF2-40B4-BE49-F238E27FC236}">
                <a16:creationId xmlns:a16="http://schemas.microsoft.com/office/drawing/2014/main" id="{AA9169D2-F233-4EF5-A317-0D666A211704}"/>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D392EA8E-0BA2-4682-B05C-C702FD7618D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9244652-0956-40C1-86FE-AC90125712F5}"/>
              </a:ext>
            </a:extLst>
          </p:cNvPr>
          <p:cNvSpPr>
            <a:spLocks xmlns:a="http://schemas.openxmlformats.org/drawingml/2006/main" noGrp="1"/>
          </p:cNvSpPr>
          <p:nvPr/>
        </p:nvSpPr>
        <p:spPr>
          <a:xfrm xmlns:a="http://schemas.openxmlformats.org/drawingml/2006/main">
            <a:off x="666750" y="1571625"/>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Zemin bu kadar koyu bir kırmızıya dönüşünce, bir an için de olsa, belirginliğini yitiriverdi sivilceleri. (Elif Şafak)</a:t>
            </a:r>
          </a:p>
        </p:txBody>
      </p:sp>
      <p:sp>
        <p:nvSpPr>
          <p:cNvPr id="8" name="">
            <a:extLst xmlns:a="http://schemas.openxmlformats.org/drawingml/2006/main">
              <a:ext uri="{FF2B5EF4-FFF2-40B4-BE49-F238E27FC236}">
                <a16:creationId xmlns:a16="http://schemas.microsoft.com/office/drawing/2014/main" id="{781C8941-C107-421C-BBFB-A0008F9DE88C}"/>
              </a:ext>
            </a:extLst>
          </p:cNvPr>
          <p:cNvSpPr>
            <a:spLocks xmlns:a="http://schemas.openxmlformats.org/drawingml/2006/main" noGrp="1"/>
          </p:cNvSpPr>
          <p:nvPr/>
        </p:nvSpPr>
        <p:spPr>
          <a:xfrm xmlns:a="http://schemas.openxmlformats.org/drawingml/2006/main">
            <a:off x="666750" y="34347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Şimdi, efendiler, müsaade buyurursanız, size bir sual sorayım. (Atatürk)</a:t>
            </a:r>
          </a:p>
        </p:txBody>
      </p:sp>
      <p:sp>
        <p:nvSpPr>
          <p:cNvPr id="9" name="">
            <a:extLst xmlns:a="http://schemas.openxmlformats.org/drawingml/2006/main">
              <a:ext uri="{FF2B5EF4-FFF2-40B4-BE49-F238E27FC236}">
                <a16:creationId xmlns:a16="http://schemas.microsoft.com/office/drawing/2014/main" id="{FA063633-6A3C-4400-8D3F-B42FFD287312}"/>
              </a:ext>
            </a:extLst>
          </p:cNvPr>
          <p:cNvSpPr>
            <a:spLocks xmlns:a="http://schemas.openxmlformats.org/drawingml/2006/main" noGrp="1"/>
          </p:cNvSpPr>
          <p:nvPr/>
        </p:nvSpPr>
        <p:spPr>
          <a:xfrm xmlns:a="http://schemas.openxmlformats.org/drawingml/2006/main">
            <a:off x="666750" y="442341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Anlama güç kazandırmak için tekrarlanan kelimeler arasına konur:</a:t>
            </a:r>
          </a:p>
        </p:txBody>
      </p:sp>
      <p:sp>
        <p:nvSpPr>
          <p:cNvPr id="10" name="">
            <a:extLst xmlns:a="http://schemas.openxmlformats.org/drawingml/2006/main">
              <a:ext uri="{FF2B5EF4-FFF2-40B4-BE49-F238E27FC236}">
                <a16:creationId xmlns:a16="http://schemas.microsoft.com/office/drawing/2014/main" id="{66374CA6-BE8A-4E65-8DE9-0347AA98E7C5}"/>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Akşam, yine akşam, yine akşam,</a:t>
            </a:r>
          </a:p>
        </p:txBody>
      </p:sp>
    </p:spTree>
    <p:extLst>
      <p:ext uri="{BB962C8B-B14F-4D97-AF65-F5344CB8AC3E}">
        <p14:creationId xmlns:p14="http://schemas.microsoft.com/office/powerpoint/2010/main" val="1318964664"/>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CF78F3-9A42-4DF2-8225-000A8E3DF21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56ADB6-B9BE-4DC0-B109-DB24A325A87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675D2300-810C-4B04-B3DE-B578035C078A}"/>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A3B19C5B-1CE9-442A-BF0B-F46BA68D8367}"/>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5/18</a:t>
            </a:r>
          </a:p>
        </p:txBody>
      </p:sp>
      <p:sp>
        <p:nvSpPr>
          <p:cNvPr id="5" name="">
            <a:extLst xmlns:a="http://schemas.openxmlformats.org/drawingml/2006/main">
              <a:ext uri="{FF2B5EF4-FFF2-40B4-BE49-F238E27FC236}">
                <a16:creationId xmlns:a16="http://schemas.microsoft.com/office/drawing/2014/main" id="{FA3A6835-6137-4F0C-8387-F534A2873162}"/>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1095778D-DF46-4193-BEE9-965AC378D4B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8B61373-6930-4606-9310-172478B1E18B}"/>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Göllerde bu dem bir kamış olsam! (Ahmet Haşim)</a:t>
            </a:r>
          </a:p>
        </p:txBody>
      </p:sp>
      <p:sp>
        <p:nvSpPr>
          <p:cNvPr id="8" name="">
            <a:extLst xmlns:a="http://schemas.openxmlformats.org/drawingml/2006/main">
              <a:ext uri="{FF2B5EF4-FFF2-40B4-BE49-F238E27FC236}">
                <a16:creationId xmlns:a16="http://schemas.microsoft.com/office/drawing/2014/main" id="{8676642E-5BF3-4173-83A3-1E799AF26754}"/>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6. Tırnak içinde olmayan alıntı cümlelerinden sonra konur:</a:t>
            </a:r>
          </a:p>
        </p:txBody>
      </p:sp>
      <p:sp>
        <p:nvSpPr>
          <p:cNvPr id="9" name="">
            <a:extLst xmlns:a="http://schemas.openxmlformats.org/drawingml/2006/main">
              <a:ext uri="{FF2B5EF4-FFF2-40B4-BE49-F238E27FC236}">
                <a16:creationId xmlns:a16="http://schemas.microsoft.com/office/drawing/2014/main" id="{079D849E-AB37-4B79-9B26-ECA1684AA82F}"/>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Adana’ya yarın gideceğim, dedi.</a:t>
            </a:r>
          </a:p>
        </p:txBody>
      </p:sp>
      <p:sp>
        <p:nvSpPr>
          <p:cNvPr id="10" name="">
            <a:extLst xmlns:a="http://schemas.openxmlformats.org/drawingml/2006/main">
              <a:ext uri="{FF2B5EF4-FFF2-40B4-BE49-F238E27FC236}">
                <a16:creationId xmlns:a16="http://schemas.microsoft.com/office/drawing/2014/main" id="{5CC3774F-D4DC-40B6-ADA2-CA789AA011C9}"/>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Aç karnına sigara içmekle hiç de iyi etmiyorsun, dedi. (Necati Cumalı)</a:t>
            </a:r>
          </a:p>
        </p:txBody>
      </p:sp>
    </p:spTree>
    <p:extLst>
      <p:ext uri="{BB962C8B-B14F-4D97-AF65-F5344CB8AC3E}">
        <p14:creationId xmlns:p14="http://schemas.microsoft.com/office/powerpoint/2010/main" val="1334091800"/>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A2950E-27C0-46A1-BC60-D0AB086701A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24FA6C-847B-4C72-9066-867A58604B9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6EC25DE7-23BA-4D79-92A4-EFF91DB19D38}"/>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1ACF54E7-D457-43F1-94EF-46317F756399}"/>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6/18</a:t>
            </a:r>
          </a:p>
        </p:txBody>
      </p:sp>
      <p:sp>
        <p:nvSpPr>
          <p:cNvPr id="5" name="">
            <a:extLst xmlns:a="http://schemas.openxmlformats.org/drawingml/2006/main">
              <a:ext uri="{FF2B5EF4-FFF2-40B4-BE49-F238E27FC236}">
                <a16:creationId xmlns:a16="http://schemas.microsoft.com/office/drawing/2014/main" id="{79A877FC-A058-466C-B581-9B9C44AABAEA}"/>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654DE528-C621-4D8F-9D34-CEE9155141B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BF140E8-502B-4364-B6C0-47488FE33A35}"/>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7. Konuşma çizgisinden sonraki alıntı cümlesinin bitimine konur:</a:t>
            </a:r>
          </a:p>
        </p:txBody>
      </p:sp>
      <p:sp>
        <p:nvSpPr>
          <p:cNvPr id="8" name="">
            <a:extLst xmlns:a="http://schemas.openxmlformats.org/drawingml/2006/main">
              <a:ext uri="{FF2B5EF4-FFF2-40B4-BE49-F238E27FC236}">
                <a16:creationId xmlns:a16="http://schemas.microsoft.com/office/drawing/2014/main" id="{38ACA09C-BA11-473E-801B-2A7F381E0D67}"/>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Bu akşam Datça’ya gidiyor musunuz, diye sordu.</a:t>
            </a:r>
          </a:p>
        </p:txBody>
      </p:sp>
      <p:sp>
        <p:nvSpPr>
          <p:cNvPr id="9" name="">
            <a:extLst xmlns:a="http://schemas.openxmlformats.org/drawingml/2006/main">
              <a:ext uri="{FF2B5EF4-FFF2-40B4-BE49-F238E27FC236}">
                <a16:creationId xmlns:a16="http://schemas.microsoft.com/office/drawing/2014/main" id="{12234BDB-EB20-48FB-AFA4-7F32F01718E8}"/>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8. Edebî eserlerde konuşma bölümünden önceki ifadenin sonuna konur:</a:t>
            </a:r>
          </a:p>
        </p:txBody>
      </p:sp>
      <p:sp>
        <p:nvSpPr>
          <p:cNvPr id="10" name="">
            <a:extLst xmlns:a="http://schemas.openxmlformats.org/drawingml/2006/main">
              <a:ext uri="{FF2B5EF4-FFF2-40B4-BE49-F238E27FC236}">
                <a16:creationId xmlns:a16="http://schemas.microsoft.com/office/drawing/2014/main" id="{3EE5DF72-E799-444F-8190-6BBA13B7F204}"/>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Bahçe kapısını açtı. Sermet Bey’e,</a:t>
            </a:r>
          </a:p>
        </p:txBody>
      </p:sp>
    </p:spTree>
    <p:extLst>
      <p:ext uri="{BB962C8B-B14F-4D97-AF65-F5344CB8AC3E}">
        <p14:creationId xmlns:p14="http://schemas.microsoft.com/office/powerpoint/2010/main" val="233863193"/>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1DAB8B-F3AD-4A22-9871-A1046D491A2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F11849-2AD6-40B6-A1A1-01455DD1382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E51CC2B4-4571-4572-8CC9-D5F927EBF83C}"/>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20C06425-2B1C-476E-A22F-3BB6E3A6374B}"/>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7/18</a:t>
            </a:r>
          </a:p>
        </p:txBody>
      </p:sp>
      <p:sp>
        <p:nvSpPr>
          <p:cNvPr id="5" name="">
            <a:extLst xmlns:a="http://schemas.openxmlformats.org/drawingml/2006/main">
              <a:ext uri="{FF2B5EF4-FFF2-40B4-BE49-F238E27FC236}">
                <a16:creationId xmlns:a16="http://schemas.microsoft.com/office/drawing/2014/main" id="{9D2A07DD-AB76-46D1-B8AB-AA0440056697}"/>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14</a:t>
            </a:r>
          </a:p>
        </p:txBody>
      </p:sp>
      <p:sp>
        <p:nvSpPr>
          <p:cNvPr id="6" name="">
            <a:extLst xmlns:a="http://schemas.openxmlformats.org/drawingml/2006/main">
              <a:ext uri="{FF2B5EF4-FFF2-40B4-BE49-F238E27FC236}">
                <a16:creationId xmlns:a16="http://schemas.microsoft.com/office/drawing/2014/main" id="{B52166E4-F3A8-467E-9C09-026047521C0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0963634-7D2D-4716-8273-4EFA90CE8995}"/>
              </a:ext>
            </a:extLst>
          </p:cNvPr>
          <p:cNvSpPr>
            <a:spLocks xmlns:a="http://schemas.openxmlformats.org/drawingml/2006/main" noGrp="1"/>
          </p:cNvSpPr>
          <p:nvPr/>
        </p:nvSpPr>
        <p:spPr>
          <a:xfrm xmlns:a="http://schemas.openxmlformats.org/drawingml/2006/main">
            <a:off x="666750" y="1571625"/>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Bu anahtar köşkü de açar, dedi. (Ömer Seyfettin)</a:t>
            </a:r>
          </a:p>
        </p:txBody>
      </p:sp>
      <p:sp>
        <p:nvSpPr>
          <p:cNvPr id="8" name="">
            <a:extLst xmlns:a="http://schemas.openxmlformats.org/drawingml/2006/main">
              <a:ext uri="{FF2B5EF4-FFF2-40B4-BE49-F238E27FC236}">
                <a16:creationId xmlns:a16="http://schemas.microsoft.com/office/drawing/2014/main" id="{62816296-29C0-4E63-825D-6C139FDB25A9}"/>
              </a:ext>
            </a:extLst>
          </p:cNvPr>
          <p:cNvSpPr>
            <a:spLocks xmlns:a="http://schemas.openxmlformats.org/drawingml/2006/main" noGrp="1"/>
          </p:cNvSpPr>
          <p:nvPr/>
        </p:nvSpPr>
        <p:spPr>
          <a:xfrm xmlns:a="http://schemas.openxmlformats.org/drawingml/2006/main">
            <a:off x="666750" y="2583180"/>
            <a:ext cx="10858500" cy="269176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9. Kendisinden sonraki cümleye bağlı olarak ret, kabul ve teşvik bildiren hayır, yok, evet, peki, pekâlâ, tamam, olur, hayhay, başüstüne, öyle, haydi, elbette gibi kelimelerden sonra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Peki, gideriz. Olur, ben de size katılırım. Hayhay, memnun oluruz. Haydi, geç kalıyoruz.</a:t>
            </a:r>
          </a:p>
        </p:txBody>
      </p:sp>
      <p:sp>
        <p:nvSpPr>
          <p:cNvPr id="9" name="">
            <a:extLst xmlns:a="http://schemas.openxmlformats.org/drawingml/2006/main">
              <a:ext uri="{FF2B5EF4-FFF2-40B4-BE49-F238E27FC236}">
                <a16:creationId xmlns:a16="http://schemas.microsoft.com/office/drawing/2014/main" id="{8C06DB8C-BB6D-41A3-8C38-F78510EC563F}"/>
              </a:ext>
            </a:extLst>
          </p:cNvPr>
          <p:cNvSpPr>
            <a:spLocks xmlns:a="http://schemas.openxmlformats.org/drawingml/2006/main" noGrp="1"/>
          </p:cNvSpPr>
          <p:nvPr/>
        </p:nvSpPr>
        <p:spPr>
          <a:xfrm xmlns:a="http://schemas.openxmlformats.org/drawingml/2006/main">
            <a:off x="666750" y="5389245"/>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Evet, kırk seneden beri Türkçe merhale merhale Türkleşiyor. (Yahya Kemal Beyatlı)</a:t>
            </a:r>
          </a:p>
        </p:txBody>
      </p:sp>
    </p:spTree>
    <p:extLst>
      <p:ext uri="{BB962C8B-B14F-4D97-AF65-F5344CB8AC3E}">
        <p14:creationId xmlns:p14="http://schemas.microsoft.com/office/powerpoint/2010/main" val="2051236207"/>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F978AD5-5A43-4564-9A1A-F9979911A24A}"/>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391B76-7266-416D-8F8D-63C2ACF3CB6B}"/>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33AF8E7E-F7FB-4EF0-A90C-98E99C14323C}"/>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F78DF597-2FFD-4B93-A7AF-A0B877126888}"/>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8/18</a:t>
            </a:r>
          </a:p>
        </p:txBody>
      </p:sp>
      <p:sp>
        <p:nvSpPr>
          <p:cNvPr id="5" name="">
            <a:extLst xmlns:a="http://schemas.openxmlformats.org/drawingml/2006/main">
              <a:ext uri="{FF2B5EF4-FFF2-40B4-BE49-F238E27FC236}">
                <a16:creationId xmlns:a16="http://schemas.microsoft.com/office/drawing/2014/main" id="{1DB17B20-5D3F-437F-A1DC-D652ECED22D7}"/>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4B972DC4-97FB-4B0D-BEF2-B59BE8E0762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0BE88A0-1E1F-4729-992A-2169F13DA054}"/>
              </a:ext>
            </a:extLst>
          </p:cNvPr>
          <p:cNvSpPr>
            <a:spLocks xmlns:a="http://schemas.openxmlformats.org/drawingml/2006/main" noGrp="1"/>
          </p:cNvSpPr>
          <p:nvPr/>
        </p:nvSpPr>
        <p:spPr>
          <a:xfrm xmlns:a="http://schemas.openxmlformats.org/drawingml/2006/main">
            <a:off x="666750" y="1571625"/>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10. Bir kelimenin kendisinden sonra gelen kelime veya kelime gruplarıyla yapı ve anlam bakımından bağlantısı olmadığını göstermek ve anlam karışıklığını önlemek için kullanılır:</a:t>
            </a:r>
          </a:p>
        </p:txBody>
      </p:sp>
      <p:sp>
        <p:nvSpPr>
          <p:cNvPr id="8" name="">
            <a:extLst xmlns:a="http://schemas.openxmlformats.org/drawingml/2006/main">
              <a:ext uri="{FF2B5EF4-FFF2-40B4-BE49-F238E27FC236}">
                <a16:creationId xmlns:a16="http://schemas.microsoft.com/office/drawing/2014/main" id="{2B037240-E67E-4F74-939E-D2787B211F74}"/>
              </a:ext>
            </a:extLst>
          </p:cNvPr>
          <p:cNvSpPr>
            <a:spLocks xmlns:a="http://schemas.openxmlformats.org/drawingml/2006/main" noGrp="1"/>
          </p:cNvSpPr>
          <p:nvPr/>
        </p:nvSpPr>
        <p:spPr>
          <a:xfrm xmlns:a="http://schemas.openxmlformats.org/drawingml/2006/main">
            <a:off x="666750" y="34347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tek gözlü, genç fakat ihtiyar görünen bir adamcağızdır. (Halit Ziya Uşaklıgil)</a:t>
            </a:r>
          </a:p>
        </p:txBody>
      </p:sp>
      <p:sp>
        <p:nvSpPr>
          <p:cNvPr id="9" name="">
            <a:extLst xmlns:a="http://schemas.openxmlformats.org/drawingml/2006/main">
              <a:ext uri="{FF2B5EF4-FFF2-40B4-BE49-F238E27FC236}">
                <a16:creationId xmlns:a16="http://schemas.microsoft.com/office/drawing/2014/main" id="{51C6FF89-EF2E-46E8-BC30-250B086B79BC}"/>
              </a:ext>
            </a:extLst>
          </p:cNvPr>
          <p:cNvSpPr>
            <a:spLocks xmlns:a="http://schemas.openxmlformats.org/drawingml/2006/main" noGrp="1"/>
          </p:cNvSpPr>
          <p:nvPr/>
        </p:nvSpPr>
        <p:spPr>
          <a:xfrm xmlns:a="http://schemas.openxmlformats.org/drawingml/2006/main">
            <a:off x="666750" y="442341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gece, eğlenceleri içlerine sinmedi. (Reşat Nuri Güntekin)</a:t>
            </a:r>
          </a:p>
        </p:txBody>
      </p:sp>
      <p:sp>
        <p:nvSpPr>
          <p:cNvPr id="10" name="">
            <a:extLst xmlns:a="http://schemas.openxmlformats.org/drawingml/2006/main">
              <a:ext uri="{FF2B5EF4-FFF2-40B4-BE49-F238E27FC236}">
                <a16:creationId xmlns:a16="http://schemas.microsoft.com/office/drawing/2014/main" id="{BDD99CBC-648B-4081-9D84-622A8F2625B6}"/>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11. Hitap için kullanılan kelimelerden sonra konur:</a:t>
            </a:r>
          </a:p>
        </p:txBody>
      </p:sp>
    </p:spTree>
    <p:extLst>
      <p:ext uri="{BB962C8B-B14F-4D97-AF65-F5344CB8AC3E}">
        <p14:creationId xmlns:p14="http://schemas.microsoft.com/office/powerpoint/2010/main" val="1470318655"/>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238559-3A01-462B-849B-4BFEBC85A58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95EF9B-C986-4066-BDAE-8F0FEF4F8A32}"/>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BB947679-8E73-47B8-AA25-DB5125E3E49E}"/>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070BBC93-6D98-417D-8841-C9F90DB7D5D5}"/>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9/18</a:t>
            </a:r>
          </a:p>
        </p:txBody>
      </p:sp>
      <p:sp>
        <p:nvSpPr>
          <p:cNvPr id="5" name="">
            <a:extLst xmlns:a="http://schemas.openxmlformats.org/drawingml/2006/main">
              <a:ext uri="{FF2B5EF4-FFF2-40B4-BE49-F238E27FC236}">
                <a16:creationId xmlns:a16="http://schemas.microsoft.com/office/drawing/2014/main" id="{3EE28DD2-CC71-456C-ADE0-F4E263E09221}"/>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16</a:t>
            </a:r>
          </a:p>
        </p:txBody>
      </p:sp>
      <p:sp>
        <p:nvSpPr>
          <p:cNvPr id="6" name="">
            <a:extLst xmlns:a="http://schemas.openxmlformats.org/drawingml/2006/main">
              <a:ext uri="{FF2B5EF4-FFF2-40B4-BE49-F238E27FC236}">
                <a16:creationId xmlns:a16="http://schemas.microsoft.com/office/drawing/2014/main" id="{D667A386-C90F-4BAD-AC4F-B353A456373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077CB38-15B3-4DC0-9A02-B453C8B42032}"/>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Efendiler, bilirsiniz ki hayat demek, mücadele, müsademe demektir. (Atatürk)</a:t>
            </a:r>
          </a:p>
        </p:txBody>
      </p:sp>
      <p:sp>
        <p:nvSpPr>
          <p:cNvPr id="8" name="">
            <a:extLst xmlns:a="http://schemas.openxmlformats.org/drawingml/2006/main">
              <a:ext uri="{FF2B5EF4-FFF2-40B4-BE49-F238E27FC236}">
                <a16:creationId xmlns:a16="http://schemas.microsoft.com/office/drawing/2014/main" id="{7C3257B6-19EE-4EF7-AE00-ABF8F48A15B2}"/>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Sayın Başkan,</a:t>
            </a:r>
          </a:p>
        </p:txBody>
      </p:sp>
      <p:sp>
        <p:nvSpPr>
          <p:cNvPr id="9" name="">
            <a:extLst xmlns:a="http://schemas.openxmlformats.org/drawingml/2006/main">
              <a:ext uri="{FF2B5EF4-FFF2-40B4-BE49-F238E27FC236}">
                <a16:creationId xmlns:a16="http://schemas.microsoft.com/office/drawing/2014/main" id="{4A65CB63-59B5-4D74-8517-1BB414AAF0EF}"/>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Sevgili Kardeşim,</a:t>
            </a:r>
          </a:p>
        </p:txBody>
      </p:sp>
      <p:sp>
        <p:nvSpPr>
          <p:cNvPr id="10" name="">
            <a:extLst xmlns:a="http://schemas.openxmlformats.org/drawingml/2006/main">
              <a:ext uri="{FF2B5EF4-FFF2-40B4-BE49-F238E27FC236}">
                <a16:creationId xmlns:a16="http://schemas.microsoft.com/office/drawing/2014/main" id="{08EE996B-5224-44AC-8214-C513F3BE84E5}"/>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Değerli Arkadaşım,</a:t>
            </a:r>
          </a:p>
        </p:txBody>
      </p:sp>
    </p:spTree>
    <p:extLst>
      <p:ext uri="{BB962C8B-B14F-4D97-AF65-F5344CB8AC3E}">
        <p14:creationId xmlns:p14="http://schemas.microsoft.com/office/powerpoint/2010/main" val="1599634444"/>
      </p:ext>
    </p:extLst>
  </p:cSld>
</p:sld>
</file>

<file path=ppt/slides/slide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1F6FB0-AE32-4EB8-83D8-679ED242908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BF8FF6-CAC9-42F6-827F-32EDD79DE8E3}"/>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9868CCDA-677D-42FA-B7E1-50CB059C6FCD}"/>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A9B126C4-3D17-4FBB-823F-8A6B7E3B1730}"/>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10/18</a:t>
            </a:r>
          </a:p>
        </p:txBody>
      </p:sp>
      <p:sp>
        <p:nvSpPr>
          <p:cNvPr id="5" name="">
            <a:extLst xmlns:a="http://schemas.openxmlformats.org/drawingml/2006/main">
              <a:ext uri="{FF2B5EF4-FFF2-40B4-BE49-F238E27FC236}">
                <a16:creationId xmlns:a16="http://schemas.microsoft.com/office/drawing/2014/main" id="{DA12B0FE-18DA-42E6-9B62-FD539534EC6B}"/>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17</a:t>
            </a:r>
          </a:p>
        </p:txBody>
      </p:sp>
      <p:sp>
        <p:nvSpPr>
          <p:cNvPr id="6" name="">
            <a:extLst xmlns:a="http://schemas.openxmlformats.org/drawingml/2006/main">
              <a:ext uri="{FF2B5EF4-FFF2-40B4-BE49-F238E27FC236}">
                <a16:creationId xmlns:a16="http://schemas.microsoft.com/office/drawing/2014/main" id="{3EB8CEB9-86CE-49F1-A831-3C9B84967BE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BA173FB-46D0-410B-BF81-0902357CD699}"/>
              </a:ext>
            </a:extLst>
          </p:cNvPr>
          <p:cNvSpPr>
            <a:spLocks xmlns:a="http://schemas.openxmlformats.org/drawingml/2006/main" noGrp="1"/>
          </p:cNvSpPr>
          <p:nvPr/>
        </p:nvSpPr>
        <p:spPr>
          <a:xfrm xmlns:a="http://schemas.openxmlformats.org/drawingml/2006/main">
            <a:off x="666750" y="157162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12. Sayıların yazılışında kesirleri ayırmak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38,6 (otuz sekiz tam, onda altı), 0,45 (sıfır tam, yüzde kırk beş)</a:t>
            </a:r>
          </a:p>
        </p:txBody>
      </p:sp>
      <p:sp>
        <p:nvSpPr>
          <p:cNvPr id="8" name="">
            <a:extLst xmlns:a="http://schemas.openxmlformats.org/drawingml/2006/main">
              <a:ext uri="{FF2B5EF4-FFF2-40B4-BE49-F238E27FC236}">
                <a16:creationId xmlns:a16="http://schemas.microsoft.com/office/drawing/2014/main" id="{1237375B-D9B8-4F33-96ED-82C2B0F79F14}"/>
              </a:ext>
            </a:extLst>
          </p:cNvPr>
          <p:cNvSpPr>
            <a:spLocks xmlns:a="http://schemas.openxmlformats.org/drawingml/2006/main" noGrp="1"/>
          </p:cNvSpPr>
          <p:nvPr/>
        </p:nvSpPr>
        <p:spPr>
          <a:xfrm xmlns:a="http://schemas.openxmlformats.org/drawingml/2006/main">
            <a:off x="666750" y="3143250"/>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13. Metin içinde art arda gelen zarf-fiil eki almış kelimelerden sonra konur:</a:t>
            </a:r>
          </a:p>
        </p:txBody>
      </p:sp>
      <p:sp>
        <p:nvSpPr>
          <p:cNvPr id="9" name="">
            <a:extLst xmlns:a="http://schemas.openxmlformats.org/drawingml/2006/main">
              <a:ext uri="{FF2B5EF4-FFF2-40B4-BE49-F238E27FC236}">
                <a16:creationId xmlns:a16="http://schemas.microsoft.com/office/drawing/2014/main" id="{015BDE77-73E9-468F-9109-99778CDC0562}"/>
              </a:ext>
            </a:extLst>
          </p:cNvPr>
          <p:cNvSpPr>
            <a:spLocks xmlns:a="http://schemas.openxmlformats.org/drawingml/2006/main" noGrp="1"/>
          </p:cNvSpPr>
          <p:nvPr/>
        </p:nvSpPr>
        <p:spPr>
          <a:xfrm xmlns:a="http://schemas.openxmlformats.org/drawingml/2006/main">
            <a:off x="666750" y="3986213"/>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Ancak yemekte bir karara varıp, arkadaşına dikkatli dikkatli bakarak konuştu.</a:t>
            </a:r>
          </a:p>
        </p:txBody>
      </p:sp>
      <p:sp>
        <p:nvSpPr>
          <p:cNvPr id="10" name="">
            <a:extLst xmlns:a="http://schemas.openxmlformats.org/drawingml/2006/main">
              <a:ext uri="{FF2B5EF4-FFF2-40B4-BE49-F238E27FC236}">
                <a16:creationId xmlns:a16="http://schemas.microsoft.com/office/drawing/2014/main" id="{713B1004-2FE4-46EF-95DF-8D4D2DF61BE0}"/>
              </a:ext>
            </a:extLst>
          </p:cNvPr>
          <p:cNvSpPr>
            <a:spLocks xmlns:a="http://schemas.openxmlformats.org/drawingml/2006/main" noGrp="1"/>
          </p:cNvSpPr>
          <p:nvPr/>
        </p:nvSpPr>
        <p:spPr>
          <a:xfrm xmlns:a="http://schemas.openxmlformats.org/drawingml/2006/main">
            <a:off x="666750" y="4829175"/>
            <a:ext cx="10858500" cy="145732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Metin içinde zarf-fiil eki almış kelimelerden sonra virgül konmaz:</a:t>
            </a:r>
          </a:p>
        </p:txBody>
      </p:sp>
    </p:spTree>
    <p:extLst>
      <p:ext uri="{BB962C8B-B14F-4D97-AF65-F5344CB8AC3E}">
        <p14:creationId xmlns:p14="http://schemas.microsoft.com/office/powerpoint/2010/main" val="958381363"/>
      </p:ext>
    </p:extLst>
  </p:cSld>
</p:sld>
</file>

<file path=ppt/slides/slide1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F6DB65-BF42-4F20-81D0-4A8E50EC1C7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BD68D2-CF5D-4080-A465-F6A2BD2693B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1F660D77-A115-4C2B-B4ED-B926BF6D461F}"/>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040EEC9C-C561-4C31-945C-10CCBAB06577}"/>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11/18</a:t>
            </a:r>
          </a:p>
        </p:txBody>
      </p:sp>
      <p:sp>
        <p:nvSpPr>
          <p:cNvPr id="5" name="">
            <a:extLst xmlns:a="http://schemas.openxmlformats.org/drawingml/2006/main">
              <a:ext uri="{FF2B5EF4-FFF2-40B4-BE49-F238E27FC236}">
                <a16:creationId xmlns:a16="http://schemas.microsoft.com/office/drawing/2014/main" id="{D339B3D1-D09F-4987-B0DC-E80B5EC4824A}"/>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18</a:t>
            </a:r>
          </a:p>
        </p:txBody>
      </p:sp>
      <p:sp>
        <p:nvSpPr>
          <p:cNvPr id="6" name="">
            <a:extLst xmlns:a="http://schemas.openxmlformats.org/drawingml/2006/main">
              <a:ext uri="{FF2B5EF4-FFF2-40B4-BE49-F238E27FC236}">
                <a16:creationId xmlns:a16="http://schemas.microsoft.com/office/drawing/2014/main" id="{63BBE7B5-3EB8-4E3B-ADFA-EDD8CA024D0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629CF6B-50BD-4D53-AE7F-E88AFCB190DC}"/>
              </a:ext>
            </a:extLst>
          </p:cNvPr>
          <p:cNvSpPr>
            <a:spLocks xmlns:a="http://schemas.openxmlformats.org/drawingml/2006/main" noGrp="1"/>
          </p:cNvSpPr>
          <p:nvPr/>
        </p:nvSpPr>
        <p:spPr>
          <a:xfrm xmlns:a="http://schemas.openxmlformats.org/drawingml/2006/main">
            <a:off x="666750" y="157162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Cumaları bahçede buluştukça kıza kendisinin adi bir mektep talebesi olmadığını anlatmaya çalışıyordu. (Halide Edip Adıvar)</a:t>
            </a:r>
          </a:p>
        </p:txBody>
      </p:sp>
      <p:sp>
        <p:nvSpPr>
          <p:cNvPr id="8" name="">
            <a:extLst xmlns:a="http://schemas.openxmlformats.org/drawingml/2006/main">
              <a:ext uri="{FF2B5EF4-FFF2-40B4-BE49-F238E27FC236}">
                <a16:creationId xmlns:a16="http://schemas.microsoft.com/office/drawing/2014/main" id="{2CC1CEB5-6046-41D5-B753-90AC578CB46A}"/>
              </a:ext>
            </a:extLst>
          </p:cNvPr>
          <p:cNvSpPr>
            <a:spLocks xmlns:a="http://schemas.openxmlformats.org/drawingml/2006/main" noGrp="1"/>
          </p:cNvSpPr>
          <p:nvPr/>
        </p:nvSpPr>
        <p:spPr>
          <a:xfrm xmlns:a="http://schemas.openxmlformats.org/drawingml/2006/main">
            <a:off x="666750" y="3143250"/>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Şimdiye dek, ben kendimi bildim bileli kimse Değirmenoluk köyünden kaçıp da başka köyde çobanlık, yanaşmalık etmedi. (Yaşar Kemal)</a:t>
            </a:r>
          </a:p>
        </p:txBody>
      </p:sp>
      <p:sp>
        <p:nvSpPr>
          <p:cNvPr id="9" name="">
            <a:extLst xmlns:a="http://schemas.openxmlformats.org/drawingml/2006/main">
              <a:ext uri="{FF2B5EF4-FFF2-40B4-BE49-F238E27FC236}">
                <a16:creationId xmlns:a16="http://schemas.microsoft.com/office/drawing/2014/main" id="{6F80CE11-A8E2-4874-ABDF-4280C92B2B3C}"/>
              </a:ext>
            </a:extLst>
          </p:cNvPr>
          <p:cNvSpPr>
            <a:spLocks xmlns:a="http://schemas.openxmlformats.org/drawingml/2006/main" noGrp="1"/>
          </p:cNvSpPr>
          <p:nvPr/>
        </p:nvSpPr>
        <p:spPr>
          <a:xfrm xmlns:a="http://schemas.openxmlformats.org/drawingml/2006/main">
            <a:off x="666750" y="471487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Meydanlığa varmadan bir iki defa İsmail kendisini gördü mü diye kahveye baktı. (Necati Cumalı)</a:t>
            </a:r>
          </a:p>
        </p:txBody>
      </p:sp>
      <p:sp>
        <p:nvSpPr>
          <p:cNvPr id="10" name="">
            <a:extLst xmlns:a="http://schemas.openxmlformats.org/drawingml/2006/main">
              <a:ext uri="{FF2B5EF4-FFF2-40B4-BE49-F238E27FC236}">
                <a16:creationId xmlns:a16="http://schemas.microsoft.com/office/drawing/2014/main" id="{BF67A2A1-C919-40BC-A5B8-A44999DB605D}"/>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14. Özne olarak kullanıldıklarında bu, şu, o zamirlerinden sonra konur:</a:t>
            </a:r>
          </a:p>
        </p:txBody>
      </p:sp>
    </p:spTree>
    <p:extLst>
      <p:ext uri="{BB962C8B-B14F-4D97-AF65-F5344CB8AC3E}">
        <p14:creationId xmlns:p14="http://schemas.microsoft.com/office/powerpoint/2010/main" val="2140244018"/>
      </p:ext>
    </p:extLst>
  </p:cSld>
</p:sld>
</file>

<file path=ppt/slides/slide1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8D3135-13E9-4919-A29F-C2DA9CB18F0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251C3B-5B7D-411D-8574-2471B8BB2C1D}"/>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329C8968-6EEC-406B-8AF1-304495D5101F}"/>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65D4984D-A730-4B21-8C5A-FA49F96B428C}"/>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12/18</a:t>
            </a:r>
          </a:p>
        </p:txBody>
      </p:sp>
      <p:sp>
        <p:nvSpPr>
          <p:cNvPr id="5" name="">
            <a:extLst xmlns:a="http://schemas.openxmlformats.org/drawingml/2006/main">
              <a:ext uri="{FF2B5EF4-FFF2-40B4-BE49-F238E27FC236}">
                <a16:creationId xmlns:a16="http://schemas.microsoft.com/office/drawing/2014/main" id="{9BFC1F8D-6806-486F-8387-40D1B127F92C}"/>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19</a:t>
            </a:r>
          </a:p>
        </p:txBody>
      </p:sp>
      <p:sp>
        <p:nvSpPr>
          <p:cNvPr id="6" name="">
            <a:extLst xmlns:a="http://schemas.openxmlformats.org/drawingml/2006/main">
              <a:ext uri="{FF2B5EF4-FFF2-40B4-BE49-F238E27FC236}">
                <a16:creationId xmlns:a16="http://schemas.microsoft.com/office/drawing/2014/main" id="{8EFE8CD7-7463-4D00-827B-E6CDB2AC9E1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4F4B2AB-C99D-46C8-81B3-2D85C206D7DD}"/>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benim gibi yazarlar için hiç kolay olmaz.</a:t>
            </a:r>
          </a:p>
        </p:txBody>
      </p:sp>
      <p:sp>
        <p:nvSpPr>
          <p:cNvPr id="8" name="">
            <a:extLst xmlns:a="http://schemas.openxmlformats.org/drawingml/2006/main">
              <a:ext uri="{FF2B5EF4-FFF2-40B4-BE49-F238E27FC236}">
                <a16:creationId xmlns:a16="http://schemas.microsoft.com/office/drawing/2014/main" id="{8FB74820-DB3D-4044-B0CC-CB92F2AF3753}"/>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O, eski defterleri çoktan kapatmış, Osmanlıya kucağını açmıştı. (Tarık Buğra)</a:t>
            </a:r>
          </a:p>
        </p:txBody>
      </p:sp>
      <p:sp>
        <p:nvSpPr>
          <p:cNvPr id="9" name="">
            <a:extLst xmlns:a="http://schemas.openxmlformats.org/drawingml/2006/main">
              <a:ext uri="{FF2B5EF4-FFF2-40B4-BE49-F238E27FC236}">
                <a16:creationId xmlns:a16="http://schemas.microsoft.com/office/drawing/2014/main" id="{92ACBF5D-74ED-41D9-BAF3-173C54CD72A5}"/>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15. Kitap, dergi vb.nin künyelerinde yazar, eser, basımevi vb. maddelerden sonra konur:</a:t>
            </a:r>
          </a:p>
        </p:txBody>
      </p:sp>
      <p:sp>
        <p:nvSpPr>
          <p:cNvPr id="10" name="">
            <a:extLst xmlns:a="http://schemas.openxmlformats.org/drawingml/2006/main">
              <a:ext uri="{FF2B5EF4-FFF2-40B4-BE49-F238E27FC236}">
                <a16:creationId xmlns:a16="http://schemas.microsoft.com/office/drawing/2014/main" id="{00DAE288-036C-4E83-A5EF-38F213AF659C}"/>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Falih Rıfkı ATAY, Tuna Kıyıları, Remzi Kitabevi, İstanbul, 1938.</a:t>
            </a:r>
          </a:p>
        </p:txBody>
      </p:sp>
    </p:spTree>
    <p:extLst>
      <p:ext uri="{BB962C8B-B14F-4D97-AF65-F5344CB8AC3E}">
        <p14:creationId xmlns:p14="http://schemas.microsoft.com/office/powerpoint/2010/main" val="823217134"/>
      </p:ext>
    </p:extLst>
  </p:cSld>
</p:sld>
</file>

<file path=ppt/slides/slide2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1C1AF4-D81F-4180-8897-D4C582CA1BE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DF9DC1-0725-48D8-ACF4-75308DD9BD03}"/>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C59074C9-6F18-4C6D-8EE8-36D47C1E4C3D}"/>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D7B296BE-6827-4743-83D7-4466114C69F0}"/>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13/18</a:t>
            </a:r>
          </a:p>
        </p:txBody>
      </p:sp>
      <p:sp>
        <p:nvSpPr>
          <p:cNvPr id="5" name="">
            <a:extLst xmlns:a="http://schemas.openxmlformats.org/drawingml/2006/main">
              <a:ext uri="{FF2B5EF4-FFF2-40B4-BE49-F238E27FC236}">
                <a16:creationId xmlns:a16="http://schemas.microsoft.com/office/drawing/2014/main" id="{D4F1DC82-8F2E-4E44-B4D8-548EA8A8AAD5}"/>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20</a:t>
            </a:r>
          </a:p>
        </p:txBody>
      </p:sp>
      <p:sp>
        <p:nvSpPr>
          <p:cNvPr id="6" name="">
            <a:extLst xmlns:a="http://schemas.openxmlformats.org/drawingml/2006/main">
              <a:ext uri="{FF2B5EF4-FFF2-40B4-BE49-F238E27FC236}">
                <a16:creationId xmlns:a16="http://schemas.microsoft.com/office/drawing/2014/main" id="{F40F374C-9DD7-48B1-A078-5751F03BA4F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B2DD375-875A-45FD-88DE-E02956F50721}"/>
              </a:ext>
            </a:extLst>
          </p:cNvPr>
          <p:cNvSpPr>
            <a:spLocks xmlns:a="http://schemas.openxmlformats.org/drawingml/2006/main" noGrp="1"/>
          </p:cNvSpPr>
          <p:nvPr/>
        </p:nvSpPr>
        <p:spPr>
          <a:xfrm xmlns:a="http://schemas.openxmlformats.org/drawingml/2006/main">
            <a:off x="666750" y="157162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Yazarın soyadı önce yazılmışsa soyadından sonra da virgül konur:</a:t>
            </a:r>
          </a:p>
        </p:txBody>
      </p:sp>
      <p:sp>
        <p:nvSpPr>
          <p:cNvPr id="8" name="">
            <a:extLst xmlns:a="http://schemas.openxmlformats.org/drawingml/2006/main">
              <a:ext uri="{FF2B5EF4-FFF2-40B4-BE49-F238E27FC236}">
                <a16:creationId xmlns:a16="http://schemas.microsoft.com/office/drawing/2014/main" id="{4089B0E4-D674-4BFF-8038-1A116814B1AF}"/>
              </a:ext>
            </a:extLst>
          </p:cNvPr>
          <p:cNvSpPr>
            <a:spLocks xmlns:a="http://schemas.openxmlformats.org/drawingml/2006/main" noGrp="1"/>
          </p:cNvSpPr>
          <p:nvPr/>
        </p:nvSpPr>
        <p:spPr>
          <a:xfrm xmlns:a="http://schemas.openxmlformats.org/drawingml/2006/main">
            <a:off x="666750" y="241458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ERGİN, Muharrem, Dede Korkut Kitabı, Ankara, 1958.</a:t>
            </a:r>
          </a:p>
        </p:txBody>
      </p:sp>
      <p:sp>
        <p:nvSpPr>
          <p:cNvPr id="9" name="">
            <a:extLst xmlns:a="http://schemas.openxmlformats.org/drawingml/2006/main">
              <a:ext uri="{FF2B5EF4-FFF2-40B4-BE49-F238E27FC236}">
                <a16:creationId xmlns:a16="http://schemas.microsoft.com/office/drawing/2014/main" id="{9CA66C1A-CCC4-4748-A17C-2A8B3E2A5D7E}"/>
              </a:ext>
            </a:extLst>
          </p:cNvPr>
          <p:cNvSpPr>
            <a:spLocks xmlns:a="http://schemas.openxmlformats.org/drawingml/2006/main" noGrp="1"/>
          </p:cNvSpPr>
          <p:nvPr/>
        </p:nvSpPr>
        <p:spPr>
          <a:xfrm xmlns:a="http://schemas.openxmlformats.org/drawingml/2006/main">
            <a:off x="666750" y="3257550"/>
            <a:ext cx="10858500" cy="145732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Metin içinde ve, veya, yahut, ya … ya bağlaçlarından önce de sonra da virgül konmaz:</a:t>
            </a:r>
          </a:p>
        </p:txBody>
      </p:sp>
      <p:sp>
        <p:nvSpPr>
          <p:cNvPr id="10" name="">
            <a:extLst xmlns:a="http://schemas.openxmlformats.org/drawingml/2006/main">
              <a:ext uri="{FF2B5EF4-FFF2-40B4-BE49-F238E27FC236}">
                <a16:creationId xmlns:a16="http://schemas.microsoft.com/office/drawing/2014/main" id="{5BC038C9-CCD8-40BD-AB7E-126DD3E0B09E}"/>
              </a:ext>
            </a:extLst>
          </p:cNvPr>
          <p:cNvSpPr>
            <a:spLocks xmlns:a="http://schemas.openxmlformats.org/drawingml/2006/main" noGrp="1"/>
          </p:cNvSpPr>
          <p:nvPr/>
        </p:nvSpPr>
        <p:spPr>
          <a:xfrm xmlns:a="http://schemas.openxmlformats.org/drawingml/2006/main">
            <a:off x="666750" y="482917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Nihat sabaha kadar uyuyamadı ve şafak sökerken Faik’e bol teşekkürlerle dolu bir kâğıt bırakarak iki gün evvelki cephe dönüşü kıyafeti ile sokağa fırladı. (Peyami Safa)</a:t>
            </a:r>
          </a:p>
        </p:txBody>
      </p:sp>
    </p:spTree>
    <p:extLst>
      <p:ext uri="{BB962C8B-B14F-4D97-AF65-F5344CB8AC3E}">
        <p14:creationId xmlns:p14="http://schemas.microsoft.com/office/powerpoint/2010/main" val="1730621010"/>
      </p:ext>
    </p:extLst>
  </p:cSld>
</p:sld>
</file>

<file path=ppt/slides/slide2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CCE6B1-EF06-4316-AA63-BAF51596F9E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B6BF01-2E84-4CF9-B595-07FDD77F76E6}"/>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A03BD63E-D9BE-4E87-8DA9-7618378776AE}"/>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32E6A278-C76B-40D4-AF76-B417425C6860}"/>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14/18</a:t>
            </a:r>
          </a:p>
        </p:txBody>
      </p:sp>
      <p:sp>
        <p:nvSpPr>
          <p:cNvPr id="5" name="">
            <a:extLst xmlns:a="http://schemas.openxmlformats.org/drawingml/2006/main">
              <a:ext uri="{FF2B5EF4-FFF2-40B4-BE49-F238E27FC236}">
                <a16:creationId xmlns:a16="http://schemas.microsoft.com/office/drawing/2014/main" id="{D013E66D-D89D-4349-B579-097E6DB7C776}"/>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21</a:t>
            </a:r>
          </a:p>
        </p:txBody>
      </p:sp>
      <p:sp>
        <p:nvSpPr>
          <p:cNvPr id="6" name="">
            <a:extLst xmlns:a="http://schemas.openxmlformats.org/drawingml/2006/main">
              <a:ext uri="{FF2B5EF4-FFF2-40B4-BE49-F238E27FC236}">
                <a16:creationId xmlns:a16="http://schemas.microsoft.com/office/drawing/2014/main" id="{35BBC30F-82FC-46CB-9294-AB4A5A9670D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FDC8421-98B5-4764-9BA5-16355FE26641}"/>
              </a:ext>
            </a:extLst>
          </p:cNvPr>
          <p:cNvSpPr>
            <a:spLocks xmlns:a="http://schemas.openxmlformats.org/drawingml/2006/main" noGrp="1"/>
          </p:cNvSpPr>
          <p:nvPr/>
        </p:nvSpPr>
        <p:spPr>
          <a:xfrm xmlns:a="http://schemas.openxmlformats.org/drawingml/2006/main">
            <a:off x="666750" y="157162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 şevk içinde harap ol ya aşk içinde gönül</a:t>
            </a:r>
          </a:p>
        </p:txBody>
      </p:sp>
      <p:sp>
        <p:nvSpPr>
          <p:cNvPr id="8" name="">
            <a:extLst xmlns:a="http://schemas.openxmlformats.org/drawingml/2006/main">
              <a:ext uri="{FF2B5EF4-FFF2-40B4-BE49-F238E27FC236}">
                <a16:creationId xmlns:a16="http://schemas.microsoft.com/office/drawing/2014/main" id="{9B68CB8F-262A-4143-A871-ADB1679198E2}"/>
              </a:ext>
            </a:extLst>
          </p:cNvPr>
          <p:cNvSpPr>
            <a:spLocks xmlns:a="http://schemas.openxmlformats.org/drawingml/2006/main" noGrp="1"/>
          </p:cNvSpPr>
          <p:nvPr/>
        </p:nvSpPr>
        <p:spPr>
          <a:xfrm xmlns:a="http://schemas.openxmlformats.org/drawingml/2006/main">
            <a:off x="666750" y="256032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 lale açmalıdır göğsümüzde yahut gül! (Yahya Kemal Beyatlı)</a:t>
            </a:r>
          </a:p>
        </p:txBody>
      </p:sp>
      <p:sp>
        <p:nvSpPr>
          <p:cNvPr id="9" name="">
            <a:extLst xmlns:a="http://schemas.openxmlformats.org/drawingml/2006/main">
              <a:ext uri="{FF2B5EF4-FFF2-40B4-BE49-F238E27FC236}">
                <a16:creationId xmlns:a16="http://schemas.microsoft.com/office/drawing/2014/main" id="{42C8F31B-3869-4FDB-A964-62219113C8EF}"/>
              </a:ext>
            </a:extLst>
          </p:cNvPr>
          <p:cNvSpPr>
            <a:spLocks xmlns:a="http://schemas.openxmlformats.org/drawingml/2006/main" noGrp="1"/>
          </p:cNvSpPr>
          <p:nvPr/>
        </p:nvSpPr>
        <p:spPr>
          <a:xfrm xmlns:a="http://schemas.openxmlformats.org/drawingml/2006/main">
            <a:off x="666750" y="3549015"/>
            <a:ext cx="10858500" cy="1748790"/>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Tekrarlı bağlaçlardan önce ve sonra virgül konmaz:</a:t>
            </a:r>
          </a:p>
        </p:txBody>
      </p:sp>
      <p:sp>
        <p:nvSpPr>
          <p:cNvPr id="10" name="">
            <a:extLst xmlns:a="http://schemas.openxmlformats.org/drawingml/2006/main">
              <a:ext uri="{FF2B5EF4-FFF2-40B4-BE49-F238E27FC236}">
                <a16:creationId xmlns:a16="http://schemas.microsoft.com/office/drawing/2014/main" id="{413099BD-269A-4BC6-9181-B16DEA042AB6}"/>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Hem gider hem ağlar.</a:t>
            </a:r>
          </a:p>
        </p:txBody>
      </p:sp>
    </p:spTree>
    <p:extLst>
      <p:ext uri="{BB962C8B-B14F-4D97-AF65-F5344CB8AC3E}">
        <p14:creationId xmlns:p14="http://schemas.microsoft.com/office/powerpoint/2010/main" val="108573600"/>
      </p:ext>
    </p:extLst>
  </p:cSld>
</p:sld>
</file>

<file path=ppt/slides/slide2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7A10F5-657F-4BFF-8253-3EDE04823EF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765D7D-23BA-4F51-91F6-961C7C1F076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719AA420-0AF6-4994-A00D-B4588D6C9926}"/>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F9DF30D6-3425-4054-BC21-D1CE0C40BFE2}"/>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15/18</a:t>
            </a:r>
          </a:p>
        </p:txBody>
      </p:sp>
      <p:sp>
        <p:nvSpPr>
          <p:cNvPr id="5" name="">
            <a:extLst xmlns:a="http://schemas.openxmlformats.org/drawingml/2006/main">
              <a:ext uri="{FF2B5EF4-FFF2-40B4-BE49-F238E27FC236}">
                <a16:creationId xmlns:a16="http://schemas.microsoft.com/office/drawing/2014/main" id="{1EE8C3F1-7577-40C3-B5FD-151E2176F8C8}"/>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22</a:t>
            </a:r>
          </a:p>
        </p:txBody>
      </p:sp>
      <p:sp>
        <p:nvSpPr>
          <p:cNvPr id="6" name="">
            <a:extLst xmlns:a="http://schemas.openxmlformats.org/drawingml/2006/main">
              <a:ext uri="{FF2B5EF4-FFF2-40B4-BE49-F238E27FC236}">
                <a16:creationId xmlns:a16="http://schemas.microsoft.com/office/drawing/2014/main" id="{5A0E4259-59A6-46C3-BC0B-537ECD97DBF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4126D2A-4B8D-490A-B8F7-9C7C6F6EB664}"/>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 bu deveyi gütmeli ya bu diyardan gitmeli. (Atasözü)</a:t>
            </a:r>
          </a:p>
        </p:txBody>
      </p:sp>
      <p:sp>
        <p:nvSpPr>
          <p:cNvPr id="8" name="">
            <a:extLst xmlns:a="http://schemas.openxmlformats.org/drawingml/2006/main">
              <a:ext uri="{FF2B5EF4-FFF2-40B4-BE49-F238E27FC236}">
                <a16:creationId xmlns:a16="http://schemas.microsoft.com/office/drawing/2014/main" id="{B9F60531-A224-48B5-B636-2BA009AA37FE}"/>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Gerek nesirde gerek nazımda yeni bir söyleyişe ulaşılmıştır.</a:t>
            </a:r>
          </a:p>
        </p:txBody>
      </p:sp>
      <p:sp>
        <p:nvSpPr>
          <p:cNvPr id="9" name="">
            <a:extLst xmlns:a="http://schemas.openxmlformats.org/drawingml/2006/main">
              <a:ext uri="{FF2B5EF4-FFF2-40B4-BE49-F238E27FC236}">
                <a16:creationId xmlns:a16="http://schemas.microsoft.com/office/drawing/2014/main" id="{C7BDBF9A-A6A3-462B-8977-2FA0F24A8A38}"/>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Siz ister inanın ister inanmayın, bir gün bile durmam.</a:t>
            </a:r>
          </a:p>
        </p:txBody>
      </p:sp>
      <p:sp>
        <p:nvSpPr>
          <p:cNvPr id="10" name="">
            <a:extLst xmlns:a="http://schemas.openxmlformats.org/drawingml/2006/main">
              <a:ext uri="{FF2B5EF4-FFF2-40B4-BE49-F238E27FC236}">
                <a16:creationId xmlns:a16="http://schemas.microsoft.com/office/drawing/2014/main" id="{3399FA82-2A45-4929-8672-5435AAAE28E1}"/>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Ne kız verir ne dünürü küstürür.</a:t>
            </a:r>
          </a:p>
        </p:txBody>
      </p:sp>
    </p:spTree>
    <p:extLst>
      <p:ext uri="{BB962C8B-B14F-4D97-AF65-F5344CB8AC3E}">
        <p14:creationId xmlns:p14="http://schemas.microsoft.com/office/powerpoint/2010/main" val="674397074"/>
      </p:ext>
    </p:extLst>
  </p:cSld>
</p:sld>
</file>

<file path=ppt/slides/slide2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A5FC98-833A-416C-ACD9-02639DE5C853}"/>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3B2097-060B-4BBF-98AF-D733B2206DD8}"/>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462A4DA9-7124-4DBF-95D1-226AF9FC5928}"/>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0ADB75E8-29F0-4EB4-BDA3-F9E2019AC585}"/>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16/18</a:t>
            </a:r>
          </a:p>
        </p:txBody>
      </p:sp>
      <p:sp>
        <p:nvSpPr>
          <p:cNvPr id="5" name="">
            <a:extLst xmlns:a="http://schemas.openxmlformats.org/drawingml/2006/main">
              <a:ext uri="{FF2B5EF4-FFF2-40B4-BE49-F238E27FC236}">
                <a16:creationId xmlns:a16="http://schemas.microsoft.com/office/drawing/2014/main" id="{D1D94739-C3AA-45CE-91E1-C003E617AB5F}"/>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23</a:t>
            </a:r>
          </a:p>
        </p:txBody>
      </p:sp>
      <p:sp>
        <p:nvSpPr>
          <p:cNvPr id="6" name="">
            <a:extLst xmlns:a="http://schemas.openxmlformats.org/drawingml/2006/main">
              <a:ext uri="{FF2B5EF4-FFF2-40B4-BE49-F238E27FC236}">
                <a16:creationId xmlns:a16="http://schemas.microsoft.com/office/drawing/2014/main" id="{6543E889-B9C1-4558-99A5-3A4BD60FEEE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414CF4A-C2DF-43A3-8B3A-3818AB9D523F}"/>
              </a:ext>
            </a:extLst>
          </p:cNvPr>
          <p:cNvSpPr>
            <a:spLocks xmlns:a="http://schemas.openxmlformats.org/drawingml/2006/main" noGrp="1"/>
          </p:cNvSpPr>
          <p:nvPr/>
        </p:nvSpPr>
        <p:spPr>
          <a:xfrm xmlns:a="http://schemas.openxmlformats.org/drawingml/2006/main">
            <a:off x="666750" y="1571625"/>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kurallar bugün de yarın da geçerli olacaktır.</a:t>
            </a:r>
          </a:p>
        </p:txBody>
      </p:sp>
      <p:sp>
        <p:nvSpPr>
          <p:cNvPr id="8" name="">
            <a:extLst xmlns:a="http://schemas.openxmlformats.org/drawingml/2006/main">
              <a:ext uri="{FF2B5EF4-FFF2-40B4-BE49-F238E27FC236}">
                <a16:creationId xmlns:a16="http://schemas.microsoft.com/office/drawing/2014/main" id="{B83B51A8-9E0F-4E21-B9A6-166A25ABE772}"/>
              </a:ext>
            </a:extLst>
          </p:cNvPr>
          <p:cNvSpPr>
            <a:spLocks xmlns:a="http://schemas.openxmlformats.org/drawingml/2006/main" noGrp="1"/>
          </p:cNvSpPr>
          <p:nvPr/>
        </p:nvSpPr>
        <p:spPr>
          <a:xfrm xmlns:a="http://schemas.openxmlformats.org/drawingml/2006/main">
            <a:off x="666750" y="2583180"/>
            <a:ext cx="10858500" cy="1794510"/>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Cümlede pekiştirme ve bağlama görevinde kullanılan da / de bağlacından sonra virgül konmaz:</a:t>
            </a:r>
          </a:p>
        </p:txBody>
      </p:sp>
      <p:sp>
        <p:nvSpPr>
          <p:cNvPr id="9" name="">
            <a:extLst xmlns:a="http://schemas.openxmlformats.org/drawingml/2006/main">
              <a:ext uri="{FF2B5EF4-FFF2-40B4-BE49-F238E27FC236}">
                <a16:creationId xmlns:a16="http://schemas.microsoft.com/office/drawing/2014/main" id="{841467E8-C4E5-45E6-9944-3C531864FF30}"/>
              </a:ext>
            </a:extLst>
          </p:cNvPr>
          <p:cNvSpPr>
            <a:spLocks xmlns:a="http://schemas.openxmlformats.org/drawingml/2006/main" noGrp="1"/>
          </p:cNvSpPr>
          <p:nvPr/>
        </p:nvSpPr>
        <p:spPr>
          <a:xfrm xmlns:a="http://schemas.openxmlformats.org/drawingml/2006/main">
            <a:off x="666750" y="4491990"/>
            <a:ext cx="10858500" cy="179451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İmlamız lisanımız düzelince, lisanımız da kafamız düzelince düzelecek çünkü o da ancak onlar kadar bozuktur, fazla değil! (Yahya Kemal Beyatlı)</a:t>
            </a:r>
          </a:p>
        </p:txBody>
      </p:sp>
    </p:spTree>
    <p:extLst>
      <p:ext uri="{BB962C8B-B14F-4D97-AF65-F5344CB8AC3E}">
        <p14:creationId xmlns:p14="http://schemas.microsoft.com/office/powerpoint/2010/main" val="1442626806"/>
      </p:ext>
    </p:extLst>
  </p:cSld>
</p:sld>
</file>

<file path=ppt/slides/slide2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427D6C-74D2-4B70-A512-DF106E228EB3}"/>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7C4DD9-440B-4C45-9B67-5F945243C248}"/>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0DC97BA5-4D75-4EDD-B9DC-555DF4128463}"/>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060B4E92-098C-4DD5-8706-7366887D47E1}"/>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17/18</a:t>
            </a:r>
          </a:p>
        </p:txBody>
      </p:sp>
      <p:sp>
        <p:nvSpPr>
          <p:cNvPr id="5" name="">
            <a:extLst xmlns:a="http://schemas.openxmlformats.org/drawingml/2006/main">
              <a:ext uri="{FF2B5EF4-FFF2-40B4-BE49-F238E27FC236}">
                <a16:creationId xmlns:a16="http://schemas.microsoft.com/office/drawing/2014/main" id="{EF0F1871-07CF-421D-9EDC-043B8485B41A}"/>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24</a:t>
            </a:r>
          </a:p>
        </p:txBody>
      </p:sp>
      <p:sp>
        <p:nvSpPr>
          <p:cNvPr id="6" name="">
            <a:extLst xmlns:a="http://schemas.openxmlformats.org/drawingml/2006/main">
              <a:ext uri="{FF2B5EF4-FFF2-40B4-BE49-F238E27FC236}">
                <a16:creationId xmlns:a16="http://schemas.microsoft.com/office/drawing/2014/main" id="{1213374B-7945-4A32-A56F-1F68E3F185E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8B01264-920A-4D55-85D2-BE350D9953C8}"/>
              </a:ext>
            </a:extLst>
          </p:cNvPr>
          <p:cNvSpPr>
            <a:spLocks xmlns:a="http://schemas.openxmlformats.org/drawingml/2006/main" noGrp="1"/>
          </p:cNvSpPr>
          <p:nvPr/>
        </p:nvSpPr>
        <p:spPr>
          <a:xfrm xmlns:a="http://schemas.openxmlformats.org/drawingml/2006/main">
            <a:off x="666750" y="1571625"/>
            <a:ext cx="10858500" cy="145732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Metin içinde -ınca / -ince anlamıyla zarf-fiil görevinde kullanılan mı / mi ekinden sonra virgül konmaz:</a:t>
            </a:r>
          </a:p>
        </p:txBody>
      </p:sp>
      <p:sp>
        <p:nvSpPr>
          <p:cNvPr id="8" name="">
            <a:extLst xmlns:a="http://schemas.openxmlformats.org/drawingml/2006/main">
              <a:ext uri="{FF2B5EF4-FFF2-40B4-BE49-F238E27FC236}">
                <a16:creationId xmlns:a16="http://schemas.microsoft.com/office/drawing/2014/main" id="{0DC1C153-A18B-49CC-9B5B-59131CD332CC}"/>
              </a:ext>
            </a:extLst>
          </p:cNvPr>
          <p:cNvSpPr>
            <a:spLocks xmlns:a="http://schemas.openxmlformats.org/drawingml/2006/main" noGrp="1"/>
          </p:cNvSpPr>
          <p:nvPr/>
        </p:nvSpPr>
        <p:spPr>
          <a:xfrm xmlns:a="http://schemas.openxmlformats.org/drawingml/2006/main">
            <a:off x="666750" y="3143250"/>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Ben aç yattım mı kötü kötü rüyalar görürüm nedense. (Orhan Kemal)</a:t>
            </a:r>
          </a:p>
        </p:txBody>
      </p:sp>
      <p:sp>
        <p:nvSpPr>
          <p:cNvPr id="9" name="">
            <a:extLst xmlns:a="http://schemas.openxmlformats.org/drawingml/2006/main">
              <a:ext uri="{FF2B5EF4-FFF2-40B4-BE49-F238E27FC236}">
                <a16:creationId xmlns:a16="http://schemas.microsoft.com/office/drawing/2014/main" id="{CA08F911-2FA9-4EB2-8057-45B22BF077AB}"/>
              </a:ext>
            </a:extLst>
          </p:cNvPr>
          <p:cNvSpPr>
            <a:spLocks xmlns:a="http://schemas.openxmlformats.org/drawingml/2006/main" noGrp="1"/>
          </p:cNvSpPr>
          <p:nvPr/>
        </p:nvSpPr>
        <p:spPr>
          <a:xfrm xmlns:a="http://schemas.openxmlformats.org/drawingml/2006/main">
            <a:off x="666750" y="3986213"/>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Öyle zekiler vardır, konuştular mı ağızlarından bal akıyor sanırsın. (Attila İlhan)</a:t>
            </a:r>
          </a:p>
        </p:txBody>
      </p:sp>
      <p:sp>
        <p:nvSpPr>
          <p:cNvPr id="10" name="">
            <a:extLst xmlns:a="http://schemas.openxmlformats.org/drawingml/2006/main">
              <a:ext uri="{FF2B5EF4-FFF2-40B4-BE49-F238E27FC236}">
                <a16:creationId xmlns:a16="http://schemas.microsoft.com/office/drawing/2014/main" id="{CFA0EA4A-C427-441A-B9D1-DB7618F1B9B0}"/>
              </a:ext>
            </a:extLst>
          </p:cNvPr>
          <p:cNvSpPr>
            <a:spLocks xmlns:a="http://schemas.openxmlformats.org/drawingml/2006/main" noGrp="1"/>
          </p:cNvSpPr>
          <p:nvPr/>
        </p:nvSpPr>
        <p:spPr>
          <a:xfrm xmlns:a="http://schemas.openxmlformats.org/drawingml/2006/main">
            <a:off x="666750" y="4829175"/>
            <a:ext cx="10858500" cy="145732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Şart ekinden sonra virgül konmaz:</a:t>
            </a:r>
          </a:p>
        </p:txBody>
      </p:sp>
    </p:spTree>
    <p:extLst>
      <p:ext uri="{BB962C8B-B14F-4D97-AF65-F5344CB8AC3E}">
        <p14:creationId xmlns:p14="http://schemas.microsoft.com/office/powerpoint/2010/main" val="494395073"/>
      </p:ext>
    </p:extLst>
  </p:cSld>
</p:sld>
</file>

<file path=ppt/slides/slide2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BDD17F-94F5-4C33-8441-649D5AD4B86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42102F-C327-48ED-AF75-C2BE25C3F865}"/>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12DE44BD-FF47-4CDF-89B7-F6586709D605}"/>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Virgül ( , )</a:t>
            </a:r>
          </a:p>
        </p:txBody>
      </p:sp>
      <p:sp>
        <p:nvSpPr>
          <p:cNvPr id="4" name="">
            <a:extLst xmlns:a="http://schemas.openxmlformats.org/drawingml/2006/main">
              <a:ext uri="{FF2B5EF4-FFF2-40B4-BE49-F238E27FC236}">
                <a16:creationId xmlns:a16="http://schemas.microsoft.com/office/drawing/2014/main" id="{E2CD05EA-74F0-44E8-8CF8-3D8472594C64}"/>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18/18</a:t>
            </a:r>
          </a:p>
        </p:txBody>
      </p:sp>
      <p:sp>
        <p:nvSpPr>
          <p:cNvPr id="5" name="">
            <a:extLst xmlns:a="http://schemas.openxmlformats.org/drawingml/2006/main">
              <a:ext uri="{FF2B5EF4-FFF2-40B4-BE49-F238E27FC236}">
                <a16:creationId xmlns:a16="http://schemas.microsoft.com/office/drawing/2014/main" id="{AD152F73-7D2F-4AD6-B5AF-63079F293DF7}"/>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25</a:t>
            </a:r>
          </a:p>
        </p:txBody>
      </p:sp>
      <p:sp>
        <p:nvSpPr>
          <p:cNvPr id="6" name="">
            <a:extLst xmlns:a="http://schemas.openxmlformats.org/drawingml/2006/main">
              <a:ext uri="{FF2B5EF4-FFF2-40B4-BE49-F238E27FC236}">
                <a16:creationId xmlns:a16="http://schemas.microsoft.com/office/drawing/2014/main" id="{B0BF74B9-0EFD-4265-9EDD-A3085B5DE31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9635DDA-9E4C-4F2F-8F67-A41F75DC358B}"/>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Tenha köşelerde ağız ağıza konuşurken yanlarına biri gelecek olursa hemen susuyorlardı. (Reşat Nuri Güntekin)</a:t>
            </a:r>
          </a:p>
        </p:txBody>
      </p:sp>
      <p:sp>
        <p:nvSpPr>
          <p:cNvPr id="8" name="">
            <a:extLst xmlns:a="http://schemas.openxmlformats.org/drawingml/2006/main">
              <a:ext uri="{FF2B5EF4-FFF2-40B4-BE49-F238E27FC236}">
                <a16:creationId xmlns:a16="http://schemas.microsoft.com/office/drawing/2014/main" id="{6827E37F-C857-4F00-8C50-822767621A6B}"/>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Gör gözlerinle de aklın yatarsa anlatıver millete. (Tarık Buğra)</a:t>
            </a:r>
          </a:p>
        </p:txBody>
      </p:sp>
    </p:spTree>
    <p:extLst>
      <p:ext uri="{BB962C8B-B14F-4D97-AF65-F5344CB8AC3E}">
        <p14:creationId xmlns:p14="http://schemas.microsoft.com/office/powerpoint/2010/main" val="1554211879"/>
      </p:ext>
    </p:extLst>
  </p:cSld>
</p:sld>
</file>

<file path=ppt/slides/slide2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54AFF4-7A0F-44E5-A372-A1A9DFC8C17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BBBF58-F936-4A7B-8645-F1B1904A5F58}"/>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8CEEF6C3-2669-4DBA-B902-3FCDC69EDCF0}"/>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Noktalı Virgül ( ; )</a:t>
            </a:r>
          </a:p>
        </p:txBody>
      </p:sp>
      <p:sp>
        <p:nvSpPr>
          <p:cNvPr id="4" name="">
            <a:extLst xmlns:a="http://schemas.openxmlformats.org/drawingml/2006/main">
              <a:ext uri="{FF2B5EF4-FFF2-40B4-BE49-F238E27FC236}">
                <a16:creationId xmlns:a16="http://schemas.microsoft.com/office/drawing/2014/main" id="{561E63B4-2867-4678-96A1-458F1A773192}"/>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AC8AB6FB-82C4-47EC-B87A-BB46220CF381}"/>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26</a:t>
            </a:r>
          </a:p>
        </p:txBody>
      </p:sp>
      <p:sp>
        <p:nvSpPr>
          <p:cNvPr id="6" name="">
            <a:extLst xmlns:a="http://schemas.openxmlformats.org/drawingml/2006/main">
              <a:ext uri="{FF2B5EF4-FFF2-40B4-BE49-F238E27FC236}">
                <a16:creationId xmlns:a16="http://schemas.microsoft.com/office/drawing/2014/main" id="{0420D356-1E10-4C87-AC6C-86368ACC107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43991AE-0FBD-4FDF-AE7E-8576926A878D}"/>
              </a:ext>
            </a:extLst>
          </p:cNvPr>
          <p:cNvSpPr>
            <a:spLocks xmlns:a="http://schemas.openxmlformats.org/drawingml/2006/main" noGrp="1"/>
          </p:cNvSpPr>
          <p:nvPr/>
        </p:nvSpPr>
        <p:spPr>
          <a:xfrm xmlns:a="http://schemas.openxmlformats.org/drawingml/2006/main">
            <a:off x="666750" y="157162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Cümle içinde virgüllerle ayrılmış tür veya takımları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Erkek çocuklara Doğan, Tuğrul, Aslan, Orhan; kız çocuklara ise İnci, Çiçek, Gönül, Yonca adları verilir.</a:t>
            </a:r>
          </a:p>
        </p:txBody>
      </p:sp>
      <p:sp>
        <p:nvSpPr>
          <p:cNvPr id="8" name="">
            <a:extLst xmlns:a="http://schemas.openxmlformats.org/drawingml/2006/main">
              <a:ext uri="{FF2B5EF4-FFF2-40B4-BE49-F238E27FC236}">
                <a16:creationId xmlns:a16="http://schemas.microsoft.com/office/drawing/2014/main" id="{AD3D286F-7BC2-46D1-89C1-187945936BF1}"/>
              </a:ext>
            </a:extLst>
          </p:cNvPr>
          <p:cNvSpPr>
            <a:spLocks xmlns:a="http://schemas.openxmlformats.org/drawingml/2006/main" noGrp="1"/>
          </p:cNvSpPr>
          <p:nvPr/>
        </p:nvSpPr>
        <p:spPr>
          <a:xfrm xmlns:a="http://schemas.openxmlformats.org/drawingml/2006/main">
            <a:off x="666750" y="3143250"/>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Türkiye, İngiltere, Azerbaycan; Ankara, Londra, Bakü.</a:t>
            </a:r>
          </a:p>
        </p:txBody>
      </p:sp>
      <p:sp>
        <p:nvSpPr>
          <p:cNvPr id="9" name="">
            <a:extLst xmlns:a="http://schemas.openxmlformats.org/drawingml/2006/main">
              <a:ext uri="{FF2B5EF4-FFF2-40B4-BE49-F238E27FC236}">
                <a16:creationId xmlns:a16="http://schemas.microsoft.com/office/drawing/2014/main" id="{AD8BBBD0-FBB9-4067-A120-309389DD9F55}"/>
              </a:ext>
            </a:extLst>
          </p:cNvPr>
          <p:cNvSpPr>
            <a:spLocks xmlns:a="http://schemas.openxmlformats.org/drawingml/2006/main" noGrp="1"/>
          </p:cNvSpPr>
          <p:nvPr/>
        </p:nvSpPr>
        <p:spPr>
          <a:xfrm xmlns:a="http://schemas.openxmlformats.org/drawingml/2006/main">
            <a:off x="666750" y="3986213"/>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Ögeleri arasında virgül bulunan sıralı cümleleri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Sevinçten, heyecandan içim içime sığmıyor; bağırmak, kahkahalar atmak, ağlamak istiyorum.</a:t>
            </a:r>
          </a:p>
        </p:txBody>
      </p:sp>
      <p:sp>
        <p:nvSpPr>
          <p:cNvPr id="10" name="">
            <a:extLst xmlns:a="http://schemas.openxmlformats.org/drawingml/2006/main">
              <a:ext uri="{FF2B5EF4-FFF2-40B4-BE49-F238E27FC236}">
                <a16:creationId xmlns:a16="http://schemas.microsoft.com/office/drawing/2014/main" id="{64926EA2-1DB8-4E6D-BB2A-632E850EF983}"/>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At ölür, meydan kalır; yiğit ölür, şan kalır. (Atasözü)</a:t>
            </a:r>
          </a:p>
        </p:txBody>
      </p:sp>
    </p:spTree>
    <p:extLst>
      <p:ext uri="{BB962C8B-B14F-4D97-AF65-F5344CB8AC3E}">
        <p14:creationId xmlns:p14="http://schemas.microsoft.com/office/powerpoint/2010/main" val="78788234"/>
      </p:ext>
    </p:extLst>
  </p:cSld>
</p:sld>
</file>

<file path=ppt/slides/slide2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44F14A-424B-488E-9D6B-0C121D1BE12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056F08-FB5F-4479-A826-5640F71A2A73}"/>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A3FBFDD8-EA7A-4290-8254-26997D86F1BE}"/>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Noktalı Virgül ( ; )</a:t>
            </a:r>
          </a:p>
        </p:txBody>
      </p:sp>
      <p:sp>
        <p:nvSpPr>
          <p:cNvPr id="4" name="">
            <a:extLst xmlns:a="http://schemas.openxmlformats.org/drawingml/2006/main">
              <a:ext uri="{FF2B5EF4-FFF2-40B4-BE49-F238E27FC236}">
                <a16:creationId xmlns:a16="http://schemas.microsoft.com/office/drawing/2014/main" id="{59613DC7-4ABF-49B5-A1AA-E86B3415E9FC}"/>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2/2</a:t>
            </a:r>
          </a:p>
        </p:txBody>
      </p:sp>
      <p:sp>
        <p:nvSpPr>
          <p:cNvPr id="5" name="">
            <a:extLst xmlns:a="http://schemas.openxmlformats.org/drawingml/2006/main">
              <a:ext uri="{FF2B5EF4-FFF2-40B4-BE49-F238E27FC236}">
                <a16:creationId xmlns:a16="http://schemas.microsoft.com/office/drawing/2014/main" id="{B3088366-830B-4D33-AEB4-3B402BA62056}"/>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27</a:t>
            </a:r>
          </a:p>
        </p:txBody>
      </p:sp>
      <p:sp>
        <p:nvSpPr>
          <p:cNvPr id="6" name="">
            <a:extLst xmlns:a="http://schemas.openxmlformats.org/drawingml/2006/main">
              <a:ext uri="{FF2B5EF4-FFF2-40B4-BE49-F238E27FC236}">
                <a16:creationId xmlns:a16="http://schemas.microsoft.com/office/drawing/2014/main" id="{2FD55F8D-E85E-4918-A537-BC579CE9993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F048867-64AF-46A2-84C7-A2B37E421A33}"/>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İkiden fazla eş değer ögeler arasında virgül bulunan cümlelerde özneden sonra noktalı virgül konabilir:</a:t>
            </a:r>
          </a:p>
        </p:txBody>
      </p:sp>
      <p:sp>
        <p:nvSpPr>
          <p:cNvPr id="8" name="">
            <a:extLst xmlns:a="http://schemas.openxmlformats.org/drawingml/2006/main">
              <a:ext uri="{FF2B5EF4-FFF2-40B4-BE49-F238E27FC236}">
                <a16:creationId xmlns:a16="http://schemas.microsoft.com/office/drawing/2014/main" id="{31D8CED8-0440-482C-AC77-D4C1E8F44AAE}"/>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Yeni usul şiirimiz; zevksiz, köksüz, acemice görünüyordu. (Yahya Kemal Beyatlı)</a:t>
            </a:r>
          </a:p>
        </p:txBody>
      </p:sp>
    </p:spTree>
    <p:extLst>
      <p:ext uri="{BB962C8B-B14F-4D97-AF65-F5344CB8AC3E}">
        <p14:creationId xmlns:p14="http://schemas.microsoft.com/office/powerpoint/2010/main" val="1711225979"/>
      </p:ext>
    </p:extLst>
  </p:cSld>
</p:sld>
</file>

<file path=ppt/slides/slide2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621E47-FD27-4854-8320-BEB12596864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F71F4B-F09E-4D1D-8745-8CBADAF9AE05}"/>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D606CC2A-DAAE-492E-B72A-51ADED3B717B}"/>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4" name="">
            <a:extLst xmlns:a="http://schemas.openxmlformats.org/drawingml/2006/main">
              <a:ext uri="{FF2B5EF4-FFF2-40B4-BE49-F238E27FC236}">
                <a16:creationId xmlns:a16="http://schemas.microsoft.com/office/drawing/2014/main" id="{7EA61C68-735B-491E-86D1-EBCDCB3E7C54}"/>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6A93E49A-DFE6-4AB2-8CA9-CB46EF8AE0CD}"/>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28</a:t>
            </a:r>
          </a:p>
        </p:txBody>
      </p:sp>
      <p:sp>
        <p:nvSpPr>
          <p:cNvPr id="6" name="">
            <a:extLst xmlns:a="http://schemas.openxmlformats.org/drawingml/2006/main">
              <a:ext uri="{FF2B5EF4-FFF2-40B4-BE49-F238E27FC236}">
                <a16:creationId xmlns:a16="http://schemas.microsoft.com/office/drawing/2014/main" id="{68F2095F-2951-4F67-882A-A4C79D42A83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3B3E6397-0616-47AE-AAC3-A7C894D12496}"/>
              </a:ext>
            </a:extLst>
          </p:cNvPr>
          <p:cNvSpPr>
            <a:spLocks xmlns:a="http://schemas.openxmlformats.org/drawingml/2006/main" noGrp="1"/>
          </p:cNvSpPr>
          <p:nvPr/>
        </p:nvSpPr>
        <p:spPr>
          <a:xfrm xmlns:a="http://schemas.openxmlformats.org/drawingml/2006/main">
            <a:off x="666750" y="157162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1.Kendisiyle ilgili örnek verilecek cümlenin sonuna konur:</a:t>
            </a:r>
          </a:p>
        </p:txBody>
      </p:sp>
      <p:sp>
        <p:nvSpPr>
          <p:cNvPr id="8" name="">
            <a:extLst xmlns:a="http://schemas.openxmlformats.org/drawingml/2006/main">
              <a:ext uri="{FF2B5EF4-FFF2-40B4-BE49-F238E27FC236}">
                <a16:creationId xmlns:a16="http://schemas.microsoft.com/office/drawing/2014/main" id="{E53081FF-B572-4A95-B008-8573AAF15024}"/>
              </a:ext>
            </a:extLst>
          </p:cNvPr>
          <p:cNvSpPr>
            <a:spLocks xmlns:a="http://schemas.openxmlformats.org/drawingml/2006/main" noGrp="1"/>
          </p:cNvSpPr>
          <p:nvPr/>
        </p:nvSpPr>
        <p:spPr>
          <a:xfrm xmlns:a="http://schemas.openxmlformats.org/drawingml/2006/main">
            <a:off x="666750" y="2414588"/>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Millî Edebiyat akımının temsilcilerinden bir kısmını sıralayalım: Ömer Seyfettin, Halide Edip Adıvar, Ziya Gökalp, Mehmet Emin Yurdakul, Ali Canip Yöntem.</a:t>
            </a:r>
          </a:p>
        </p:txBody>
      </p:sp>
      <p:sp>
        <p:nvSpPr>
          <p:cNvPr id="9" name="">
            <a:extLst xmlns:a="http://schemas.openxmlformats.org/drawingml/2006/main">
              <a:ext uri="{FF2B5EF4-FFF2-40B4-BE49-F238E27FC236}">
                <a16:creationId xmlns:a16="http://schemas.microsoft.com/office/drawing/2014/main" id="{F199FBF1-F6BF-4EB6-82B0-A17585BAC2B5}"/>
              </a:ext>
            </a:extLst>
          </p:cNvPr>
          <p:cNvSpPr>
            <a:spLocks xmlns:a="http://schemas.openxmlformats.org/drawingml/2006/main" noGrp="1"/>
          </p:cNvSpPr>
          <p:nvPr/>
        </p:nvSpPr>
        <p:spPr>
          <a:xfrm xmlns:a="http://schemas.openxmlformats.org/drawingml/2006/main">
            <a:off x="666750" y="3986213"/>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Kendisiyle ilgili açıklama verilecek cümlenin sonuna konur:</a:t>
            </a:r>
          </a:p>
        </p:txBody>
      </p:sp>
      <p:sp>
        <p:nvSpPr>
          <p:cNvPr id="10" name="">
            <a:extLst xmlns:a="http://schemas.openxmlformats.org/drawingml/2006/main">
              <a:ext uri="{FF2B5EF4-FFF2-40B4-BE49-F238E27FC236}">
                <a16:creationId xmlns:a16="http://schemas.microsoft.com/office/drawing/2014/main" id="{430134B3-66D5-4DF0-BC82-A0925C7EBC12}"/>
              </a:ext>
            </a:extLst>
          </p:cNvPr>
          <p:cNvSpPr>
            <a:spLocks xmlns:a="http://schemas.openxmlformats.org/drawingml/2006/main" noGrp="1"/>
          </p:cNvSpPr>
          <p:nvPr/>
        </p:nvSpPr>
        <p:spPr>
          <a:xfrm xmlns:a="http://schemas.openxmlformats.org/drawingml/2006/main">
            <a:off x="666750" y="482917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kararın istinat ettiği en kuvvetli muhakeme ve mantık şu idi: Esas, Türk milletinin haysiyetli ve şerefli bir millet olarak yaşamasıdır. (Atatürk)</a:t>
            </a:r>
          </a:p>
        </p:txBody>
      </p:sp>
    </p:spTree>
    <p:extLst>
      <p:ext uri="{BB962C8B-B14F-4D97-AF65-F5344CB8AC3E}">
        <p14:creationId xmlns:p14="http://schemas.microsoft.com/office/powerpoint/2010/main" val="2026078258"/>
      </p:ext>
    </p:extLst>
  </p:cSld>
</p:sld>
</file>

<file path=ppt/slides/slide2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754B27-4F65-4487-9672-0AF547D00F2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F63325-138C-4E84-A3B0-20C6F4327C8E}"/>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266EF76D-3660-4B14-BA76-5FC62D343BD4}"/>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4" name="">
            <a:extLst xmlns:a="http://schemas.openxmlformats.org/drawingml/2006/main">
              <a:ext uri="{FF2B5EF4-FFF2-40B4-BE49-F238E27FC236}">
                <a16:creationId xmlns:a16="http://schemas.microsoft.com/office/drawing/2014/main" id="{870FDE68-D08A-4745-AFBC-3D73BA4427D1}"/>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2/6</a:t>
            </a:r>
          </a:p>
        </p:txBody>
      </p:sp>
      <p:sp>
        <p:nvSpPr>
          <p:cNvPr id="5" name="">
            <a:extLst xmlns:a="http://schemas.openxmlformats.org/drawingml/2006/main">
              <a:ext uri="{FF2B5EF4-FFF2-40B4-BE49-F238E27FC236}">
                <a16:creationId xmlns:a16="http://schemas.microsoft.com/office/drawing/2014/main" id="{AE5BA47E-B3B3-48D4-8853-EC45D248673C}"/>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29</a:t>
            </a:r>
          </a:p>
        </p:txBody>
      </p:sp>
      <p:sp>
        <p:nvSpPr>
          <p:cNvPr id="6" name="">
            <a:extLst xmlns:a="http://schemas.openxmlformats.org/drawingml/2006/main">
              <a:ext uri="{FF2B5EF4-FFF2-40B4-BE49-F238E27FC236}">
                <a16:creationId xmlns:a16="http://schemas.microsoft.com/office/drawing/2014/main" id="{A7B452D0-3908-4A23-A0AA-B602582406A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B4953CB-BDD9-4078-89CD-A577DFE22E32}"/>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Kendimi takdim edeyim: Meclis kâtiplerindenim. (Falih Rıfkı Atay)</a:t>
            </a:r>
          </a:p>
        </p:txBody>
      </p:sp>
      <p:sp>
        <p:nvSpPr>
          <p:cNvPr id="8" name="">
            <a:extLst xmlns:a="http://schemas.openxmlformats.org/drawingml/2006/main">
              <a:ext uri="{FF2B5EF4-FFF2-40B4-BE49-F238E27FC236}">
                <a16:creationId xmlns:a16="http://schemas.microsoft.com/office/drawing/2014/main" id="{44090736-D1FD-435A-8875-213B1EE14D2F}"/>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Ses bilgisinde uzun ünlüyü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a:ile, ka:til, usu:le, i:cat.</a:t>
            </a:r>
          </a:p>
        </p:txBody>
      </p:sp>
      <p:sp>
        <p:nvSpPr>
          <p:cNvPr id="9" name="">
            <a:extLst xmlns:a="http://schemas.openxmlformats.org/drawingml/2006/main">
              <a:ext uri="{FF2B5EF4-FFF2-40B4-BE49-F238E27FC236}">
                <a16:creationId xmlns:a16="http://schemas.microsoft.com/office/drawing/2014/main" id="{DCB8CEF4-D509-42E6-9835-97540CBB093D}"/>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Karşılıklı konuşmalarda, konuşan kişiyi belirten sözlerden sonra konur:</a:t>
            </a:r>
          </a:p>
        </p:txBody>
      </p:sp>
      <p:sp>
        <p:nvSpPr>
          <p:cNvPr id="10" name="">
            <a:extLst xmlns:a="http://schemas.openxmlformats.org/drawingml/2006/main">
              <a:ext uri="{FF2B5EF4-FFF2-40B4-BE49-F238E27FC236}">
                <a16:creationId xmlns:a16="http://schemas.microsoft.com/office/drawing/2014/main" id="{CEC0DD24-8D7F-495F-8CAB-DB55169042AD}"/>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Bilge Kağan: Türklerim, işitin!</a:t>
            </a:r>
          </a:p>
        </p:txBody>
      </p:sp>
    </p:spTree>
    <p:extLst>
      <p:ext uri="{BB962C8B-B14F-4D97-AF65-F5344CB8AC3E}">
        <p14:creationId xmlns:p14="http://schemas.microsoft.com/office/powerpoint/2010/main" val="969533513"/>
      </p:ext>
    </p:extLst>
  </p:cSld>
</p:sld>
</file>

<file path=ppt/slides/slide3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AA0D98-8C24-4DB6-AEAE-32D20F0A5B3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91B94F-EA3A-4E56-9553-D7C7ACA8F0EB}"/>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FFBCBB36-F196-4C22-86DB-8A3A9C4015BB}"/>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4" name="">
            <a:extLst xmlns:a="http://schemas.openxmlformats.org/drawingml/2006/main">
              <a:ext uri="{FF2B5EF4-FFF2-40B4-BE49-F238E27FC236}">
                <a16:creationId xmlns:a16="http://schemas.microsoft.com/office/drawing/2014/main" id="{6AF99A45-B5BD-4CB9-B2F2-2EA55EBA2DE0}"/>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3/6</a:t>
            </a:r>
          </a:p>
        </p:txBody>
      </p:sp>
      <p:sp>
        <p:nvSpPr>
          <p:cNvPr id="5" name="">
            <a:extLst xmlns:a="http://schemas.openxmlformats.org/drawingml/2006/main">
              <a:ext uri="{FF2B5EF4-FFF2-40B4-BE49-F238E27FC236}">
                <a16:creationId xmlns:a16="http://schemas.microsoft.com/office/drawing/2014/main" id="{51BF6442-8DFB-4F3C-A43E-C7C9DE615B2B}"/>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30</a:t>
            </a:r>
          </a:p>
        </p:txBody>
      </p:sp>
      <p:sp>
        <p:nvSpPr>
          <p:cNvPr id="6" name="">
            <a:extLst xmlns:a="http://schemas.openxmlformats.org/drawingml/2006/main">
              <a:ext uri="{FF2B5EF4-FFF2-40B4-BE49-F238E27FC236}">
                <a16:creationId xmlns:a16="http://schemas.microsoft.com/office/drawing/2014/main" id="{3F680060-2176-4B8C-9345-D4C1A3F5833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1DABF81-1483-45E9-99F5-44A2AAC9E102}"/>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Üstten gök çökmedikçe,</a:t>
            </a:r>
          </a:p>
        </p:txBody>
      </p:sp>
      <p:sp>
        <p:nvSpPr>
          <p:cNvPr id="8" name="">
            <a:extLst xmlns:a="http://schemas.openxmlformats.org/drawingml/2006/main">
              <a:ext uri="{FF2B5EF4-FFF2-40B4-BE49-F238E27FC236}">
                <a16:creationId xmlns:a16="http://schemas.microsoft.com/office/drawing/2014/main" id="{E63D9CFB-5FC2-454E-B9FD-4F7D5C9ADF64}"/>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alttan yer delinmedikçe</a:t>
            </a:r>
          </a:p>
        </p:txBody>
      </p:sp>
      <p:sp>
        <p:nvSpPr>
          <p:cNvPr id="9" name="">
            <a:extLst xmlns:a="http://schemas.openxmlformats.org/drawingml/2006/main">
              <a:ext uri="{FF2B5EF4-FFF2-40B4-BE49-F238E27FC236}">
                <a16:creationId xmlns:a16="http://schemas.microsoft.com/office/drawing/2014/main" id="{D9D646A6-6B20-44E6-BBCB-EA8525C54828}"/>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ülkenizi, törenizi kim bozabilir sizin?</a:t>
            </a:r>
          </a:p>
        </p:txBody>
      </p:sp>
      <p:sp>
        <p:nvSpPr>
          <p:cNvPr id="10" name="">
            <a:extLst xmlns:a="http://schemas.openxmlformats.org/drawingml/2006/main">
              <a:ext uri="{FF2B5EF4-FFF2-40B4-BE49-F238E27FC236}">
                <a16:creationId xmlns:a16="http://schemas.microsoft.com/office/drawing/2014/main" id="{9B6B2079-A6A4-448B-8F6D-2A6A766B6E3F}"/>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Koro: Göğe erer başımız</a:t>
            </a:r>
          </a:p>
        </p:txBody>
      </p:sp>
    </p:spTree>
    <p:extLst>
      <p:ext uri="{BB962C8B-B14F-4D97-AF65-F5344CB8AC3E}">
        <p14:creationId xmlns:p14="http://schemas.microsoft.com/office/powerpoint/2010/main" val="1999251819"/>
      </p:ext>
    </p:extLst>
  </p:cSld>
</p:sld>
</file>

<file path=ppt/slides/slide3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4B9B98-E33F-4F90-B1B0-CC254451636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AA3F9E-BC66-4ABE-A9EC-B4351C07FBD5}"/>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00C743FF-A7C0-4E45-9FAB-00625225FD32}"/>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4" name="">
            <a:extLst xmlns:a="http://schemas.openxmlformats.org/drawingml/2006/main">
              <a:ext uri="{FF2B5EF4-FFF2-40B4-BE49-F238E27FC236}">
                <a16:creationId xmlns:a16="http://schemas.microsoft.com/office/drawing/2014/main" id="{15FB4837-B54D-4983-9762-933A9270B007}"/>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4/6</a:t>
            </a:r>
          </a:p>
        </p:txBody>
      </p:sp>
      <p:sp>
        <p:nvSpPr>
          <p:cNvPr id="5" name="">
            <a:extLst xmlns:a="http://schemas.openxmlformats.org/drawingml/2006/main">
              <a:ext uri="{FF2B5EF4-FFF2-40B4-BE49-F238E27FC236}">
                <a16:creationId xmlns:a16="http://schemas.microsoft.com/office/drawing/2014/main" id="{BB83EDDD-4041-422F-9605-FAC61DE0181D}"/>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31</a:t>
            </a:r>
          </a:p>
        </p:txBody>
      </p:sp>
      <p:sp>
        <p:nvSpPr>
          <p:cNvPr id="6" name="">
            <a:extLst xmlns:a="http://schemas.openxmlformats.org/drawingml/2006/main">
              <a:ext uri="{FF2B5EF4-FFF2-40B4-BE49-F238E27FC236}">
                <a16:creationId xmlns:a16="http://schemas.microsoft.com/office/drawing/2014/main" id="{4A219622-FC5E-45D8-9FA3-BD62E40931D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FCE578C-7DFE-42DD-AF71-D8EABFD1056D}"/>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başınla senin!</a:t>
            </a:r>
          </a:p>
        </p:txBody>
      </p:sp>
      <p:sp>
        <p:nvSpPr>
          <p:cNvPr id="8" name="">
            <a:extLst xmlns:a="http://schemas.openxmlformats.org/drawingml/2006/main">
              <a:ext uri="{FF2B5EF4-FFF2-40B4-BE49-F238E27FC236}">
                <a16:creationId xmlns:a16="http://schemas.microsoft.com/office/drawing/2014/main" id="{CA61D6B4-D9D7-4842-A781-B69D3108391B}"/>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Bilge Kağan: Ulusum birleşip yücelsin diye</a:t>
            </a:r>
          </a:p>
        </p:txBody>
      </p:sp>
      <p:sp>
        <p:nvSpPr>
          <p:cNvPr id="9" name="">
            <a:extLst xmlns:a="http://schemas.openxmlformats.org/drawingml/2006/main">
              <a:ext uri="{FF2B5EF4-FFF2-40B4-BE49-F238E27FC236}">
                <a16:creationId xmlns:a16="http://schemas.microsoft.com/office/drawing/2014/main" id="{209A0411-715B-44C4-B4FC-3E1B78BD0DDB}"/>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gece uyumadım, gündüz oturmadım.</a:t>
            </a:r>
          </a:p>
        </p:txBody>
      </p:sp>
      <p:sp>
        <p:nvSpPr>
          <p:cNvPr id="10" name="">
            <a:extLst xmlns:a="http://schemas.openxmlformats.org/drawingml/2006/main">
              <a:ext uri="{FF2B5EF4-FFF2-40B4-BE49-F238E27FC236}">
                <a16:creationId xmlns:a16="http://schemas.microsoft.com/office/drawing/2014/main" id="{92976BAF-541F-4E62-92D2-8F4CD0CCA94F}"/>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Türklerim Bilge Kağan der bana.</a:t>
            </a:r>
          </a:p>
        </p:txBody>
      </p:sp>
    </p:spTree>
    <p:extLst>
      <p:ext uri="{BB962C8B-B14F-4D97-AF65-F5344CB8AC3E}">
        <p14:creationId xmlns:p14="http://schemas.microsoft.com/office/powerpoint/2010/main" val="1086646811"/>
      </p:ext>
    </p:extLst>
  </p:cSld>
</p:sld>
</file>

<file path=ppt/slides/slide3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F87F8E-3D6A-40DF-BD39-28CEA9BDC53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5C1F5D-3F70-4CF6-9BC8-E7E9BEDC3B21}"/>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C1F0B3A4-51C6-44D4-8F18-E87847722736}"/>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4" name="">
            <a:extLst xmlns:a="http://schemas.openxmlformats.org/drawingml/2006/main">
              <a:ext uri="{FF2B5EF4-FFF2-40B4-BE49-F238E27FC236}">
                <a16:creationId xmlns:a16="http://schemas.microsoft.com/office/drawing/2014/main" id="{CBA5A8E3-0AAC-4E15-A139-E3559BF0A2EC}"/>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5/6</a:t>
            </a:r>
          </a:p>
        </p:txBody>
      </p:sp>
      <p:sp>
        <p:nvSpPr>
          <p:cNvPr id="5" name="">
            <a:extLst xmlns:a="http://schemas.openxmlformats.org/drawingml/2006/main">
              <a:ext uri="{FF2B5EF4-FFF2-40B4-BE49-F238E27FC236}">
                <a16:creationId xmlns:a16="http://schemas.microsoft.com/office/drawing/2014/main" id="{23DCE021-1420-423E-8BC4-C47ECEFDA48B}"/>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32</a:t>
            </a:r>
          </a:p>
        </p:txBody>
      </p:sp>
      <p:sp>
        <p:nvSpPr>
          <p:cNvPr id="6" name="">
            <a:extLst xmlns:a="http://schemas.openxmlformats.org/drawingml/2006/main">
              <a:ext uri="{FF2B5EF4-FFF2-40B4-BE49-F238E27FC236}">
                <a16:creationId xmlns:a16="http://schemas.microsoft.com/office/drawing/2014/main" id="{3CD9D2A1-CDED-4733-896A-A023AD75FE3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50337D3-E472-4D04-A2EA-FFB8E72832FD}"/>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Ben her şeyi onlar için bildim.</a:t>
            </a:r>
          </a:p>
        </p:txBody>
      </p:sp>
      <p:sp>
        <p:nvSpPr>
          <p:cNvPr id="8" name="">
            <a:extLst xmlns:a="http://schemas.openxmlformats.org/drawingml/2006/main">
              <a:ext uri="{FF2B5EF4-FFF2-40B4-BE49-F238E27FC236}">
                <a16:creationId xmlns:a16="http://schemas.microsoft.com/office/drawing/2014/main" id="{C6AAA3D1-F24D-44F5-BFCD-2F0EE1077FF5}"/>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Nöbetteyim! (A. Turan Oflazoğlu)</a:t>
            </a:r>
          </a:p>
        </p:txBody>
      </p:sp>
      <p:sp>
        <p:nvSpPr>
          <p:cNvPr id="9" name="">
            <a:extLst xmlns:a="http://schemas.openxmlformats.org/drawingml/2006/main">
              <a:ext uri="{FF2B5EF4-FFF2-40B4-BE49-F238E27FC236}">
                <a16:creationId xmlns:a16="http://schemas.microsoft.com/office/drawing/2014/main" id="{B5C96F87-4D3D-4FE0-A129-341877AD2ACE}"/>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Edebî eserlerde konuşma bölümünden önceki ifadenin sonuna konur:</a:t>
            </a:r>
          </a:p>
        </p:txBody>
      </p:sp>
      <p:sp>
        <p:nvSpPr>
          <p:cNvPr id="10" name="">
            <a:extLst xmlns:a="http://schemas.openxmlformats.org/drawingml/2006/main">
              <a:ext uri="{FF2B5EF4-FFF2-40B4-BE49-F238E27FC236}">
                <a16:creationId xmlns:a16="http://schemas.microsoft.com/office/drawing/2014/main" id="{8EF4FA57-D227-4B6F-B483-9D21584B982C}"/>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Buğdayla arpadan başka ne biter bu topraklarda?</a:t>
            </a:r>
          </a:p>
        </p:txBody>
      </p:sp>
    </p:spTree>
    <p:extLst>
      <p:ext uri="{BB962C8B-B14F-4D97-AF65-F5344CB8AC3E}">
        <p14:creationId xmlns:p14="http://schemas.microsoft.com/office/powerpoint/2010/main" val="1407765959"/>
      </p:ext>
    </p:extLst>
  </p:cSld>
</p:sld>
</file>

<file path=ppt/slides/slide3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C3A6D6-7CBD-46A1-BC28-9286D1DD0FA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3AE8E9-1B9B-4260-A980-0B637DC68EE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2135DC59-D3CB-4DEE-9487-20AF0258D0EF}"/>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İki Nokta (: )</a:t>
            </a:r>
          </a:p>
        </p:txBody>
      </p:sp>
      <p:sp>
        <p:nvSpPr>
          <p:cNvPr id="4" name="">
            <a:extLst xmlns:a="http://schemas.openxmlformats.org/drawingml/2006/main">
              <a:ext uri="{FF2B5EF4-FFF2-40B4-BE49-F238E27FC236}">
                <a16:creationId xmlns:a16="http://schemas.microsoft.com/office/drawing/2014/main" id="{93D968D8-541A-41A1-8D74-133848C70A25}"/>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6/6</a:t>
            </a:r>
          </a:p>
        </p:txBody>
      </p:sp>
      <p:sp>
        <p:nvSpPr>
          <p:cNvPr id="5" name="">
            <a:extLst xmlns:a="http://schemas.openxmlformats.org/drawingml/2006/main">
              <a:ext uri="{FF2B5EF4-FFF2-40B4-BE49-F238E27FC236}">
                <a16:creationId xmlns:a16="http://schemas.microsoft.com/office/drawing/2014/main" id="{47A0DBFE-3227-43DD-B9AE-1ED56016AA1C}"/>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33</a:t>
            </a:r>
          </a:p>
        </p:txBody>
      </p:sp>
      <p:sp>
        <p:nvSpPr>
          <p:cNvPr id="6" name="">
            <a:extLst xmlns:a="http://schemas.openxmlformats.org/drawingml/2006/main">
              <a:ext uri="{FF2B5EF4-FFF2-40B4-BE49-F238E27FC236}">
                <a16:creationId xmlns:a16="http://schemas.microsoft.com/office/drawing/2014/main" id="{ADB1EA9E-6E8A-47BE-A9F9-D8526CB7549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A642170-AED1-450B-9B4C-656F5826731D}"/>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Ziraatçı sayar:</a:t>
            </a:r>
          </a:p>
        </p:txBody>
      </p:sp>
      <p:sp>
        <p:nvSpPr>
          <p:cNvPr id="8" name="">
            <a:extLst xmlns:a="http://schemas.openxmlformats.org/drawingml/2006/main">
              <a:ext uri="{FF2B5EF4-FFF2-40B4-BE49-F238E27FC236}">
                <a16:creationId xmlns:a16="http://schemas.microsoft.com/office/drawing/2014/main" id="{1231D1BA-6EF8-49B6-8044-C742F03BB510}"/>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Yulaf, pancar, zerzevat, tütün… (Falih Rıfkı Atay)</a:t>
            </a:r>
          </a:p>
        </p:txBody>
      </p:sp>
      <p:sp>
        <p:nvSpPr>
          <p:cNvPr id="9" name="">
            <a:extLst xmlns:a="http://schemas.openxmlformats.org/drawingml/2006/main">
              <a:ext uri="{FF2B5EF4-FFF2-40B4-BE49-F238E27FC236}">
                <a16:creationId xmlns:a16="http://schemas.microsoft.com/office/drawing/2014/main" id="{9E2EE85B-3BBA-45C5-A087-DD351EAACC09}"/>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Genel ağ adreslerinde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http://tdk.gov.tr</a:t>
            </a:r>
          </a:p>
        </p:txBody>
      </p:sp>
      <p:sp>
        <p:nvSpPr>
          <p:cNvPr id="10" name="">
            <a:extLst xmlns:a="http://schemas.openxmlformats.org/drawingml/2006/main">
              <a:ext uri="{FF2B5EF4-FFF2-40B4-BE49-F238E27FC236}">
                <a16:creationId xmlns:a16="http://schemas.microsoft.com/office/drawing/2014/main" id="{6E9DF9F2-7992-47D1-8A4D-7F2AD4142D43}"/>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Matematikte bölme işareti olarak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56:8=7, 100:2=50 vb.</a:t>
            </a:r>
          </a:p>
        </p:txBody>
      </p:sp>
    </p:spTree>
    <p:extLst>
      <p:ext uri="{BB962C8B-B14F-4D97-AF65-F5344CB8AC3E}">
        <p14:creationId xmlns:p14="http://schemas.microsoft.com/office/powerpoint/2010/main" val="878648142"/>
      </p:ext>
    </p:extLst>
  </p:cSld>
</p:sld>
</file>

<file path=ppt/slides/slide3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918F05-5FA2-4E06-8ABC-CD269385D48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F45643-B182-49DD-B0C6-F4EF41FCA57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B777ACBA-9014-4F6D-8BDF-95C5B442873A}"/>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4" name="">
            <a:extLst xmlns:a="http://schemas.openxmlformats.org/drawingml/2006/main">
              <a:ext uri="{FF2B5EF4-FFF2-40B4-BE49-F238E27FC236}">
                <a16:creationId xmlns:a16="http://schemas.microsoft.com/office/drawing/2014/main" id="{2F94DED6-DEB7-48B4-A078-E392DEDCD95F}"/>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1/7</a:t>
            </a:r>
          </a:p>
        </p:txBody>
      </p:sp>
      <p:sp>
        <p:nvSpPr>
          <p:cNvPr id="5" name="">
            <a:extLst xmlns:a="http://schemas.openxmlformats.org/drawingml/2006/main">
              <a:ext uri="{FF2B5EF4-FFF2-40B4-BE49-F238E27FC236}">
                <a16:creationId xmlns:a16="http://schemas.microsoft.com/office/drawing/2014/main" id="{B5FF5B84-176C-4184-A95A-860CE1F5CF2F}"/>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34</a:t>
            </a:r>
          </a:p>
        </p:txBody>
      </p:sp>
      <p:sp>
        <p:nvSpPr>
          <p:cNvPr id="6" name="">
            <a:extLst xmlns:a="http://schemas.openxmlformats.org/drawingml/2006/main">
              <a:ext uri="{FF2B5EF4-FFF2-40B4-BE49-F238E27FC236}">
                <a16:creationId xmlns:a16="http://schemas.microsoft.com/office/drawing/2014/main" id="{F1C3E087-E2BC-4765-BD9E-FB9B078BAF4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EFEE00F-127A-4AD2-AC71-401D6E221A3B}"/>
              </a:ext>
            </a:extLst>
          </p:cNvPr>
          <p:cNvSpPr>
            <a:spLocks xmlns:a="http://schemas.openxmlformats.org/drawingml/2006/main" noGrp="1"/>
          </p:cNvSpPr>
          <p:nvPr/>
        </p:nvSpPr>
        <p:spPr>
          <a:xfrm xmlns:a="http://schemas.openxmlformats.org/drawingml/2006/main">
            <a:off x="666750" y="157162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Anlatım olarak tamamlanmamış cümlelerin sonuna konur:</a:t>
            </a:r>
          </a:p>
        </p:txBody>
      </p:sp>
      <p:sp>
        <p:nvSpPr>
          <p:cNvPr id="8" name="">
            <a:extLst xmlns:a="http://schemas.openxmlformats.org/drawingml/2006/main">
              <a:ext uri="{FF2B5EF4-FFF2-40B4-BE49-F238E27FC236}">
                <a16:creationId xmlns:a16="http://schemas.microsoft.com/office/drawing/2014/main" id="{E072FC6E-97AB-4C85-867B-51F0A5F8793D}"/>
              </a:ext>
            </a:extLst>
          </p:cNvPr>
          <p:cNvSpPr>
            <a:spLocks xmlns:a="http://schemas.openxmlformats.org/drawingml/2006/main" noGrp="1"/>
          </p:cNvSpPr>
          <p:nvPr/>
        </p:nvSpPr>
        <p:spPr>
          <a:xfrm xmlns:a="http://schemas.openxmlformats.org/drawingml/2006/main">
            <a:off x="666750" y="241458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Ne çare ki çirkinliği hemencecik ve herkes tarafından görülüveriyordu da bu yanı… (Tarık Buğra)</a:t>
            </a:r>
          </a:p>
        </p:txBody>
      </p:sp>
      <p:sp>
        <p:nvSpPr>
          <p:cNvPr id="9" name="">
            <a:extLst xmlns:a="http://schemas.openxmlformats.org/drawingml/2006/main">
              <a:ext uri="{FF2B5EF4-FFF2-40B4-BE49-F238E27FC236}">
                <a16:creationId xmlns:a16="http://schemas.microsoft.com/office/drawing/2014/main" id="{8C450C01-1AF7-4F67-97F1-7735A97AFB33}"/>
              </a:ext>
            </a:extLst>
          </p:cNvPr>
          <p:cNvSpPr>
            <a:spLocks xmlns:a="http://schemas.openxmlformats.org/drawingml/2006/main" noGrp="1"/>
          </p:cNvSpPr>
          <p:nvPr/>
        </p:nvSpPr>
        <p:spPr>
          <a:xfrm xmlns:a="http://schemas.openxmlformats.org/drawingml/2006/main">
            <a:off x="666750" y="3257550"/>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Kaba sayıldığı için veya bir başka sebepten dolayı açık yazılmak istenmeyen kelime ve bölümlerin yerine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Kılavuzu karga olanın burnu b…tan çıkmaz.</a:t>
            </a:r>
          </a:p>
        </p:txBody>
      </p:sp>
      <p:sp>
        <p:nvSpPr>
          <p:cNvPr id="10" name="">
            <a:extLst xmlns:a="http://schemas.openxmlformats.org/drawingml/2006/main">
              <a:ext uri="{FF2B5EF4-FFF2-40B4-BE49-F238E27FC236}">
                <a16:creationId xmlns:a16="http://schemas.microsoft.com/office/drawing/2014/main" id="{9489BD14-38A8-4780-B557-F557C534B3C1}"/>
              </a:ext>
            </a:extLst>
          </p:cNvPr>
          <p:cNvSpPr>
            <a:spLocks xmlns:a="http://schemas.openxmlformats.org/drawingml/2006/main" noGrp="1"/>
          </p:cNvSpPr>
          <p:nvPr/>
        </p:nvSpPr>
        <p:spPr>
          <a:xfrm xmlns:a="http://schemas.openxmlformats.org/drawingml/2006/main">
            <a:off x="666750" y="482917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Arabacı B…’a yaklaştığını söylüyor, ikide bir fırsat bularak arabanın içine doğru başını çeviriyordu. (Ahmet Hamdi Tanpınar)</a:t>
            </a:r>
          </a:p>
        </p:txBody>
      </p:sp>
    </p:spTree>
    <p:extLst>
      <p:ext uri="{BB962C8B-B14F-4D97-AF65-F5344CB8AC3E}">
        <p14:creationId xmlns:p14="http://schemas.microsoft.com/office/powerpoint/2010/main" val="1496363644"/>
      </p:ext>
    </p:extLst>
  </p:cSld>
</p:sld>
</file>

<file path=ppt/slides/slide3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6B1A06-D0FC-426E-83F4-586808942F6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662C86-77E5-4C78-A64B-C032B7E2C740}"/>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B0697EC5-2A39-4501-8C49-5035FBE5CF1B}"/>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4" name="">
            <a:extLst xmlns:a="http://schemas.openxmlformats.org/drawingml/2006/main">
              <a:ext uri="{FF2B5EF4-FFF2-40B4-BE49-F238E27FC236}">
                <a16:creationId xmlns:a16="http://schemas.microsoft.com/office/drawing/2014/main" id="{F171B1CC-6608-4576-B9A2-2F43B6F03024}"/>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2/7</a:t>
            </a:r>
          </a:p>
        </p:txBody>
      </p:sp>
      <p:sp>
        <p:nvSpPr>
          <p:cNvPr id="5" name="">
            <a:extLst xmlns:a="http://schemas.openxmlformats.org/drawingml/2006/main">
              <a:ext uri="{FF2B5EF4-FFF2-40B4-BE49-F238E27FC236}">
                <a16:creationId xmlns:a16="http://schemas.microsoft.com/office/drawing/2014/main" id="{F0BF5E9E-EB2F-46A4-8ED5-D8FBA246BC25}"/>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35</a:t>
            </a:r>
          </a:p>
        </p:txBody>
      </p:sp>
      <p:sp>
        <p:nvSpPr>
          <p:cNvPr id="6" name="">
            <a:extLst xmlns:a="http://schemas.openxmlformats.org/drawingml/2006/main">
              <a:ext uri="{FF2B5EF4-FFF2-40B4-BE49-F238E27FC236}">
                <a16:creationId xmlns:a16="http://schemas.microsoft.com/office/drawing/2014/main" id="{B359F546-F2A5-4AB9-83F7-2232B561420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3294E7E-656E-490A-8DCB-7D43237134F9}"/>
              </a:ext>
            </a:extLst>
          </p:cNvPr>
          <p:cNvSpPr>
            <a:spLocks xmlns:a="http://schemas.openxmlformats.org/drawingml/2006/main" noGrp="1"/>
          </p:cNvSpPr>
          <p:nvPr/>
        </p:nvSpPr>
        <p:spPr>
          <a:xfrm xmlns:a="http://schemas.openxmlformats.org/drawingml/2006/main">
            <a:off x="666750" y="157162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Alıntılarda başta, ortada ve sonda alınmayan kelime veya bölümlerin yerine konur:</a:t>
            </a:r>
          </a:p>
        </p:txBody>
      </p:sp>
      <p:sp>
        <p:nvSpPr>
          <p:cNvPr id="8" name="">
            <a:extLst xmlns:a="http://schemas.openxmlformats.org/drawingml/2006/main">
              <a:ext uri="{FF2B5EF4-FFF2-40B4-BE49-F238E27FC236}">
                <a16:creationId xmlns:a16="http://schemas.microsoft.com/office/drawing/2014/main" id="{688E9F83-A813-4F7D-9EF5-236A1BF3655F}"/>
              </a:ext>
            </a:extLst>
          </p:cNvPr>
          <p:cNvSpPr>
            <a:spLocks xmlns:a="http://schemas.openxmlformats.org/drawingml/2006/main" noGrp="1"/>
          </p:cNvSpPr>
          <p:nvPr/>
        </p:nvSpPr>
        <p:spPr>
          <a:xfrm xmlns:a="http://schemas.openxmlformats.org/drawingml/2006/main">
            <a:off x="666750" y="256032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derken şehrin öte başından boğuk boğuk sesler gelmeye başladı… (Tarık Buğra)</a:t>
            </a:r>
          </a:p>
        </p:txBody>
      </p:sp>
      <p:sp>
        <p:nvSpPr>
          <p:cNvPr id="9" name="">
            <a:extLst xmlns:a="http://schemas.openxmlformats.org/drawingml/2006/main">
              <a:ext uri="{FF2B5EF4-FFF2-40B4-BE49-F238E27FC236}">
                <a16:creationId xmlns:a16="http://schemas.microsoft.com/office/drawing/2014/main" id="{E250E6A5-5A99-479E-A16E-32581FBB5D44}"/>
              </a:ext>
            </a:extLst>
          </p:cNvPr>
          <p:cNvSpPr>
            <a:spLocks xmlns:a="http://schemas.openxmlformats.org/drawingml/2006/main" noGrp="1"/>
          </p:cNvSpPr>
          <p:nvPr/>
        </p:nvSpPr>
        <p:spPr>
          <a:xfrm xmlns:a="http://schemas.openxmlformats.org/drawingml/2006/main">
            <a:off x="666750" y="3549015"/>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Sözün bir yerde kesilerek geri kalan bölümün okuyucunun hayal dünyasına bırakıldığını göstermek veya ifadeye güç katmak için konur:</a:t>
            </a:r>
          </a:p>
        </p:txBody>
      </p:sp>
      <p:sp>
        <p:nvSpPr>
          <p:cNvPr id="10" name="">
            <a:extLst xmlns:a="http://schemas.openxmlformats.org/drawingml/2006/main">
              <a:ext uri="{FF2B5EF4-FFF2-40B4-BE49-F238E27FC236}">
                <a16:creationId xmlns:a16="http://schemas.microsoft.com/office/drawing/2014/main" id="{B0BA8188-4EB8-4798-A3BB-CB68F68A3E21}"/>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Sana uğurlar olsun… Ayrılıyor yolumuz! (Faruk Nafiz Çamlıbel)</a:t>
            </a:r>
          </a:p>
        </p:txBody>
      </p:sp>
    </p:spTree>
    <p:extLst>
      <p:ext uri="{BB962C8B-B14F-4D97-AF65-F5344CB8AC3E}">
        <p14:creationId xmlns:p14="http://schemas.microsoft.com/office/powerpoint/2010/main" val="1414180721"/>
      </p:ext>
    </p:extLst>
  </p:cSld>
</p:sld>
</file>

<file path=ppt/slides/slide3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092D47-5B8F-44D2-83F8-04658656308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D47B79-EBBB-4C70-905E-92DFA66B6A7E}"/>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23FA48AE-07B0-4C93-9834-2B2C5679750E}"/>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4" name="">
            <a:extLst xmlns:a="http://schemas.openxmlformats.org/drawingml/2006/main">
              <a:ext uri="{FF2B5EF4-FFF2-40B4-BE49-F238E27FC236}">
                <a16:creationId xmlns:a16="http://schemas.microsoft.com/office/drawing/2014/main" id="{2D7DEB52-B4FF-4ED6-8BD9-6A569EEABB3F}"/>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3/7</a:t>
            </a:r>
          </a:p>
        </p:txBody>
      </p:sp>
      <p:sp>
        <p:nvSpPr>
          <p:cNvPr id="5" name="">
            <a:extLst xmlns:a="http://schemas.openxmlformats.org/drawingml/2006/main">
              <a:ext uri="{FF2B5EF4-FFF2-40B4-BE49-F238E27FC236}">
                <a16:creationId xmlns:a16="http://schemas.microsoft.com/office/drawing/2014/main" id="{5EB935C8-B770-4E10-9672-71D212C21B36}"/>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36</a:t>
            </a:r>
          </a:p>
        </p:txBody>
      </p:sp>
      <p:sp>
        <p:nvSpPr>
          <p:cNvPr id="6" name="">
            <a:extLst xmlns:a="http://schemas.openxmlformats.org/drawingml/2006/main">
              <a:ext uri="{FF2B5EF4-FFF2-40B4-BE49-F238E27FC236}">
                <a16:creationId xmlns:a16="http://schemas.microsoft.com/office/drawing/2014/main" id="{B7F3C1B7-9ACA-4DE9-82C9-88C11803895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DAAE9E1-F1F9-4A9C-A362-21B430EFF94E}"/>
              </a:ext>
            </a:extLst>
          </p:cNvPr>
          <p:cNvSpPr>
            <a:spLocks xmlns:a="http://schemas.openxmlformats.org/drawingml/2006/main" noGrp="1"/>
          </p:cNvSpPr>
          <p:nvPr/>
        </p:nvSpPr>
        <p:spPr>
          <a:xfrm xmlns:a="http://schemas.openxmlformats.org/drawingml/2006/main">
            <a:off x="666750" y="1571625"/>
            <a:ext cx="10858500" cy="21859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Binaenaleyh, biz her vasıtadan, yalnız ve ancak, bir noktainazardan istifade ederiz. O noktainazar şudur: Türk milletini, medeni cihanda layık olduğu mevkiye isat etmek ve Türk cumhuriyetini sarsılmaz temelleri üzerinde, her gün, daha ziyade takviye etmek… (Atatürk)</a:t>
            </a:r>
          </a:p>
        </p:txBody>
      </p:sp>
      <p:sp>
        <p:nvSpPr>
          <p:cNvPr id="8" name="">
            <a:extLst xmlns:a="http://schemas.openxmlformats.org/drawingml/2006/main">
              <a:ext uri="{FF2B5EF4-FFF2-40B4-BE49-F238E27FC236}">
                <a16:creationId xmlns:a16="http://schemas.microsoft.com/office/drawing/2014/main" id="{347ED3A4-9325-4DAD-AC39-A78713BA0B5E}"/>
              </a:ext>
            </a:extLst>
          </p:cNvPr>
          <p:cNvSpPr>
            <a:spLocks xmlns:a="http://schemas.openxmlformats.org/drawingml/2006/main" noGrp="1"/>
          </p:cNvSpPr>
          <p:nvPr/>
        </p:nvSpPr>
        <p:spPr>
          <a:xfrm xmlns:a="http://schemas.openxmlformats.org/drawingml/2006/main">
            <a:off x="666750" y="3871913"/>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Ünlem ve seslenmelerde anlatımı pekiştirmek için konur:</a:t>
            </a:r>
          </a:p>
        </p:txBody>
      </p:sp>
      <p:sp>
        <p:nvSpPr>
          <p:cNvPr id="9" name="">
            <a:extLst xmlns:a="http://schemas.openxmlformats.org/drawingml/2006/main">
              <a:ext uri="{FF2B5EF4-FFF2-40B4-BE49-F238E27FC236}">
                <a16:creationId xmlns:a16="http://schemas.microsoft.com/office/drawing/2014/main" id="{56314235-AA60-400B-A750-6385FBB6B695}"/>
              </a:ext>
            </a:extLst>
          </p:cNvPr>
          <p:cNvSpPr>
            <a:spLocks xmlns:a="http://schemas.openxmlformats.org/drawingml/2006/main" noGrp="1"/>
          </p:cNvSpPr>
          <p:nvPr/>
        </p:nvSpPr>
        <p:spPr>
          <a:xfrm xmlns:a="http://schemas.openxmlformats.org/drawingml/2006/main">
            <a:off x="666750" y="471487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Gölgeler yaklaştılar. Bir adım kalınca onu kıyafetinden tanıdılar:</a:t>
            </a:r>
          </a:p>
        </p:txBody>
      </p:sp>
      <p:sp>
        <p:nvSpPr>
          <p:cNvPr id="10" name="">
            <a:extLst xmlns:a="http://schemas.openxmlformats.org/drawingml/2006/main">
              <a:ext uri="{FF2B5EF4-FFF2-40B4-BE49-F238E27FC236}">
                <a16:creationId xmlns:a16="http://schemas.microsoft.com/office/drawing/2014/main" id="{54D454A5-7DCF-40AC-A676-B1F39D23F559}"/>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Koca Ali… Koca Ali, be!.. (Ömer Seyfettin)</a:t>
            </a:r>
          </a:p>
        </p:txBody>
      </p:sp>
    </p:spTree>
    <p:extLst>
      <p:ext uri="{BB962C8B-B14F-4D97-AF65-F5344CB8AC3E}">
        <p14:creationId xmlns:p14="http://schemas.microsoft.com/office/powerpoint/2010/main" val="605413458"/>
      </p:ext>
    </p:extLst>
  </p:cSld>
</p:sld>
</file>

<file path=ppt/slides/slide3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8D9304-34DB-43CD-8661-5EE1770A8CB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794B35-2292-4D99-8750-D80D8AD5789F}"/>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57FEB470-3999-4EBD-9E34-9812DED96D9F}"/>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4" name="">
            <a:extLst xmlns:a="http://schemas.openxmlformats.org/drawingml/2006/main">
              <a:ext uri="{FF2B5EF4-FFF2-40B4-BE49-F238E27FC236}">
                <a16:creationId xmlns:a16="http://schemas.microsoft.com/office/drawing/2014/main" id="{BA134E97-E142-4A01-A256-431E6E702E6B}"/>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4/7</a:t>
            </a:r>
          </a:p>
        </p:txBody>
      </p:sp>
      <p:sp>
        <p:nvSpPr>
          <p:cNvPr id="5" name="">
            <a:extLst xmlns:a="http://schemas.openxmlformats.org/drawingml/2006/main">
              <a:ext uri="{FF2B5EF4-FFF2-40B4-BE49-F238E27FC236}">
                <a16:creationId xmlns:a16="http://schemas.microsoft.com/office/drawing/2014/main" id="{E1CB8506-AFE1-4A22-858C-BE20B904F448}"/>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37</a:t>
            </a:r>
          </a:p>
        </p:txBody>
      </p:sp>
      <p:sp>
        <p:nvSpPr>
          <p:cNvPr id="6" name="">
            <a:extLst xmlns:a="http://schemas.openxmlformats.org/drawingml/2006/main">
              <a:ext uri="{FF2B5EF4-FFF2-40B4-BE49-F238E27FC236}">
                <a16:creationId xmlns:a16="http://schemas.microsoft.com/office/drawing/2014/main" id="{937D0B95-207D-41C4-8506-D1EAE6D1B21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9545168-0908-40FC-B27D-8D2CF9F3D2E4}"/>
              </a:ext>
            </a:extLst>
          </p:cNvPr>
          <p:cNvSpPr>
            <a:spLocks xmlns:a="http://schemas.openxmlformats.org/drawingml/2006/main" noGrp="1"/>
          </p:cNvSpPr>
          <p:nvPr/>
        </p:nvSpPr>
        <p:spPr>
          <a:xfrm xmlns:a="http://schemas.openxmlformats.org/drawingml/2006/main">
            <a:off x="666750" y="1571625"/>
            <a:ext cx="10858500" cy="145732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Ünlem ve soru işaretinden sonra üç nokta yerine iki nokta konulması yeterlidir:</a:t>
            </a:r>
          </a:p>
        </p:txBody>
      </p:sp>
      <p:sp>
        <p:nvSpPr>
          <p:cNvPr id="8" name="">
            <a:extLst xmlns:a="http://schemas.openxmlformats.org/drawingml/2006/main">
              <a:ext uri="{FF2B5EF4-FFF2-40B4-BE49-F238E27FC236}">
                <a16:creationId xmlns:a16="http://schemas.microsoft.com/office/drawing/2014/main" id="{B559A4AE-AA3B-4D3B-8DBA-A94F3AA944A2}"/>
              </a:ext>
            </a:extLst>
          </p:cNvPr>
          <p:cNvSpPr>
            <a:spLocks xmlns:a="http://schemas.openxmlformats.org/drawingml/2006/main" noGrp="1"/>
          </p:cNvSpPr>
          <p:nvPr/>
        </p:nvSpPr>
        <p:spPr>
          <a:xfrm xmlns:a="http://schemas.openxmlformats.org/drawingml/2006/main">
            <a:off x="666750" y="3143250"/>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Gök ekini biçer gibi!.. Başaklar daha dolmadan. (Tarık Buğra)</a:t>
            </a:r>
          </a:p>
        </p:txBody>
      </p:sp>
      <p:sp>
        <p:nvSpPr>
          <p:cNvPr id="9" name="">
            <a:extLst xmlns:a="http://schemas.openxmlformats.org/drawingml/2006/main">
              <a:ext uri="{FF2B5EF4-FFF2-40B4-BE49-F238E27FC236}">
                <a16:creationId xmlns:a16="http://schemas.microsoft.com/office/drawing/2014/main" id="{93CB7153-FA30-47B9-9ACC-874CEE9AAC45}"/>
              </a:ext>
            </a:extLst>
          </p:cNvPr>
          <p:cNvSpPr>
            <a:spLocks xmlns:a="http://schemas.openxmlformats.org/drawingml/2006/main" noGrp="1"/>
          </p:cNvSpPr>
          <p:nvPr/>
        </p:nvSpPr>
        <p:spPr>
          <a:xfrm xmlns:a="http://schemas.openxmlformats.org/drawingml/2006/main">
            <a:off x="666750" y="3986213"/>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Nasıl da akşam oldu?.. Nasıl da yavrucaklar sustu?.. Nasıl da serçecikler yuvalarına sığındı?.. (Necip Fazıl Kısakürek)</a:t>
            </a:r>
          </a:p>
        </p:txBody>
      </p:sp>
      <p:sp>
        <p:nvSpPr>
          <p:cNvPr id="10" name="">
            <a:extLst xmlns:a="http://schemas.openxmlformats.org/drawingml/2006/main">
              <a:ext uri="{FF2B5EF4-FFF2-40B4-BE49-F238E27FC236}">
                <a16:creationId xmlns:a16="http://schemas.microsoft.com/office/drawing/2014/main" id="{BE2B2309-3FB6-460D-AF32-BF99B6DE4A46}"/>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6. Karşılıklı konuşmalarda, yeterli olmayan, eksik bırakılan cevaplarda kullanılır:</a:t>
            </a:r>
          </a:p>
        </p:txBody>
      </p:sp>
    </p:spTree>
    <p:extLst>
      <p:ext uri="{BB962C8B-B14F-4D97-AF65-F5344CB8AC3E}">
        <p14:creationId xmlns:p14="http://schemas.microsoft.com/office/powerpoint/2010/main" val="970457490"/>
      </p:ext>
    </p:extLst>
  </p:cSld>
</p:sld>
</file>

<file path=ppt/slides/slide3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4E1AE1-7C97-4076-8981-6E877F60A9E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E45ED5-50F7-40D1-B469-E55CC6D39AD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56757DA6-B04A-4B0F-AC8C-121B88C73989}"/>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4" name="">
            <a:extLst xmlns:a="http://schemas.openxmlformats.org/drawingml/2006/main">
              <a:ext uri="{FF2B5EF4-FFF2-40B4-BE49-F238E27FC236}">
                <a16:creationId xmlns:a16="http://schemas.microsoft.com/office/drawing/2014/main" id="{4F4F06DF-5201-4625-8E09-56CBA0EE5F35}"/>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5/7</a:t>
            </a:r>
          </a:p>
        </p:txBody>
      </p:sp>
      <p:sp>
        <p:nvSpPr>
          <p:cNvPr id="5" name="">
            <a:extLst xmlns:a="http://schemas.openxmlformats.org/drawingml/2006/main">
              <a:ext uri="{FF2B5EF4-FFF2-40B4-BE49-F238E27FC236}">
                <a16:creationId xmlns:a16="http://schemas.microsoft.com/office/drawing/2014/main" id="{749B89AA-A176-444B-A895-7990D5EFA598}"/>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38</a:t>
            </a:r>
          </a:p>
        </p:txBody>
      </p:sp>
      <p:sp>
        <p:nvSpPr>
          <p:cNvPr id="6" name="">
            <a:extLst xmlns:a="http://schemas.openxmlformats.org/drawingml/2006/main">
              <a:ext uri="{FF2B5EF4-FFF2-40B4-BE49-F238E27FC236}">
                <a16:creationId xmlns:a16="http://schemas.microsoft.com/office/drawing/2014/main" id="{45152186-C461-43E7-8BD6-3FB0C039378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819A797-97D4-438A-8778-17C5EF619354}"/>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Yabancı yok!</a:t>
            </a:r>
          </a:p>
        </p:txBody>
      </p:sp>
      <p:sp>
        <p:nvSpPr>
          <p:cNvPr id="8" name="">
            <a:extLst xmlns:a="http://schemas.openxmlformats.org/drawingml/2006/main">
              <a:ext uri="{FF2B5EF4-FFF2-40B4-BE49-F238E27FC236}">
                <a16:creationId xmlns:a16="http://schemas.microsoft.com/office/drawing/2014/main" id="{051B2F6F-D390-4F79-BF14-B122D7A5902E}"/>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Kimsin?</a:t>
            </a:r>
          </a:p>
        </p:txBody>
      </p:sp>
      <p:sp>
        <p:nvSpPr>
          <p:cNvPr id="9" name="">
            <a:extLst xmlns:a="http://schemas.openxmlformats.org/drawingml/2006/main">
              <a:ext uri="{FF2B5EF4-FFF2-40B4-BE49-F238E27FC236}">
                <a16:creationId xmlns:a16="http://schemas.microsoft.com/office/drawing/2014/main" id="{14028BAE-65FD-4897-9344-E90C27275D64}"/>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Ali…</a:t>
            </a:r>
          </a:p>
        </p:txBody>
      </p:sp>
      <p:sp>
        <p:nvSpPr>
          <p:cNvPr id="10" name="">
            <a:extLst xmlns:a="http://schemas.openxmlformats.org/drawingml/2006/main">
              <a:ext uri="{FF2B5EF4-FFF2-40B4-BE49-F238E27FC236}">
                <a16:creationId xmlns:a16="http://schemas.microsoft.com/office/drawing/2014/main" id="{7171B59C-F923-4984-8EC8-3ADF6C442029}"/>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Hangi Ali?</a:t>
            </a:r>
          </a:p>
        </p:txBody>
      </p:sp>
    </p:spTree>
    <p:extLst>
      <p:ext uri="{BB962C8B-B14F-4D97-AF65-F5344CB8AC3E}">
        <p14:creationId xmlns:p14="http://schemas.microsoft.com/office/powerpoint/2010/main" val="169109551"/>
      </p:ext>
    </p:extLst>
  </p:cSld>
</p:sld>
</file>

<file path=ppt/slides/slide3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EDB037-4A08-43E2-BEBF-223C1BC2869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D89CAB-72E3-4397-92A1-5DCB678826CE}"/>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D51AA72B-FD01-4840-90FE-4F73EC7D52B3}"/>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4" name="">
            <a:extLst xmlns:a="http://schemas.openxmlformats.org/drawingml/2006/main">
              <a:ext uri="{FF2B5EF4-FFF2-40B4-BE49-F238E27FC236}">
                <a16:creationId xmlns:a16="http://schemas.microsoft.com/office/drawing/2014/main" id="{BB615DCA-D340-42C9-9E38-75CE99924CDF}"/>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6/7</a:t>
            </a:r>
          </a:p>
        </p:txBody>
      </p:sp>
      <p:sp>
        <p:nvSpPr>
          <p:cNvPr id="5" name="">
            <a:extLst xmlns:a="http://schemas.openxmlformats.org/drawingml/2006/main">
              <a:ext uri="{FF2B5EF4-FFF2-40B4-BE49-F238E27FC236}">
                <a16:creationId xmlns:a16="http://schemas.microsoft.com/office/drawing/2014/main" id="{BAB136F9-F776-47E7-9CA4-58FD45B1EDB9}"/>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39</a:t>
            </a:r>
          </a:p>
        </p:txBody>
      </p:sp>
      <p:sp>
        <p:nvSpPr>
          <p:cNvPr id="6" name="">
            <a:extLst xmlns:a="http://schemas.openxmlformats.org/drawingml/2006/main">
              <a:ext uri="{FF2B5EF4-FFF2-40B4-BE49-F238E27FC236}">
                <a16:creationId xmlns:a16="http://schemas.microsoft.com/office/drawing/2014/main" id="{12D5BA7F-A212-4297-9CC3-6BE80FFB1B0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F848AEE-CFAB-464D-875D-11009D449ADE}"/>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a:t>
            </a:r>
          </a:p>
        </p:txBody>
      </p:sp>
      <p:sp>
        <p:nvSpPr>
          <p:cNvPr id="8" name="">
            <a:extLst xmlns:a="http://schemas.openxmlformats.org/drawingml/2006/main">
              <a:ext uri="{FF2B5EF4-FFF2-40B4-BE49-F238E27FC236}">
                <a16:creationId xmlns:a16="http://schemas.microsoft.com/office/drawing/2014/main" id="{599701B9-CAFD-441E-BD95-A12C0A573E50}"/>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Sen misin, Ali usta?</a:t>
            </a:r>
          </a:p>
        </p:txBody>
      </p:sp>
      <p:sp>
        <p:nvSpPr>
          <p:cNvPr id="9" name="">
            <a:extLst xmlns:a="http://schemas.openxmlformats.org/drawingml/2006/main">
              <a:ext uri="{FF2B5EF4-FFF2-40B4-BE49-F238E27FC236}">
                <a16:creationId xmlns:a16="http://schemas.microsoft.com/office/drawing/2014/main" id="{8B3EEF55-9A9A-43DF-B3AD-3FAB28B3F06E}"/>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Benim!..</a:t>
            </a:r>
          </a:p>
        </p:txBody>
      </p:sp>
      <p:sp>
        <p:nvSpPr>
          <p:cNvPr id="10" name="">
            <a:extLst xmlns:a="http://schemas.openxmlformats.org/drawingml/2006/main">
              <a:ext uri="{FF2B5EF4-FFF2-40B4-BE49-F238E27FC236}">
                <a16:creationId xmlns:a16="http://schemas.microsoft.com/office/drawing/2014/main" id="{6A5C8047-EB9C-4DF0-88E4-26C62AD6739D}"/>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Ne arıyorsun bu vakit buralarda?</a:t>
            </a:r>
          </a:p>
        </p:txBody>
      </p:sp>
    </p:spTree>
    <p:extLst>
      <p:ext uri="{BB962C8B-B14F-4D97-AF65-F5344CB8AC3E}">
        <p14:creationId xmlns:p14="http://schemas.microsoft.com/office/powerpoint/2010/main" val="1422826189"/>
      </p:ext>
    </p:extLst>
  </p:cSld>
</p:sld>
</file>

<file path=ppt/slides/slide4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D45B71-B516-4707-94BF-9C96AF0DC57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693556-4DAF-453D-AD82-39A4BDFE62BB}"/>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F385B6AB-884E-41B5-AF46-4B30DD73EF1E}"/>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Üç Nokta ( … )</a:t>
            </a:r>
          </a:p>
        </p:txBody>
      </p:sp>
      <p:sp>
        <p:nvSpPr>
          <p:cNvPr id="4" name="">
            <a:extLst xmlns:a="http://schemas.openxmlformats.org/drawingml/2006/main">
              <a:ext uri="{FF2B5EF4-FFF2-40B4-BE49-F238E27FC236}">
                <a16:creationId xmlns:a16="http://schemas.microsoft.com/office/drawing/2014/main" id="{6E15B648-B958-4263-9E17-DB4C0BEC6E55}"/>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7/7</a:t>
            </a:r>
          </a:p>
        </p:txBody>
      </p:sp>
      <p:sp>
        <p:nvSpPr>
          <p:cNvPr id="5" name="">
            <a:extLst xmlns:a="http://schemas.openxmlformats.org/drawingml/2006/main">
              <a:ext uri="{FF2B5EF4-FFF2-40B4-BE49-F238E27FC236}">
                <a16:creationId xmlns:a16="http://schemas.microsoft.com/office/drawing/2014/main" id="{B3A3A047-CCF7-425B-8C3C-1CC59A4E9C36}"/>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40</a:t>
            </a:r>
          </a:p>
        </p:txBody>
      </p:sp>
      <p:sp>
        <p:nvSpPr>
          <p:cNvPr id="6" name="">
            <a:extLst xmlns:a="http://schemas.openxmlformats.org/drawingml/2006/main">
              <a:ext uri="{FF2B5EF4-FFF2-40B4-BE49-F238E27FC236}">
                <a16:creationId xmlns:a16="http://schemas.microsoft.com/office/drawing/2014/main" id="{86E87594-B536-4C6E-9D65-2694EE2FE30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4447B4E-B430-4E39-9637-4EE6EB26A2F2}"/>
              </a:ext>
            </a:extLst>
          </p:cNvPr>
          <p:cNvSpPr>
            <a:spLocks xmlns:a="http://schemas.openxmlformats.org/drawingml/2006/main" noGrp="1"/>
          </p:cNvSpPr>
          <p:nvPr/>
        </p:nvSpPr>
        <p:spPr>
          <a:xfrm xmlns:a="http://schemas.openxmlformats.org/drawingml/2006/main">
            <a:off x="666750" y="157162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Hiç…</a:t>
            </a:r>
          </a:p>
        </p:txBody>
      </p:sp>
      <p:sp>
        <p:nvSpPr>
          <p:cNvPr id="8" name="">
            <a:extLst xmlns:a="http://schemas.openxmlformats.org/drawingml/2006/main">
              <a:ext uri="{FF2B5EF4-FFF2-40B4-BE49-F238E27FC236}">
                <a16:creationId xmlns:a16="http://schemas.microsoft.com/office/drawing/2014/main" id="{7CA6930D-0D1C-4CD0-83DA-50FEEF20EF69}"/>
              </a:ext>
            </a:extLst>
          </p:cNvPr>
          <p:cNvSpPr>
            <a:spLocks xmlns:a="http://schemas.openxmlformats.org/drawingml/2006/main" noGrp="1"/>
          </p:cNvSpPr>
          <p:nvPr/>
        </p:nvSpPr>
        <p:spPr>
          <a:xfrm xmlns:a="http://schemas.openxmlformats.org/drawingml/2006/main">
            <a:off x="666750" y="256032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Nasıl hiç? Suya çekicini mi düşürdün yoksa!..</a:t>
            </a:r>
          </a:p>
        </p:txBody>
      </p:sp>
      <p:sp>
        <p:nvSpPr>
          <p:cNvPr id="9" name="">
            <a:extLst xmlns:a="http://schemas.openxmlformats.org/drawingml/2006/main">
              <a:ext uri="{FF2B5EF4-FFF2-40B4-BE49-F238E27FC236}">
                <a16:creationId xmlns:a16="http://schemas.microsoft.com/office/drawing/2014/main" id="{808EF936-1C0B-4CA0-A08B-C0A803B10045}"/>
              </a:ext>
            </a:extLst>
          </p:cNvPr>
          <p:cNvSpPr>
            <a:spLocks xmlns:a="http://schemas.openxmlformats.org/drawingml/2006/main" noGrp="1"/>
          </p:cNvSpPr>
          <p:nvPr/>
        </p:nvSpPr>
        <p:spPr>
          <a:xfrm xmlns:a="http://schemas.openxmlformats.org/drawingml/2006/main">
            <a:off x="666750" y="35490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 (Ömer Seyfettin)</a:t>
            </a:r>
          </a:p>
        </p:txBody>
      </p:sp>
      <p:sp>
        <p:nvSpPr>
          <p:cNvPr id="10" name="">
            <a:extLst xmlns:a="http://schemas.openxmlformats.org/drawingml/2006/main">
              <a:ext uri="{FF2B5EF4-FFF2-40B4-BE49-F238E27FC236}">
                <a16:creationId xmlns:a16="http://schemas.microsoft.com/office/drawing/2014/main" id="{57801D5F-2010-4F97-B239-F4C919F0033A}"/>
              </a:ext>
            </a:extLst>
          </p:cNvPr>
          <p:cNvSpPr>
            <a:spLocks xmlns:a="http://schemas.openxmlformats.org/drawingml/2006/main" noGrp="1"/>
          </p:cNvSpPr>
          <p:nvPr/>
        </p:nvSpPr>
        <p:spPr>
          <a:xfrm xmlns:a="http://schemas.openxmlformats.org/drawingml/2006/main">
            <a:off x="666750" y="4537710"/>
            <a:ext cx="10858500" cy="1748790"/>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Üç nokta yerine iki veya daha çok nokta kullanılmaz.</a:t>
            </a:r>
          </a:p>
        </p:txBody>
      </p:sp>
    </p:spTree>
    <p:extLst>
      <p:ext uri="{BB962C8B-B14F-4D97-AF65-F5344CB8AC3E}">
        <p14:creationId xmlns:p14="http://schemas.microsoft.com/office/powerpoint/2010/main" val="1271538985"/>
      </p:ext>
    </p:extLst>
  </p:cSld>
</p:sld>
</file>

<file path=ppt/slides/slide4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A8A8E4-52C1-42CE-A85E-0D4E7FD2BB1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583D8C-1B52-4002-9809-629E1C18B67B}"/>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FFE65512-C350-46F6-BAA8-830A678FC6B2}"/>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4" name="">
            <a:extLst xmlns:a="http://schemas.openxmlformats.org/drawingml/2006/main">
              <a:ext uri="{FF2B5EF4-FFF2-40B4-BE49-F238E27FC236}">
                <a16:creationId xmlns:a16="http://schemas.microsoft.com/office/drawing/2014/main" id="{511B13C9-0043-4F93-AF9C-6DA04DE9F6D9}"/>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216EF889-59C9-4865-8587-54494BB40B29}"/>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41</a:t>
            </a:r>
          </a:p>
        </p:txBody>
      </p:sp>
      <p:sp>
        <p:nvSpPr>
          <p:cNvPr id="6" name="">
            <a:extLst xmlns:a="http://schemas.openxmlformats.org/drawingml/2006/main">
              <a:ext uri="{FF2B5EF4-FFF2-40B4-BE49-F238E27FC236}">
                <a16:creationId xmlns:a16="http://schemas.microsoft.com/office/drawing/2014/main" id="{02B4F024-0B12-4A47-A442-FFAA4297332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6439A1EA-B659-45C7-90E3-231B28E4012A}"/>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Soru eki veya sözü içeren cümle veya sözlerin sonuna konur:</a:t>
            </a:r>
          </a:p>
        </p:txBody>
      </p:sp>
      <p:sp>
        <p:nvSpPr>
          <p:cNvPr id="8" name="">
            <a:extLst xmlns:a="http://schemas.openxmlformats.org/drawingml/2006/main">
              <a:ext uri="{FF2B5EF4-FFF2-40B4-BE49-F238E27FC236}">
                <a16:creationId xmlns:a16="http://schemas.microsoft.com/office/drawing/2014/main" id="{1DB02988-2F64-440A-AA1D-9A423277A9C1}"/>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Ne zaman tükenecek bu yollar, arabacı? (Faruk Nafiz Çamlıbel)</a:t>
            </a:r>
          </a:p>
        </p:txBody>
      </p:sp>
      <p:sp>
        <p:nvSpPr>
          <p:cNvPr id="9" name="">
            <a:extLst xmlns:a="http://schemas.openxmlformats.org/drawingml/2006/main">
              <a:ext uri="{FF2B5EF4-FFF2-40B4-BE49-F238E27FC236}">
                <a16:creationId xmlns:a16="http://schemas.microsoft.com/office/drawing/2014/main" id="{4192C1D1-15ED-4FCE-B6E8-25FB068571E6}"/>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Atatürk bana sordu:</a:t>
            </a:r>
          </a:p>
        </p:txBody>
      </p:sp>
      <p:sp>
        <p:nvSpPr>
          <p:cNvPr id="10" name="">
            <a:extLst xmlns:a="http://schemas.openxmlformats.org/drawingml/2006/main">
              <a:ext uri="{FF2B5EF4-FFF2-40B4-BE49-F238E27FC236}">
                <a16:creationId xmlns:a16="http://schemas.microsoft.com/office/drawing/2014/main" id="{EB293DCF-E6A1-41F3-BEFF-2D1FA3F2E9C6}"/>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Yeni yazıyı tatbik etmek için ne düşündünüz? (Falih Rıfkı Atay)</a:t>
            </a:r>
          </a:p>
        </p:txBody>
      </p:sp>
    </p:spTree>
    <p:extLst>
      <p:ext uri="{BB962C8B-B14F-4D97-AF65-F5344CB8AC3E}">
        <p14:creationId xmlns:p14="http://schemas.microsoft.com/office/powerpoint/2010/main" val="1960098774"/>
      </p:ext>
    </p:extLst>
  </p:cSld>
</p:sld>
</file>

<file path=ppt/slides/slide4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6833DF-1169-4CBE-A500-1620A3BE981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556E7E-BEBE-4FBA-9CBB-DFCD4622599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F64D0C91-F6CD-4FE6-8FA1-D0EA4915011C}"/>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4" name="">
            <a:extLst xmlns:a="http://schemas.openxmlformats.org/drawingml/2006/main">
              <a:ext uri="{FF2B5EF4-FFF2-40B4-BE49-F238E27FC236}">
                <a16:creationId xmlns:a16="http://schemas.microsoft.com/office/drawing/2014/main" id="{54C988F6-238C-402E-B2C5-DEF390BFE8E6}"/>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2/4</a:t>
            </a:r>
          </a:p>
        </p:txBody>
      </p:sp>
      <p:sp>
        <p:nvSpPr>
          <p:cNvPr id="5" name="">
            <a:extLst xmlns:a="http://schemas.openxmlformats.org/drawingml/2006/main">
              <a:ext uri="{FF2B5EF4-FFF2-40B4-BE49-F238E27FC236}">
                <a16:creationId xmlns:a16="http://schemas.microsoft.com/office/drawing/2014/main" id="{CA2444F7-9398-4E8D-9B86-EC11DC58D8A9}"/>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42</a:t>
            </a:r>
          </a:p>
        </p:txBody>
      </p:sp>
      <p:sp>
        <p:nvSpPr>
          <p:cNvPr id="6" name="">
            <a:extLst xmlns:a="http://schemas.openxmlformats.org/drawingml/2006/main">
              <a:ext uri="{FF2B5EF4-FFF2-40B4-BE49-F238E27FC236}">
                <a16:creationId xmlns:a16="http://schemas.microsoft.com/office/drawing/2014/main" id="{DB3F62CE-F9CF-45AE-BD3F-BF62AC1634E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DFAA302-3F1F-48FA-8A77-2DD03FF41C7B}"/>
              </a:ext>
            </a:extLst>
          </p:cNvPr>
          <p:cNvSpPr>
            <a:spLocks xmlns:a="http://schemas.openxmlformats.org/drawingml/2006/main" noGrp="1"/>
          </p:cNvSpPr>
          <p:nvPr/>
        </p:nvSpPr>
        <p:spPr>
          <a:xfrm xmlns:a="http://schemas.openxmlformats.org/drawingml/2006/main">
            <a:off x="666750" y="157162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Soru bildiren ancak soru eki veya sözü içermeyen cümlelerin sonuna konur:</a:t>
            </a:r>
          </a:p>
        </p:txBody>
      </p:sp>
      <p:sp>
        <p:nvSpPr>
          <p:cNvPr id="8" name="">
            <a:extLst xmlns:a="http://schemas.openxmlformats.org/drawingml/2006/main">
              <a:ext uri="{FF2B5EF4-FFF2-40B4-BE49-F238E27FC236}">
                <a16:creationId xmlns:a16="http://schemas.microsoft.com/office/drawing/2014/main" id="{771AB58D-420E-4810-9C04-4148010DA092}"/>
              </a:ext>
            </a:extLst>
          </p:cNvPr>
          <p:cNvSpPr>
            <a:spLocks xmlns:a="http://schemas.openxmlformats.org/drawingml/2006/main" noGrp="1"/>
          </p:cNvSpPr>
          <p:nvPr/>
        </p:nvSpPr>
        <p:spPr>
          <a:xfrm xmlns:a="http://schemas.openxmlformats.org/drawingml/2006/main">
            <a:off x="666750" y="256032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Gümrükteki memur başını kaldırdı:</a:t>
            </a:r>
          </a:p>
        </p:txBody>
      </p:sp>
      <p:sp>
        <p:nvSpPr>
          <p:cNvPr id="9" name="">
            <a:extLst xmlns:a="http://schemas.openxmlformats.org/drawingml/2006/main">
              <a:ext uri="{FF2B5EF4-FFF2-40B4-BE49-F238E27FC236}">
                <a16:creationId xmlns:a16="http://schemas.microsoft.com/office/drawing/2014/main" id="{3914DE9B-5A1D-41EB-AE99-E827755F72C8}"/>
              </a:ext>
            </a:extLst>
          </p:cNvPr>
          <p:cNvSpPr>
            <a:spLocks xmlns:a="http://schemas.openxmlformats.org/drawingml/2006/main" noGrp="1"/>
          </p:cNvSpPr>
          <p:nvPr/>
        </p:nvSpPr>
        <p:spPr>
          <a:xfrm xmlns:a="http://schemas.openxmlformats.org/drawingml/2006/main">
            <a:off x="666750" y="35490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Adınız?</a:t>
            </a:r>
          </a:p>
        </p:txBody>
      </p:sp>
      <p:sp>
        <p:nvSpPr>
          <p:cNvPr id="10" name="">
            <a:extLst xmlns:a="http://schemas.openxmlformats.org/drawingml/2006/main">
              <a:ext uri="{FF2B5EF4-FFF2-40B4-BE49-F238E27FC236}">
                <a16:creationId xmlns:a16="http://schemas.microsoft.com/office/drawing/2014/main" id="{B7C4FA64-03BB-472E-9419-7371A6C0661D}"/>
              </a:ext>
            </a:extLst>
          </p:cNvPr>
          <p:cNvSpPr>
            <a:spLocks xmlns:a="http://schemas.openxmlformats.org/drawingml/2006/main" noGrp="1"/>
          </p:cNvSpPr>
          <p:nvPr/>
        </p:nvSpPr>
        <p:spPr>
          <a:xfrm xmlns:a="http://schemas.openxmlformats.org/drawingml/2006/main">
            <a:off x="666750" y="4537710"/>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Bilinmeyen, kesin olmayan veya şüpheyle karşılanan yer, tarih vb. durumlar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Yunus Emre (1240 ?-1320), (Doğum yeri: ?) vb.</a:t>
            </a:r>
          </a:p>
        </p:txBody>
      </p:sp>
    </p:spTree>
    <p:extLst>
      <p:ext uri="{BB962C8B-B14F-4D97-AF65-F5344CB8AC3E}">
        <p14:creationId xmlns:p14="http://schemas.microsoft.com/office/powerpoint/2010/main" val="1130577656"/>
      </p:ext>
    </p:extLst>
  </p:cSld>
</p:sld>
</file>

<file path=ppt/slides/slide4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DD857F-9DA9-40F3-8457-1D345BB9A024}"/>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107455-842C-4D33-BDB6-291AB58F5D12}"/>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FE5AB1C1-CA83-4E8F-92D1-C670F1FE30E5}"/>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4" name="">
            <a:extLst xmlns:a="http://schemas.openxmlformats.org/drawingml/2006/main">
              <a:ext uri="{FF2B5EF4-FFF2-40B4-BE49-F238E27FC236}">
                <a16:creationId xmlns:a16="http://schemas.microsoft.com/office/drawing/2014/main" id="{C49A1904-2DC9-428E-9CAA-358381DE7397}"/>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3/4</a:t>
            </a:r>
          </a:p>
        </p:txBody>
      </p:sp>
      <p:sp>
        <p:nvSpPr>
          <p:cNvPr id="5" name="">
            <a:extLst xmlns:a="http://schemas.openxmlformats.org/drawingml/2006/main">
              <a:ext uri="{FF2B5EF4-FFF2-40B4-BE49-F238E27FC236}">
                <a16:creationId xmlns:a16="http://schemas.microsoft.com/office/drawing/2014/main" id="{4F6D58BA-113F-4B86-8241-C40215C30257}"/>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43</a:t>
            </a:r>
          </a:p>
        </p:txBody>
      </p:sp>
      <p:sp>
        <p:nvSpPr>
          <p:cNvPr id="6" name="">
            <a:extLst xmlns:a="http://schemas.openxmlformats.org/drawingml/2006/main">
              <a:ext uri="{FF2B5EF4-FFF2-40B4-BE49-F238E27FC236}">
                <a16:creationId xmlns:a16="http://schemas.microsoft.com/office/drawing/2014/main" id="{FF2AEB73-0957-4608-8D24-D9AC3DB2D57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A3AE479-EF7E-4E23-AB7A-848AAB289549}"/>
              </a:ext>
            </a:extLst>
          </p:cNvPr>
          <p:cNvSpPr>
            <a:spLocks xmlns:a="http://schemas.openxmlformats.org/drawingml/2006/main" noGrp="1"/>
          </p:cNvSpPr>
          <p:nvPr/>
        </p:nvSpPr>
        <p:spPr>
          <a:xfrm xmlns:a="http://schemas.openxmlformats.org/drawingml/2006/main">
            <a:off x="666750" y="1571625"/>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1496 (?) yılında doğan Fuzuli…</a:t>
            </a:r>
          </a:p>
        </p:txBody>
      </p:sp>
      <p:sp>
        <p:nvSpPr>
          <p:cNvPr id="8" name="">
            <a:extLst xmlns:a="http://schemas.openxmlformats.org/drawingml/2006/main">
              <a:ext uri="{FF2B5EF4-FFF2-40B4-BE49-F238E27FC236}">
                <a16:creationId xmlns:a16="http://schemas.microsoft.com/office/drawing/2014/main" id="{2D67AF97-9C3D-4771-B676-D41C2E768F2A}"/>
              </a:ext>
            </a:extLst>
          </p:cNvPr>
          <p:cNvSpPr>
            <a:spLocks xmlns:a="http://schemas.openxmlformats.org/drawingml/2006/main" noGrp="1"/>
          </p:cNvSpPr>
          <p:nvPr/>
        </p:nvSpPr>
        <p:spPr>
          <a:xfrm xmlns:a="http://schemas.openxmlformats.org/drawingml/2006/main">
            <a:off x="666750" y="2583180"/>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Ankara’dan Antalya’ya arabayla üç saatte (?) gitmiş.</a:t>
            </a:r>
          </a:p>
        </p:txBody>
      </p:sp>
      <p:sp>
        <p:nvSpPr>
          <p:cNvPr id="9" name="">
            <a:extLst xmlns:a="http://schemas.openxmlformats.org/drawingml/2006/main">
              <a:ext uri="{FF2B5EF4-FFF2-40B4-BE49-F238E27FC236}">
                <a16:creationId xmlns:a16="http://schemas.microsoft.com/office/drawing/2014/main" id="{6196BF00-1407-4219-A041-698543AE8A61}"/>
              </a:ext>
            </a:extLst>
          </p:cNvPr>
          <p:cNvSpPr>
            <a:spLocks xmlns:a="http://schemas.openxmlformats.org/drawingml/2006/main" noGrp="1"/>
          </p:cNvSpPr>
          <p:nvPr/>
        </p:nvSpPr>
        <p:spPr>
          <a:xfrm xmlns:a="http://schemas.openxmlformats.org/drawingml/2006/main">
            <a:off x="666750" y="3594735"/>
            <a:ext cx="10858500" cy="269176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mı / mi ekini alan yan cümle temel cümlenin zarf tümleci olduğunda cümlenin sonuna soru işareti konmaz: Akşam oldu mu sürüler döner. Hava karardı mı eve gideriz.</a:t>
            </a:r>
          </a:p>
        </p:txBody>
      </p:sp>
    </p:spTree>
    <p:extLst>
      <p:ext uri="{BB962C8B-B14F-4D97-AF65-F5344CB8AC3E}">
        <p14:creationId xmlns:p14="http://schemas.microsoft.com/office/powerpoint/2010/main" val="966013979"/>
      </p:ext>
    </p:extLst>
  </p:cSld>
</p:sld>
</file>

<file path=ppt/slides/slide4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4AA3BD3-483A-4EE6-806A-2E5FDB5BDD9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A7CFEE-053C-49EE-BF58-99F0759AE41A}"/>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77E48BCD-6BAF-4CB1-8BD9-14AFFE0DA8D9}"/>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Soru İşareti ( ? )</a:t>
            </a:r>
          </a:p>
        </p:txBody>
      </p:sp>
      <p:sp>
        <p:nvSpPr>
          <p:cNvPr id="4" name="">
            <a:extLst xmlns:a="http://schemas.openxmlformats.org/drawingml/2006/main">
              <a:ext uri="{FF2B5EF4-FFF2-40B4-BE49-F238E27FC236}">
                <a16:creationId xmlns:a16="http://schemas.microsoft.com/office/drawing/2014/main" id="{E13BB447-FF06-4022-B0CB-78204C677A56}"/>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4/4</a:t>
            </a:r>
          </a:p>
        </p:txBody>
      </p:sp>
      <p:sp>
        <p:nvSpPr>
          <p:cNvPr id="5" name="">
            <a:extLst xmlns:a="http://schemas.openxmlformats.org/drawingml/2006/main">
              <a:ext uri="{FF2B5EF4-FFF2-40B4-BE49-F238E27FC236}">
                <a16:creationId xmlns:a16="http://schemas.microsoft.com/office/drawing/2014/main" id="{6193007C-796D-46AF-825B-6AE364B9BD0B}"/>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44</a:t>
            </a:r>
          </a:p>
        </p:txBody>
      </p:sp>
      <p:sp>
        <p:nvSpPr>
          <p:cNvPr id="6" name="">
            <a:extLst xmlns:a="http://schemas.openxmlformats.org/drawingml/2006/main">
              <a:ext uri="{FF2B5EF4-FFF2-40B4-BE49-F238E27FC236}">
                <a16:creationId xmlns:a16="http://schemas.microsoft.com/office/drawing/2014/main" id="{D81B7BB0-95B2-4F79-9900-3C92C3AB809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812A8D4-C031-4935-A81E-BE62C4DC4E32}"/>
              </a:ext>
            </a:extLst>
          </p:cNvPr>
          <p:cNvSpPr>
            <a:spLocks xmlns:a="http://schemas.openxmlformats.org/drawingml/2006/main" noGrp="1"/>
          </p:cNvSpPr>
          <p:nvPr/>
        </p:nvSpPr>
        <p:spPr>
          <a:xfrm xmlns:a="http://schemas.openxmlformats.org/drawingml/2006/main">
            <a:off x="666750" y="157162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Bahar gelip de nehir çağıl çağıl kabarmaya başlamaz mı içimi geri kalmış bir saat huzursuzluğu kaplardı. (Haldun Taner)</a:t>
            </a:r>
          </a:p>
        </p:txBody>
      </p:sp>
      <p:sp>
        <p:nvSpPr>
          <p:cNvPr id="8" name="">
            <a:extLst xmlns:a="http://schemas.openxmlformats.org/drawingml/2006/main">
              <a:ext uri="{FF2B5EF4-FFF2-40B4-BE49-F238E27FC236}">
                <a16:creationId xmlns:a16="http://schemas.microsoft.com/office/drawing/2014/main" id="{009E62B3-E4E5-4D9B-BDC7-E943E39CEBA7}"/>
              </a:ext>
            </a:extLst>
          </p:cNvPr>
          <p:cNvSpPr>
            <a:spLocks xmlns:a="http://schemas.openxmlformats.org/drawingml/2006/main" noGrp="1"/>
          </p:cNvSpPr>
          <p:nvPr/>
        </p:nvSpPr>
        <p:spPr>
          <a:xfrm xmlns:a="http://schemas.openxmlformats.org/drawingml/2006/main">
            <a:off x="666750" y="3143250"/>
            <a:ext cx="10858500" cy="145732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Soru ifadesi taşıyan sıralı ve bağlı cümlelerde soru işareti en sona konur:</a:t>
            </a:r>
          </a:p>
        </p:txBody>
      </p:sp>
      <p:sp>
        <p:nvSpPr>
          <p:cNvPr id="9" name="">
            <a:extLst xmlns:a="http://schemas.openxmlformats.org/drawingml/2006/main">
              <a:ext uri="{FF2B5EF4-FFF2-40B4-BE49-F238E27FC236}">
                <a16:creationId xmlns:a16="http://schemas.microsoft.com/office/drawing/2014/main" id="{BBBA0095-6570-4A50-8C72-A5A7F76780B0}"/>
              </a:ext>
            </a:extLst>
          </p:cNvPr>
          <p:cNvSpPr>
            <a:spLocks xmlns:a="http://schemas.openxmlformats.org/drawingml/2006/main" noGrp="1"/>
          </p:cNvSpPr>
          <p:nvPr/>
        </p:nvSpPr>
        <p:spPr>
          <a:xfrm xmlns:a="http://schemas.openxmlformats.org/drawingml/2006/main">
            <a:off x="666750" y="471487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Çok yakından mı bu sesler, çok uzaklardan mı?</a:t>
            </a:r>
          </a:p>
        </p:txBody>
      </p:sp>
      <p:sp>
        <p:nvSpPr>
          <p:cNvPr id="10" name="">
            <a:extLst xmlns:a="http://schemas.openxmlformats.org/drawingml/2006/main">
              <a:ext uri="{FF2B5EF4-FFF2-40B4-BE49-F238E27FC236}">
                <a16:creationId xmlns:a16="http://schemas.microsoft.com/office/drawing/2014/main" id="{6CD36D9E-3C09-4021-A3DB-9513665FBBB5}"/>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Üsküdar’dan mı, Hisar’dan mı, Kavaklardan mı? (Yahya Kemal Beyatlı)</a:t>
            </a:r>
          </a:p>
        </p:txBody>
      </p:sp>
    </p:spTree>
    <p:extLst>
      <p:ext uri="{BB962C8B-B14F-4D97-AF65-F5344CB8AC3E}">
        <p14:creationId xmlns:p14="http://schemas.microsoft.com/office/powerpoint/2010/main" val="1817018412"/>
      </p:ext>
    </p:extLst>
  </p:cSld>
</p:sld>
</file>

<file path=ppt/slides/slide4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084DF9-B857-4DD8-A037-E430B8C2DEB4}"/>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AAC78C-8EC8-4689-A20C-756C7EEFBDE2}"/>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407DC991-DA59-4770-BE31-F86DEB617CF2}"/>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4" name="">
            <a:extLst xmlns:a="http://schemas.openxmlformats.org/drawingml/2006/main">
              <a:ext uri="{FF2B5EF4-FFF2-40B4-BE49-F238E27FC236}">
                <a16:creationId xmlns:a16="http://schemas.microsoft.com/office/drawing/2014/main" id="{01E6A4D1-E90D-4D83-8B78-5BBDE4C3767B}"/>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B45C6F34-E8DB-4512-80E3-CC7BC591BD73}"/>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45</a:t>
            </a:r>
          </a:p>
        </p:txBody>
      </p:sp>
      <p:sp>
        <p:nvSpPr>
          <p:cNvPr id="6" name="">
            <a:extLst xmlns:a="http://schemas.openxmlformats.org/drawingml/2006/main">
              <a:ext uri="{FF2B5EF4-FFF2-40B4-BE49-F238E27FC236}">
                <a16:creationId xmlns:a16="http://schemas.microsoft.com/office/drawing/2014/main" id="{CF944230-0A3B-42B3-994A-31F9678C768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6B1714F-10DA-4C89-B7DC-500BDC1D3250}"/>
              </a:ext>
            </a:extLst>
          </p:cNvPr>
          <p:cNvSpPr>
            <a:spLocks xmlns:a="http://schemas.openxmlformats.org/drawingml/2006/main" noGrp="1"/>
          </p:cNvSpPr>
          <p:nvPr/>
        </p:nvSpPr>
        <p:spPr>
          <a:xfrm xmlns:a="http://schemas.openxmlformats.org/drawingml/2006/main">
            <a:off x="666750" y="1571625"/>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Sevinç, kıvanç, acı, korku, şaşma gibi duyguları anlatan cümle veya ibarelerin sonuna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Hava ne kadar da sıcak! Aşk olsun! Ne kadar akıllı adamlar var! Vah vah!</a:t>
            </a:r>
          </a:p>
        </p:txBody>
      </p:sp>
      <p:sp>
        <p:nvSpPr>
          <p:cNvPr id="8" name="">
            <a:extLst xmlns:a="http://schemas.openxmlformats.org/drawingml/2006/main">
              <a:ext uri="{FF2B5EF4-FFF2-40B4-BE49-F238E27FC236}">
                <a16:creationId xmlns:a16="http://schemas.microsoft.com/office/drawing/2014/main" id="{505B5B42-04CE-4604-935D-12ED72DEF7DE}"/>
              </a:ext>
            </a:extLst>
          </p:cNvPr>
          <p:cNvSpPr>
            <a:spLocks xmlns:a="http://schemas.openxmlformats.org/drawingml/2006/main" noGrp="1"/>
          </p:cNvSpPr>
          <p:nvPr/>
        </p:nvSpPr>
        <p:spPr>
          <a:xfrm xmlns:a="http://schemas.openxmlformats.org/drawingml/2006/main">
            <a:off x="666750" y="34347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Ne mutlu Türk’üm diyene! (Atatürk)</a:t>
            </a:r>
          </a:p>
        </p:txBody>
      </p:sp>
      <p:sp>
        <p:nvSpPr>
          <p:cNvPr id="9" name="">
            <a:extLst xmlns:a="http://schemas.openxmlformats.org/drawingml/2006/main">
              <a:ext uri="{FF2B5EF4-FFF2-40B4-BE49-F238E27FC236}">
                <a16:creationId xmlns:a16="http://schemas.microsoft.com/office/drawing/2014/main" id="{E305F2EE-7E05-4406-BBF3-B4B4BA72B92A}"/>
              </a:ext>
            </a:extLst>
          </p:cNvPr>
          <p:cNvSpPr>
            <a:spLocks xmlns:a="http://schemas.openxmlformats.org/drawingml/2006/main" noGrp="1"/>
          </p:cNvSpPr>
          <p:nvPr/>
        </p:nvSpPr>
        <p:spPr>
          <a:xfrm xmlns:a="http://schemas.openxmlformats.org/drawingml/2006/main">
            <a:off x="666750" y="442341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Seslenme, hitap ve uyarı sözlerinden sonra konur:</a:t>
            </a:r>
          </a:p>
        </p:txBody>
      </p:sp>
      <p:sp>
        <p:nvSpPr>
          <p:cNvPr id="10" name="">
            <a:extLst xmlns:a="http://schemas.openxmlformats.org/drawingml/2006/main">
              <a:ext uri="{FF2B5EF4-FFF2-40B4-BE49-F238E27FC236}">
                <a16:creationId xmlns:a16="http://schemas.microsoft.com/office/drawing/2014/main" id="{E39B7E98-DC8B-4244-B7A7-AE6792DE1861}"/>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Ordular! İlk hedefiniz Akdeniz’dir, ileri! (Atatürk)</a:t>
            </a:r>
          </a:p>
        </p:txBody>
      </p:sp>
    </p:spTree>
    <p:extLst>
      <p:ext uri="{BB962C8B-B14F-4D97-AF65-F5344CB8AC3E}">
        <p14:creationId xmlns:p14="http://schemas.microsoft.com/office/powerpoint/2010/main" val="1268834876"/>
      </p:ext>
    </p:extLst>
  </p:cSld>
</p:sld>
</file>

<file path=ppt/slides/slide4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EA87B5-BD55-4F92-AD81-AA1A5C7FEE8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7D66C4-667A-4F9F-AF2C-3A445634E249}"/>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F17B7E12-4C5E-46CD-9E24-00541521E87D}"/>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4" name="">
            <a:extLst xmlns:a="http://schemas.openxmlformats.org/drawingml/2006/main">
              <a:ext uri="{FF2B5EF4-FFF2-40B4-BE49-F238E27FC236}">
                <a16:creationId xmlns:a16="http://schemas.microsoft.com/office/drawing/2014/main" id="{2F4173C0-5570-4ACB-8B7D-4EC575B6045F}"/>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2/4</a:t>
            </a:r>
          </a:p>
        </p:txBody>
      </p:sp>
      <p:sp>
        <p:nvSpPr>
          <p:cNvPr id="5" name="">
            <a:extLst xmlns:a="http://schemas.openxmlformats.org/drawingml/2006/main">
              <a:ext uri="{FF2B5EF4-FFF2-40B4-BE49-F238E27FC236}">
                <a16:creationId xmlns:a16="http://schemas.microsoft.com/office/drawing/2014/main" id="{49EC27E8-071F-4D8B-AE1C-1C97497DED92}"/>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46</a:t>
            </a:r>
          </a:p>
        </p:txBody>
      </p:sp>
      <p:sp>
        <p:nvSpPr>
          <p:cNvPr id="6" name="">
            <a:extLst xmlns:a="http://schemas.openxmlformats.org/drawingml/2006/main">
              <a:ext uri="{FF2B5EF4-FFF2-40B4-BE49-F238E27FC236}">
                <a16:creationId xmlns:a16="http://schemas.microsoft.com/office/drawing/2014/main" id="{AE60556C-611D-4594-8B8B-3F2D613DEAD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DEF0970-0713-45B9-860F-0B8A0259DCB8}"/>
              </a:ext>
            </a:extLst>
          </p:cNvPr>
          <p:cNvSpPr>
            <a:spLocks xmlns:a="http://schemas.openxmlformats.org/drawingml/2006/main" noGrp="1"/>
          </p:cNvSpPr>
          <p:nvPr/>
        </p:nvSpPr>
        <p:spPr>
          <a:xfrm xmlns:a="http://schemas.openxmlformats.org/drawingml/2006/main">
            <a:off x="666750" y="1571625"/>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Ey Türk gençliği! Birinci vazifen; Türk istiklalini, Türk cumhuriyetini, ilelebet, muhafaza ve müdafaa etmektir. (Atatürk)</a:t>
            </a:r>
          </a:p>
        </p:txBody>
      </p:sp>
      <p:sp>
        <p:nvSpPr>
          <p:cNvPr id="8" name="">
            <a:extLst xmlns:a="http://schemas.openxmlformats.org/drawingml/2006/main">
              <a:ext uri="{FF2B5EF4-FFF2-40B4-BE49-F238E27FC236}">
                <a16:creationId xmlns:a16="http://schemas.microsoft.com/office/drawing/2014/main" id="{0B31C458-BEEF-4825-9AE4-DF1AE963B038}"/>
              </a:ext>
            </a:extLst>
          </p:cNvPr>
          <p:cNvSpPr>
            <a:spLocks xmlns:a="http://schemas.openxmlformats.org/drawingml/2006/main" noGrp="1"/>
          </p:cNvSpPr>
          <p:nvPr/>
        </p:nvSpPr>
        <p:spPr>
          <a:xfrm xmlns:a="http://schemas.openxmlformats.org/drawingml/2006/main">
            <a:off x="666750" y="34347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Ak tolgalı beylerbeyi haykırdı: İlerle! (Yahya Kemal Beyatlı)</a:t>
            </a:r>
          </a:p>
        </p:txBody>
      </p:sp>
      <p:sp>
        <p:nvSpPr>
          <p:cNvPr id="9" name="">
            <a:extLst xmlns:a="http://schemas.openxmlformats.org/drawingml/2006/main">
              <a:ext uri="{FF2B5EF4-FFF2-40B4-BE49-F238E27FC236}">
                <a16:creationId xmlns:a16="http://schemas.microsoft.com/office/drawing/2014/main" id="{485AA5CA-D7C8-4A9D-B761-28223E83EEAB}"/>
              </a:ext>
            </a:extLst>
          </p:cNvPr>
          <p:cNvSpPr>
            <a:spLocks xmlns:a="http://schemas.openxmlformats.org/drawingml/2006/main" noGrp="1"/>
          </p:cNvSpPr>
          <p:nvPr/>
        </p:nvSpPr>
        <p:spPr>
          <a:xfrm xmlns:a="http://schemas.openxmlformats.org/drawingml/2006/main">
            <a:off x="666750" y="442341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Dur, yolcu! Bilmeden gelip bastığın</a:t>
            </a:r>
          </a:p>
        </p:txBody>
      </p:sp>
      <p:sp>
        <p:nvSpPr>
          <p:cNvPr id="10" name="">
            <a:extLst xmlns:a="http://schemas.openxmlformats.org/drawingml/2006/main">
              <a:ext uri="{FF2B5EF4-FFF2-40B4-BE49-F238E27FC236}">
                <a16:creationId xmlns:a16="http://schemas.microsoft.com/office/drawing/2014/main" id="{F6D578C2-DCF9-439A-A8E1-ED7E038B58F2}"/>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toprak bir devrin battığı yerdir. (Necmettin Halil Onan)</a:t>
            </a:r>
          </a:p>
        </p:txBody>
      </p:sp>
    </p:spTree>
    <p:extLst>
      <p:ext uri="{BB962C8B-B14F-4D97-AF65-F5344CB8AC3E}">
        <p14:creationId xmlns:p14="http://schemas.microsoft.com/office/powerpoint/2010/main" val="1731648384"/>
      </p:ext>
    </p:extLst>
  </p:cSld>
</p:sld>
</file>

<file path=ppt/slides/slide4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12F22F-F1D3-4C6C-BA80-20B321ECFB7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2F403D-AA7B-4AFF-9833-26672FD8DBB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94957673-84C5-4088-94DD-A756A9C4B116}"/>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4" name="">
            <a:extLst xmlns:a="http://schemas.openxmlformats.org/drawingml/2006/main">
              <a:ext uri="{FF2B5EF4-FFF2-40B4-BE49-F238E27FC236}">
                <a16:creationId xmlns:a16="http://schemas.microsoft.com/office/drawing/2014/main" id="{3F9EFDF6-A1DE-44CD-86D3-907FA2F0DFC2}"/>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3/4</a:t>
            </a:r>
          </a:p>
        </p:txBody>
      </p:sp>
      <p:sp>
        <p:nvSpPr>
          <p:cNvPr id="5" name="">
            <a:extLst xmlns:a="http://schemas.openxmlformats.org/drawingml/2006/main">
              <a:ext uri="{FF2B5EF4-FFF2-40B4-BE49-F238E27FC236}">
                <a16:creationId xmlns:a16="http://schemas.microsoft.com/office/drawing/2014/main" id="{38273A87-0CD7-4DB7-BB15-3587CB2D479C}"/>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47</a:t>
            </a:r>
          </a:p>
        </p:txBody>
      </p:sp>
      <p:sp>
        <p:nvSpPr>
          <p:cNvPr id="6" name="">
            <a:extLst xmlns:a="http://schemas.openxmlformats.org/drawingml/2006/main">
              <a:ext uri="{FF2B5EF4-FFF2-40B4-BE49-F238E27FC236}">
                <a16:creationId xmlns:a16="http://schemas.microsoft.com/office/drawing/2014/main" id="{5EE0ED97-FBAF-4FE8-9387-283975D68B4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3B9D0F7-CC0E-4474-89FA-53873585FDE5}"/>
              </a:ext>
            </a:extLst>
          </p:cNvPr>
          <p:cNvSpPr>
            <a:spLocks xmlns:a="http://schemas.openxmlformats.org/drawingml/2006/main" noGrp="1"/>
          </p:cNvSpPr>
          <p:nvPr/>
        </p:nvSpPr>
        <p:spPr>
          <a:xfrm xmlns:a="http://schemas.openxmlformats.org/drawingml/2006/main">
            <a:off x="666750" y="1571625"/>
            <a:ext cx="10858500" cy="145732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Ünlem işareti, seslenme ve hitap sözlerinden hemen sonra konulabileceği gibi cümlenin sonuna da konabilir:</a:t>
            </a:r>
          </a:p>
        </p:txBody>
      </p:sp>
      <p:sp>
        <p:nvSpPr>
          <p:cNvPr id="8" name="">
            <a:extLst xmlns:a="http://schemas.openxmlformats.org/drawingml/2006/main">
              <a:ext uri="{FF2B5EF4-FFF2-40B4-BE49-F238E27FC236}">
                <a16:creationId xmlns:a16="http://schemas.microsoft.com/office/drawing/2014/main" id="{860DB303-1DFF-4AFB-B2E2-503DD793D8E8}"/>
              </a:ext>
            </a:extLst>
          </p:cNvPr>
          <p:cNvSpPr>
            <a:spLocks xmlns:a="http://schemas.openxmlformats.org/drawingml/2006/main" noGrp="1"/>
          </p:cNvSpPr>
          <p:nvPr/>
        </p:nvSpPr>
        <p:spPr>
          <a:xfrm xmlns:a="http://schemas.openxmlformats.org/drawingml/2006/main">
            <a:off x="666750" y="3143250"/>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Arkadaş, biz bu yolda türküler tuttururken</a:t>
            </a:r>
          </a:p>
        </p:txBody>
      </p:sp>
      <p:sp>
        <p:nvSpPr>
          <p:cNvPr id="9" name="">
            <a:extLst xmlns:a="http://schemas.openxmlformats.org/drawingml/2006/main">
              <a:ext uri="{FF2B5EF4-FFF2-40B4-BE49-F238E27FC236}">
                <a16:creationId xmlns:a16="http://schemas.microsoft.com/office/drawing/2014/main" id="{2637EF26-4359-461D-96FA-AA302E16C4F8}"/>
              </a:ext>
            </a:extLst>
          </p:cNvPr>
          <p:cNvSpPr>
            <a:spLocks xmlns:a="http://schemas.openxmlformats.org/drawingml/2006/main" noGrp="1"/>
          </p:cNvSpPr>
          <p:nvPr/>
        </p:nvSpPr>
        <p:spPr>
          <a:xfrm xmlns:a="http://schemas.openxmlformats.org/drawingml/2006/main">
            <a:off x="666750" y="3986213"/>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Sana uğurlar olsun… Ayrılıyor yolumuz! (Faruk Nafiz Çamlıbel)</a:t>
            </a:r>
          </a:p>
        </p:txBody>
      </p:sp>
      <p:sp>
        <p:nvSpPr>
          <p:cNvPr id="10" name="">
            <a:extLst xmlns:a="http://schemas.openxmlformats.org/drawingml/2006/main">
              <a:ext uri="{FF2B5EF4-FFF2-40B4-BE49-F238E27FC236}">
                <a16:creationId xmlns:a16="http://schemas.microsoft.com/office/drawing/2014/main" id="{DC8A9197-61D6-4E62-9972-BE7CD546B91A}"/>
              </a:ext>
            </a:extLst>
          </p:cNvPr>
          <p:cNvSpPr>
            <a:spLocks xmlns:a="http://schemas.openxmlformats.org/drawingml/2006/main" noGrp="1"/>
          </p:cNvSpPr>
          <p:nvPr/>
        </p:nvSpPr>
        <p:spPr>
          <a:xfrm xmlns:a="http://schemas.openxmlformats.org/drawingml/2006/main">
            <a:off x="666750" y="482917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Alay, kinaye veya küçümseme anlamı kazandırılmak istenen sözden hemen sonra yay ayraç içinde ünlem işareti kullanılır:</a:t>
            </a:r>
          </a:p>
        </p:txBody>
      </p:sp>
    </p:spTree>
    <p:extLst>
      <p:ext uri="{BB962C8B-B14F-4D97-AF65-F5344CB8AC3E}">
        <p14:creationId xmlns:p14="http://schemas.microsoft.com/office/powerpoint/2010/main" val="1468094965"/>
      </p:ext>
    </p:extLst>
  </p:cSld>
</p:sld>
</file>

<file path=ppt/slides/slide4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C5E059-A7BC-4EE4-AEB9-06FDFA719A3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7D0475-5195-4CF9-9292-4C45F9E1E665}"/>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84C8A0D0-2D66-4A53-90DC-734460315015}"/>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Ünlem İşareti ( ! )</a:t>
            </a:r>
          </a:p>
        </p:txBody>
      </p:sp>
      <p:sp>
        <p:nvSpPr>
          <p:cNvPr id="4" name="">
            <a:extLst xmlns:a="http://schemas.openxmlformats.org/drawingml/2006/main">
              <a:ext uri="{FF2B5EF4-FFF2-40B4-BE49-F238E27FC236}">
                <a16:creationId xmlns:a16="http://schemas.microsoft.com/office/drawing/2014/main" id="{ED2667F8-8BF2-4C67-9C04-F61A3F1144FA}"/>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4/4</a:t>
            </a:r>
          </a:p>
        </p:txBody>
      </p:sp>
      <p:sp>
        <p:nvSpPr>
          <p:cNvPr id="5" name="">
            <a:extLst xmlns:a="http://schemas.openxmlformats.org/drawingml/2006/main">
              <a:ext uri="{FF2B5EF4-FFF2-40B4-BE49-F238E27FC236}">
                <a16:creationId xmlns:a16="http://schemas.microsoft.com/office/drawing/2014/main" id="{5893DC11-2A2D-4400-A545-0E2C32C90AD3}"/>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48</a:t>
            </a:r>
          </a:p>
        </p:txBody>
      </p:sp>
      <p:sp>
        <p:nvSpPr>
          <p:cNvPr id="6" name="">
            <a:extLst xmlns:a="http://schemas.openxmlformats.org/drawingml/2006/main">
              <a:ext uri="{FF2B5EF4-FFF2-40B4-BE49-F238E27FC236}">
                <a16:creationId xmlns:a16="http://schemas.microsoft.com/office/drawing/2014/main" id="{863EECB3-4910-44E7-9AD0-1C899D989BC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551D207-8AAE-4C2C-AFFF-855EAA320E0B}"/>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İsteseymiş bir günde bitirirmiş (!) ama ne yazık ki vakti yokmuş (!).</a:t>
            </a:r>
          </a:p>
        </p:txBody>
      </p:sp>
      <p:sp>
        <p:nvSpPr>
          <p:cNvPr id="8" name="">
            <a:extLst xmlns:a="http://schemas.openxmlformats.org/drawingml/2006/main">
              <a:ext uri="{FF2B5EF4-FFF2-40B4-BE49-F238E27FC236}">
                <a16:creationId xmlns:a16="http://schemas.microsoft.com/office/drawing/2014/main" id="{CA692DAB-9693-4B69-AD98-082D670274A3}"/>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Adam, akıllı (!) olduğunu söylüyor.</a:t>
            </a:r>
          </a:p>
        </p:txBody>
      </p:sp>
    </p:spTree>
    <p:extLst>
      <p:ext uri="{BB962C8B-B14F-4D97-AF65-F5344CB8AC3E}">
        <p14:creationId xmlns:p14="http://schemas.microsoft.com/office/powerpoint/2010/main" val="863617799"/>
      </p:ext>
    </p:extLst>
  </p:cSld>
</p:sld>
</file>

<file path=ppt/slides/slide4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9AC28F-C037-4E74-8DFF-C1F89EDEBB2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AD2453-F788-461F-B9A0-FD5EA589E44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40A3D843-88AC-404C-8F86-E87517D58664}"/>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4" name="">
            <a:extLst xmlns:a="http://schemas.openxmlformats.org/drawingml/2006/main">
              <a:ext uri="{FF2B5EF4-FFF2-40B4-BE49-F238E27FC236}">
                <a16:creationId xmlns:a16="http://schemas.microsoft.com/office/drawing/2014/main" id="{015B69B8-E931-4387-98DA-BA16BD0443CA}"/>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014C92BE-4090-4CD2-B01D-F598A2F278D8}"/>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49</a:t>
            </a:r>
          </a:p>
        </p:txBody>
      </p:sp>
      <p:sp>
        <p:nvSpPr>
          <p:cNvPr id="6" name="">
            <a:extLst xmlns:a="http://schemas.openxmlformats.org/drawingml/2006/main">
              <a:ext uri="{FF2B5EF4-FFF2-40B4-BE49-F238E27FC236}">
                <a16:creationId xmlns:a16="http://schemas.microsoft.com/office/drawing/2014/main" id="{A71A04AB-6DFE-44B6-B040-A3C0CDEA5CD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B7C05B7-4BF4-4920-A85B-615A48C634D1}"/>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Satıra sığmayan kelimeler bölünürken satır sonuna konur:</a:t>
            </a:r>
          </a:p>
        </p:txBody>
      </p:sp>
      <p:sp>
        <p:nvSpPr>
          <p:cNvPr id="8" name="">
            <a:extLst xmlns:a="http://schemas.openxmlformats.org/drawingml/2006/main">
              <a:ext uri="{FF2B5EF4-FFF2-40B4-BE49-F238E27FC236}">
                <a16:creationId xmlns:a16="http://schemas.microsoft.com/office/drawing/2014/main" id="{5E29109C-58C0-4B5C-B5C6-5DA23CCECC36}"/>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Soğuktan mı titriyordum, yoksa heyecandan, üzüntüden mi bil-</a:t>
            </a:r>
          </a:p>
        </p:txBody>
      </p:sp>
      <p:sp>
        <p:nvSpPr>
          <p:cNvPr id="9" name="">
            <a:extLst xmlns:a="http://schemas.openxmlformats.org/drawingml/2006/main">
              <a:ext uri="{FF2B5EF4-FFF2-40B4-BE49-F238E27FC236}">
                <a16:creationId xmlns:a16="http://schemas.microsoft.com/office/drawing/2014/main" id="{6864F677-F66F-4E28-AFAB-3DCFC64BCA53}"/>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mem. Havuzun suyu bulanık. Kapının saatleri 12’yi geçmiş. Kanepe-</a:t>
            </a:r>
          </a:p>
        </p:txBody>
      </p:sp>
      <p:sp>
        <p:nvSpPr>
          <p:cNvPr id="10" name="">
            <a:extLst xmlns:a="http://schemas.openxmlformats.org/drawingml/2006/main">
              <a:ext uri="{FF2B5EF4-FFF2-40B4-BE49-F238E27FC236}">
                <a16:creationId xmlns:a16="http://schemas.microsoft.com/office/drawing/2014/main" id="{211BA000-5C03-4545-B1B8-C36047DAE552}"/>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lerde kimseler yok. Tramvay ne fena gıcırdadı! Tramvayda-</a:t>
            </a:r>
          </a:p>
        </p:txBody>
      </p:sp>
    </p:spTree>
    <p:extLst>
      <p:ext uri="{BB962C8B-B14F-4D97-AF65-F5344CB8AC3E}">
        <p14:creationId xmlns:p14="http://schemas.microsoft.com/office/powerpoint/2010/main" val="551305096"/>
      </p:ext>
    </p:extLst>
  </p:cSld>
</p:sld>
</file>

<file path=ppt/slides/slide5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DACCFC-52D1-480C-ACB3-87EF64A7F03D}"/>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998FE8-299E-4646-86BF-2B619AFB101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B313A212-037A-4D10-B62E-E55B95336F6F}"/>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4" name="">
            <a:extLst xmlns:a="http://schemas.openxmlformats.org/drawingml/2006/main">
              <a:ext uri="{FF2B5EF4-FFF2-40B4-BE49-F238E27FC236}">
                <a16:creationId xmlns:a16="http://schemas.microsoft.com/office/drawing/2014/main" id="{5686B9E0-0401-4643-A123-469678565F9D}"/>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2/5</a:t>
            </a:r>
          </a:p>
        </p:txBody>
      </p:sp>
      <p:sp>
        <p:nvSpPr>
          <p:cNvPr id="5" name="">
            <a:extLst xmlns:a="http://schemas.openxmlformats.org/drawingml/2006/main">
              <a:ext uri="{FF2B5EF4-FFF2-40B4-BE49-F238E27FC236}">
                <a16:creationId xmlns:a16="http://schemas.microsoft.com/office/drawing/2014/main" id="{E1A035C3-AB57-415D-AB25-1AF5F65C8F02}"/>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50</a:t>
            </a:r>
          </a:p>
        </p:txBody>
      </p:sp>
      <p:sp>
        <p:nvSpPr>
          <p:cNvPr id="6" name="">
            <a:extLst xmlns:a="http://schemas.openxmlformats.org/drawingml/2006/main">
              <a:ext uri="{FF2B5EF4-FFF2-40B4-BE49-F238E27FC236}">
                <a16:creationId xmlns:a16="http://schemas.microsoft.com/office/drawing/2014/main" id="{E61B546A-99D3-41FC-BA3D-A4D4EA847E6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650BDE7-ED93-4582-9FE1-B59E0B83C6A5}"/>
              </a:ext>
            </a:extLst>
          </p:cNvPr>
          <p:cNvSpPr>
            <a:spLocks xmlns:a="http://schemas.openxmlformats.org/drawingml/2006/main" noGrp="1"/>
          </p:cNvSpPr>
          <p:nvPr/>
        </p:nvSpPr>
        <p:spPr>
          <a:xfrm xmlns:a="http://schemas.openxmlformats.org/drawingml/2006/main">
            <a:off x="666750" y="157162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ki adam bir tanıdık mı idi acaba? Ne diye öyle dönüp dönüp baktı?</a:t>
            </a:r>
          </a:p>
        </p:txBody>
      </p:sp>
      <p:sp>
        <p:nvSpPr>
          <p:cNvPr id="8" name="">
            <a:extLst xmlns:a="http://schemas.openxmlformats.org/drawingml/2006/main">
              <a:ext uri="{FF2B5EF4-FFF2-40B4-BE49-F238E27FC236}">
                <a16:creationId xmlns:a16="http://schemas.microsoft.com/office/drawing/2014/main" id="{3C576DA6-ED32-4A2F-A60F-F0B2E6771C2D}"/>
              </a:ext>
            </a:extLst>
          </p:cNvPr>
          <p:cNvSpPr>
            <a:spLocks xmlns:a="http://schemas.openxmlformats.org/drawingml/2006/main" noGrp="1"/>
          </p:cNvSpPr>
          <p:nvPr/>
        </p:nvSpPr>
        <p:spPr>
          <a:xfrm xmlns:a="http://schemas.openxmlformats.org/drawingml/2006/main">
            <a:off x="666750" y="256032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Yoksa kimseciklerin oturmadığı kanepelerde bu saatte pek başıboş-</a:t>
            </a:r>
          </a:p>
        </p:txBody>
      </p:sp>
      <p:sp>
        <p:nvSpPr>
          <p:cNvPr id="9" name="">
            <a:extLst xmlns:a="http://schemas.openxmlformats.org/drawingml/2006/main">
              <a:ext uri="{FF2B5EF4-FFF2-40B4-BE49-F238E27FC236}">
                <a16:creationId xmlns:a16="http://schemas.microsoft.com/office/drawing/2014/main" id="{5DFCD864-D83C-4DB4-AD4F-7CCB6B23E658}"/>
              </a:ext>
            </a:extLst>
          </p:cNvPr>
          <p:cNvSpPr>
            <a:spLocks xmlns:a="http://schemas.openxmlformats.org/drawingml/2006/main" noGrp="1"/>
          </p:cNvSpPr>
          <p:nvPr/>
        </p:nvSpPr>
        <p:spPr>
          <a:xfrm xmlns:a="http://schemas.openxmlformats.org/drawingml/2006/main">
            <a:off x="666750" y="35490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lar mı oturur? (Sait Faik Abasıyanık)</a:t>
            </a:r>
          </a:p>
        </p:txBody>
      </p:sp>
      <p:sp>
        <p:nvSpPr>
          <p:cNvPr id="10" name="">
            <a:extLst xmlns:a="http://schemas.openxmlformats.org/drawingml/2006/main">
              <a:ext uri="{FF2B5EF4-FFF2-40B4-BE49-F238E27FC236}">
                <a16:creationId xmlns:a16="http://schemas.microsoft.com/office/drawing/2014/main" id="{252D4214-7563-4B3D-B527-DD5ACFD3D734}"/>
              </a:ext>
            </a:extLst>
          </p:cNvPr>
          <p:cNvSpPr>
            <a:spLocks xmlns:a="http://schemas.openxmlformats.org/drawingml/2006/main" noGrp="1"/>
          </p:cNvSpPr>
          <p:nvPr/>
        </p:nvSpPr>
        <p:spPr>
          <a:xfrm xmlns:a="http://schemas.openxmlformats.org/drawingml/2006/main">
            <a:off x="666750" y="4537710"/>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Cümle içinde ara sözleri veya ara cümleleri ayırmak için ara sözlerin veya ara cümlelerin başına ve sonuna konur, bitişik yazılır:</a:t>
            </a:r>
          </a:p>
        </p:txBody>
      </p:sp>
    </p:spTree>
    <p:extLst>
      <p:ext uri="{BB962C8B-B14F-4D97-AF65-F5344CB8AC3E}">
        <p14:creationId xmlns:p14="http://schemas.microsoft.com/office/powerpoint/2010/main" val="2030488020"/>
      </p:ext>
    </p:extLst>
  </p:cSld>
</p:sld>
</file>

<file path=ppt/slides/slide5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99BF220-CB85-4799-9B3A-F37BD83802E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B6BA87-02C4-45AB-992F-61B276A6CE0A}"/>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E0D6204D-655C-4835-BA3F-BD1E4582B8E1}"/>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4" name="">
            <a:extLst xmlns:a="http://schemas.openxmlformats.org/drawingml/2006/main">
              <a:ext uri="{FF2B5EF4-FFF2-40B4-BE49-F238E27FC236}">
                <a16:creationId xmlns:a16="http://schemas.microsoft.com/office/drawing/2014/main" id="{208F1443-59E1-46A5-8EBF-DB256FC6D150}"/>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3/5</a:t>
            </a:r>
          </a:p>
        </p:txBody>
      </p:sp>
      <p:sp>
        <p:nvSpPr>
          <p:cNvPr id="5" name="">
            <a:extLst xmlns:a="http://schemas.openxmlformats.org/drawingml/2006/main">
              <a:ext uri="{FF2B5EF4-FFF2-40B4-BE49-F238E27FC236}">
                <a16:creationId xmlns:a16="http://schemas.microsoft.com/office/drawing/2014/main" id="{F1D08899-578D-4F34-9F9C-29C1F1683A21}"/>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51</a:t>
            </a:r>
          </a:p>
        </p:txBody>
      </p:sp>
      <p:sp>
        <p:nvSpPr>
          <p:cNvPr id="6" name="">
            <a:extLst xmlns:a="http://schemas.openxmlformats.org/drawingml/2006/main">
              <a:ext uri="{FF2B5EF4-FFF2-40B4-BE49-F238E27FC236}">
                <a16:creationId xmlns:a16="http://schemas.microsoft.com/office/drawing/2014/main" id="{495A396B-D45A-46BA-885C-42226C820A0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9B24E7BB-2ACF-49E1-8BFC-5144EE435386}"/>
              </a:ext>
            </a:extLst>
          </p:cNvPr>
          <p:cNvSpPr>
            <a:spLocks xmlns:a="http://schemas.openxmlformats.org/drawingml/2006/main" noGrp="1"/>
          </p:cNvSpPr>
          <p:nvPr/>
        </p:nvSpPr>
        <p:spPr>
          <a:xfrm xmlns:a="http://schemas.openxmlformats.org/drawingml/2006/main">
            <a:off x="666750" y="1571625"/>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Küçük bir sürü -dört inekle birkaç koyun- köye giren geniş yolun ağzında durmuştu. (Ömer Seyfettin)</a:t>
            </a:r>
          </a:p>
        </p:txBody>
      </p:sp>
      <p:sp>
        <p:nvSpPr>
          <p:cNvPr id="8" name="">
            <a:extLst xmlns:a="http://schemas.openxmlformats.org/drawingml/2006/main">
              <a:ext uri="{FF2B5EF4-FFF2-40B4-BE49-F238E27FC236}">
                <a16:creationId xmlns:a16="http://schemas.microsoft.com/office/drawing/2014/main" id="{36B9DA2B-5768-4797-B1D9-2928F698B3EE}"/>
              </a:ext>
            </a:extLst>
          </p:cNvPr>
          <p:cNvSpPr>
            <a:spLocks xmlns:a="http://schemas.openxmlformats.org/drawingml/2006/main" noGrp="1"/>
          </p:cNvSpPr>
          <p:nvPr/>
        </p:nvSpPr>
        <p:spPr>
          <a:xfrm xmlns:a="http://schemas.openxmlformats.org/drawingml/2006/main">
            <a:off x="666750" y="2583180"/>
            <a:ext cx="10858500" cy="179451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Kelimelerin kökleri, gövdeleri ve eklerini birbirinden ayırmak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al-ış, dur-ak, gör-gü-süz-lük vb.</a:t>
            </a:r>
          </a:p>
        </p:txBody>
      </p:sp>
      <p:sp>
        <p:nvSpPr>
          <p:cNvPr id="9" name="">
            <a:extLst xmlns:a="http://schemas.openxmlformats.org/drawingml/2006/main">
              <a:ext uri="{FF2B5EF4-FFF2-40B4-BE49-F238E27FC236}">
                <a16:creationId xmlns:a16="http://schemas.microsoft.com/office/drawing/2014/main" id="{FFE4C7EF-A243-42F0-8FC1-F59D815EB29F}"/>
              </a:ext>
            </a:extLst>
          </p:cNvPr>
          <p:cNvSpPr>
            <a:spLocks xmlns:a="http://schemas.openxmlformats.org/drawingml/2006/main" noGrp="1"/>
          </p:cNvSpPr>
          <p:nvPr/>
        </p:nvSpPr>
        <p:spPr>
          <a:xfrm xmlns:a="http://schemas.openxmlformats.org/drawingml/2006/main">
            <a:off x="666750" y="4491990"/>
            <a:ext cx="10858500" cy="179451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4. Fiil kök ve gövdelerini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 dur-, gör-, ver-; başar-, kana-, okut-, taşla-, yazdır- vb.</a:t>
            </a:r>
          </a:p>
        </p:txBody>
      </p:sp>
    </p:spTree>
    <p:extLst>
      <p:ext uri="{BB962C8B-B14F-4D97-AF65-F5344CB8AC3E}">
        <p14:creationId xmlns:p14="http://schemas.microsoft.com/office/powerpoint/2010/main" val="327066517"/>
      </p:ext>
    </p:extLst>
  </p:cSld>
</p:sld>
</file>

<file path=ppt/slides/slide5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3CB02C-09BC-47C1-A9AA-A97B2CBAE3C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1254B3-34BD-4376-9793-84FC3480EE1B}"/>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8C392670-1726-4FEB-9238-D6BF030A9213}"/>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4" name="">
            <a:extLst xmlns:a="http://schemas.openxmlformats.org/drawingml/2006/main">
              <a:ext uri="{FF2B5EF4-FFF2-40B4-BE49-F238E27FC236}">
                <a16:creationId xmlns:a16="http://schemas.microsoft.com/office/drawing/2014/main" id="{DC777C5F-6AFB-4D96-95BD-39B44A9204CF}"/>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4/5</a:t>
            </a:r>
          </a:p>
        </p:txBody>
      </p:sp>
      <p:sp>
        <p:nvSpPr>
          <p:cNvPr id="5" name="">
            <a:extLst xmlns:a="http://schemas.openxmlformats.org/drawingml/2006/main">
              <a:ext uri="{FF2B5EF4-FFF2-40B4-BE49-F238E27FC236}">
                <a16:creationId xmlns:a16="http://schemas.microsoft.com/office/drawing/2014/main" id="{010921C8-A2F1-4288-8C42-F3862F479F94}"/>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52</a:t>
            </a:r>
          </a:p>
        </p:txBody>
      </p:sp>
      <p:sp>
        <p:nvSpPr>
          <p:cNvPr id="6" name="">
            <a:extLst xmlns:a="http://schemas.openxmlformats.org/drawingml/2006/main">
              <a:ext uri="{FF2B5EF4-FFF2-40B4-BE49-F238E27FC236}">
                <a16:creationId xmlns:a16="http://schemas.microsoft.com/office/drawing/2014/main" id="{D8A50E2B-25C5-4865-A5C1-BAEC3FCF811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6F4D58F-6298-4657-894C-086B7092FE1D}"/>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5. İsim yapma eklerinin başına, fiil yapma eklerinin başına ve sonuna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-ak, -den, -ış, -lık; -ımsa-; -la-; -tır- vb.</a:t>
            </a:r>
          </a:p>
        </p:txBody>
      </p:sp>
      <p:sp>
        <p:nvSpPr>
          <p:cNvPr id="8" name="">
            <a:extLst xmlns:a="http://schemas.openxmlformats.org/drawingml/2006/main">
              <a:ext uri="{FF2B5EF4-FFF2-40B4-BE49-F238E27FC236}">
                <a16:creationId xmlns:a16="http://schemas.microsoft.com/office/drawing/2014/main" id="{7F8DB49A-168A-4EEA-A57B-45254DB4EB2D}"/>
              </a:ext>
            </a:extLst>
          </p:cNvPr>
          <p:cNvSpPr>
            <a:spLocks xmlns:a="http://schemas.openxmlformats.org/drawingml/2006/main" noGrp="1"/>
          </p:cNvSpPr>
          <p:nvPr/>
        </p:nvSpPr>
        <p:spPr>
          <a:xfrm xmlns:a="http://schemas.openxmlformats.org/drawingml/2006/main">
            <a:off x="666750" y="3181350"/>
            <a:ext cx="10858500" cy="74771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Heceleri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a-raş-tır-ma, bi-le-zik, du-ruş-ma, ku-yum-cu-luk, prog-ram, ya-zar-lık vb.</a:t>
            </a:r>
          </a:p>
        </p:txBody>
      </p:sp>
      <p:sp>
        <p:nvSpPr>
          <p:cNvPr id="9" name="">
            <a:extLst xmlns:a="http://schemas.openxmlformats.org/drawingml/2006/main">
              <a:ext uri="{FF2B5EF4-FFF2-40B4-BE49-F238E27FC236}">
                <a16:creationId xmlns:a16="http://schemas.microsoft.com/office/drawing/2014/main" id="{5827D22F-65F5-425B-A835-52DB769AE400}"/>
              </a:ext>
            </a:extLst>
          </p:cNvPr>
          <p:cNvSpPr>
            <a:spLocks xmlns:a="http://schemas.openxmlformats.org/drawingml/2006/main" noGrp="1"/>
          </p:cNvSpPr>
          <p:nvPr/>
        </p:nvSpPr>
        <p:spPr>
          <a:xfrm xmlns:a="http://schemas.openxmlformats.org/drawingml/2006/main">
            <a:off x="666750" y="4043363"/>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Arasında, ve, ile, ila, …-den …-e anlamlarını vermek için kelimeler veya sayılar arasında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Aydın-İzmir yolu, Türk-Alman ilişkileri, Ural-Altay dil grubu, Dil ve Tarih-Coğrafya Fakültesi, 09.30-10.30, Beşiktaş-Fenerbahçe karşılaşması, Manas Destanı’nda soy-dil-din üçgeni, 1914-1918 Birinci Dünya Savaşı, Türkçe-Fransızca Sözlük vb.</a:t>
            </a:r>
          </a:p>
        </p:txBody>
      </p:sp>
    </p:spTree>
    <p:extLst>
      <p:ext uri="{BB962C8B-B14F-4D97-AF65-F5344CB8AC3E}">
        <p14:creationId xmlns:p14="http://schemas.microsoft.com/office/powerpoint/2010/main" val="756740238"/>
      </p:ext>
    </p:extLst>
  </p:cSld>
</p:sld>
</file>

<file path=ppt/slides/slide5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29FB482-05C6-4DB9-943E-5D19D04A71A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E1C4D6-CC25-47B1-8110-46FE39519ACE}"/>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E02DC8BC-D927-4BF6-88A1-9BE5A55731BE}"/>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Kısa Çizgi ( – )</a:t>
            </a:r>
          </a:p>
        </p:txBody>
      </p:sp>
      <p:sp>
        <p:nvSpPr>
          <p:cNvPr id="4" name="">
            <a:extLst xmlns:a="http://schemas.openxmlformats.org/drawingml/2006/main">
              <a:ext uri="{FF2B5EF4-FFF2-40B4-BE49-F238E27FC236}">
                <a16:creationId xmlns:a16="http://schemas.microsoft.com/office/drawing/2014/main" id="{1F6CD9B6-AB0E-4A63-B587-5BA7FDD333FB}"/>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5/5</a:t>
            </a:r>
          </a:p>
        </p:txBody>
      </p:sp>
      <p:sp>
        <p:nvSpPr>
          <p:cNvPr id="5" name="">
            <a:extLst xmlns:a="http://schemas.openxmlformats.org/drawingml/2006/main">
              <a:ext uri="{FF2B5EF4-FFF2-40B4-BE49-F238E27FC236}">
                <a16:creationId xmlns:a16="http://schemas.microsoft.com/office/drawing/2014/main" id="{9B3EB516-8FF1-4D9B-B31D-8654BEEFEC2E}"/>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53</a:t>
            </a:r>
          </a:p>
        </p:txBody>
      </p:sp>
      <p:sp>
        <p:nvSpPr>
          <p:cNvPr id="6" name="">
            <a:extLst xmlns:a="http://schemas.openxmlformats.org/drawingml/2006/main">
              <a:ext uri="{FF2B5EF4-FFF2-40B4-BE49-F238E27FC236}">
                <a16:creationId xmlns:a16="http://schemas.microsoft.com/office/drawing/2014/main" id="{90AAF9C5-7E49-4E1A-A417-A20451AD5F8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1D6FE727-F095-476C-BE90-341A4C5D7F1C}"/>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Cümle içinde sayı adlarının yinelenmesinde araya kısa çizgi konmaz: On on beş yıl. Üç beş kişi geldi.</a:t>
            </a:r>
          </a:p>
        </p:txBody>
      </p:sp>
      <p:sp>
        <p:nvSpPr>
          <p:cNvPr id="8" name="">
            <a:extLst xmlns:a="http://schemas.openxmlformats.org/drawingml/2006/main">
              <a:ext uri="{FF2B5EF4-FFF2-40B4-BE49-F238E27FC236}">
                <a16:creationId xmlns:a16="http://schemas.microsoft.com/office/drawing/2014/main" id="{BE382402-CE4A-4FC4-8F23-3676C7212BDB}"/>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8. Matematikte çıkarma işareti olarak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50-20=30</a:t>
            </a:r>
          </a:p>
        </p:txBody>
      </p:sp>
      <p:sp>
        <p:nvSpPr>
          <p:cNvPr id="9" name="">
            <a:extLst xmlns:a="http://schemas.openxmlformats.org/drawingml/2006/main">
              <a:ext uri="{FF2B5EF4-FFF2-40B4-BE49-F238E27FC236}">
                <a16:creationId xmlns:a16="http://schemas.microsoft.com/office/drawing/2014/main" id="{3FB06BE9-3C86-4270-99D6-C9820F9E8910}"/>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9. Sıfırdan küçük değerleri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-2 °C</a:t>
            </a:r>
          </a:p>
        </p:txBody>
      </p:sp>
    </p:spTree>
    <p:extLst>
      <p:ext uri="{BB962C8B-B14F-4D97-AF65-F5344CB8AC3E}">
        <p14:creationId xmlns:p14="http://schemas.microsoft.com/office/powerpoint/2010/main" val="485936196"/>
      </p:ext>
    </p:extLst>
  </p:cSld>
</p:sld>
</file>

<file path=ppt/slides/slide5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78F46B-05D8-4A5E-A0CD-D4D4C68F3C63}"/>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2025DF-CEBD-47BB-B9E7-686B07A700F1}"/>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0CB92ABA-D95D-48D6-87E9-66A6272C2275}"/>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Uzun Çizgi (—)</a:t>
            </a:r>
          </a:p>
        </p:txBody>
      </p:sp>
      <p:sp>
        <p:nvSpPr>
          <p:cNvPr id="4" name="">
            <a:extLst xmlns:a="http://schemas.openxmlformats.org/drawingml/2006/main">
              <a:ext uri="{FF2B5EF4-FFF2-40B4-BE49-F238E27FC236}">
                <a16:creationId xmlns:a16="http://schemas.microsoft.com/office/drawing/2014/main" id="{44BDC831-391E-45BE-86BA-358F6512EACB}"/>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6FD821A0-AB3F-4DF5-9EFA-D392F7BF5AC9}"/>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54</a:t>
            </a:r>
          </a:p>
        </p:txBody>
      </p:sp>
      <p:sp>
        <p:nvSpPr>
          <p:cNvPr id="6" name="">
            <a:extLst xmlns:a="http://schemas.openxmlformats.org/drawingml/2006/main">
              <a:ext uri="{FF2B5EF4-FFF2-40B4-BE49-F238E27FC236}">
                <a16:creationId xmlns:a16="http://schemas.microsoft.com/office/drawing/2014/main" id="{C36B0379-FA38-44F2-800A-55689C8BBEA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A54D77A-208A-4A4E-86B6-70E3394F9597}"/>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Yazıda satır başına alınan konuşmaları göstermek için kullanılır. Buna konuşma çizgisi de denir.</a:t>
            </a:r>
          </a:p>
        </p:txBody>
      </p:sp>
      <p:sp>
        <p:nvSpPr>
          <p:cNvPr id="8" name="">
            <a:extLst xmlns:a="http://schemas.openxmlformats.org/drawingml/2006/main">
              <a:ext uri="{FF2B5EF4-FFF2-40B4-BE49-F238E27FC236}">
                <a16:creationId xmlns:a16="http://schemas.microsoft.com/office/drawing/2014/main" id="{C7970CA1-9424-4142-8328-DE111CF6D675}"/>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Frankfurt’a gelene herkesin sorduğu şunlardır:</a:t>
            </a:r>
          </a:p>
        </p:txBody>
      </p:sp>
      <p:sp>
        <p:nvSpPr>
          <p:cNvPr id="9" name="">
            <a:extLst xmlns:a="http://schemas.openxmlformats.org/drawingml/2006/main">
              <a:ext uri="{FF2B5EF4-FFF2-40B4-BE49-F238E27FC236}">
                <a16:creationId xmlns:a16="http://schemas.microsoft.com/office/drawing/2014/main" id="{9619E4D0-708A-4375-A82A-4EEE1986D343}"/>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Eski şehri gezdin mi?</a:t>
            </a:r>
          </a:p>
        </p:txBody>
      </p:sp>
      <p:sp>
        <p:nvSpPr>
          <p:cNvPr id="10" name="">
            <a:extLst xmlns:a="http://schemas.openxmlformats.org/drawingml/2006/main">
              <a:ext uri="{FF2B5EF4-FFF2-40B4-BE49-F238E27FC236}">
                <a16:creationId xmlns:a16="http://schemas.microsoft.com/office/drawing/2014/main" id="{2E80B69D-A337-46B4-AB08-6A6FF1616489}"/>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Rothschild’in evine gittin mi?</a:t>
            </a:r>
          </a:p>
        </p:txBody>
      </p:sp>
    </p:spTree>
    <p:extLst>
      <p:ext uri="{BB962C8B-B14F-4D97-AF65-F5344CB8AC3E}">
        <p14:creationId xmlns:p14="http://schemas.microsoft.com/office/powerpoint/2010/main" val="2044615823"/>
      </p:ext>
    </p:extLst>
  </p:cSld>
</p:sld>
</file>

<file path=ppt/slides/slide5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06716D-DC6D-4651-91C6-740862ED3B89}"/>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F4E9F4-5E18-4222-89B9-3D3597335F1B}"/>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BE07A096-9A2E-41BD-84D8-9CB74CB68434}"/>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Uzun Çizgi (—)</a:t>
            </a:r>
          </a:p>
        </p:txBody>
      </p:sp>
      <p:sp>
        <p:nvSpPr>
          <p:cNvPr id="4" name="">
            <a:extLst xmlns:a="http://schemas.openxmlformats.org/drawingml/2006/main">
              <a:ext uri="{FF2B5EF4-FFF2-40B4-BE49-F238E27FC236}">
                <a16:creationId xmlns:a16="http://schemas.microsoft.com/office/drawing/2014/main" id="{C85725A2-82CA-475C-A5AD-322F74A6FB48}"/>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2/3</a:t>
            </a:r>
          </a:p>
        </p:txBody>
      </p:sp>
      <p:sp>
        <p:nvSpPr>
          <p:cNvPr id="5" name="">
            <a:extLst xmlns:a="http://schemas.openxmlformats.org/drawingml/2006/main">
              <a:ext uri="{FF2B5EF4-FFF2-40B4-BE49-F238E27FC236}">
                <a16:creationId xmlns:a16="http://schemas.microsoft.com/office/drawing/2014/main" id="{AFAAAD51-EF78-4A9A-8425-8EC38BF9844D}"/>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55</a:t>
            </a:r>
          </a:p>
        </p:txBody>
      </p:sp>
      <p:sp>
        <p:nvSpPr>
          <p:cNvPr id="6" name="">
            <a:extLst xmlns:a="http://schemas.openxmlformats.org/drawingml/2006/main">
              <a:ext uri="{FF2B5EF4-FFF2-40B4-BE49-F238E27FC236}">
                <a16:creationId xmlns:a16="http://schemas.microsoft.com/office/drawing/2014/main" id="{1F46A4DE-2058-40A5-8975-8AFCFC99F27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507E02D-D726-468F-B9DB-59D7FD50499C}"/>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 Goethe’nin evini gezdin mi? (Ahmet Haşim)</a:t>
            </a:r>
          </a:p>
        </p:txBody>
      </p:sp>
      <p:sp>
        <p:nvSpPr>
          <p:cNvPr id="8" name="">
            <a:extLst xmlns:a="http://schemas.openxmlformats.org/drawingml/2006/main">
              <a:ext uri="{FF2B5EF4-FFF2-40B4-BE49-F238E27FC236}">
                <a16:creationId xmlns:a16="http://schemas.microsoft.com/office/drawing/2014/main" id="{36140306-1694-4C41-9341-38A942466D8A}"/>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Oyunlarda uzun çizgi konuşanın adından sonra da konabilir:</a:t>
            </a:r>
          </a:p>
        </p:txBody>
      </p:sp>
      <p:sp>
        <p:nvSpPr>
          <p:cNvPr id="9" name="">
            <a:extLst xmlns:a="http://schemas.openxmlformats.org/drawingml/2006/main">
              <a:ext uri="{FF2B5EF4-FFF2-40B4-BE49-F238E27FC236}">
                <a16:creationId xmlns:a16="http://schemas.microsoft.com/office/drawing/2014/main" id="{28179E93-2512-42DB-B287-B4520A1D58B8}"/>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Sıtkı Bey — Kaleyi kurtarmak için daha güzel bir çare var. Gerçekten ölecek adam ister.</a:t>
            </a:r>
          </a:p>
        </p:txBody>
      </p:sp>
      <p:sp>
        <p:nvSpPr>
          <p:cNvPr id="10" name="">
            <a:extLst xmlns:a="http://schemas.openxmlformats.org/drawingml/2006/main">
              <a:ext uri="{FF2B5EF4-FFF2-40B4-BE49-F238E27FC236}">
                <a16:creationId xmlns:a16="http://schemas.microsoft.com/office/drawing/2014/main" id="{6967794E-8EE8-422E-8A35-89EB9E3D8D8C}"/>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İslam Bey — Ben daha ölmedim. (Namık Kemal)</a:t>
            </a:r>
          </a:p>
        </p:txBody>
      </p:sp>
    </p:spTree>
    <p:extLst>
      <p:ext uri="{BB962C8B-B14F-4D97-AF65-F5344CB8AC3E}">
        <p14:creationId xmlns:p14="http://schemas.microsoft.com/office/powerpoint/2010/main" val="163964633"/>
      </p:ext>
    </p:extLst>
  </p:cSld>
</p:sld>
</file>

<file path=ppt/slides/slide5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BA1B4E-906D-4916-BEA1-DF757279AE7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E66418-949A-4B02-A187-1667752F0D56}"/>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30294DAB-08FC-470B-933D-345432B3A94E}"/>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Uzun Çizgi (—)</a:t>
            </a:r>
          </a:p>
        </p:txBody>
      </p:sp>
      <p:sp>
        <p:nvSpPr>
          <p:cNvPr id="4" name="">
            <a:extLst xmlns:a="http://schemas.openxmlformats.org/drawingml/2006/main">
              <a:ext uri="{FF2B5EF4-FFF2-40B4-BE49-F238E27FC236}">
                <a16:creationId xmlns:a16="http://schemas.microsoft.com/office/drawing/2014/main" id="{CD91E690-20AC-4CFC-BF5F-DF4147D3EB9F}"/>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3/3</a:t>
            </a:r>
          </a:p>
        </p:txBody>
      </p:sp>
      <p:sp>
        <p:nvSpPr>
          <p:cNvPr id="5" name="">
            <a:extLst xmlns:a="http://schemas.openxmlformats.org/drawingml/2006/main">
              <a:ext uri="{FF2B5EF4-FFF2-40B4-BE49-F238E27FC236}">
                <a16:creationId xmlns:a16="http://schemas.microsoft.com/office/drawing/2014/main" id="{66B2CD0D-15EE-4555-BB60-236F06762982}"/>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56</a:t>
            </a:r>
          </a:p>
        </p:txBody>
      </p:sp>
      <p:sp>
        <p:nvSpPr>
          <p:cNvPr id="6" name="">
            <a:extLst xmlns:a="http://schemas.openxmlformats.org/drawingml/2006/main">
              <a:ext uri="{FF2B5EF4-FFF2-40B4-BE49-F238E27FC236}">
                <a16:creationId xmlns:a16="http://schemas.microsoft.com/office/drawing/2014/main" id="{47F58D2F-2793-4522-AEC2-F45ACE6C37C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2E993AD0-6093-4987-8A42-B9CB3FB9746B}"/>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Konuşmalar tırnak içinde verildiğinde uzun çizgi kullanılmaz.</a:t>
            </a:r>
          </a:p>
        </p:txBody>
      </p:sp>
      <p:sp>
        <p:nvSpPr>
          <p:cNvPr id="8" name="">
            <a:extLst xmlns:a="http://schemas.openxmlformats.org/drawingml/2006/main">
              <a:ext uri="{FF2B5EF4-FFF2-40B4-BE49-F238E27FC236}">
                <a16:creationId xmlns:a16="http://schemas.microsoft.com/office/drawing/2014/main" id="{82BFB4B4-EDFE-47BC-B305-BBF490D0A362}"/>
              </a:ext>
            </a:extLst>
          </p:cNvPr>
          <p:cNvSpPr>
            <a:spLocks xmlns:a="http://schemas.openxmlformats.org/drawingml/2006/main" noGrp="1"/>
          </p:cNvSpPr>
          <p:nvPr/>
        </p:nvSpPr>
        <p:spPr>
          <a:xfrm xmlns:a="http://schemas.openxmlformats.org/drawingml/2006/main">
            <a:off x="666750" y="3929063"/>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Arabamız tutarken Erciyes’in yolunu:</a:t>
            </a:r>
          </a:p>
        </p:txBody>
      </p:sp>
      <p:sp>
        <p:nvSpPr>
          <p:cNvPr id="9" name="">
            <a:extLst xmlns:a="http://schemas.openxmlformats.org/drawingml/2006/main">
              <a:ext uri="{FF2B5EF4-FFF2-40B4-BE49-F238E27FC236}">
                <a16:creationId xmlns:a16="http://schemas.microsoft.com/office/drawing/2014/main" id="{1EA0662B-9052-4529-BA50-CAB0BCFAC5BC}"/>
              </a:ext>
            </a:extLst>
          </p:cNvPr>
          <p:cNvSpPr>
            <a:spLocks xmlns:a="http://schemas.openxmlformats.org/drawingml/2006/main" noGrp="1"/>
          </p:cNvSpPr>
          <p:nvPr/>
        </p:nvSpPr>
        <p:spPr>
          <a:xfrm xmlns:a="http://schemas.openxmlformats.org/drawingml/2006/main">
            <a:off x="666750" y="5164931"/>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“Hancı dedim, bildin mi Maraşlı Şeyhoğlu’nu?” (Faruk Nafiz Çamlıbel)</a:t>
            </a:r>
          </a:p>
        </p:txBody>
      </p:sp>
    </p:spTree>
    <p:extLst>
      <p:ext uri="{BB962C8B-B14F-4D97-AF65-F5344CB8AC3E}">
        <p14:creationId xmlns:p14="http://schemas.microsoft.com/office/powerpoint/2010/main" val="1766724401"/>
      </p:ext>
    </p:extLst>
  </p:cSld>
</p:sld>
</file>

<file path=ppt/slides/slide5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5CD0AE-0029-46AB-9CD5-F00F36FD87C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728430-51F3-4486-A414-383619348230}"/>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E9623711-CB3D-43D5-A7A2-570A6E336FAD}"/>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Eğik Çizgi ( / )</a:t>
            </a:r>
          </a:p>
        </p:txBody>
      </p:sp>
      <p:sp>
        <p:nvSpPr>
          <p:cNvPr id="4" name="">
            <a:extLst xmlns:a="http://schemas.openxmlformats.org/drawingml/2006/main">
              <a:ext uri="{FF2B5EF4-FFF2-40B4-BE49-F238E27FC236}">
                <a16:creationId xmlns:a16="http://schemas.microsoft.com/office/drawing/2014/main" id="{4BF23994-585F-445E-90E4-A6AC17430840}"/>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A8FE350E-7F97-4390-B6CC-FE47B60E1687}"/>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57</a:t>
            </a:r>
          </a:p>
        </p:txBody>
      </p:sp>
      <p:sp>
        <p:nvSpPr>
          <p:cNvPr id="6" name="">
            <a:extLst xmlns:a="http://schemas.openxmlformats.org/drawingml/2006/main">
              <a:ext uri="{FF2B5EF4-FFF2-40B4-BE49-F238E27FC236}">
                <a16:creationId xmlns:a16="http://schemas.microsoft.com/office/drawing/2014/main" id="{9E48A4B4-61CE-4594-A766-9B2E889792A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812DFF3C-1CBB-4203-9399-F9DC21E77BC4}"/>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Dizeler yan yana yazıldığında aralarına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Korkma! Sönmez bu şafaklarda yüzen al sancak / Sönmeden yurdumun üstünde tüten en son ocak / O benim milletimin yıldızıdır, parlayacak / O benimdir, o benim milletimindir ancak. (Mehmet Akif Ersoy)</a:t>
            </a:r>
          </a:p>
        </p:txBody>
      </p:sp>
      <p:sp>
        <p:nvSpPr>
          <p:cNvPr id="8" name="">
            <a:extLst xmlns:a="http://schemas.openxmlformats.org/drawingml/2006/main">
              <a:ext uri="{FF2B5EF4-FFF2-40B4-BE49-F238E27FC236}">
                <a16:creationId xmlns:a16="http://schemas.microsoft.com/office/drawing/2014/main" id="{D8A4C643-CADA-4F79-ABA3-9D26C7389DB9}"/>
              </a:ext>
            </a:extLst>
          </p:cNvPr>
          <p:cNvSpPr>
            <a:spLocks xmlns:a="http://schemas.openxmlformats.org/drawingml/2006/main" noGrp="1"/>
          </p:cNvSpPr>
          <p:nvPr/>
        </p:nvSpPr>
        <p:spPr>
          <a:xfrm xmlns:a="http://schemas.openxmlformats.org/drawingml/2006/main">
            <a:off x="666750" y="3929063"/>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Adres yazarken apartman numarası ile daire numarası arasına ve semt ile şehir arasına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Altay Sokağı No.: 21/6 Kurtuluş / ANKARA</a:t>
            </a:r>
          </a:p>
        </p:txBody>
      </p:sp>
      <p:sp>
        <p:nvSpPr>
          <p:cNvPr id="9" name="">
            <a:extLst xmlns:a="http://schemas.openxmlformats.org/drawingml/2006/main">
              <a:ext uri="{FF2B5EF4-FFF2-40B4-BE49-F238E27FC236}">
                <a16:creationId xmlns:a16="http://schemas.microsoft.com/office/drawing/2014/main" id="{71DFD787-0220-4BD6-B71B-D6DA58E2A238}"/>
              </a:ext>
            </a:extLst>
          </p:cNvPr>
          <p:cNvSpPr>
            <a:spLocks xmlns:a="http://schemas.openxmlformats.org/drawingml/2006/main" noGrp="1"/>
          </p:cNvSpPr>
          <p:nvPr/>
        </p:nvSpPr>
        <p:spPr>
          <a:xfrm xmlns:a="http://schemas.openxmlformats.org/drawingml/2006/main">
            <a:off x="666750" y="5538788"/>
            <a:ext cx="10858500" cy="74771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Ülke adı yazılacağında ise:</a:t>
            </a:r>
          </a:p>
        </p:txBody>
      </p:sp>
    </p:spTree>
    <p:extLst>
      <p:ext uri="{BB962C8B-B14F-4D97-AF65-F5344CB8AC3E}">
        <p14:creationId xmlns:p14="http://schemas.microsoft.com/office/powerpoint/2010/main" val="1758715663"/>
      </p:ext>
    </p:extLst>
  </p:cSld>
</p:sld>
</file>

<file path=ppt/slides/slide5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842E2F-FC52-475C-A76C-C68B18A861D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7E6C43-151A-4C07-BCDE-7EA9F9EE14A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58C43D71-D7B4-47FB-9025-2661ED0E5603}"/>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Eğik Çizgi ( / )</a:t>
            </a:r>
          </a:p>
        </p:txBody>
      </p:sp>
      <p:sp>
        <p:nvSpPr>
          <p:cNvPr id="4" name="">
            <a:extLst xmlns:a="http://schemas.openxmlformats.org/drawingml/2006/main">
              <a:ext uri="{FF2B5EF4-FFF2-40B4-BE49-F238E27FC236}">
                <a16:creationId xmlns:a16="http://schemas.microsoft.com/office/drawing/2014/main" id="{ED483CC1-0FC2-44E6-BFC6-C50A9B30AD7B}"/>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2/3</a:t>
            </a:r>
          </a:p>
        </p:txBody>
      </p:sp>
      <p:sp>
        <p:nvSpPr>
          <p:cNvPr id="5" name="">
            <a:extLst xmlns:a="http://schemas.openxmlformats.org/drawingml/2006/main">
              <a:ext uri="{FF2B5EF4-FFF2-40B4-BE49-F238E27FC236}">
                <a16:creationId xmlns:a16="http://schemas.microsoft.com/office/drawing/2014/main" id="{FEECA652-74C6-4A9A-9885-AFDF4538632E}"/>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58</a:t>
            </a:r>
          </a:p>
        </p:txBody>
      </p:sp>
      <p:sp>
        <p:nvSpPr>
          <p:cNvPr id="6" name="">
            <a:extLst xmlns:a="http://schemas.openxmlformats.org/drawingml/2006/main">
              <a:ext uri="{FF2B5EF4-FFF2-40B4-BE49-F238E27FC236}">
                <a16:creationId xmlns:a16="http://schemas.microsoft.com/office/drawing/2014/main" id="{BA143353-E9B6-4A67-A6D9-09379AB83DC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81EFC2D-59DA-4B3C-85ED-DC2C6FB0A541}"/>
              </a:ext>
            </a:extLst>
          </p:cNvPr>
          <p:cNvSpPr>
            <a:spLocks xmlns:a="http://schemas.openxmlformats.org/drawingml/2006/main" noGrp="1"/>
          </p:cNvSpPr>
          <p:nvPr/>
        </p:nvSpPr>
        <p:spPr>
          <a:xfrm xmlns:a="http://schemas.openxmlformats.org/drawingml/2006/main">
            <a:off x="666750" y="157162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Atatürk Bulvarı No.: 217</a:t>
            </a:r>
          </a:p>
        </p:txBody>
      </p:sp>
      <p:sp>
        <p:nvSpPr>
          <p:cNvPr id="8" name="">
            <a:extLst xmlns:a="http://schemas.openxmlformats.org/drawingml/2006/main">
              <a:ext uri="{FF2B5EF4-FFF2-40B4-BE49-F238E27FC236}">
                <a16:creationId xmlns:a16="http://schemas.microsoft.com/office/drawing/2014/main" id="{8D544C63-936D-45D0-B390-6B5CF00BDF1E}"/>
              </a:ext>
            </a:extLst>
          </p:cNvPr>
          <p:cNvSpPr>
            <a:spLocks xmlns:a="http://schemas.openxmlformats.org/drawingml/2006/main" noGrp="1"/>
          </p:cNvSpPr>
          <p:nvPr/>
        </p:nvSpPr>
        <p:spPr>
          <a:xfrm xmlns:a="http://schemas.openxmlformats.org/drawingml/2006/main">
            <a:off x="666750" y="241458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06680 Kavaklıdere / Ankara</a:t>
            </a:r>
          </a:p>
        </p:txBody>
      </p:sp>
      <p:sp>
        <p:nvSpPr>
          <p:cNvPr id="9" name="">
            <a:extLst xmlns:a="http://schemas.openxmlformats.org/drawingml/2006/main">
              <a:ext uri="{FF2B5EF4-FFF2-40B4-BE49-F238E27FC236}">
                <a16:creationId xmlns:a16="http://schemas.microsoft.com/office/drawing/2014/main" id="{C29A6010-B060-4BC8-B173-F5DAD8B009C5}"/>
              </a:ext>
            </a:extLst>
          </p:cNvPr>
          <p:cNvSpPr>
            <a:spLocks xmlns:a="http://schemas.openxmlformats.org/drawingml/2006/main" noGrp="1"/>
          </p:cNvSpPr>
          <p:nvPr/>
        </p:nvSpPr>
        <p:spPr>
          <a:xfrm xmlns:a="http://schemas.openxmlformats.org/drawingml/2006/main">
            <a:off x="666750" y="3257550"/>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Tarihlerin yazılışında gün, ay ve yılı gösteren sayıları birbirinden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18/11/1969, 15/IX/1994 vb.</a:t>
            </a:r>
          </a:p>
        </p:txBody>
      </p:sp>
      <p:sp>
        <p:nvSpPr>
          <p:cNvPr id="10" name="">
            <a:extLst xmlns:a="http://schemas.openxmlformats.org/drawingml/2006/main">
              <a:ext uri="{FF2B5EF4-FFF2-40B4-BE49-F238E27FC236}">
                <a16:creationId xmlns:a16="http://schemas.microsoft.com/office/drawing/2014/main" id="{D42C904E-F02F-4C81-A376-856AA6755AB0}"/>
              </a:ext>
            </a:extLst>
          </p:cNvPr>
          <p:cNvSpPr>
            <a:spLocks xmlns:a="http://schemas.openxmlformats.org/drawingml/2006/main" noGrp="1"/>
          </p:cNvSpPr>
          <p:nvPr/>
        </p:nvSpPr>
        <p:spPr>
          <a:xfrm xmlns:a="http://schemas.openxmlformats.org/drawingml/2006/main">
            <a:off x="666750" y="482917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4. Dil bilgisinde eklerin farklı biçimlerini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 /-e, -an /-en, -lık /-lik, -madan /-meden vb.</a:t>
            </a:r>
          </a:p>
        </p:txBody>
      </p:sp>
    </p:spTree>
    <p:extLst>
      <p:ext uri="{BB962C8B-B14F-4D97-AF65-F5344CB8AC3E}">
        <p14:creationId xmlns:p14="http://schemas.microsoft.com/office/powerpoint/2010/main" val="984318325"/>
      </p:ext>
    </p:extLst>
  </p:cSld>
</p:sld>
</file>

<file path=ppt/slides/slide5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2AEB41-558F-43D5-AB16-F7D4F67E6F2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DCE40C-7EBB-4C6E-9304-F240D56A31A1}"/>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4420395B-2F4F-4326-A705-CF71A00EB08C}"/>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Eğik Çizgi ( / )</a:t>
            </a:r>
          </a:p>
        </p:txBody>
      </p:sp>
      <p:sp>
        <p:nvSpPr>
          <p:cNvPr id="4" name="">
            <a:extLst xmlns:a="http://schemas.openxmlformats.org/drawingml/2006/main">
              <a:ext uri="{FF2B5EF4-FFF2-40B4-BE49-F238E27FC236}">
                <a16:creationId xmlns:a16="http://schemas.microsoft.com/office/drawing/2014/main" id="{351537C1-CEE5-4288-803A-50E7D5312712}"/>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3/3</a:t>
            </a:r>
          </a:p>
        </p:txBody>
      </p:sp>
      <p:sp>
        <p:nvSpPr>
          <p:cNvPr id="5" name="">
            <a:extLst xmlns:a="http://schemas.openxmlformats.org/drawingml/2006/main">
              <a:ext uri="{FF2B5EF4-FFF2-40B4-BE49-F238E27FC236}">
                <a16:creationId xmlns:a16="http://schemas.microsoft.com/office/drawing/2014/main" id="{43A43F6F-71E6-4709-9BE4-997A3EC49507}"/>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59</a:t>
            </a:r>
          </a:p>
        </p:txBody>
      </p:sp>
      <p:sp>
        <p:nvSpPr>
          <p:cNvPr id="6" name="">
            <a:extLst xmlns:a="http://schemas.openxmlformats.org/drawingml/2006/main">
              <a:ext uri="{FF2B5EF4-FFF2-40B4-BE49-F238E27FC236}">
                <a16:creationId xmlns:a16="http://schemas.microsoft.com/office/drawing/2014/main" id="{454ACA10-5234-40F7-A2F7-97C2652148B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9C681B5-4F05-4A6C-90B3-F5220E2FC3AC}"/>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5. Genel ağ adreslerinde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http://tdk.gov.tr</a:t>
            </a:r>
          </a:p>
        </p:txBody>
      </p:sp>
      <p:sp>
        <p:nvSpPr>
          <p:cNvPr id="8" name="">
            <a:extLst xmlns:a="http://schemas.openxmlformats.org/drawingml/2006/main">
              <a:ext uri="{FF2B5EF4-FFF2-40B4-BE49-F238E27FC236}">
                <a16:creationId xmlns:a16="http://schemas.microsoft.com/office/drawing/2014/main" id="{7FC50128-44C4-4A7F-9A24-7E3EDCE37B58}"/>
              </a:ext>
            </a:extLst>
          </p:cNvPr>
          <p:cNvSpPr>
            <a:spLocks xmlns:a="http://schemas.openxmlformats.org/drawingml/2006/main" noGrp="1"/>
          </p:cNvSpPr>
          <p:nvPr/>
        </p:nvSpPr>
        <p:spPr>
          <a:xfrm xmlns:a="http://schemas.openxmlformats.org/drawingml/2006/main">
            <a:off x="666750" y="2807494"/>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Matematikte bölme işareti olarak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70/2=35</a:t>
            </a:r>
          </a:p>
        </p:txBody>
      </p:sp>
      <p:sp>
        <p:nvSpPr>
          <p:cNvPr id="9" name="">
            <a:extLst xmlns:a="http://schemas.openxmlformats.org/drawingml/2006/main">
              <a:ext uri="{FF2B5EF4-FFF2-40B4-BE49-F238E27FC236}">
                <a16:creationId xmlns:a16="http://schemas.microsoft.com/office/drawing/2014/main" id="{B5668104-0963-4E00-8DF2-74F495494485}"/>
              </a:ext>
            </a:extLst>
          </p:cNvPr>
          <p:cNvSpPr>
            <a:spLocks xmlns:a="http://schemas.openxmlformats.org/drawingml/2006/main" noGrp="1"/>
          </p:cNvSpPr>
          <p:nvPr/>
        </p:nvSpPr>
        <p:spPr>
          <a:xfrm xmlns:a="http://schemas.openxmlformats.org/drawingml/2006/main">
            <a:off x="666750" y="4043363"/>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Fizik, matematik vb. alanlarda birimler arası orantıları gösterirken eğik çizgi araya boşluk konulmadan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g/sn (gram/saniye)</a:t>
            </a:r>
          </a:p>
        </p:txBody>
      </p:sp>
    </p:spTree>
    <p:extLst>
      <p:ext uri="{BB962C8B-B14F-4D97-AF65-F5344CB8AC3E}">
        <p14:creationId xmlns:p14="http://schemas.microsoft.com/office/powerpoint/2010/main" val="1961764172"/>
      </p:ext>
    </p:extLst>
  </p:cSld>
</p:sld>
</file>

<file path=ppt/slides/slide6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227FAD-C465-4B34-957D-7E9F23C5266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B7A6C1-38B8-4F38-90AB-706880C189B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5ADB2781-9FB9-4292-83CF-457AFAE0122E}"/>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Ters Eğik Çizgi ( \ )</a:t>
            </a:r>
          </a:p>
        </p:txBody>
      </p:sp>
      <p:sp>
        <p:nvSpPr>
          <p:cNvPr id="4" name="">
            <a:extLst xmlns:a="http://schemas.openxmlformats.org/drawingml/2006/main">
              <a:ext uri="{FF2B5EF4-FFF2-40B4-BE49-F238E27FC236}">
                <a16:creationId xmlns:a16="http://schemas.microsoft.com/office/drawing/2014/main" id="{BDA3BFF6-AE1A-4DAF-960B-19D489925C64}"/>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60</a:t>
            </a:r>
          </a:p>
        </p:txBody>
      </p:sp>
      <p:sp>
        <p:nvSpPr>
          <p:cNvPr id="5" name="">
            <a:extLst xmlns:a="http://schemas.openxmlformats.org/drawingml/2006/main">
              <a:ext uri="{FF2B5EF4-FFF2-40B4-BE49-F238E27FC236}">
                <a16:creationId xmlns:a16="http://schemas.microsoft.com/office/drawing/2014/main" id="{F4646257-3C49-47DA-AEF3-EDE3CF35448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6" name="">
            <a:extLst xmlns:a="http://schemas.openxmlformats.org/drawingml/2006/main">
              <a:ext uri="{FF2B5EF4-FFF2-40B4-BE49-F238E27FC236}">
                <a16:creationId xmlns:a16="http://schemas.microsoft.com/office/drawing/2014/main" id="{013361EA-A40D-41C9-AD27-A902DD4FB61B}"/>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Bilişim uygulamalarında art arda gelen dizinleri birbirinden ayırt etmek için kullanılır: C:\Belgelerim\Türk İşaret Dili\Kitapçık.indd</a:t>
            </a:r>
          </a:p>
        </p:txBody>
      </p:sp>
    </p:spTree>
    <p:extLst>
      <p:ext uri="{BB962C8B-B14F-4D97-AF65-F5344CB8AC3E}">
        <p14:creationId xmlns:p14="http://schemas.microsoft.com/office/powerpoint/2010/main" val="1131346201"/>
      </p:ext>
    </p:extLst>
  </p:cSld>
</p:sld>
</file>

<file path=ppt/slides/slide6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0D955B-FAD9-44C3-9764-E96DFC35EB4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A30E37-A2C5-49A8-A264-C560062B6D94}"/>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3" name="">
            <a:extLst xmlns:a="http://schemas.openxmlformats.org/drawingml/2006/main">
              <a:ext uri="{FF2B5EF4-FFF2-40B4-BE49-F238E27FC236}">
                <a16:creationId xmlns:a16="http://schemas.microsoft.com/office/drawing/2014/main" id="{E40E1060-CF5A-48A4-B676-AE95688FBE68}"/>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4" name="">
            <a:extLst xmlns:a="http://schemas.openxmlformats.org/drawingml/2006/main">
              <a:ext uri="{FF2B5EF4-FFF2-40B4-BE49-F238E27FC236}">
                <a16:creationId xmlns:a16="http://schemas.microsoft.com/office/drawing/2014/main" id="{DA2B5EFD-73BD-40A7-9DDB-BBF2BF145D9A}"/>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8517845B-61D3-4B7B-A16B-FA946DC1345F}"/>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61</a:t>
            </a:r>
          </a:p>
        </p:txBody>
      </p:sp>
      <p:sp>
        <p:nvSpPr>
          <p:cNvPr id="6" name="">
            <a:extLst xmlns:a="http://schemas.openxmlformats.org/drawingml/2006/main">
              <a:ext uri="{FF2B5EF4-FFF2-40B4-BE49-F238E27FC236}">
                <a16:creationId xmlns:a16="http://schemas.microsoft.com/office/drawing/2014/main" id="{2BAE46EE-2217-457A-BEFE-751C0E8358F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C421F50B-59E1-4645-A73B-52AB70B8F113}"/>
              </a:ext>
            </a:extLst>
          </p:cNvPr>
          <p:cNvSpPr>
            <a:spLocks xmlns:a="http://schemas.openxmlformats.org/drawingml/2006/main" noGrp="1"/>
          </p:cNvSpPr>
          <p:nvPr/>
        </p:nvSpPr>
        <p:spPr>
          <a:xfrm xmlns:a="http://schemas.openxmlformats.org/drawingml/2006/main">
            <a:off x="666750" y="1571625"/>
            <a:ext cx="10858500" cy="299085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Başka bir kimseden veya yazıdan olduğu gibi aktarılan sözler tırnak içine alınır: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Türk Dil Kurumu binasının yan cephesinde Atatürk’ün “Türk dili, Türk milletinin kalbidir, zihnidir.” sözü yazılıdır. Dil ve Tarih-Coğrafya Fakültesinin ön cephesinde Atatürk’ün “Hayatta en hakiki mürşit ilimdir.” vecizesi yer almaktadır. Ulu önderin “Ne mutlu Türk’üm diyene!” sözü her Türk’ü duygulandırır.</a:t>
            </a:r>
          </a:p>
        </p:txBody>
      </p:sp>
      <p:sp>
        <p:nvSpPr>
          <p:cNvPr id="8" name="">
            <a:extLst xmlns:a="http://schemas.openxmlformats.org/drawingml/2006/main">
              <a:ext uri="{FF2B5EF4-FFF2-40B4-BE49-F238E27FC236}">
                <a16:creationId xmlns:a16="http://schemas.microsoft.com/office/drawing/2014/main" id="{10374612-2B33-41FA-81FE-B9A4A295FC60}"/>
              </a:ext>
            </a:extLst>
          </p:cNvPr>
          <p:cNvSpPr>
            <a:spLocks xmlns:a="http://schemas.openxmlformats.org/drawingml/2006/main" noGrp="1"/>
          </p:cNvSpPr>
          <p:nvPr/>
        </p:nvSpPr>
        <p:spPr>
          <a:xfrm xmlns:a="http://schemas.openxmlformats.org/drawingml/2006/main">
            <a:off x="666750" y="4676775"/>
            <a:ext cx="10858500" cy="74771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Bakınız, şair vatanı ne güzel tarif ediyor:</a:t>
            </a:r>
          </a:p>
        </p:txBody>
      </p:sp>
      <p:sp>
        <p:nvSpPr>
          <p:cNvPr id="9" name="">
            <a:extLst xmlns:a="http://schemas.openxmlformats.org/drawingml/2006/main">
              <a:ext uri="{FF2B5EF4-FFF2-40B4-BE49-F238E27FC236}">
                <a16:creationId xmlns:a16="http://schemas.microsoft.com/office/drawing/2014/main" id="{4E0744E6-DEF2-4653-A2BC-853E3EEC82D1}"/>
              </a:ext>
            </a:extLst>
          </p:cNvPr>
          <p:cNvSpPr>
            <a:spLocks xmlns:a="http://schemas.openxmlformats.org/drawingml/2006/main" noGrp="1"/>
          </p:cNvSpPr>
          <p:nvPr/>
        </p:nvSpPr>
        <p:spPr>
          <a:xfrm xmlns:a="http://schemas.openxmlformats.org/drawingml/2006/main">
            <a:off x="666750" y="5538788"/>
            <a:ext cx="10858500" cy="74771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“Bayrakları bayrak yapan üstündeki kandır.</a:t>
            </a:r>
          </a:p>
        </p:txBody>
      </p:sp>
    </p:spTree>
    <p:extLst>
      <p:ext uri="{BB962C8B-B14F-4D97-AF65-F5344CB8AC3E}">
        <p14:creationId xmlns:p14="http://schemas.microsoft.com/office/powerpoint/2010/main" val="508023123"/>
      </p:ext>
    </p:extLst>
  </p:cSld>
</p:sld>
</file>

<file path=ppt/slides/slide6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58D128-6161-413C-8119-7D0734B4E5D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18B648-B280-40B5-A751-DC083F36782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3" name="">
            <a:extLst xmlns:a="http://schemas.openxmlformats.org/drawingml/2006/main">
              <a:ext uri="{FF2B5EF4-FFF2-40B4-BE49-F238E27FC236}">
                <a16:creationId xmlns:a16="http://schemas.microsoft.com/office/drawing/2014/main" id="{F4ACB143-9035-4C0F-A40A-CEA5DE501010}"/>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4" name="">
            <a:extLst xmlns:a="http://schemas.openxmlformats.org/drawingml/2006/main">
              <a:ext uri="{FF2B5EF4-FFF2-40B4-BE49-F238E27FC236}">
                <a16:creationId xmlns:a16="http://schemas.microsoft.com/office/drawing/2014/main" id="{0BF55E62-583D-4790-BA00-2254D884C1C6}"/>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2/4</a:t>
            </a:r>
          </a:p>
        </p:txBody>
      </p:sp>
      <p:sp>
        <p:nvSpPr>
          <p:cNvPr id="5" name="">
            <a:extLst xmlns:a="http://schemas.openxmlformats.org/drawingml/2006/main">
              <a:ext uri="{FF2B5EF4-FFF2-40B4-BE49-F238E27FC236}">
                <a16:creationId xmlns:a16="http://schemas.microsoft.com/office/drawing/2014/main" id="{AE114C40-65C7-46CC-8B4E-F348963A8228}"/>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62</a:t>
            </a:r>
          </a:p>
        </p:txBody>
      </p:sp>
      <p:sp>
        <p:nvSpPr>
          <p:cNvPr id="6" name="">
            <a:extLst xmlns:a="http://schemas.openxmlformats.org/drawingml/2006/main">
              <a:ext uri="{FF2B5EF4-FFF2-40B4-BE49-F238E27FC236}">
                <a16:creationId xmlns:a16="http://schemas.microsoft.com/office/drawing/2014/main" id="{65D0C8C3-0356-4119-BE2F-77A89085ACC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ABF9D88-AC0E-48F2-9116-1A2567EC46C1}"/>
              </a:ext>
            </a:extLst>
          </p:cNvPr>
          <p:cNvSpPr>
            <a:spLocks xmlns:a="http://schemas.openxmlformats.org/drawingml/2006/main" noGrp="1"/>
          </p:cNvSpPr>
          <p:nvPr/>
        </p:nvSpPr>
        <p:spPr>
          <a:xfrm xmlns:a="http://schemas.openxmlformats.org/drawingml/2006/main">
            <a:off x="666750" y="157162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Toprak eğer uğrunda ölen varsa vatandır.”</a:t>
            </a:r>
          </a:p>
        </p:txBody>
      </p:sp>
      <p:sp>
        <p:nvSpPr>
          <p:cNvPr id="8" name="">
            <a:extLst xmlns:a="http://schemas.openxmlformats.org/drawingml/2006/main">
              <a:ext uri="{FF2B5EF4-FFF2-40B4-BE49-F238E27FC236}">
                <a16:creationId xmlns:a16="http://schemas.microsoft.com/office/drawing/2014/main" id="{8783CC1E-8E68-4682-85BC-0F67B2168423}"/>
              </a:ext>
            </a:extLst>
          </p:cNvPr>
          <p:cNvSpPr>
            <a:spLocks xmlns:a="http://schemas.openxmlformats.org/drawingml/2006/main" noGrp="1"/>
          </p:cNvSpPr>
          <p:nvPr/>
        </p:nvSpPr>
        <p:spPr>
          <a:xfrm xmlns:a="http://schemas.openxmlformats.org/drawingml/2006/main">
            <a:off x="666750" y="2414588"/>
            <a:ext cx="10858500" cy="218598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Tırnak içindeki alıntının sonunda bulunan işaret (nokta, soru işareti, ünlem işareti vb.) tırnak içinde kalır:</a:t>
            </a:r>
          </a:p>
        </p:txBody>
      </p:sp>
      <p:sp>
        <p:nvSpPr>
          <p:cNvPr id="9" name="">
            <a:extLst xmlns:a="http://schemas.openxmlformats.org/drawingml/2006/main">
              <a:ext uri="{FF2B5EF4-FFF2-40B4-BE49-F238E27FC236}">
                <a16:creationId xmlns:a16="http://schemas.microsoft.com/office/drawing/2014/main" id="{C9AD0162-2908-4F1E-A6FC-BF23FED41C2F}"/>
              </a:ext>
            </a:extLst>
          </p:cNvPr>
          <p:cNvSpPr>
            <a:spLocks xmlns:a="http://schemas.openxmlformats.org/drawingml/2006/main" noGrp="1"/>
          </p:cNvSpPr>
          <p:nvPr/>
        </p:nvSpPr>
        <p:spPr>
          <a:xfrm xmlns:a="http://schemas.openxmlformats.org/drawingml/2006/main">
            <a:off x="666750" y="471487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“İzmir üzerine dünyada bir şehir daha yoktur!” diyorlar. (Yahya Kemal Beyatlı)</a:t>
            </a:r>
          </a:p>
        </p:txBody>
      </p:sp>
      <p:sp>
        <p:nvSpPr>
          <p:cNvPr id="10" name="">
            <a:extLst xmlns:a="http://schemas.openxmlformats.org/drawingml/2006/main">
              <a:ext uri="{FF2B5EF4-FFF2-40B4-BE49-F238E27FC236}">
                <a16:creationId xmlns:a16="http://schemas.microsoft.com/office/drawing/2014/main" id="{E9DA00C2-2E3D-496D-A62C-0A6A8E900BFB}"/>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Özel olarak vurgulanmak istenen sözler tırnak içine alınır: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Yeni bir “barış taarruzu” başladı.</a:t>
            </a:r>
          </a:p>
        </p:txBody>
      </p:sp>
    </p:spTree>
    <p:extLst>
      <p:ext uri="{BB962C8B-B14F-4D97-AF65-F5344CB8AC3E}">
        <p14:creationId xmlns:p14="http://schemas.microsoft.com/office/powerpoint/2010/main" val="426550920"/>
      </p:ext>
    </p:extLst>
  </p:cSld>
</p:sld>
</file>

<file path=ppt/slides/slide6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85438D-3AD7-49B6-A6BA-04AA34B1D230}"/>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FB56D9-1098-4F63-BCB6-FF81502065BD}"/>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3" name="">
            <a:extLst xmlns:a="http://schemas.openxmlformats.org/drawingml/2006/main">
              <a:ext uri="{FF2B5EF4-FFF2-40B4-BE49-F238E27FC236}">
                <a16:creationId xmlns:a16="http://schemas.microsoft.com/office/drawing/2014/main" id="{5FC56A03-A61B-45C5-9BB3-2ED969C9D506}"/>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4" name="">
            <a:extLst xmlns:a="http://schemas.openxmlformats.org/drawingml/2006/main">
              <a:ext uri="{FF2B5EF4-FFF2-40B4-BE49-F238E27FC236}">
                <a16:creationId xmlns:a16="http://schemas.microsoft.com/office/drawing/2014/main" id="{BC87FF55-D261-47C3-B2AA-B745E2EEC0A5}"/>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3/4</a:t>
            </a:r>
          </a:p>
        </p:txBody>
      </p:sp>
      <p:sp>
        <p:nvSpPr>
          <p:cNvPr id="5" name="">
            <a:extLst xmlns:a="http://schemas.openxmlformats.org/drawingml/2006/main">
              <a:ext uri="{FF2B5EF4-FFF2-40B4-BE49-F238E27FC236}">
                <a16:creationId xmlns:a16="http://schemas.microsoft.com/office/drawing/2014/main" id="{2C123BD6-F4C0-4EBC-9A5E-AFCB6335FA4D}"/>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63</a:t>
            </a:r>
          </a:p>
        </p:txBody>
      </p:sp>
      <p:sp>
        <p:nvSpPr>
          <p:cNvPr id="6" name="">
            <a:extLst xmlns:a="http://schemas.openxmlformats.org/drawingml/2006/main">
              <a:ext uri="{FF2B5EF4-FFF2-40B4-BE49-F238E27FC236}">
                <a16:creationId xmlns:a16="http://schemas.microsoft.com/office/drawing/2014/main" id="{FC6D11B7-F15C-4408-8524-15D47688E1EB}"/>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6D7C0C4-6470-4C75-8D1A-2B11C255CC16}"/>
              </a:ext>
            </a:extLst>
          </p:cNvPr>
          <p:cNvSpPr>
            <a:spLocks xmlns:a="http://schemas.openxmlformats.org/drawingml/2006/main" noGrp="1"/>
          </p:cNvSpPr>
          <p:nvPr/>
        </p:nvSpPr>
        <p:spPr>
          <a:xfrm xmlns:a="http://schemas.openxmlformats.org/drawingml/2006/main">
            <a:off x="666750" y="157162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Cümle içerisinde eserlerin ve yazıların adları ile bölüm başlıkları tırnak içine alınır:</a:t>
            </a:r>
          </a:p>
        </p:txBody>
      </p:sp>
      <p:sp>
        <p:nvSpPr>
          <p:cNvPr id="8" name="">
            <a:extLst xmlns:a="http://schemas.openxmlformats.org/drawingml/2006/main">
              <a:ext uri="{FF2B5EF4-FFF2-40B4-BE49-F238E27FC236}">
                <a16:creationId xmlns:a16="http://schemas.microsoft.com/office/drawing/2014/main" id="{68DFB120-1436-4671-8816-181649EE2E32}"/>
              </a:ext>
            </a:extLst>
          </p:cNvPr>
          <p:cNvSpPr>
            <a:spLocks xmlns:a="http://schemas.openxmlformats.org/drawingml/2006/main" noGrp="1"/>
          </p:cNvSpPr>
          <p:nvPr/>
        </p:nvSpPr>
        <p:spPr>
          <a:xfrm xmlns:a="http://schemas.openxmlformats.org/drawingml/2006/main">
            <a:off x="666750" y="241458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Bugün öğrenciler “Kendi Gök Kubbemiz” adlı şiiri incelediler.</a:t>
            </a:r>
          </a:p>
        </p:txBody>
      </p:sp>
      <p:sp>
        <p:nvSpPr>
          <p:cNvPr id="9" name="">
            <a:extLst xmlns:a="http://schemas.openxmlformats.org/drawingml/2006/main">
              <a:ext uri="{FF2B5EF4-FFF2-40B4-BE49-F238E27FC236}">
                <a16:creationId xmlns:a16="http://schemas.microsoft.com/office/drawing/2014/main" id="{672B9F60-A385-4C87-98AE-C97A4B85C4F8}"/>
              </a:ext>
            </a:extLst>
          </p:cNvPr>
          <p:cNvSpPr>
            <a:spLocks xmlns:a="http://schemas.openxmlformats.org/drawingml/2006/main" noGrp="1"/>
          </p:cNvSpPr>
          <p:nvPr/>
        </p:nvSpPr>
        <p:spPr>
          <a:xfrm xmlns:a="http://schemas.openxmlformats.org/drawingml/2006/main">
            <a:off x="666750" y="3257550"/>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“Yazım Kuralları” bölümünde bazı uyarılara yer verilmiştir.</a:t>
            </a:r>
          </a:p>
        </p:txBody>
      </p:sp>
      <p:sp>
        <p:nvSpPr>
          <p:cNvPr id="10" name="">
            <a:extLst xmlns:a="http://schemas.openxmlformats.org/drawingml/2006/main">
              <a:ext uri="{FF2B5EF4-FFF2-40B4-BE49-F238E27FC236}">
                <a16:creationId xmlns:a16="http://schemas.microsoft.com/office/drawing/2014/main" id="{921A4533-ADE8-43DE-A0B6-133EE32B245D}"/>
              </a:ext>
            </a:extLst>
          </p:cNvPr>
          <p:cNvSpPr>
            <a:spLocks xmlns:a="http://schemas.openxmlformats.org/drawingml/2006/main" noGrp="1"/>
          </p:cNvSpPr>
          <p:nvPr/>
        </p:nvSpPr>
        <p:spPr>
          <a:xfrm xmlns:a="http://schemas.openxmlformats.org/drawingml/2006/main">
            <a:off x="666750" y="4100513"/>
            <a:ext cx="10858500" cy="218598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Cümle içerisinde özel olarak belirtilmek istenen sözler, kitap ve dergi adları ve başlıkları tırnak içine alınmaksızın eğik yazıyla dizilerek de gösterilebilir:</a:t>
            </a:r>
          </a:p>
        </p:txBody>
      </p:sp>
    </p:spTree>
    <p:extLst>
      <p:ext uri="{BB962C8B-B14F-4D97-AF65-F5344CB8AC3E}">
        <p14:creationId xmlns:p14="http://schemas.microsoft.com/office/powerpoint/2010/main" val="341533734"/>
      </p:ext>
    </p:extLst>
  </p:cSld>
</p:sld>
</file>

<file path=ppt/slides/slide6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B1815B-4D87-419C-9C0F-AA01303F517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752E02-92EB-4E20-AFC1-D72DF74F66B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3" name="">
            <a:extLst xmlns:a="http://schemas.openxmlformats.org/drawingml/2006/main">
              <a:ext uri="{FF2B5EF4-FFF2-40B4-BE49-F238E27FC236}">
                <a16:creationId xmlns:a16="http://schemas.microsoft.com/office/drawing/2014/main" id="{6F8AA772-3B39-415E-AE4B-C8CECA844131}"/>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Tırnak İşareti ( “ ” )</a:t>
            </a:r>
          </a:p>
        </p:txBody>
      </p:sp>
      <p:sp>
        <p:nvSpPr>
          <p:cNvPr id="4" name="">
            <a:extLst xmlns:a="http://schemas.openxmlformats.org/drawingml/2006/main">
              <a:ext uri="{FF2B5EF4-FFF2-40B4-BE49-F238E27FC236}">
                <a16:creationId xmlns:a16="http://schemas.microsoft.com/office/drawing/2014/main" id="{53705FE0-D248-4AA9-9972-C684EDF56218}"/>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4/4</a:t>
            </a:r>
          </a:p>
        </p:txBody>
      </p:sp>
      <p:sp>
        <p:nvSpPr>
          <p:cNvPr id="5" name="">
            <a:extLst xmlns:a="http://schemas.openxmlformats.org/drawingml/2006/main">
              <a:ext uri="{FF2B5EF4-FFF2-40B4-BE49-F238E27FC236}">
                <a16:creationId xmlns:a16="http://schemas.microsoft.com/office/drawing/2014/main" id="{9773CBA9-BCDE-48B7-BD8C-F276277B31A5}"/>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64</a:t>
            </a:r>
          </a:p>
        </p:txBody>
      </p:sp>
      <p:sp>
        <p:nvSpPr>
          <p:cNvPr id="6" name="">
            <a:extLst xmlns:a="http://schemas.openxmlformats.org/drawingml/2006/main">
              <a:ext uri="{FF2B5EF4-FFF2-40B4-BE49-F238E27FC236}">
                <a16:creationId xmlns:a16="http://schemas.microsoft.com/office/drawing/2014/main" id="{B824E44F-4E4F-473D-A034-E489650B2062}"/>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9BCB420-F802-49A5-B018-01A4E11BD766}"/>
              </a:ext>
            </a:extLst>
          </p:cNvPr>
          <p:cNvSpPr>
            <a:spLocks xmlns:a="http://schemas.openxmlformats.org/drawingml/2006/main" noGrp="1"/>
          </p:cNvSpPr>
          <p:nvPr/>
        </p:nvSpPr>
        <p:spPr>
          <a:xfrm xmlns:a="http://schemas.openxmlformats.org/drawingml/2006/main">
            <a:off x="666750" y="157162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Höyük sözü Anadolu’da tepe olarak geçer.</a:t>
            </a:r>
          </a:p>
        </p:txBody>
      </p:sp>
      <p:sp>
        <p:nvSpPr>
          <p:cNvPr id="8" name="">
            <a:extLst xmlns:a="http://schemas.openxmlformats.org/drawingml/2006/main">
              <a:ext uri="{FF2B5EF4-FFF2-40B4-BE49-F238E27FC236}">
                <a16:creationId xmlns:a16="http://schemas.microsoft.com/office/drawing/2014/main" id="{E1AD6D9F-7733-410E-80BA-CF6E7E2AF6C2}"/>
              </a:ext>
            </a:extLst>
          </p:cNvPr>
          <p:cNvSpPr>
            <a:spLocks xmlns:a="http://schemas.openxmlformats.org/drawingml/2006/main" noGrp="1"/>
          </p:cNvSpPr>
          <p:nvPr/>
        </p:nvSpPr>
        <p:spPr>
          <a:xfrm xmlns:a="http://schemas.openxmlformats.org/drawingml/2006/main">
            <a:off x="666750" y="241458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Cahit Sıtkı’nın Şairin Ölümü şiirini Yahya Kemal çok sevmişti. (Ahmet Hamdi Tanpınar)</a:t>
            </a:r>
          </a:p>
        </p:txBody>
      </p:sp>
      <p:sp>
        <p:nvSpPr>
          <p:cNvPr id="9" name="">
            <a:extLst xmlns:a="http://schemas.openxmlformats.org/drawingml/2006/main">
              <a:ext uri="{FF2B5EF4-FFF2-40B4-BE49-F238E27FC236}">
                <a16:creationId xmlns:a16="http://schemas.microsoft.com/office/drawing/2014/main" id="{30446592-038E-4A3D-B86D-5295446DC695}"/>
              </a:ext>
            </a:extLst>
          </p:cNvPr>
          <p:cNvSpPr>
            <a:spLocks xmlns:a="http://schemas.openxmlformats.org/drawingml/2006/main" noGrp="1"/>
          </p:cNvSpPr>
          <p:nvPr/>
        </p:nvSpPr>
        <p:spPr>
          <a:xfrm xmlns:a="http://schemas.openxmlformats.org/drawingml/2006/main">
            <a:off x="666750" y="3257550"/>
            <a:ext cx="10858500" cy="218598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Tırnak içine alınan sözlerden sonra gelen ekleri ayırmak için kesme işareti kullanılmaz: Elif Şafak’ın “Bit Palas”ını okudunuz mu?</a:t>
            </a:r>
          </a:p>
        </p:txBody>
      </p:sp>
      <p:sp>
        <p:nvSpPr>
          <p:cNvPr id="10" name="">
            <a:extLst xmlns:a="http://schemas.openxmlformats.org/drawingml/2006/main">
              <a:ext uri="{FF2B5EF4-FFF2-40B4-BE49-F238E27FC236}">
                <a16:creationId xmlns:a16="http://schemas.microsoft.com/office/drawing/2014/main" id="{F0BC0B27-CFD1-453C-9733-BEE46E4D0A9F}"/>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Bilimsel çalışmalarda künye verilirken makale adları tırnak içinde yazılır.</a:t>
            </a:r>
          </a:p>
        </p:txBody>
      </p:sp>
    </p:spTree>
    <p:extLst>
      <p:ext uri="{BB962C8B-B14F-4D97-AF65-F5344CB8AC3E}">
        <p14:creationId xmlns:p14="http://schemas.microsoft.com/office/powerpoint/2010/main" val="1522570415"/>
      </p:ext>
    </p:extLst>
  </p:cSld>
</p:sld>
</file>

<file path=ppt/slides/slide6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96D418-24E8-4562-BA86-438A965814F3}"/>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063E6A-202F-407A-9C20-5739C9F35028}"/>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3" name="">
            <a:extLst xmlns:a="http://schemas.openxmlformats.org/drawingml/2006/main">
              <a:ext uri="{FF2B5EF4-FFF2-40B4-BE49-F238E27FC236}">
                <a16:creationId xmlns:a16="http://schemas.microsoft.com/office/drawing/2014/main" id="{EF9FED50-CC90-498D-B5E3-618747C1678C}"/>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Tek Tırnak İşareti ( ‘ ’ )</a:t>
            </a:r>
          </a:p>
        </p:txBody>
      </p:sp>
      <p:sp>
        <p:nvSpPr>
          <p:cNvPr id="4" name="">
            <a:extLst xmlns:a="http://schemas.openxmlformats.org/drawingml/2006/main">
              <a:ext uri="{FF2B5EF4-FFF2-40B4-BE49-F238E27FC236}">
                <a16:creationId xmlns:a16="http://schemas.microsoft.com/office/drawing/2014/main" id="{78D04583-D34D-4550-A0B9-3B45BCB177B4}"/>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65</a:t>
            </a:r>
          </a:p>
        </p:txBody>
      </p:sp>
      <p:sp>
        <p:nvSpPr>
          <p:cNvPr id="5" name="">
            <a:extLst xmlns:a="http://schemas.openxmlformats.org/drawingml/2006/main">
              <a:ext uri="{FF2B5EF4-FFF2-40B4-BE49-F238E27FC236}">
                <a16:creationId xmlns:a16="http://schemas.microsoft.com/office/drawing/2014/main" id="{C0419470-F625-4A16-A28F-F583B556D1E3}"/>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6" name="">
            <a:extLst xmlns:a="http://schemas.openxmlformats.org/drawingml/2006/main">
              <a:ext uri="{FF2B5EF4-FFF2-40B4-BE49-F238E27FC236}">
                <a16:creationId xmlns:a16="http://schemas.microsoft.com/office/drawing/2014/main" id="{5D69AFCF-EAA2-46E2-8AD6-612CF210C079}"/>
              </a:ext>
            </a:extLst>
          </p:cNvPr>
          <p:cNvSpPr>
            <a:spLocks xmlns:a="http://schemas.openxmlformats.org/drawingml/2006/main" noGrp="1"/>
          </p:cNvSpPr>
          <p:nvPr/>
        </p:nvSpPr>
        <p:spPr>
          <a:xfrm xmlns:a="http://schemas.openxmlformats.org/drawingml/2006/main">
            <a:off x="666750" y="1571625"/>
            <a:ext cx="10858500" cy="89725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Tırnak içinde verilen cümlenin içinde yeniden tırnağa alınması gereken bir sözü, ibareyi belirtmek için kullanılır:</a:t>
            </a:r>
          </a:p>
        </p:txBody>
      </p:sp>
      <p:sp>
        <p:nvSpPr>
          <p:cNvPr id="7" name="">
            <a:extLst xmlns:a="http://schemas.openxmlformats.org/drawingml/2006/main">
              <a:ext uri="{FF2B5EF4-FFF2-40B4-BE49-F238E27FC236}">
                <a16:creationId xmlns:a16="http://schemas.microsoft.com/office/drawing/2014/main" id="{734D266E-C5B4-4AF3-BA02-77A6DEFF16BD}"/>
              </a:ext>
            </a:extLst>
          </p:cNvPr>
          <p:cNvSpPr>
            <a:spLocks xmlns:a="http://schemas.openxmlformats.org/drawingml/2006/main" noGrp="1"/>
          </p:cNvSpPr>
          <p:nvPr/>
        </p:nvSpPr>
        <p:spPr>
          <a:xfrm xmlns:a="http://schemas.openxmlformats.org/drawingml/2006/main">
            <a:off x="666750" y="2583180"/>
            <a:ext cx="10858500" cy="179451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Edebiyat öğretmeni “Şiirler içinde ‘Han Duvarları’ gibisi var mı?” dedi ve Faruk Nafiz’in bu güzel şiirini okumaya başladı.</a:t>
            </a:r>
          </a:p>
        </p:txBody>
      </p:sp>
      <p:sp>
        <p:nvSpPr>
          <p:cNvPr id="8" name="">
            <a:extLst xmlns:a="http://schemas.openxmlformats.org/drawingml/2006/main">
              <a:ext uri="{FF2B5EF4-FFF2-40B4-BE49-F238E27FC236}">
                <a16:creationId xmlns:a16="http://schemas.microsoft.com/office/drawing/2014/main" id="{C1C98E69-A55E-4977-A748-4890A8246C71}"/>
              </a:ext>
            </a:extLst>
          </p:cNvPr>
          <p:cNvSpPr>
            <a:spLocks xmlns:a="http://schemas.openxmlformats.org/drawingml/2006/main" noGrp="1"/>
          </p:cNvSpPr>
          <p:nvPr/>
        </p:nvSpPr>
        <p:spPr>
          <a:xfrm xmlns:a="http://schemas.openxmlformats.org/drawingml/2006/main">
            <a:off x="666750" y="4491990"/>
            <a:ext cx="10858500" cy="179451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“Atatürk henüz ‘Gazi Mustafa Kemal Paşa’ idi. Benden ona dair bir kitap için ön söz istemişlerdi.” (Falih Rıfkı Atay)</a:t>
            </a:r>
          </a:p>
        </p:txBody>
      </p:sp>
    </p:spTree>
    <p:extLst>
      <p:ext uri="{BB962C8B-B14F-4D97-AF65-F5344CB8AC3E}">
        <p14:creationId xmlns:p14="http://schemas.microsoft.com/office/powerpoint/2010/main" val="1599901986"/>
      </p:ext>
    </p:extLst>
  </p:cSld>
</p:sld>
</file>

<file path=ppt/slides/slide6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45BFED-286A-47F8-B16B-87C164FCF5F8}"/>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F6EE7F-2391-401C-A747-C32910AA64C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B2943CA3-DBFE-437E-ABA3-5024CA1A4EE3}"/>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Denden İşareti (“)</a:t>
            </a:r>
          </a:p>
        </p:txBody>
      </p:sp>
      <p:sp>
        <p:nvSpPr>
          <p:cNvPr id="4" name="">
            <a:extLst xmlns:a="http://schemas.openxmlformats.org/drawingml/2006/main">
              <a:ext uri="{FF2B5EF4-FFF2-40B4-BE49-F238E27FC236}">
                <a16:creationId xmlns:a16="http://schemas.microsoft.com/office/drawing/2014/main" id="{94B32B5B-E050-49B4-98E1-8C75C730CA9A}"/>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CFFCD9A1-7AF5-4A01-B343-4D1B35C8B827}"/>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66</a:t>
            </a:r>
          </a:p>
        </p:txBody>
      </p:sp>
      <p:sp>
        <p:nvSpPr>
          <p:cNvPr id="6" name="">
            <a:extLst xmlns:a="http://schemas.openxmlformats.org/drawingml/2006/main">
              <a:ext uri="{FF2B5EF4-FFF2-40B4-BE49-F238E27FC236}">
                <a16:creationId xmlns:a16="http://schemas.microsoft.com/office/drawing/2014/main" id="{4ECE3BF6-01E8-4B6C-ACEC-84E2C17D4094}"/>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4A0BBF0-45B4-4226-A4C6-9B2A3204E8F9}"/>
              </a:ext>
            </a:extLst>
          </p:cNvPr>
          <p:cNvSpPr>
            <a:spLocks xmlns:a="http://schemas.openxmlformats.org/drawingml/2006/main" noGrp="1"/>
          </p:cNvSpPr>
          <p:nvPr/>
        </p:nvSpPr>
        <p:spPr>
          <a:xfrm xmlns:a="http://schemas.openxmlformats.org/drawingml/2006/main">
            <a:off x="666750" y="1571625"/>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Bir yazıdaki maddelerin sıralanmasında veya bir çizelgede alt alta gelen aynı sözlerin, söz gruplarının ve sayıların tekrar yazılmasını önlemek için kullanılır:</a:t>
            </a:r>
          </a:p>
        </p:txBody>
      </p:sp>
      <p:sp>
        <p:nvSpPr>
          <p:cNvPr id="8" name="">
            <a:extLst xmlns:a="http://schemas.openxmlformats.org/drawingml/2006/main">
              <a:ext uri="{FF2B5EF4-FFF2-40B4-BE49-F238E27FC236}">
                <a16:creationId xmlns:a16="http://schemas.microsoft.com/office/drawing/2014/main" id="{E4F5947F-A226-4621-8E36-AD563CF625FB}"/>
              </a:ext>
            </a:extLst>
          </p:cNvPr>
          <p:cNvSpPr>
            <a:spLocks xmlns:a="http://schemas.openxmlformats.org/drawingml/2006/main" noGrp="1"/>
          </p:cNvSpPr>
          <p:nvPr/>
        </p:nvSpPr>
        <p:spPr>
          <a:xfrm xmlns:a="http://schemas.openxmlformats.org/drawingml/2006/main">
            <a:off x="666750" y="34347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 Etken fiil</a:t>
            </a:r>
          </a:p>
        </p:txBody>
      </p:sp>
      <p:sp>
        <p:nvSpPr>
          <p:cNvPr id="9" name="">
            <a:extLst xmlns:a="http://schemas.openxmlformats.org/drawingml/2006/main">
              <a:ext uri="{FF2B5EF4-FFF2-40B4-BE49-F238E27FC236}">
                <a16:creationId xmlns:a16="http://schemas.microsoft.com/office/drawing/2014/main" id="{89AB06F0-B124-43C0-9793-24C824F6691C}"/>
              </a:ext>
            </a:extLst>
          </p:cNvPr>
          <p:cNvSpPr>
            <a:spLocks xmlns:a="http://schemas.openxmlformats.org/drawingml/2006/main" noGrp="1"/>
          </p:cNvSpPr>
          <p:nvPr/>
        </p:nvSpPr>
        <p:spPr>
          <a:xfrm xmlns:a="http://schemas.openxmlformats.org/drawingml/2006/main">
            <a:off x="666750" y="442341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 Edilgen “</a:t>
            </a:r>
          </a:p>
        </p:txBody>
      </p:sp>
      <p:sp>
        <p:nvSpPr>
          <p:cNvPr id="10" name="">
            <a:extLst xmlns:a="http://schemas.openxmlformats.org/drawingml/2006/main">
              <a:ext uri="{FF2B5EF4-FFF2-40B4-BE49-F238E27FC236}">
                <a16:creationId xmlns:a16="http://schemas.microsoft.com/office/drawing/2014/main" id="{1F521CA6-C469-41F6-8840-1A77FC161001}"/>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c. Dönüşlü “</a:t>
            </a:r>
          </a:p>
        </p:txBody>
      </p:sp>
    </p:spTree>
    <p:extLst>
      <p:ext uri="{BB962C8B-B14F-4D97-AF65-F5344CB8AC3E}">
        <p14:creationId xmlns:p14="http://schemas.microsoft.com/office/powerpoint/2010/main" val="1019188849"/>
      </p:ext>
    </p:extLst>
  </p:cSld>
</p:sld>
</file>

<file path=ppt/slides/slide6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BBA55E-6372-4097-91BD-E9F4CCAAAD5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E00519-B702-41CC-B127-9E50F86249D0}"/>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2230C776-BEF8-481A-B986-6E740840347B}"/>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Denden İşareti (“)</a:t>
            </a:r>
          </a:p>
        </p:txBody>
      </p:sp>
      <p:sp>
        <p:nvSpPr>
          <p:cNvPr id="4" name="">
            <a:extLst xmlns:a="http://schemas.openxmlformats.org/drawingml/2006/main">
              <a:ext uri="{FF2B5EF4-FFF2-40B4-BE49-F238E27FC236}">
                <a16:creationId xmlns:a16="http://schemas.microsoft.com/office/drawing/2014/main" id="{A8D96AC1-D0AF-4B29-8835-CCB933A34471}"/>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2/2</a:t>
            </a:r>
          </a:p>
        </p:txBody>
      </p:sp>
      <p:sp>
        <p:nvSpPr>
          <p:cNvPr id="5" name="">
            <a:extLst xmlns:a="http://schemas.openxmlformats.org/drawingml/2006/main">
              <a:ext uri="{FF2B5EF4-FFF2-40B4-BE49-F238E27FC236}">
                <a16:creationId xmlns:a16="http://schemas.microsoft.com/office/drawing/2014/main" id="{D17622D7-B348-4B95-B945-1742E9CFDF0B}"/>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67</a:t>
            </a:r>
          </a:p>
        </p:txBody>
      </p:sp>
      <p:sp>
        <p:nvSpPr>
          <p:cNvPr id="6" name="">
            <a:extLst xmlns:a="http://schemas.openxmlformats.org/drawingml/2006/main">
              <a:ext uri="{FF2B5EF4-FFF2-40B4-BE49-F238E27FC236}">
                <a16:creationId xmlns:a16="http://schemas.microsoft.com/office/drawing/2014/main" id="{B22AF94D-383C-4C31-8538-7D6C4E8349B7}"/>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AFF01BB-3E18-41CC-9BBE-CE25440F2CD6}"/>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ç. İşteş “</a:t>
            </a:r>
          </a:p>
        </p:txBody>
      </p:sp>
    </p:spTree>
    <p:extLst>
      <p:ext uri="{BB962C8B-B14F-4D97-AF65-F5344CB8AC3E}">
        <p14:creationId xmlns:p14="http://schemas.microsoft.com/office/powerpoint/2010/main" val="1473140839"/>
      </p:ext>
    </p:extLst>
  </p:cSld>
</p:sld>
</file>

<file path=ppt/slides/slide6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3B6689-DFFF-450E-BF35-957F6CE72C8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4E6AD6-8896-4C9B-BADA-E3B34A8FA3EF}"/>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FA24DB5B-679D-45C5-889F-638C5C5E0F4D}"/>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4" name="">
            <a:extLst xmlns:a="http://schemas.openxmlformats.org/drawingml/2006/main">
              <a:ext uri="{FF2B5EF4-FFF2-40B4-BE49-F238E27FC236}">
                <a16:creationId xmlns:a16="http://schemas.microsoft.com/office/drawing/2014/main" id="{5BF36C36-7AF9-4F9E-A3DC-C64683012696}"/>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062C9C1B-DCD4-4822-87A8-20CF72DCA770}"/>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68</a:t>
            </a:r>
          </a:p>
        </p:txBody>
      </p:sp>
      <p:sp>
        <p:nvSpPr>
          <p:cNvPr id="6" name="">
            <a:extLst xmlns:a="http://schemas.openxmlformats.org/drawingml/2006/main">
              <a:ext uri="{FF2B5EF4-FFF2-40B4-BE49-F238E27FC236}">
                <a16:creationId xmlns:a16="http://schemas.microsoft.com/office/drawing/2014/main" id="{B4C3B756-0B05-4B67-84E2-55B424D44B4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7C651F6-EE43-40B0-A98A-47048E8A30E5}"/>
              </a:ext>
            </a:extLst>
          </p:cNvPr>
          <p:cNvSpPr>
            <a:spLocks xmlns:a="http://schemas.openxmlformats.org/drawingml/2006/main" noGrp="1"/>
          </p:cNvSpPr>
          <p:nvPr/>
        </p:nvSpPr>
        <p:spPr>
          <a:xfrm xmlns:a="http://schemas.openxmlformats.org/drawingml/2006/main">
            <a:off x="666750" y="1571625"/>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1. Cümledeki anlamı tamamlayan ve cümlenin dışında kalan ek bilgiler için kullanılır. Yay ayraç içinde bulunan ve yargı bildiren anlatımların sonuna uygun noktalama işareti konur:</a:t>
            </a:r>
          </a:p>
        </p:txBody>
      </p:sp>
      <p:sp>
        <p:nvSpPr>
          <p:cNvPr id="8" name="">
            <a:extLst xmlns:a="http://schemas.openxmlformats.org/drawingml/2006/main">
              <a:ext uri="{FF2B5EF4-FFF2-40B4-BE49-F238E27FC236}">
                <a16:creationId xmlns:a16="http://schemas.microsoft.com/office/drawing/2014/main" id="{51CD6D77-7DA6-4823-80CD-1D503B72937B}"/>
              </a:ext>
            </a:extLst>
          </p:cNvPr>
          <p:cNvSpPr>
            <a:spLocks xmlns:a="http://schemas.openxmlformats.org/drawingml/2006/main" noGrp="1"/>
          </p:cNvSpPr>
          <p:nvPr/>
        </p:nvSpPr>
        <p:spPr>
          <a:xfrm xmlns:a="http://schemas.openxmlformats.org/drawingml/2006/main">
            <a:off x="666750" y="3143250"/>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Anadolu kentlerini, köylerini (Köy sözünü de çekinerek yazıyorum.) gezsek bile görmek için değil, kendimizi göstermek için geziyoruz. (Nurullah Ataç)</a:t>
            </a:r>
          </a:p>
        </p:txBody>
      </p:sp>
      <p:sp>
        <p:nvSpPr>
          <p:cNvPr id="9" name="">
            <a:extLst xmlns:a="http://schemas.openxmlformats.org/drawingml/2006/main">
              <a:ext uri="{FF2B5EF4-FFF2-40B4-BE49-F238E27FC236}">
                <a16:creationId xmlns:a16="http://schemas.microsoft.com/office/drawing/2014/main" id="{294EE849-DB39-4B4F-97B1-816E55263457}"/>
              </a:ext>
            </a:extLst>
          </p:cNvPr>
          <p:cNvSpPr>
            <a:spLocks xmlns:a="http://schemas.openxmlformats.org/drawingml/2006/main" noGrp="1"/>
          </p:cNvSpPr>
          <p:nvPr/>
        </p:nvSpPr>
        <p:spPr>
          <a:xfrm xmlns:a="http://schemas.openxmlformats.org/drawingml/2006/main">
            <a:off x="666750" y="471487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2. Özel veya cins isme ait ek, ayraçtan önce yazılır:</a:t>
            </a:r>
          </a:p>
        </p:txBody>
      </p:sp>
      <p:sp>
        <p:nvSpPr>
          <p:cNvPr id="10" name="">
            <a:extLst xmlns:a="http://schemas.openxmlformats.org/drawingml/2006/main">
              <a:ext uri="{FF2B5EF4-FFF2-40B4-BE49-F238E27FC236}">
                <a16:creationId xmlns:a16="http://schemas.microsoft.com/office/drawing/2014/main" id="{5F8C8635-93A2-4F8B-B48B-AB87EAD93C94}"/>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Yunus Emre’nin (1240?-1320)…</a:t>
            </a:r>
          </a:p>
        </p:txBody>
      </p:sp>
    </p:spTree>
    <p:extLst>
      <p:ext uri="{BB962C8B-B14F-4D97-AF65-F5344CB8AC3E}">
        <p14:creationId xmlns:p14="http://schemas.microsoft.com/office/powerpoint/2010/main" val="610394781"/>
      </p:ext>
    </p:extLst>
  </p:cSld>
</p:sld>
</file>

<file path=ppt/slides/slide6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35824A-69CF-4AC4-8F6C-4F1C888D640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0ADA75-2131-4F44-9A7C-1C95AE8DCACA}"/>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E3A17D15-256D-4CB8-AFAC-BEE177CB4613}"/>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4" name="">
            <a:extLst xmlns:a="http://schemas.openxmlformats.org/drawingml/2006/main">
              <a:ext uri="{FF2B5EF4-FFF2-40B4-BE49-F238E27FC236}">
                <a16:creationId xmlns:a16="http://schemas.microsoft.com/office/drawing/2014/main" id="{99D7A4E8-9A12-49F9-B0D5-36A3CD158A7C}"/>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2/5</a:t>
            </a:r>
          </a:p>
        </p:txBody>
      </p:sp>
      <p:sp>
        <p:nvSpPr>
          <p:cNvPr id="5" name="">
            <a:extLst xmlns:a="http://schemas.openxmlformats.org/drawingml/2006/main">
              <a:ext uri="{FF2B5EF4-FFF2-40B4-BE49-F238E27FC236}">
                <a16:creationId xmlns:a16="http://schemas.microsoft.com/office/drawing/2014/main" id="{82523DA8-EF5E-4B46-BD0F-4E90370880CD}"/>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69</a:t>
            </a:r>
          </a:p>
        </p:txBody>
      </p:sp>
      <p:sp>
        <p:nvSpPr>
          <p:cNvPr id="6" name="">
            <a:extLst xmlns:a="http://schemas.openxmlformats.org/drawingml/2006/main">
              <a:ext uri="{FF2B5EF4-FFF2-40B4-BE49-F238E27FC236}">
                <a16:creationId xmlns:a16="http://schemas.microsoft.com/office/drawing/2014/main" id="{1D42D230-8123-4DA6-9B1D-4A9A761A268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5090FB6E-D764-4F90-971E-08D1103FCFB2}"/>
              </a:ext>
            </a:extLst>
          </p:cNvPr>
          <p:cNvSpPr>
            <a:spLocks xmlns:a="http://schemas.openxmlformats.org/drawingml/2006/main" noGrp="1"/>
          </p:cNvSpPr>
          <p:nvPr/>
        </p:nvSpPr>
        <p:spPr>
          <a:xfrm xmlns:a="http://schemas.openxmlformats.org/drawingml/2006/main">
            <a:off x="666750" y="157162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İmek fiilinin (ek fiil) geniş zamanı şahıs ekleriyle çekilir.</a:t>
            </a:r>
          </a:p>
        </p:txBody>
      </p:sp>
      <p:sp>
        <p:nvSpPr>
          <p:cNvPr id="8" name="">
            <a:extLst xmlns:a="http://schemas.openxmlformats.org/drawingml/2006/main">
              <a:ext uri="{FF2B5EF4-FFF2-40B4-BE49-F238E27FC236}">
                <a16:creationId xmlns:a16="http://schemas.microsoft.com/office/drawing/2014/main" id="{DA5083B1-A081-437D-B039-EEB603F895B5}"/>
              </a:ext>
            </a:extLst>
          </p:cNvPr>
          <p:cNvSpPr>
            <a:spLocks xmlns:a="http://schemas.openxmlformats.org/drawingml/2006/main" noGrp="1"/>
          </p:cNvSpPr>
          <p:nvPr/>
        </p:nvSpPr>
        <p:spPr>
          <a:xfrm xmlns:a="http://schemas.openxmlformats.org/drawingml/2006/main">
            <a:off x="666750" y="256032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3. Tiyatro eserlerinde ve senaryolarda konuşanın hareketlerini, durumunu açıklamak ve göstermek için kullanılır:</a:t>
            </a:r>
          </a:p>
        </p:txBody>
      </p:sp>
      <p:sp>
        <p:nvSpPr>
          <p:cNvPr id="9" name="">
            <a:extLst xmlns:a="http://schemas.openxmlformats.org/drawingml/2006/main">
              <a:ext uri="{FF2B5EF4-FFF2-40B4-BE49-F238E27FC236}">
                <a16:creationId xmlns:a16="http://schemas.microsoft.com/office/drawing/2014/main" id="{1EDAEE1E-84BC-4D96-A56D-E2BEFBC7BF89}"/>
              </a:ext>
            </a:extLst>
          </p:cNvPr>
          <p:cNvSpPr>
            <a:spLocks xmlns:a="http://schemas.openxmlformats.org/drawingml/2006/main" noGrp="1"/>
          </p:cNvSpPr>
          <p:nvPr/>
        </p:nvSpPr>
        <p:spPr>
          <a:xfrm xmlns:a="http://schemas.openxmlformats.org/drawingml/2006/main">
            <a:off x="666750" y="3549015"/>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İhtiyar – (Yavaş yavaş Kaymakam’a yaklaşır.) Ne oluyor beyefendi? Allah rızası için bana da anlatın… (Reşat Nuri Güntekin)</a:t>
            </a:r>
          </a:p>
        </p:txBody>
      </p:sp>
      <p:sp>
        <p:nvSpPr>
          <p:cNvPr id="10" name="">
            <a:extLst xmlns:a="http://schemas.openxmlformats.org/drawingml/2006/main">
              <a:ext uri="{FF2B5EF4-FFF2-40B4-BE49-F238E27FC236}">
                <a16:creationId xmlns:a16="http://schemas.microsoft.com/office/drawing/2014/main" id="{817ADCBA-7C59-4F28-A0A3-8852846ED5F7}"/>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4. Alıntıların aktarıldığı eseri, yazarı veya künye bilgilerini göstermek için kullanılır:</a:t>
            </a:r>
          </a:p>
        </p:txBody>
      </p:sp>
    </p:spTree>
    <p:extLst>
      <p:ext uri="{BB962C8B-B14F-4D97-AF65-F5344CB8AC3E}">
        <p14:creationId xmlns:p14="http://schemas.microsoft.com/office/powerpoint/2010/main" val="762725053"/>
      </p:ext>
    </p:extLst>
  </p:cSld>
</p:sld>
</file>

<file path=ppt/slides/slide7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F4F7AF-159D-4353-9982-F371B707DFC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8B047C-459F-4B00-9A92-5BDF655FDB69}"/>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53A89BCD-174C-4473-9DD1-CB64C2825BC3}"/>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4" name="">
            <a:extLst xmlns:a="http://schemas.openxmlformats.org/drawingml/2006/main">
              <a:ext uri="{FF2B5EF4-FFF2-40B4-BE49-F238E27FC236}">
                <a16:creationId xmlns:a16="http://schemas.microsoft.com/office/drawing/2014/main" id="{1845F955-5AD9-47DF-A159-F1FA0DCCC07E}"/>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3/5</a:t>
            </a:r>
          </a:p>
        </p:txBody>
      </p:sp>
      <p:sp>
        <p:nvSpPr>
          <p:cNvPr id="5" name="">
            <a:extLst xmlns:a="http://schemas.openxmlformats.org/drawingml/2006/main">
              <a:ext uri="{FF2B5EF4-FFF2-40B4-BE49-F238E27FC236}">
                <a16:creationId xmlns:a16="http://schemas.microsoft.com/office/drawing/2014/main" id="{66A4E7ED-B7B9-4E3C-B0B5-0020BB3B779A}"/>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70</a:t>
            </a:r>
          </a:p>
        </p:txBody>
      </p:sp>
      <p:sp>
        <p:nvSpPr>
          <p:cNvPr id="6" name="">
            <a:extLst xmlns:a="http://schemas.openxmlformats.org/drawingml/2006/main">
              <a:ext uri="{FF2B5EF4-FFF2-40B4-BE49-F238E27FC236}">
                <a16:creationId xmlns:a16="http://schemas.microsoft.com/office/drawing/2014/main" id="{01EB1ACC-D2ED-4BA9-B839-7412BA463CF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B0790A3-DF9F-418F-9A20-6C76CA5CF67A}"/>
              </a:ext>
            </a:extLst>
          </p:cNvPr>
          <p:cNvSpPr>
            <a:spLocks xmlns:a="http://schemas.openxmlformats.org/drawingml/2006/main" noGrp="1"/>
          </p:cNvSpPr>
          <p:nvPr/>
        </p:nvSpPr>
        <p:spPr>
          <a:xfrm xmlns:a="http://schemas.openxmlformats.org/drawingml/2006/main">
            <a:off x="666750" y="1571625"/>
            <a:ext cx="10858500" cy="1748790"/>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Cihanın tarihi, vatanı uğrunda senin kadar uğraşan, kanını döken bir millet daha gösteremez. Senin kadar kimse kendi vatanına sahip olmaya hak kazanmamıştır. Bu vatan ya senindir ya kimsenin. (Ahmet Hikmet Müftüoğlu)</a:t>
            </a:r>
          </a:p>
        </p:txBody>
      </p:sp>
      <p:sp>
        <p:nvSpPr>
          <p:cNvPr id="8" name="">
            <a:extLst xmlns:a="http://schemas.openxmlformats.org/drawingml/2006/main">
              <a:ext uri="{FF2B5EF4-FFF2-40B4-BE49-F238E27FC236}">
                <a16:creationId xmlns:a16="http://schemas.microsoft.com/office/drawing/2014/main" id="{10250FDE-89AF-42ED-A3F5-7D4BA050BCCD}"/>
              </a:ext>
            </a:extLst>
          </p:cNvPr>
          <p:cNvSpPr>
            <a:spLocks xmlns:a="http://schemas.openxmlformats.org/drawingml/2006/main" noGrp="1"/>
          </p:cNvSpPr>
          <p:nvPr/>
        </p:nvSpPr>
        <p:spPr>
          <a:xfrm xmlns:a="http://schemas.openxmlformats.org/drawingml/2006/main">
            <a:off x="666750" y="343471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Eşin var, aşiyanın var, baharın var ki beklerdin</a:t>
            </a:r>
          </a:p>
        </p:txBody>
      </p:sp>
      <p:sp>
        <p:nvSpPr>
          <p:cNvPr id="9" name="">
            <a:extLst xmlns:a="http://schemas.openxmlformats.org/drawingml/2006/main">
              <a:ext uri="{FF2B5EF4-FFF2-40B4-BE49-F238E27FC236}">
                <a16:creationId xmlns:a16="http://schemas.microsoft.com/office/drawing/2014/main" id="{579588B6-CD4F-47D4-927D-BB8BA62E506E}"/>
              </a:ext>
            </a:extLst>
          </p:cNvPr>
          <p:cNvSpPr>
            <a:spLocks xmlns:a="http://schemas.openxmlformats.org/drawingml/2006/main" noGrp="1"/>
          </p:cNvSpPr>
          <p:nvPr/>
        </p:nvSpPr>
        <p:spPr>
          <a:xfrm xmlns:a="http://schemas.openxmlformats.org/drawingml/2006/main">
            <a:off x="666750" y="4423410"/>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Kıyametler koparmak neydi ey bülbül, nedir derdin? (Mehmet Akif Ersoy)</a:t>
            </a:r>
          </a:p>
        </p:txBody>
      </p:sp>
      <p:sp>
        <p:nvSpPr>
          <p:cNvPr id="10" name="">
            <a:extLst xmlns:a="http://schemas.openxmlformats.org/drawingml/2006/main">
              <a:ext uri="{FF2B5EF4-FFF2-40B4-BE49-F238E27FC236}">
                <a16:creationId xmlns:a16="http://schemas.microsoft.com/office/drawing/2014/main" id="{E0A88799-750B-4A3C-B3DB-B1BE5C36397F}"/>
              </a:ext>
            </a:extLst>
          </p:cNvPr>
          <p:cNvSpPr>
            <a:spLocks xmlns:a="http://schemas.openxmlformats.org/drawingml/2006/main" noGrp="1"/>
          </p:cNvSpPr>
          <p:nvPr/>
        </p:nvSpPr>
        <p:spPr>
          <a:xfrm xmlns:a="http://schemas.openxmlformats.org/drawingml/2006/main">
            <a:off x="666750" y="5412105"/>
            <a:ext cx="10858500" cy="87439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Bir isim kökü, gerektiğinde çeşitli eklerle fiil kökü durumuna getirilebilir (Zülfikar 1991: 45).</a:t>
            </a:r>
          </a:p>
        </p:txBody>
      </p:sp>
    </p:spTree>
    <p:extLst>
      <p:ext uri="{BB962C8B-B14F-4D97-AF65-F5344CB8AC3E}">
        <p14:creationId xmlns:p14="http://schemas.microsoft.com/office/powerpoint/2010/main" val="1323121806"/>
      </p:ext>
    </p:extLst>
  </p:cSld>
</p:sld>
</file>

<file path=ppt/slides/slide7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4FAC12-5D14-4EA8-9A47-51A4E7A768EE}"/>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E975A6-8C09-4F15-AB73-5226C9352A48}"/>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FE848D3F-F6BB-403E-B83C-544DC71CA288}"/>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4" name="">
            <a:extLst xmlns:a="http://schemas.openxmlformats.org/drawingml/2006/main">
              <a:ext uri="{FF2B5EF4-FFF2-40B4-BE49-F238E27FC236}">
                <a16:creationId xmlns:a16="http://schemas.microsoft.com/office/drawing/2014/main" id="{95678821-C31B-48D2-A9FC-9C58642A30C5}"/>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4/5</a:t>
            </a:r>
          </a:p>
        </p:txBody>
      </p:sp>
      <p:sp>
        <p:nvSpPr>
          <p:cNvPr id="5" name="">
            <a:extLst xmlns:a="http://schemas.openxmlformats.org/drawingml/2006/main">
              <a:ext uri="{FF2B5EF4-FFF2-40B4-BE49-F238E27FC236}">
                <a16:creationId xmlns:a16="http://schemas.microsoft.com/office/drawing/2014/main" id="{2EA25F2C-9E08-4343-B882-A73FD9C9C09F}"/>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71</a:t>
            </a:r>
          </a:p>
        </p:txBody>
      </p:sp>
      <p:sp>
        <p:nvSpPr>
          <p:cNvPr id="6" name="">
            <a:extLst xmlns:a="http://schemas.openxmlformats.org/drawingml/2006/main">
              <a:ext uri="{FF2B5EF4-FFF2-40B4-BE49-F238E27FC236}">
                <a16:creationId xmlns:a16="http://schemas.microsoft.com/office/drawing/2014/main" id="{7C5DDA39-793C-43EA-B0C2-B8ECA8C65AB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464576CD-2937-4B7D-948A-728F1B1CD155}"/>
              </a:ext>
            </a:extLst>
          </p:cNvPr>
          <p:cNvSpPr>
            <a:spLocks xmlns:a="http://schemas.openxmlformats.org/drawingml/2006/main" noGrp="1"/>
          </p:cNvSpPr>
          <p:nvPr/>
        </p:nvSpPr>
        <p:spPr>
          <a:xfrm xmlns:a="http://schemas.openxmlformats.org/drawingml/2006/main">
            <a:off x="666750" y="157162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5. Alıntılarda, alınmayan kelime veya bölümlerin yerine konulan üç nokta, yay ayraç içine alınabilir.</a:t>
            </a:r>
          </a:p>
        </p:txBody>
      </p:sp>
      <p:sp>
        <p:nvSpPr>
          <p:cNvPr id="8" name="">
            <a:extLst xmlns:a="http://schemas.openxmlformats.org/drawingml/2006/main">
              <a:ext uri="{FF2B5EF4-FFF2-40B4-BE49-F238E27FC236}">
                <a16:creationId xmlns:a16="http://schemas.microsoft.com/office/drawing/2014/main" id="{88EE9C95-0743-4167-870E-C170B6BA131D}"/>
              </a:ext>
            </a:extLst>
          </p:cNvPr>
          <p:cNvSpPr>
            <a:spLocks xmlns:a="http://schemas.openxmlformats.org/drawingml/2006/main" noGrp="1"/>
          </p:cNvSpPr>
          <p:nvPr/>
        </p:nvSpPr>
        <p:spPr>
          <a:xfrm xmlns:a="http://schemas.openxmlformats.org/drawingml/2006/main">
            <a:off x="666750" y="2414588"/>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6. Bir söze alay, kinaye veya küçümseme anlamı kazandırmak için kullanılan ünlem işareti yay ayraç içine alınır: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Adam, akıllı (!) olduğunu söylüyor.</a:t>
            </a:r>
          </a:p>
        </p:txBody>
      </p:sp>
      <p:sp>
        <p:nvSpPr>
          <p:cNvPr id="9" name="">
            <a:extLst xmlns:a="http://schemas.openxmlformats.org/drawingml/2006/main">
              <a:ext uri="{FF2B5EF4-FFF2-40B4-BE49-F238E27FC236}">
                <a16:creationId xmlns:a16="http://schemas.microsoft.com/office/drawing/2014/main" id="{6B120C17-DCBE-40A2-B3D0-433ED869AFD5}"/>
              </a:ext>
            </a:extLst>
          </p:cNvPr>
          <p:cNvSpPr>
            <a:spLocks xmlns:a="http://schemas.openxmlformats.org/drawingml/2006/main" noGrp="1"/>
          </p:cNvSpPr>
          <p:nvPr/>
        </p:nvSpPr>
        <p:spPr>
          <a:xfrm xmlns:a="http://schemas.openxmlformats.org/drawingml/2006/main">
            <a:off x="666750" y="3986213"/>
            <a:ext cx="10858500" cy="14573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Bir bilginin şüpheyle karşılandığını veya kesin olmadığını göstermek için kullanılan soru işareti yay ayraç içine alınır: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1496 (?) yılında doğan Fuzuli…</a:t>
            </a:r>
          </a:p>
        </p:txBody>
      </p:sp>
      <p:sp>
        <p:nvSpPr>
          <p:cNvPr id="10" name="">
            <a:extLst xmlns:a="http://schemas.openxmlformats.org/drawingml/2006/main">
              <a:ext uri="{FF2B5EF4-FFF2-40B4-BE49-F238E27FC236}">
                <a16:creationId xmlns:a16="http://schemas.microsoft.com/office/drawing/2014/main" id="{7C4675C1-747B-4BA5-9143-54F989E42D92}"/>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8. Bir yazının maddelerini gösteren sayı ve harflerden sonra kapama ayracı konur:</a:t>
            </a:r>
          </a:p>
        </p:txBody>
      </p:sp>
    </p:spTree>
    <p:extLst>
      <p:ext uri="{BB962C8B-B14F-4D97-AF65-F5344CB8AC3E}">
        <p14:creationId xmlns:p14="http://schemas.microsoft.com/office/powerpoint/2010/main" val="189082833"/>
      </p:ext>
    </p:extLst>
  </p:cSld>
</p:sld>
</file>

<file path=ppt/slides/slide7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392E5E-3EF2-4416-A884-607FFB2FA03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BC78AF-FFD6-4F0D-9912-9C95F2A8DE98}"/>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34A27824-C1A4-4724-AF78-34C5131CD686}"/>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Yay Ayraç ( )</a:t>
            </a:r>
          </a:p>
        </p:txBody>
      </p:sp>
      <p:sp>
        <p:nvSpPr>
          <p:cNvPr id="4" name="">
            <a:extLst xmlns:a="http://schemas.openxmlformats.org/drawingml/2006/main">
              <a:ext uri="{FF2B5EF4-FFF2-40B4-BE49-F238E27FC236}">
                <a16:creationId xmlns:a16="http://schemas.microsoft.com/office/drawing/2014/main" id="{961A0C83-892F-4B5F-85E4-1BBF964D01EB}"/>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5/5</a:t>
            </a:r>
          </a:p>
        </p:txBody>
      </p:sp>
      <p:sp>
        <p:nvSpPr>
          <p:cNvPr id="5" name="">
            <a:extLst xmlns:a="http://schemas.openxmlformats.org/drawingml/2006/main">
              <a:ext uri="{FF2B5EF4-FFF2-40B4-BE49-F238E27FC236}">
                <a16:creationId xmlns:a16="http://schemas.microsoft.com/office/drawing/2014/main" id="{712E4BD8-6184-485B-A77B-F31B112A8EF8}"/>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72</a:t>
            </a:r>
          </a:p>
        </p:txBody>
      </p:sp>
      <p:sp>
        <p:nvSpPr>
          <p:cNvPr id="6" name="">
            <a:extLst xmlns:a="http://schemas.openxmlformats.org/drawingml/2006/main">
              <a:ext uri="{FF2B5EF4-FFF2-40B4-BE49-F238E27FC236}">
                <a16:creationId xmlns:a16="http://schemas.microsoft.com/office/drawing/2014/main" id="{437AEC38-4638-4F6D-896C-E06014DAAEA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A4980C1-0E7C-489E-9F1F-E95264FA43D0}"/>
              </a:ext>
            </a:extLst>
          </p:cNvPr>
          <p:cNvSpPr>
            <a:spLocks xmlns:a="http://schemas.openxmlformats.org/drawingml/2006/main" noGrp="1"/>
          </p:cNvSpPr>
          <p:nvPr/>
        </p:nvSpPr>
        <p:spPr>
          <a:xfrm xmlns:a="http://schemas.openxmlformats.org/drawingml/2006/main">
            <a:off x="666750" y="1571625"/>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 1) A) a)</a:t>
            </a:r>
          </a:p>
        </p:txBody>
      </p:sp>
      <p:sp>
        <p:nvSpPr>
          <p:cNvPr id="8" name="">
            <a:extLst xmlns:a="http://schemas.openxmlformats.org/drawingml/2006/main">
              <a:ext uri="{FF2B5EF4-FFF2-40B4-BE49-F238E27FC236}">
                <a16:creationId xmlns:a16="http://schemas.microsoft.com/office/drawing/2014/main" id="{5CB263E7-D20C-4F71-89AB-9FB960E5538D}"/>
              </a:ext>
            </a:extLst>
          </p:cNvPr>
          <p:cNvSpPr>
            <a:spLocks xmlns:a="http://schemas.openxmlformats.org/drawingml/2006/main" noGrp="1"/>
          </p:cNvSpPr>
          <p:nvPr/>
        </p:nvSpPr>
        <p:spPr>
          <a:xfrm xmlns:a="http://schemas.openxmlformats.org/drawingml/2006/main">
            <a:off x="666750" y="3986213"/>
            <a:ext cx="10858500" cy="23002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II) 2) B) b)</a:t>
            </a:r>
          </a:p>
        </p:txBody>
      </p:sp>
    </p:spTree>
    <p:extLst>
      <p:ext uri="{BB962C8B-B14F-4D97-AF65-F5344CB8AC3E}">
        <p14:creationId xmlns:p14="http://schemas.microsoft.com/office/powerpoint/2010/main" val="1414162466"/>
      </p:ext>
    </p:extLst>
  </p:cSld>
</p:sld>
</file>

<file path=ppt/slides/slide7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A6E1EF-369A-4DCD-957E-5819BDB7CBC2}"/>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21A244-6A53-43BD-92CA-EE13678A2174}"/>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 ]</a:t>
            </a:r>
          </a:p>
        </p:txBody>
      </p:sp>
      <p:sp>
        <p:nvSpPr>
          <p:cNvPr id="3" name="">
            <a:extLst xmlns:a="http://schemas.openxmlformats.org/drawingml/2006/main">
              <a:ext uri="{FF2B5EF4-FFF2-40B4-BE49-F238E27FC236}">
                <a16:creationId xmlns:a16="http://schemas.microsoft.com/office/drawing/2014/main" id="{ADAEEB76-EFA9-43DA-9F43-43A9A5520C92}"/>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Köşeli Ayraç ( [ ] )</a:t>
            </a:r>
          </a:p>
        </p:txBody>
      </p:sp>
      <p:sp>
        <p:nvSpPr>
          <p:cNvPr id="4" name="">
            <a:extLst xmlns:a="http://schemas.openxmlformats.org/drawingml/2006/main">
              <a:ext uri="{FF2B5EF4-FFF2-40B4-BE49-F238E27FC236}">
                <a16:creationId xmlns:a16="http://schemas.microsoft.com/office/drawing/2014/main" id="{9857EE8F-B6CF-4FAD-8E9C-B794537E09C2}"/>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73</a:t>
            </a:r>
          </a:p>
        </p:txBody>
      </p:sp>
      <p:sp>
        <p:nvSpPr>
          <p:cNvPr id="5" name="">
            <a:extLst xmlns:a="http://schemas.openxmlformats.org/drawingml/2006/main">
              <a:ext uri="{FF2B5EF4-FFF2-40B4-BE49-F238E27FC236}">
                <a16:creationId xmlns:a16="http://schemas.microsoft.com/office/drawing/2014/main" id="{F223D2AC-1B8B-4CC5-A0F7-05D0207E37FC}"/>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6" name="">
            <a:extLst xmlns:a="http://schemas.openxmlformats.org/drawingml/2006/main">
              <a:ext uri="{FF2B5EF4-FFF2-40B4-BE49-F238E27FC236}">
                <a16:creationId xmlns:a16="http://schemas.microsoft.com/office/drawing/2014/main" id="{3E442B47-2254-47DA-8BB1-54D09531EB4D}"/>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Ayraç içinde ayraç kullanılması gereken durumlarda yay ayraçtan önce köşeli ayraç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Halikarnas Balıkçısı [Cevat Şakir Kabaağaçlı (1886-1973)] en güzel eserlerini Bodrum’da yazmıştır.</a:t>
            </a:r>
          </a:p>
        </p:txBody>
      </p:sp>
      <p:sp>
        <p:nvSpPr>
          <p:cNvPr id="7" name="">
            <a:extLst xmlns:a="http://schemas.openxmlformats.org/drawingml/2006/main">
              <a:ext uri="{FF2B5EF4-FFF2-40B4-BE49-F238E27FC236}">
                <a16:creationId xmlns:a16="http://schemas.microsoft.com/office/drawing/2014/main" id="{AD9D8521-DA26-473D-842A-73D6995B1DED}"/>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Metin aktarmalarında, çevirilerde, alıntılarda çalışmayı yapanın eklediği sözler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“Eldem, Osmanlıda en önemli fark[ın], mezar taşının şeklinde ortaya çık[tığını] söyledikten sonra…” (Hilmi Yavuz)</a:t>
            </a:r>
          </a:p>
        </p:txBody>
      </p:sp>
      <p:sp>
        <p:nvSpPr>
          <p:cNvPr id="8" name="">
            <a:extLst xmlns:a="http://schemas.openxmlformats.org/drawingml/2006/main">
              <a:ext uri="{FF2B5EF4-FFF2-40B4-BE49-F238E27FC236}">
                <a16:creationId xmlns:a16="http://schemas.microsoft.com/office/drawing/2014/main" id="{89E83DBB-6D33-4F84-A6F7-E841AE73F23A}"/>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Kaynak olarak verilen kitap veya makalelerin künyelerine ilişkin bazı ayrıntıları göstermek için kullanılır: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Reşat Nuri [Güntekin], Çalıkuşu, Dersaadet, 1922. Server Bedi [Peyami Safa]</a:t>
            </a:r>
          </a:p>
        </p:txBody>
      </p:sp>
    </p:spTree>
    <p:extLst>
      <p:ext uri="{BB962C8B-B14F-4D97-AF65-F5344CB8AC3E}">
        <p14:creationId xmlns:p14="http://schemas.microsoft.com/office/powerpoint/2010/main" val="1037461445"/>
      </p:ext>
    </p:extLst>
  </p:cSld>
</p:sld>
</file>

<file path=ppt/slides/slide7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1ADE36-5FE0-4BAC-BEC4-3DCF7CF7BB0C}"/>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61D198-8BAA-4935-8D81-A3071698EB48}"/>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4F9ABAC1-33EB-4EBF-ACEE-94096A9F478D}"/>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56E86C82-9659-4E66-8A88-45E4B94668E5}"/>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1/12</a:t>
            </a:r>
          </a:p>
        </p:txBody>
      </p:sp>
      <p:sp>
        <p:nvSpPr>
          <p:cNvPr id="5" name="">
            <a:extLst xmlns:a="http://schemas.openxmlformats.org/drawingml/2006/main">
              <a:ext uri="{FF2B5EF4-FFF2-40B4-BE49-F238E27FC236}">
                <a16:creationId xmlns:a16="http://schemas.microsoft.com/office/drawing/2014/main" id="{B6B40715-7140-47FE-B6EF-66A5ED8952FA}"/>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74</a:t>
            </a:r>
          </a:p>
        </p:txBody>
      </p:sp>
      <p:sp>
        <p:nvSpPr>
          <p:cNvPr id="6" name="">
            <a:extLst xmlns:a="http://schemas.openxmlformats.org/drawingml/2006/main">
              <a:ext uri="{FF2B5EF4-FFF2-40B4-BE49-F238E27FC236}">
                <a16:creationId xmlns:a16="http://schemas.microsoft.com/office/drawing/2014/main" id="{2BB45A7B-75B6-4D4F-AF9A-B620C43973F1}"/>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E47254D2-4959-477F-9CE8-D9995F29C85A}"/>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1. Özel adlara getirilen iyelik, durum ve bildirme ekleri kesme işaretiyle ayrılır: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Kurtuluş Savaşı’nı, Atatürk’üm, Türkiye’mizin, Fatih Sultan Mehmet’e, Muhibbi’nin, Gül Baba’ya, Sultan Ana’nın, Mehmet Emin Yurdakul’dan, Kâzım Karabekir’i, Yunus Emre’yi, Ziya Gökalp’tan, Refik Halit Karay’mış, Ahmet Cevat Emre’dir, Namık Kemal’se, Şinasi’yle, Alman’sınız, Kırgız’ım, Karakeçili’nin, Osmanlı Devleti’ndeki, Cebrail’den, Çanakkale Boğazı’nın, Samanyolu’nda, Sait Halim Paşa Yalısı’ndan, Resmî Gazete’de, Millî Eğitim Temel Kanunu’na, Telif Hakkı Yayın ve Satış Yönetmeliği’ni, Eski Çağ’ın, Yükselme Dönemi’nin, Cumhuriyet Dönemi Türk Edebiyatı’na vb.</a:t>
            </a:r>
          </a:p>
        </p:txBody>
      </p:sp>
    </p:spTree>
    <p:extLst>
      <p:ext uri="{BB962C8B-B14F-4D97-AF65-F5344CB8AC3E}">
        <p14:creationId xmlns:p14="http://schemas.microsoft.com/office/powerpoint/2010/main" val="1653114901"/>
      </p:ext>
    </p:extLst>
  </p:cSld>
</p:sld>
</file>

<file path=ppt/slides/slide7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956C95-A321-412D-9592-B19B60C8D98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0F74AC-5CD6-45D3-8B17-AFDBF65BF9F0}"/>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490F5939-5F5A-4625-8DE0-7E3055FA98A1}"/>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6802F9FA-1F5D-4087-9C13-4F36D33C50A4}"/>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2/12</a:t>
            </a:r>
          </a:p>
        </p:txBody>
      </p:sp>
      <p:sp>
        <p:nvSpPr>
          <p:cNvPr id="5" name="">
            <a:extLst xmlns:a="http://schemas.openxmlformats.org/drawingml/2006/main">
              <a:ext uri="{FF2B5EF4-FFF2-40B4-BE49-F238E27FC236}">
                <a16:creationId xmlns:a16="http://schemas.microsoft.com/office/drawing/2014/main" id="{CE1F0291-9E25-4E77-8F2C-8ACC748AE289}"/>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75</a:t>
            </a:r>
          </a:p>
        </p:txBody>
      </p:sp>
      <p:sp>
        <p:nvSpPr>
          <p:cNvPr id="6" name="">
            <a:extLst xmlns:a="http://schemas.openxmlformats.org/drawingml/2006/main">
              <a:ext uri="{FF2B5EF4-FFF2-40B4-BE49-F238E27FC236}">
                <a16:creationId xmlns:a16="http://schemas.microsoft.com/office/drawing/2014/main" id="{C4F5EC93-8E53-4EFA-B71E-B08CC2186179}"/>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BF77A21-E3A8-425A-AEB2-643E4E3BD97E}"/>
              </a:ext>
            </a:extLst>
          </p:cNvPr>
          <p:cNvSpPr>
            <a:spLocks xmlns:a="http://schemas.openxmlformats.org/drawingml/2006/main" noGrp="1"/>
          </p:cNvSpPr>
          <p:nvPr/>
        </p:nvSpPr>
        <p:spPr>
          <a:xfrm xmlns:a="http://schemas.openxmlformats.org/drawingml/2006/main">
            <a:off x="666750" y="1571625"/>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“Onun için Batı’da bunlara birer fonksiyon buluyorlar.” (Burhan Felek)</a:t>
            </a:r>
          </a:p>
        </p:txBody>
      </p:sp>
      <p:sp>
        <p:nvSpPr>
          <p:cNvPr id="8" name="">
            <a:extLst xmlns:a="http://schemas.openxmlformats.org/drawingml/2006/main">
              <a:ext uri="{FF2B5EF4-FFF2-40B4-BE49-F238E27FC236}">
                <a16:creationId xmlns:a16="http://schemas.microsoft.com/office/drawing/2014/main" id="{8D0D05EF-39AC-4DE5-A508-0271C5CF8A3F}"/>
              </a:ext>
            </a:extLst>
          </p:cNvPr>
          <p:cNvSpPr>
            <a:spLocks xmlns:a="http://schemas.openxmlformats.org/drawingml/2006/main" noGrp="1"/>
          </p:cNvSpPr>
          <p:nvPr/>
        </p:nvSpPr>
        <p:spPr>
          <a:xfrm xmlns:a="http://schemas.openxmlformats.org/drawingml/2006/main">
            <a:off x="666750" y="2807494"/>
            <a:ext cx="10858500" cy="1121569"/>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1919 senesi Mayıs’ının 19’uncu günü Samsun’a çıktım. (Atatürk)</a:t>
            </a:r>
          </a:p>
        </p:txBody>
      </p:sp>
      <p:sp>
        <p:nvSpPr>
          <p:cNvPr id="9" name="">
            <a:extLst xmlns:a="http://schemas.openxmlformats.org/drawingml/2006/main">
              <a:ext uri="{FF2B5EF4-FFF2-40B4-BE49-F238E27FC236}">
                <a16:creationId xmlns:a16="http://schemas.microsoft.com/office/drawing/2014/main" id="{F32D77CC-4E01-4355-B078-B381FD71ECCF}"/>
              </a:ext>
            </a:extLst>
          </p:cNvPr>
          <p:cNvSpPr>
            <a:spLocks xmlns:a="http://schemas.openxmlformats.org/drawingml/2006/main" noGrp="1"/>
          </p:cNvSpPr>
          <p:nvPr/>
        </p:nvSpPr>
        <p:spPr>
          <a:xfrm xmlns:a="http://schemas.openxmlformats.org/drawingml/2006/main">
            <a:off x="666750" y="4043363"/>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Yer bildiren özel isimlerde kısaltmalı söyleyiş söz konusu olduğu zaman ekten önce kesme işareti kullanılır: Hisar’dan, Boğaz’dan vb.</a:t>
            </a:r>
          </a:p>
        </p:txBody>
      </p:sp>
    </p:spTree>
    <p:extLst>
      <p:ext uri="{BB962C8B-B14F-4D97-AF65-F5344CB8AC3E}">
        <p14:creationId xmlns:p14="http://schemas.microsoft.com/office/powerpoint/2010/main" val="757094372"/>
      </p:ext>
    </p:extLst>
  </p:cSld>
</p:sld>
</file>

<file path=ppt/slides/slide7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A6DCE8-5605-4BEA-8284-938D3D4A556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B5A9CD-BD8C-499E-B563-73BF7AD8CCD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63064865-F353-434F-AEC8-C16BA6B9C9EC}"/>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42813803-2842-4978-A2FC-B217A255CC09}"/>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3/12</a:t>
            </a:r>
          </a:p>
        </p:txBody>
      </p:sp>
      <p:sp>
        <p:nvSpPr>
          <p:cNvPr id="5" name="">
            <a:extLst xmlns:a="http://schemas.openxmlformats.org/drawingml/2006/main">
              <a:ext uri="{FF2B5EF4-FFF2-40B4-BE49-F238E27FC236}">
                <a16:creationId xmlns:a16="http://schemas.microsoft.com/office/drawing/2014/main" id="{B4918562-E3F3-4BD2-A796-FF22799DADD0}"/>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76</a:t>
            </a:r>
          </a:p>
        </p:txBody>
      </p:sp>
      <p:sp>
        <p:nvSpPr>
          <p:cNvPr id="6" name="">
            <a:extLst xmlns:a="http://schemas.openxmlformats.org/drawingml/2006/main">
              <a:ext uri="{FF2B5EF4-FFF2-40B4-BE49-F238E27FC236}">
                <a16:creationId xmlns:a16="http://schemas.microsoft.com/office/drawing/2014/main" id="{228D4917-08B5-48F3-8F45-AC35DB54BC5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119D7A5-AB46-4A8E-A311-58155810BD74}"/>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Belli bir kanun, tüzük, yönetmelik kastedildiğinde büyük harfle yazılan kanun, tüzük, yönetmelik sözlerinin ek alması durumunda kesme işareti kullanılır: Bu Kanun’un 17. maddesinin c bendi… Yukarıda adı geçen Yönetmelik’in 2’nci maddesine göre… vb.</a:t>
            </a:r>
          </a:p>
        </p:txBody>
      </p:sp>
      <p:sp>
        <p:nvSpPr>
          <p:cNvPr id="8" name="">
            <a:extLst xmlns:a="http://schemas.openxmlformats.org/drawingml/2006/main">
              <a:ext uri="{FF2B5EF4-FFF2-40B4-BE49-F238E27FC236}">
                <a16:creationId xmlns:a16="http://schemas.microsoft.com/office/drawing/2014/main" id="{B350D362-0C75-4059-BF71-757D0C51D7ED}"/>
              </a:ext>
            </a:extLst>
          </p:cNvPr>
          <p:cNvSpPr>
            <a:spLocks xmlns:a="http://schemas.openxmlformats.org/drawingml/2006/main" noGrp="1"/>
          </p:cNvSpPr>
          <p:nvPr/>
        </p:nvSpPr>
        <p:spPr>
          <a:xfrm xmlns:a="http://schemas.openxmlformats.org/drawingml/2006/main">
            <a:off x="666750" y="3929063"/>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Özel adlar için yay ayraç içinde bir açıklama yapıldığında kesme işareti yay ayraçtan önce kullanılır: Yunus Emre’nin (1240?-1320), Yakup Kadri’nin (Karaosmanoğlu) vb.</a:t>
            </a:r>
          </a:p>
        </p:txBody>
      </p:sp>
      <p:sp>
        <p:nvSpPr>
          <p:cNvPr id="9" name="">
            <a:extLst xmlns:a="http://schemas.openxmlformats.org/drawingml/2006/main">
              <a:ext uri="{FF2B5EF4-FFF2-40B4-BE49-F238E27FC236}">
                <a16:creationId xmlns:a16="http://schemas.microsoft.com/office/drawing/2014/main" id="{9EE0FD55-8D38-4106-9C82-4E49A213B43D}"/>
              </a:ext>
            </a:extLst>
          </p:cNvPr>
          <p:cNvSpPr>
            <a:spLocks xmlns:a="http://schemas.openxmlformats.org/drawingml/2006/main" noGrp="1"/>
          </p:cNvSpPr>
          <p:nvPr/>
        </p:nvSpPr>
        <p:spPr>
          <a:xfrm xmlns:a="http://schemas.openxmlformats.org/drawingml/2006/main">
            <a:off x="666750" y="5538788"/>
            <a:ext cx="10858500" cy="74771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Ek getirildiğinde Avrupa Birliği kesme işareti ile kullanılır: Avrupa Birliği’ne üye ülkeler…</a:t>
            </a:r>
          </a:p>
        </p:txBody>
      </p:sp>
    </p:spTree>
    <p:extLst>
      <p:ext uri="{BB962C8B-B14F-4D97-AF65-F5344CB8AC3E}">
        <p14:creationId xmlns:p14="http://schemas.microsoft.com/office/powerpoint/2010/main" val="1139252504"/>
      </p:ext>
    </p:extLst>
  </p:cSld>
</p:sld>
</file>

<file path=ppt/slides/slide7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172A1B-0E5E-4F62-B346-5405CE0F809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BEFA32-C7A5-4E2E-BEA6-6DDFFCAA4A0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82A51B0F-C138-488D-89D1-E63DE805A707}"/>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CE4C1618-E7E2-4DBC-B55E-D86835682664}"/>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4/12</a:t>
            </a:r>
          </a:p>
        </p:txBody>
      </p:sp>
      <p:sp>
        <p:nvSpPr>
          <p:cNvPr id="5" name="">
            <a:extLst xmlns:a="http://schemas.openxmlformats.org/drawingml/2006/main">
              <a:ext uri="{FF2B5EF4-FFF2-40B4-BE49-F238E27FC236}">
                <a16:creationId xmlns:a16="http://schemas.microsoft.com/office/drawing/2014/main" id="{AF2B8DFB-1F88-468E-92EC-590A35B6BB5F}"/>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77</a:t>
            </a:r>
          </a:p>
        </p:txBody>
      </p:sp>
      <p:sp>
        <p:nvSpPr>
          <p:cNvPr id="6" name="">
            <a:extLst xmlns:a="http://schemas.openxmlformats.org/drawingml/2006/main">
              <a:ext uri="{FF2B5EF4-FFF2-40B4-BE49-F238E27FC236}">
                <a16:creationId xmlns:a16="http://schemas.microsoft.com/office/drawing/2014/main" id="{FA0D1777-3263-49C1-9E2A-C69E18AAA36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D506DD40-ED6F-4DA8-8D5A-4E855CF72128}"/>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Sonunda 3. teklik kişi iyelik eki olan özel ada, bu ek dışında başka bir iyelik eki getirildiğinde kesme işareti konmaz: Boğaz Köprümüzün güzelliği, Amik Ovamızın bitki örtüsü, Kuşadamızdaki liman vb.</a:t>
            </a:r>
          </a:p>
        </p:txBody>
      </p:sp>
    </p:spTree>
    <p:extLst>
      <p:ext uri="{BB962C8B-B14F-4D97-AF65-F5344CB8AC3E}">
        <p14:creationId xmlns:p14="http://schemas.microsoft.com/office/powerpoint/2010/main" val="1317650239"/>
      </p:ext>
    </p:extLst>
  </p:cSld>
</p:sld>
</file>

<file path=ppt/slides/slide7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881ECF-7C05-4E3E-B8ED-6C9F60595E85}"/>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98AA7C-A9B6-4390-A85E-D46771BA99F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6597DC75-BBEC-4CE3-A8FF-76E8564C8045}"/>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08B623CB-E507-48D4-9E44-C8A8E25F20C8}"/>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5/12</a:t>
            </a:r>
          </a:p>
        </p:txBody>
      </p:sp>
      <p:sp>
        <p:nvSpPr>
          <p:cNvPr id="5" name="">
            <a:extLst xmlns:a="http://schemas.openxmlformats.org/drawingml/2006/main">
              <a:ext uri="{FF2B5EF4-FFF2-40B4-BE49-F238E27FC236}">
                <a16:creationId xmlns:a16="http://schemas.microsoft.com/office/drawing/2014/main" id="{1A1A03A8-C16E-44E2-82D6-D75D6DB706D9}"/>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78</a:t>
            </a:r>
          </a:p>
        </p:txBody>
      </p:sp>
      <p:sp>
        <p:nvSpPr>
          <p:cNvPr id="6" name="">
            <a:extLst xmlns:a="http://schemas.openxmlformats.org/drawingml/2006/main">
              <a:ext uri="{FF2B5EF4-FFF2-40B4-BE49-F238E27FC236}">
                <a16:creationId xmlns:a16="http://schemas.microsoft.com/office/drawing/2014/main" id="{005CC10F-D780-4482-97CF-A7383DA5EFCF}"/>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6719C79-CCF4-4FAF-B1C5-EFBC6587725C}"/>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Kurum, kuruluş, kurul, birleşim, oturum ve iş yeri adlarına gelen ekler kesmeyle ayrılmaz: Türkiye Büyük Millet Meclisine, Türk Dil Kurumundan, Türkiye Petrolleri Anonim Ortaklığına, Türk Dili ve Edebiyatı Bölümü Başkanlığının; Bakanlar Kurulunun, Danışma Kurulundan, Yürütme Kuruluna; Türkiye Büyük Millet Meclisinin 112’nci Birleşiminin 2’nci Oturumunda; Mavi Köşe Bakkaliyesinden vb.</a:t>
            </a:r>
          </a:p>
        </p:txBody>
      </p:sp>
    </p:spTree>
    <p:extLst>
      <p:ext uri="{BB962C8B-B14F-4D97-AF65-F5344CB8AC3E}">
        <p14:creationId xmlns:p14="http://schemas.microsoft.com/office/powerpoint/2010/main" val="1815505857"/>
      </p:ext>
    </p:extLst>
  </p:cSld>
</p:sld>
</file>

<file path=ppt/slides/slide7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570D35-AFE3-40E9-B152-468F899CD31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0A9616-83F1-49E8-8442-FA837986A1A8}"/>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D6DAFB9A-1E30-44DC-B93F-CE84E3CC80F4}"/>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4F507472-54BE-4411-956E-0441D6585009}"/>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6/12</a:t>
            </a:r>
          </a:p>
        </p:txBody>
      </p:sp>
      <p:sp>
        <p:nvSpPr>
          <p:cNvPr id="5" name="">
            <a:extLst xmlns:a="http://schemas.openxmlformats.org/drawingml/2006/main">
              <a:ext uri="{FF2B5EF4-FFF2-40B4-BE49-F238E27FC236}">
                <a16:creationId xmlns:a16="http://schemas.microsoft.com/office/drawing/2014/main" id="{C5C6749E-5D1E-4322-AD70-1E212FC7C766}"/>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79</a:t>
            </a:r>
          </a:p>
        </p:txBody>
      </p:sp>
      <p:sp>
        <p:nvSpPr>
          <p:cNvPr id="6" name="">
            <a:extLst xmlns:a="http://schemas.openxmlformats.org/drawingml/2006/main">
              <a:ext uri="{FF2B5EF4-FFF2-40B4-BE49-F238E27FC236}">
                <a16:creationId xmlns:a16="http://schemas.microsoft.com/office/drawing/2014/main" id="{4D91E76E-F523-432E-9924-E728B297E4D0}"/>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0F792E01-1FF4-468B-BDDC-71ED411B893F}"/>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Başbakanlık, Rektörlük vb. sözler ünlüyle başlayan bir ek geldiğinde Başbakanlığa, Rektörlüğe vb. biçimlerde yazılır.</a:t>
            </a:r>
          </a:p>
        </p:txBody>
      </p:sp>
    </p:spTree>
    <p:extLst>
      <p:ext uri="{BB962C8B-B14F-4D97-AF65-F5344CB8AC3E}">
        <p14:creationId xmlns:p14="http://schemas.microsoft.com/office/powerpoint/2010/main" val="1566864638"/>
      </p:ext>
    </p:extLst>
  </p:cSld>
</p:sld>
</file>

<file path=ppt/slides/slide8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CA1B95-AD84-4A4D-A62F-5ECA2470990B}"/>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EE9EF6-A964-46DC-BB5A-4015EB6916F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06F23AA1-F8AC-40F3-957E-B5A62AA58CA1}"/>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DE7E5AD4-BF72-49B6-B8E0-2D1DCF6E822F}"/>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7/12</a:t>
            </a:r>
          </a:p>
        </p:txBody>
      </p:sp>
      <p:sp>
        <p:nvSpPr>
          <p:cNvPr id="5" name="">
            <a:extLst xmlns:a="http://schemas.openxmlformats.org/drawingml/2006/main">
              <a:ext uri="{FF2B5EF4-FFF2-40B4-BE49-F238E27FC236}">
                <a16:creationId xmlns:a16="http://schemas.microsoft.com/office/drawing/2014/main" id="{C144559C-E69A-464F-8FF8-DDCD1CE4C39A}"/>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80</a:t>
            </a:r>
          </a:p>
        </p:txBody>
      </p:sp>
      <p:sp>
        <p:nvSpPr>
          <p:cNvPr id="6" name="">
            <a:extLst xmlns:a="http://schemas.openxmlformats.org/drawingml/2006/main">
              <a:ext uri="{FF2B5EF4-FFF2-40B4-BE49-F238E27FC236}">
                <a16:creationId xmlns:a16="http://schemas.microsoft.com/office/drawing/2014/main" id="{7AE3AA4D-B90C-41BF-979C-AAC7FC35CA38}"/>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99E8A22-5751-41B4-AAAF-82D9541D6927}"/>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Özel adlara getirilen yapım ekleri, çokluk eki ve bunlardan sonra gelen diğer ekler kesmeyle ayrılmaz: Türklük, Türkleşmek, Türkçü, Türkçülük, Türkçe, Müslümanlık, Hristiyanlık, Avrupalı, Avrupalılaşmak, Aydınlı, Konyalı, Bursalı, Ahmetler, Mehmetler, Yakup Kadriler, Türklerin, Türklüğün, Türkleşmekte, Türkçenin, Müslümanlıkta, Hollandalıdan, Hristiyanlıktan, Atatürkçülüğün vb.</a:t>
            </a:r>
          </a:p>
        </p:txBody>
      </p:sp>
    </p:spTree>
    <p:extLst>
      <p:ext uri="{BB962C8B-B14F-4D97-AF65-F5344CB8AC3E}">
        <p14:creationId xmlns:p14="http://schemas.microsoft.com/office/powerpoint/2010/main" val="1173817604"/>
      </p:ext>
    </p:extLst>
  </p:cSld>
</p:sld>
</file>

<file path=ppt/slides/slide8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C4A3D0-D63D-41B6-8BA7-8F4A28C0C026}"/>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CF1779-E57E-4082-9246-8B47088BB2CE}"/>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3A29DEC6-31E8-40BE-9DCA-7ABFD6C75DCA}"/>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18012D5B-BFF2-43CB-A3B4-A22FB8DB9871}"/>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8/12</a:t>
            </a:r>
          </a:p>
        </p:txBody>
      </p:sp>
      <p:sp>
        <p:nvSpPr>
          <p:cNvPr id="5" name="">
            <a:extLst xmlns:a="http://schemas.openxmlformats.org/drawingml/2006/main">
              <a:ext uri="{FF2B5EF4-FFF2-40B4-BE49-F238E27FC236}">
                <a16:creationId xmlns:a16="http://schemas.microsoft.com/office/drawing/2014/main" id="{E1D51A8C-0F54-4E8A-8E3B-49B6B23B8CFC}"/>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81</a:t>
            </a:r>
          </a:p>
        </p:txBody>
      </p:sp>
      <p:sp>
        <p:nvSpPr>
          <p:cNvPr id="6" name="">
            <a:extLst xmlns:a="http://schemas.openxmlformats.org/drawingml/2006/main">
              <a:ext uri="{FF2B5EF4-FFF2-40B4-BE49-F238E27FC236}">
                <a16:creationId xmlns:a16="http://schemas.microsoft.com/office/drawing/2014/main" id="{2817DF12-8B96-4440-91C3-B900A6C7505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754E14F0-223B-426E-8B55-74B1CF85530F}"/>
              </a:ext>
            </a:extLst>
          </p:cNvPr>
          <p:cNvSpPr>
            <a:spLocks xmlns:a="http://schemas.openxmlformats.org/drawingml/2006/main" noGrp="1"/>
          </p:cNvSpPr>
          <p:nvPr/>
        </p:nvSpPr>
        <p:spPr>
          <a:xfrm xmlns:a="http://schemas.openxmlformats.org/drawingml/2006/main">
            <a:off x="666750" y="1571625"/>
            <a:ext cx="10858500" cy="4714875"/>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Sonunda p, ç, t, k ünsüzlerinden biri bulunan Ahmet, Çelik, Halit, Şahap; Bosna-Hersek; Kerkük, Sinop, Tokat, Zonguldak gibi özel adlara ünlüyle başlayan ek getirildiğinde kesme işaretine rağmen Ahmedi, Halidi, Şahabı; Bosna-Herseği; Kerküğü, Sinobu, Tokadı, Zonguldağı biçiminde son ses yumuşatılarak söylenir.</a:t>
            </a:r>
          </a:p>
        </p:txBody>
      </p:sp>
    </p:spTree>
    <p:extLst>
      <p:ext uri="{BB962C8B-B14F-4D97-AF65-F5344CB8AC3E}">
        <p14:creationId xmlns:p14="http://schemas.microsoft.com/office/powerpoint/2010/main" val="500483099"/>
      </p:ext>
    </p:extLst>
  </p:cSld>
</p:sld>
</file>

<file path=ppt/slides/slide8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13F78A-E97E-41C3-8CD6-5BEBAB1DCD97}"/>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4526FF-0BC8-4D94-8D02-1BF2DBF76096}"/>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EAF30498-B467-4A9E-8ED0-32BE9A1DC9D6}"/>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4C198B0C-01E7-4550-B2A9-A2A4A9C65A6C}"/>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9/12</a:t>
            </a:r>
          </a:p>
        </p:txBody>
      </p:sp>
      <p:sp>
        <p:nvSpPr>
          <p:cNvPr id="5" name="">
            <a:extLst xmlns:a="http://schemas.openxmlformats.org/drawingml/2006/main">
              <a:ext uri="{FF2B5EF4-FFF2-40B4-BE49-F238E27FC236}">
                <a16:creationId xmlns:a16="http://schemas.microsoft.com/office/drawing/2014/main" id="{A266DFFB-A751-4B39-A4B8-12CF5E17D807}"/>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82</a:t>
            </a:r>
          </a:p>
        </p:txBody>
      </p:sp>
      <p:sp>
        <p:nvSpPr>
          <p:cNvPr id="6" name="">
            <a:extLst xmlns:a="http://schemas.openxmlformats.org/drawingml/2006/main">
              <a:ext uri="{FF2B5EF4-FFF2-40B4-BE49-F238E27FC236}">
                <a16:creationId xmlns:a16="http://schemas.microsoft.com/office/drawing/2014/main" id="{7AA57D8F-9BFF-4995-AA69-B783F0731FA6}"/>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F133873F-B0D9-45D3-92AD-CEC58C1453A9}"/>
              </a:ext>
            </a:extLst>
          </p:cNvPr>
          <p:cNvSpPr>
            <a:spLocks xmlns:a="http://schemas.openxmlformats.org/drawingml/2006/main" noGrp="1"/>
          </p:cNvSpPr>
          <p:nvPr/>
        </p:nvSpPr>
        <p:spPr>
          <a:xfrm xmlns:a="http://schemas.openxmlformats.org/drawingml/2006/main">
            <a:off x="666750" y="1571625"/>
            <a:ext cx="10858500" cy="2243138"/>
          </a:xfrm>
          <a:prstGeom xmlns:a="http://schemas.openxmlformats.org/drawingml/2006/main" prst="rect">
            <a:avLst/>
          </a:prstGeom>
          <a:solidFill xmlns:a="http://schemas.openxmlformats.org/drawingml/2006/main">
            <a:srgbClr val="FCE9E3"/>
          </a:solidFill>
          <a:ln xmlns:a="http://schemas.openxmlformats.org/drawingml/2006/main" w="14288">
            <a:solidFill>
              <a:srgbClr val="E76F51"/>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UYARI: Özel adlar yerine kullanılan “o” zamiri cümle içinde büyük harfle yazılmaz ve kendisinden sonra gelen ekler kesme işaretiyle ayrılmaz.</a:t>
            </a:r>
          </a:p>
        </p:txBody>
      </p:sp>
      <p:sp>
        <p:nvSpPr>
          <p:cNvPr id="8" name="">
            <a:extLst xmlns:a="http://schemas.openxmlformats.org/drawingml/2006/main">
              <a:ext uri="{FF2B5EF4-FFF2-40B4-BE49-F238E27FC236}">
                <a16:creationId xmlns:a16="http://schemas.microsoft.com/office/drawing/2014/main" id="{41331036-8AB0-4AD8-9D62-9EE17AAE90C0}"/>
              </a:ext>
            </a:extLst>
          </p:cNvPr>
          <p:cNvSpPr>
            <a:spLocks xmlns:a="http://schemas.openxmlformats.org/drawingml/2006/main" noGrp="1"/>
          </p:cNvSpPr>
          <p:nvPr/>
        </p:nvSpPr>
        <p:spPr>
          <a:xfrm xmlns:a="http://schemas.openxmlformats.org/drawingml/2006/main">
            <a:off x="666750" y="3929063"/>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2. Kişi adlarından sonra gelen saygı ve ünvan sözlerine getirilen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Nihat Bey’e, Ayşe Hanım’dan, Mahmut Efendi’ye, Enver Paşa’ya; Türk Dil Kurumu Başkanı’na vb.</a:t>
            </a:r>
          </a:p>
        </p:txBody>
      </p:sp>
      <p:sp>
        <p:nvSpPr>
          <p:cNvPr id="9" name="">
            <a:extLst xmlns:a="http://schemas.openxmlformats.org/drawingml/2006/main">
              <a:ext uri="{FF2B5EF4-FFF2-40B4-BE49-F238E27FC236}">
                <a16:creationId xmlns:a16="http://schemas.microsoft.com/office/drawing/2014/main" id="{390445B7-A1EB-4947-96B7-65AB2719D584}"/>
              </a:ext>
            </a:extLst>
          </p:cNvPr>
          <p:cNvSpPr>
            <a:spLocks xmlns:a="http://schemas.openxmlformats.org/drawingml/2006/main" noGrp="1"/>
          </p:cNvSpPr>
          <p:nvPr/>
        </p:nvSpPr>
        <p:spPr>
          <a:xfrm xmlns:a="http://schemas.openxmlformats.org/drawingml/2006/main">
            <a:off x="666750" y="5538788"/>
            <a:ext cx="10858500" cy="74771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3. Kısaltmalara getirilen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TBMM’nin, TDK’nin, BM’de, ABD’de, TV’ye vb.</a:t>
            </a:r>
          </a:p>
        </p:txBody>
      </p:sp>
    </p:spTree>
    <p:extLst>
      <p:ext uri="{BB962C8B-B14F-4D97-AF65-F5344CB8AC3E}">
        <p14:creationId xmlns:p14="http://schemas.microsoft.com/office/powerpoint/2010/main" val="679119328"/>
      </p:ext>
    </p:extLst>
  </p:cSld>
</p:sld>
</file>

<file path=ppt/slides/slide8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753862-3BEF-481A-BDA7-F7EC165E0BB1}"/>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FD13DD-F060-4040-8763-DDFD5389D847}"/>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DAAA8802-8D9C-43ED-8ACA-8CFF6AA8343C}"/>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598CCC7D-2B9B-487D-8B9A-B0E2F5AAC938}"/>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10/12</a:t>
            </a:r>
          </a:p>
        </p:txBody>
      </p:sp>
      <p:sp>
        <p:nvSpPr>
          <p:cNvPr id="5" name="">
            <a:extLst xmlns:a="http://schemas.openxmlformats.org/drawingml/2006/main">
              <a:ext uri="{FF2B5EF4-FFF2-40B4-BE49-F238E27FC236}">
                <a16:creationId xmlns:a16="http://schemas.microsoft.com/office/drawing/2014/main" id="{3856475A-7385-4A54-9392-D16B27F167E7}"/>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83</a:t>
            </a:r>
          </a:p>
        </p:txBody>
      </p:sp>
      <p:sp>
        <p:nvSpPr>
          <p:cNvPr id="6" name="">
            <a:extLst xmlns:a="http://schemas.openxmlformats.org/drawingml/2006/main">
              <a:ext uri="{FF2B5EF4-FFF2-40B4-BE49-F238E27FC236}">
                <a16:creationId xmlns:a16="http://schemas.microsoft.com/office/drawing/2014/main" id="{930B808A-D83A-4B2C-AC8F-578663C023AD}"/>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49D0449-E126-4FC6-8A43-8CF6E28BBD31}"/>
              </a:ext>
            </a:extLst>
          </p:cNvPr>
          <p:cNvSpPr>
            <a:spLocks xmlns:a="http://schemas.openxmlformats.org/drawingml/2006/main" noGrp="1"/>
          </p:cNvSpPr>
          <p:nvPr/>
        </p:nvSpPr>
        <p:spPr>
          <a:xfrm xmlns:a="http://schemas.openxmlformats.org/drawingml/2006/main">
            <a:off x="666750" y="157162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4. Sayılara getirilen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1985’te, 8’inci madde, 2’nci kat; 7,65’lik, 9,65’lik, 657’yle vb.</a:t>
            </a:r>
          </a:p>
        </p:txBody>
      </p:sp>
      <p:sp>
        <p:nvSpPr>
          <p:cNvPr id="8" name="">
            <a:extLst xmlns:a="http://schemas.openxmlformats.org/drawingml/2006/main">
              <a:ext uri="{FF2B5EF4-FFF2-40B4-BE49-F238E27FC236}">
                <a16:creationId xmlns:a16="http://schemas.microsoft.com/office/drawing/2014/main" id="{585A827F-19BF-438E-BECE-72DD18701749}"/>
              </a:ext>
            </a:extLst>
          </p:cNvPr>
          <p:cNvSpPr>
            <a:spLocks xmlns:a="http://schemas.openxmlformats.org/drawingml/2006/main" noGrp="1"/>
          </p:cNvSpPr>
          <p:nvPr/>
        </p:nvSpPr>
        <p:spPr>
          <a:xfrm xmlns:a="http://schemas.openxmlformats.org/drawingml/2006/main">
            <a:off x="666750" y="2414588"/>
            <a:ext cx="10858500" cy="2185988"/>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5. Belirli bir tarih bildiren ay ve gün adlarına gelen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Başvurular 17 Aralık’a kadar sürecektir. Yabancı Sözlere Karşılıklar Kılavuzu’nun veri tabanının genel ağda hizmete sunulduğu gün olan 12 Temmuz 2010 Pazartesi’nin TDK için önemi büyüktür.</a:t>
            </a:r>
          </a:p>
        </p:txBody>
      </p:sp>
      <p:sp>
        <p:nvSpPr>
          <p:cNvPr id="9" name="">
            <a:extLst xmlns:a="http://schemas.openxmlformats.org/drawingml/2006/main">
              <a:ext uri="{FF2B5EF4-FFF2-40B4-BE49-F238E27FC236}">
                <a16:creationId xmlns:a16="http://schemas.microsoft.com/office/drawing/2014/main" id="{F1CD9EB1-0339-43A7-B71A-994CFAAA172B}"/>
              </a:ext>
            </a:extLst>
          </p:cNvPr>
          <p:cNvSpPr>
            <a:spLocks xmlns:a="http://schemas.openxmlformats.org/drawingml/2006/main" noGrp="1"/>
          </p:cNvSpPr>
          <p:nvPr/>
        </p:nvSpPr>
        <p:spPr>
          <a:xfrm xmlns:a="http://schemas.openxmlformats.org/drawingml/2006/main">
            <a:off x="666750" y="4714875"/>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6. Seslerin ölçü ve söyleyiş gereği düştüğünü göstermek için kullanılır:</a:t>
            </a:r>
          </a:p>
        </p:txBody>
      </p:sp>
      <p:sp>
        <p:nvSpPr>
          <p:cNvPr id="10" name="">
            <a:extLst xmlns:a="http://schemas.openxmlformats.org/drawingml/2006/main">
              <a:ext uri="{FF2B5EF4-FFF2-40B4-BE49-F238E27FC236}">
                <a16:creationId xmlns:a16="http://schemas.microsoft.com/office/drawing/2014/main" id="{65735D3D-86A1-4759-A358-4CF058CECE77}"/>
              </a:ext>
            </a:extLst>
          </p:cNvPr>
          <p:cNvSpPr>
            <a:spLocks xmlns:a="http://schemas.openxmlformats.org/drawingml/2006/main" noGrp="1"/>
          </p:cNvSpPr>
          <p:nvPr/>
        </p:nvSpPr>
        <p:spPr>
          <a:xfrm xmlns:a="http://schemas.openxmlformats.org/drawingml/2006/main">
            <a:off x="666750" y="5557838"/>
            <a:ext cx="10858500" cy="728663"/>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Bir ok attım karlı dağın ardına</a:t>
            </a:r>
          </a:p>
        </p:txBody>
      </p:sp>
    </p:spTree>
    <p:extLst>
      <p:ext uri="{BB962C8B-B14F-4D97-AF65-F5344CB8AC3E}">
        <p14:creationId xmlns:p14="http://schemas.microsoft.com/office/powerpoint/2010/main" val="1704709791"/>
      </p:ext>
    </p:extLst>
  </p:cSld>
</p:sld>
</file>

<file path=ppt/slides/slide8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031342-9344-48BB-A95A-2D599205CDCF}"/>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6BBD59-68CE-4AA4-BA65-F9EB24CFCC0C}"/>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8B65B69D-1EA6-49F7-A3EA-D3C4FFBA5F7C}"/>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8605272F-6286-439A-80CB-BD648680F5BD}"/>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11/12</a:t>
            </a:r>
          </a:p>
        </p:txBody>
      </p:sp>
      <p:sp>
        <p:nvSpPr>
          <p:cNvPr id="5" name="">
            <a:extLst xmlns:a="http://schemas.openxmlformats.org/drawingml/2006/main">
              <a:ext uri="{FF2B5EF4-FFF2-40B4-BE49-F238E27FC236}">
                <a16:creationId xmlns:a16="http://schemas.microsoft.com/office/drawing/2014/main" id="{C5FB0A15-7FCF-4417-9420-68473755AED9}"/>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84</a:t>
            </a:r>
          </a:p>
        </p:txBody>
      </p:sp>
      <p:sp>
        <p:nvSpPr>
          <p:cNvPr id="6" name="">
            <a:extLst xmlns:a="http://schemas.openxmlformats.org/drawingml/2006/main">
              <a:ext uri="{FF2B5EF4-FFF2-40B4-BE49-F238E27FC236}">
                <a16:creationId xmlns:a16="http://schemas.microsoft.com/office/drawing/2014/main" id="{E63F10EA-AE6B-40C9-BC44-4AE9C510355E}"/>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AC4D2178-2D0C-405F-A2E4-E7FBF6C2BBF2}"/>
              </a:ext>
            </a:extLst>
          </p:cNvPr>
          <p:cNvSpPr>
            <a:spLocks xmlns:a="http://schemas.openxmlformats.org/drawingml/2006/main" noGrp="1"/>
          </p:cNvSpPr>
          <p:nvPr/>
        </p:nvSpPr>
        <p:spPr>
          <a:xfrm xmlns:a="http://schemas.openxmlformats.org/drawingml/2006/main">
            <a:off x="666750" y="1571625"/>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Düştü m’ola sevdiğimin yurduna</a:t>
            </a:r>
          </a:p>
        </p:txBody>
      </p:sp>
      <p:sp>
        <p:nvSpPr>
          <p:cNvPr id="8" name="">
            <a:extLst xmlns:a="http://schemas.openxmlformats.org/drawingml/2006/main">
              <a:ext uri="{FF2B5EF4-FFF2-40B4-BE49-F238E27FC236}">
                <a16:creationId xmlns:a16="http://schemas.microsoft.com/office/drawing/2014/main" id="{92BB943D-168E-48F2-9B8F-3F4D4DDF261A}"/>
              </a:ext>
            </a:extLst>
          </p:cNvPr>
          <p:cNvSpPr>
            <a:spLocks xmlns:a="http://schemas.openxmlformats.org/drawingml/2006/main" noGrp="1"/>
          </p:cNvSpPr>
          <p:nvPr/>
        </p:nvSpPr>
        <p:spPr>
          <a:xfrm xmlns:a="http://schemas.openxmlformats.org/drawingml/2006/main">
            <a:off x="666750" y="2778919"/>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İl yanmazken ben yanarım derdine</a:t>
            </a:r>
          </a:p>
        </p:txBody>
      </p:sp>
      <p:sp>
        <p:nvSpPr>
          <p:cNvPr id="9" name="">
            <a:extLst xmlns:a="http://schemas.openxmlformats.org/drawingml/2006/main">
              <a:ext uri="{FF2B5EF4-FFF2-40B4-BE49-F238E27FC236}">
                <a16:creationId xmlns:a16="http://schemas.microsoft.com/office/drawing/2014/main" id="{B971328D-92BD-4424-B011-0C3EE3C9DEDA}"/>
              </a:ext>
            </a:extLst>
          </p:cNvPr>
          <p:cNvSpPr>
            <a:spLocks xmlns:a="http://schemas.openxmlformats.org/drawingml/2006/main" noGrp="1"/>
          </p:cNvSpPr>
          <p:nvPr/>
        </p:nvSpPr>
        <p:spPr>
          <a:xfrm xmlns:a="http://schemas.openxmlformats.org/drawingml/2006/main">
            <a:off x="666750" y="3986213"/>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Engel aramızı açtı n’eyleyim (Karacaoğlan)</a:t>
            </a:r>
          </a:p>
        </p:txBody>
      </p:sp>
      <p:sp>
        <p:nvSpPr>
          <p:cNvPr id="10" name="">
            <a:extLst xmlns:a="http://schemas.openxmlformats.org/drawingml/2006/main">
              <a:ext uri="{FF2B5EF4-FFF2-40B4-BE49-F238E27FC236}">
                <a16:creationId xmlns:a16="http://schemas.microsoft.com/office/drawing/2014/main" id="{D02606E0-9BF9-4544-9715-E74DFC12BD90}"/>
              </a:ext>
            </a:extLst>
          </p:cNvPr>
          <p:cNvSpPr>
            <a:spLocks xmlns:a="http://schemas.openxmlformats.org/drawingml/2006/main" noGrp="1"/>
          </p:cNvSpPr>
          <p:nvPr/>
        </p:nvSpPr>
        <p:spPr>
          <a:xfrm xmlns:a="http://schemas.openxmlformats.org/drawingml/2006/main">
            <a:off x="666750" y="5193506"/>
            <a:ext cx="10858500" cy="1092994"/>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Şems’in gözlerine bir şüphe çöreklendi: “Dostum ne’n var? Her şey yolunda mı?” (Elif Şafak)</a:t>
            </a:r>
          </a:p>
        </p:txBody>
      </p:sp>
    </p:spTree>
    <p:extLst>
      <p:ext uri="{BB962C8B-B14F-4D97-AF65-F5344CB8AC3E}">
        <p14:creationId xmlns:p14="http://schemas.microsoft.com/office/powerpoint/2010/main" val="1710039887"/>
      </p:ext>
    </p:extLst>
  </p:cSld>
</p:sld>
</file>

<file path=ppt/slides/slide8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87FBCA-B648-4502-855E-4929160CB41A}"/>
              </a:ext>
            </a:extLst>
          </p:cNvPr>
          <p:cNvSpPr>
            <a:spLocks xmlns:a="http://schemas.openxmlformats.org/drawingml/2006/main" noGrp="1"/>
          </p:cNvSpPr>
          <p:nvPr/>
        </p:nvSpPr>
        <p:spPr>
          <a:xfrm xmlns:a="http://schemas.openxmlformats.org/drawingml/2006/main">
            <a:off x="0" y="0"/>
            <a:ext cx="12192000" cy="209550"/>
          </a:xfrm>
          <a:prstGeom xmlns:a="http://schemas.openxmlformats.org/drawingml/2006/main" prst="rect">
            <a:avLst/>
          </a:prstGeom>
          <a:solidFill xmlns:a="http://schemas.openxmlformats.org/drawingml/2006/main">
            <a:srgbClr val="2AA19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0E862E-793F-43B6-B6F9-9F71480651A6}"/>
              </a:ext>
            </a:extLst>
          </p:cNvPr>
          <p:cNvSpPr>
            <a:spLocks xmlns:a="http://schemas.openxmlformats.org/drawingml/2006/main" noGrp="1"/>
          </p:cNvSpPr>
          <p:nvPr/>
        </p:nvSpPr>
        <p:spPr>
          <a:xfrm xmlns:a="http://schemas.openxmlformats.org/drawingml/2006/main">
            <a:off x="476250" y="400050"/>
            <a:ext cx="1257300" cy="1009650"/>
          </a:xfrm>
          <a:prstGeom xmlns:a="http://schemas.openxmlformats.org/drawingml/2006/main" prst="rect">
            <a:avLst/>
          </a:prstGeom>
          <a:solidFill xmlns:a="http://schemas.openxmlformats.org/drawingml/2006/main">
            <a:srgbClr val="1432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350" b="1">
                <a:solidFill>
                  <a:srgbClr val="FFFFFF"/>
                </a:solidFill>
                <a:latin typeface="Aptos"/>
                <a:ea typeface="Aptos"/>
                <a:cs typeface="Aptos"/>
              </a:defRPr>
            </a:pPr>
            <a:r>
              <a:rPr sz="4350" b="1">
                <a:solidFill>
                  <a:srgbClr val="FFFFFF"/>
                </a:solidFill>
                <a:latin typeface="Aptos"/>
                <a:ea typeface="Aptos"/>
                <a:cs typeface="Aptos"/>
              </a:rPr>
              <a:t>’</a:t>
            </a:r>
          </a:p>
        </p:txBody>
      </p:sp>
      <p:sp>
        <p:nvSpPr>
          <p:cNvPr id="3" name="">
            <a:extLst xmlns:a="http://schemas.openxmlformats.org/drawingml/2006/main">
              <a:ext uri="{FF2B5EF4-FFF2-40B4-BE49-F238E27FC236}">
                <a16:creationId xmlns:a16="http://schemas.microsoft.com/office/drawing/2014/main" id="{065AB08D-D942-4657-8880-A23D5FC17E33}"/>
              </a:ext>
            </a:extLst>
          </p:cNvPr>
          <p:cNvSpPr>
            <a:spLocks xmlns:a="http://schemas.openxmlformats.org/drawingml/2006/main" noGrp="1"/>
          </p:cNvSpPr>
          <p:nvPr/>
        </p:nvSpPr>
        <p:spPr>
          <a:xfrm xmlns:a="http://schemas.openxmlformats.org/drawingml/2006/main">
            <a:off x="1952625" y="447675"/>
            <a:ext cx="828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775" b="1">
                <a:solidFill>
                  <a:srgbClr val="14324B"/>
                </a:solidFill>
                <a:latin typeface="Aptos"/>
                <a:ea typeface="Aptos"/>
                <a:cs typeface="Aptos"/>
              </a:defRPr>
            </a:pPr>
            <a:r>
              <a:rPr sz="2775" b="1">
                <a:solidFill>
                  <a:srgbClr val="14324B"/>
                </a:solidFill>
                <a:latin typeface="Aptos"/>
                <a:ea typeface="Aptos"/>
                <a:cs typeface="Aptos"/>
              </a:rPr>
              <a:t>Kesme İşareti ( ’ )</a:t>
            </a:r>
          </a:p>
        </p:txBody>
      </p:sp>
      <p:sp>
        <p:nvSpPr>
          <p:cNvPr id="4" name="">
            <a:extLst xmlns:a="http://schemas.openxmlformats.org/drawingml/2006/main">
              <a:ext uri="{FF2B5EF4-FFF2-40B4-BE49-F238E27FC236}">
                <a16:creationId xmlns:a16="http://schemas.microsoft.com/office/drawing/2014/main" id="{341696D3-3158-48C0-83EB-AF0FD7A5C6E0}"/>
              </a:ext>
            </a:extLst>
          </p:cNvPr>
          <p:cNvSpPr>
            <a:spLocks xmlns:a="http://schemas.openxmlformats.org/drawingml/2006/main" noGrp="1"/>
          </p:cNvSpPr>
          <p:nvPr/>
        </p:nvSpPr>
        <p:spPr>
          <a:xfrm xmlns:a="http://schemas.openxmlformats.org/drawingml/2006/main">
            <a:off x="10191750" y="5429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2AA198"/>
                </a:solidFill>
                <a:latin typeface="Aptos"/>
                <a:ea typeface="Aptos"/>
                <a:cs typeface="Aptos"/>
              </a:defRPr>
            </a:pPr>
            <a:r>
              <a:rPr sz="1275" b="1">
                <a:solidFill>
                  <a:srgbClr val="2AA198"/>
                </a:solidFill>
                <a:latin typeface="Aptos"/>
                <a:ea typeface="Aptos"/>
                <a:cs typeface="Aptos"/>
              </a:rPr>
              <a:t>12/12</a:t>
            </a:r>
          </a:p>
        </p:txBody>
      </p:sp>
      <p:sp>
        <p:nvSpPr>
          <p:cNvPr id="5" name="">
            <a:extLst xmlns:a="http://schemas.openxmlformats.org/drawingml/2006/main">
              <a:ext uri="{FF2B5EF4-FFF2-40B4-BE49-F238E27FC236}">
                <a16:creationId xmlns:a16="http://schemas.microsoft.com/office/drawing/2014/main" id="{1B5231E9-E814-4924-84B8-2C2FFDBB0B24}"/>
              </a:ext>
            </a:extLst>
          </p:cNvPr>
          <p:cNvSpPr>
            <a:spLocks xmlns:a="http://schemas.openxmlformats.org/drawingml/2006/main" noGrp="1"/>
          </p:cNvSpPr>
          <p:nvPr/>
        </p:nvSpPr>
        <p:spPr>
          <a:xfrm xmlns:a="http://schemas.openxmlformats.org/drawingml/2006/main">
            <a:off x="11144250" y="542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60717D"/>
                </a:solidFill>
                <a:latin typeface="Aptos"/>
                <a:ea typeface="Aptos"/>
                <a:cs typeface="Aptos"/>
              </a:defRPr>
            </a:pPr>
            <a:r>
              <a:rPr sz="1350" b="1">
                <a:solidFill>
                  <a:srgbClr val="60717D"/>
                </a:solidFill>
                <a:latin typeface="Aptos"/>
                <a:ea typeface="Aptos"/>
                <a:cs typeface="Aptos"/>
              </a:rPr>
              <a:t>85</a:t>
            </a:r>
          </a:p>
        </p:txBody>
      </p:sp>
      <p:sp>
        <p:nvSpPr>
          <p:cNvPr id="6" name="">
            <a:extLst xmlns:a="http://schemas.openxmlformats.org/drawingml/2006/main">
              <a:ext uri="{FF2B5EF4-FFF2-40B4-BE49-F238E27FC236}">
                <a16:creationId xmlns:a16="http://schemas.microsoft.com/office/drawing/2014/main" id="{C0106130-FD5D-4D3C-8351-104DE6417F45}"/>
              </a:ext>
            </a:extLst>
          </p:cNvPr>
          <p:cNvSpPr>
            <a:spLocks xmlns:a="http://schemas.openxmlformats.org/drawingml/2006/main" noGrp="1"/>
          </p:cNvSpPr>
          <p:nvPr/>
        </p:nvSpPr>
        <p:spPr>
          <a:xfrm xmlns:a="http://schemas.openxmlformats.org/drawingml/2006/main">
            <a:off x="523875" y="6505575"/>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60717D"/>
                </a:solidFill>
                <a:latin typeface="Aptos"/>
                <a:ea typeface="Aptos"/>
                <a:cs typeface="Aptos"/>
              </a:defRPr>
            </a:pPr>
            <a:r>
              <a:rPr sz="825" b="0">
                <a:solidFill>
                  <a:srgbClr val="60717D"/>
                </a:solidFill>
                <a:latin typeface="Aptos"/>
                <a:ea typeface="Aptos"/>
                <a:cs typeface="Aptos"/>
              </a:rPr>
              <a:t>Kaynak: Türk Dil Kurumu • Noktalama İşaretleri (Açıklamalar)</a:t>
            </a:r>
          </a:p>
        </p:txBody>
      </p:sp>
      <p:sp>
        <p:nvSpPr>
          <p:cNvPr id="7" name="">
            <a:extLst xmlns:a="http://schemas.openxmlformats.org/drawingml/2006/main">
              <a:ext uri="{FF2B5EF4-FFF2-40B4-BE49-F238E27FC236}">
                <a16:creationId xmlns:a16="http://schemas.microsoft.com/office/drawing/2014/main" id="{B2A95A2A-A51E-42C4-9BD8-DEE9D855DCCF}"/>
              </a:ext>
            </a:extLst>
          </p:cNvPr>
          <p:cNvSpPr>
            <a:spLocks xmlns:a="http://schemas.openxmlformats.org/drawingml/2006/main" noGrp="1"/>
          </p:cNvSpPr>
          <p:nvPr/>
        </p:nvSpPr>
        <p:spPr>
          <a:xfrm xmlns:a="http://schemas.openxmlformats.org/drawingml/2006/main">
            <a:off x="666750" y="157162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Güzelliğin on par’etmez</a:t>
            </a:r>
          </a:p>
        </p:txBody>
      </p:sp>
      <p:sp>
        <p:nvSpPr>
          <p:cNvPr id="8" name="">
            <a:extLst xmlns:a="http://schemas.openxmlformats.org/drawingml/2006/main">
              <a:ext uri="{FF2B5EF4-FFF2-40B4-BE49-F238E27FC236}">
                <a16:creationId xmlns:a16="http://schemas.microsoft.com/office/drawing/2014/main" id="{EE98293F-6BBF-499C-B57E-20F362F6A9CB}"/>
              </a:ext>
            </a:extLst>
          </p:cNvPr>
          <p:cNvSpPr>
            <a:spLocks xmlns:a="http://schemas.openxmlformats.org/drawingml/2006/main" noGrp="1"/>
          </p:cNvSpPr>
          <p:nvPr/>
        </p:nvSpPr>
        <p:spPr>
          <a:xfrm xmlns:a="http://schemas.openxmlformats.org/drawingml/2006/main">
            <a:off x="666750" y="3181350"/>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Bu bendeki aşk olmasa (Âşık Veysel)</a:t>
            </a:r>
          </a:p>
        </p:txBody>
      </p:sp>
      <p:sp>
        <p:nvSpPr>
          <p:cNvPr id="9" name="">
            <a:extLst xmlns:a="http://schemas.openxmlformats.org/drawingml/2006/main">
              <a:ext uri="{FF2B5EF4-FFF2-40B4-BE49-F238E27FC236}">
                <a16:creationId xmlns:a16="http://schemas.microsoft.com/office/drawing/2014/main" id="{DB7E0E7B-CE4C-4607-A48B-0404B66261CD}"/>
              </a:ext>
            </a:extLst>
          </p:cNvPr>
          <p:cNvSpPr>
            <a:spLocks xmlns:a="http://schemas.openxmlformats.org/drawingml/2006/main" noGrp="1"/>
          </p:cNvSpPr>
          <p:nvPr/>
        </p:nvSpPr>
        <p:spPr>
          <a:xfrm xmlns:a="http://schemas.openxmlformats.org/drawingml/2006/main">
            <a:off x="666750" y="4791075"/>
            <a:ext cx="10858500" cy="1495425"/>
          </a:xfrm>
          <a:prstGeom xmlns:a="http://schemas.openxmlformats.org/drawingml/2006/main" prst="rect">
            <a:avLst/>
          </a:prstGeom>
          <a:noFill xmlns:a="http://schemas.openxmlformats.org/drawingml/2006/main"/>
          <a:ln xmlns:a="http://schemas.openxmlformats.org/drawingml/2006/main" w="14288">
            <a:solidFill>
              <a:srgbClr val="9FBCC3"/>
            </a:solidFill>
          </a:ln>
        </p:spPr>
        <p:txBody>
          <a:bodyPr xmlns:a="http://schemas.openxmlformats.org/drawingml/2006/main" anchor="ctr">
            <a:normAutofit fontScale="100000"/>
          </a:bodyPr>
          <a:lstStyle xmlns:a="http://schemas.openxmlformats.org/drawingml/2006/main"/>
          <a:p xmlns:a="http://schemas.openxmlformats.org/drawingml/2006/main">
            <a:pPr>
              <a:spcAft>
                <a:spcPts val="450"/>
              </a:spcAft>
              <a:defRPr sz="1725">
                <a:solidFill>
                  <a:srgbClr val="18242E"/>
                </a:solidFill>
                <a:latin typeface="Aptos"/>
                <a:ea typeface="Aptos"/>
                <a:cs typeface="Aptos"/>
              </a:defRPr>
            </a:pPr>
            <a:r>
              <a:rPr sz="1725" b="1">
                <a:solidFill>
                  <a:srgbClr val="18242E"/>
                </a:solidFill>
                <a:latin typeface="Aptos"/>
                <a:ea typeface="Aptos"/>
                <a:cs typeface="Aptos"/>
              </a:rPr>
              <a:t>7. Bir ek veya harften sonra gelen ekleri ayırmak için konur:</a:t>
            </a:r>
          </a:p>
          <a:p xmlns:a="http://schemas.openxmlformats.org/drawingml/2006/main">
            <a:pPr>
              <a:defRPr sz="1725">
                <a:solidFill>
                  <a:srgbClr val="18242E"/>
                </a:solidFill>
                <a:latin typeface="Aptos"/>
                <a:ea typeface="Aptos"/>
                <a:cs typeface="Aptos"/>
              </a:defRPr>
            </a:pPr>
            <a:r>
              <a:rPr sz="1725" b="1">
                <a:solidFill>
                  <a:srgbClr val="18242E"/>
                </a:solidFill>
                <a:latin typeface="Aptos"/>
                <a:ea typeface="Aptos"/>
                <a:cs typeface="Aptos"/>
              </a:rPr>
              <a:t>ÖRNEK  </a:t>
            </a:r>
            <a:r>
              <a:rPr sz="1725" i="1">
                <a:solidFill>
                  <a:srgbClr val="18242E"/>
                </a:solidFill>
                <a:latin typeface="Aptos"/>
                <a:ea typeface="Aptos"/>
                <a:cs typeface="Aptos"/>
              </a:rPr>
              <a:t>a’dan z’ye kadar, Türkçede -lık’la yapılmış sözler.</a:t>
            </a:r>
          </a:p>
        </p:txBody>
      </p:sp>
    </p:spTree>
    <p:extLst>
      <p:ext uri="{BB962C8B-B14F-4D97-AF65-F5344CB8AC3E}">
        <p14:creationId xmlns:p14="http://schemas.microsoft.com/office/powerpoint/2010/main" val="7442038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2026-09-28T19:24:57.6970000Z</dcterms:created>
  <dcterms:modified xsi:type="dcterms:W3CDTF">2026-09-28T19:24:57.6970000Z</dcterms:modified>
</coreProperties>
</file>