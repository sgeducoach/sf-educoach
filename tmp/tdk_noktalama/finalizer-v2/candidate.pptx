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5beaa18e94dfe" /><Relationship Type="http://schemas.openxmlformats.org/officeDocument/2006/relationships/extended-properties" Target="/docProps/app.xml" Id="Re637ecfe909e4f92" /><Relationship Type="http://schemas.openxmlformats.org/officeDocument/2006/relationships/officeDocument" Target="/ppt/presentation.xml" Id="R3ad60d0fa79a4e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f847c83814c36"/>
  </p:sldMasterIdLst>
  <p:notesMasterIdLst>
    <p:notesMasterId xmlns:r="http://schemas.openxmlformats.org/officeDocument/2006/relationships" r:id="R514837c6864049b2"/>
  </p:notesMasterIdLst>
  <p:sldIdLst>
    <p:sldId xmlns:r="http://schemas.openxmlformats.org/officeDocument/2006/relationships" id="256" r:id="R50f204b1dd0e4084"/>
    <p:sldId xmlns:r="http://schemas.openxmlformats.org/officeDocument/2006/relationships" id="257" r:id="R903e11c9fb2d475a"/>
    <p:sldId xmlns:r="http://schemas.openxmlformats.org/officeDocument/2006/relationships" id="258" r:id="R967d66ae40d84880"/>
    <p:sldId xmlns:r="http://schemas.openxmlformats.org/officeDocument/2006/relationships" id="259" r:id="Rfd82afc6289046ba"/>
    <p:sldId xmlns:r="http://schemas.openxmlformats.org/officeDocument/2006/relationships" id="260" r:id="Rc0c23c83215c4bdd"/>
    <p:sldId xmlns:r="http://schemas.openxmlformats.org/officeDocument/2006/relationships" id="261" r:id="R9b33d6d9bcb34dd8"/>
    <p:sldId xmlns:r="http://schemas.openxmlformats.org/officeDocument/2006/relationships" id="262" r:id="R1016d7946bf5494c"/>
    <p:sldId xmlns:r="http://schemas.openxmlformats.org/officeDocument/2006/relationships" id="263" r:id="R495dcb55dcb44f04"/>
    <p:sldId xmlns:r="http://schemas.openxmlformats.org/officeDocument/2006/relationships" id="264" r:id="R712e72908e65497e"/>
    <p:sldId xmlns:r="http://schemas.openxmlformats.org/officeDocument/2006/relationships" id="265" r:id="R650d8e5130174487"/>
    <p:sldId xmlns:r="http://schemas.openxmlformats.org/officeDocument/2006/relationships" id="266" r:id="Rce97018c48724469"/>
    <p:sldId xmlns:r="http://schemas.openxmlformats.org/officeDocument/2006/relationships" id="267" r:id="Rc7c8250265bb4330"/>
    <p:sldId xmlns:r="http://schemas.openxmlformats.org/officeDocument/2006/relationships" id="268" r:id="R09c27007ed704070"/>
    <p:sldId xmlns:r="http://schemas.openxmlformats.org/officeDocument/2006/relationships" id="269" r:id="R8ba2070b1eef44e5"/>
    <p:sldId xmlns:r="http://schemas.openxmlformats.org/officeDocument/2006/relationships" id="270" r:id="R642567c3bfea4eeb"/>
    <p:sldId xmlns:r="http://schemas.openxmlformats.org/officeDocument/2006/relationships" id="271" r:id="Rab5bb61271294634"/>
    <p:sldId xmlns:r="http://schemas.openxmlformats.org/officeDocument/2006/relationships" id="272" r:id="R10cd5c4629614be7"/>
    <p:sldId xmlns:r="http://schemas.openxmlformats.org/officeDocument/2006/relationships" id="273" r:id="Rc4e32275740b431e"/>
    <p:sldId xmlns:r="http://schemas.openxmlformats.org/officeDocument/2006/relationships" id="274" r:id="R9eacee7963134cfc"/>
    <p:sldId xmlns:r="http://schemas.openxmlformats.org/officeDocument/2006/relationships" id="275" r:id="R011aa013f3cd4416"/>
    <p:sldId xmlns:r="http://schemas.openxmlformats.org/officeDocument/2006/relationships" id="276" r:id="R974c9e53d7504f45"/>
    <p:sldId xmlns:r="http://schemas.openxmlformats.org/officeDocument/2006/relationships" id="277" r:id="R84dc8f68c0c2455b"/>
    <p:sldId xmlns:r="http://schemas.openxmlformats.org/officeDocument/2006/relationships" id="278" r:id="R1768004323b447bf"/>
    <p:sldId xmlns:r="http://schemas.openxmlformats.org/officeDocument/2006/relationships" id="279" r:id="R4aa7451efb2d44ce"/>
    <p:sldId xmlns:r="http://schemas.openxmlformats.org/officeDocument/2006/relationships" id="280" r:id="R2bd59d3af4944a98"/>
    <p:sldId xmlns:r="http://schemas.openxmlformats.org/officeDocument/2006/relationships" id="281" r:id="Rbfd06db2e95647fd"/>
    <p:sldId xmlns:r="http://schemas.openxmlformats.org/officeDocument/2006/relationships" id="282" r:id="R813e804aedfd4b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53accd8f9642dd" /><Relationship Type="http://schemas.openxmlformats.org/officeDocument/2006/relationships/slideMaster" Target="/ppt/slideMasters/slideMaster1.xml" Id="Re1ef847c83814c36" /><Relationship Type="http://schemas.openxmlformats.org/officeDocument/2006/relationships/notesMaster" Target="/ppt/notesMasters/notesMaster1.xml" Id="R514837c6864049b2" /><Relationship Type="http://schemas.openxmlformats.org/officeDocument/2006/relationships/presProps" Target="/ppt/presProps.xml" Id="R04e405e86a03469c" /><Relationship Type="http://schemas.openxmlformats.org/officeDocument/2006/relationships/tableStyles" Target="/ppt/tableStyles.xml" Id="R4e8d6a34f0974294" /><Relationship Type="http://schemas.openxmlformats.org/officeDocument/2006/relationships/slide" Target="/ppt/slides/slide1.xml" Id="R50f204b1dd0e4084" /><Relationship Type="http://schemas.openxmlformats.org/officeDocument/2006/relationships/slide" Target="/ppt/slides/slide2.xml" Id="R903e11c9fb2d475a" /><Relationship Type="http://schemas.openxmlformats.org/officeDocument/2006/relationships/slide" Target="/ppt/slides/slide3.xml" Id="R967d66ae40d84880" /><Relationship Type="http://schemas.openxmlformats.org/officeDocument/2006/relationships/slide" Target="/ppt/slides/slide4.xml" Id="Rfd82afc6289046ba" /><Relationship Type="http://schemas.openxmlformats.org/officeDocument/2006/relationships/slide" Target="/ppt/slides/slide5.xml" Id="Rc0c23c83215c4bdd" /><Relationship Type="http://schemas.openxmlformats.org/officeDocument/2006/relationships/slide" Target="/ppt/slides/slide6.xml" Id="R9b33d6d9bcb34dd8" /><Relationship Type="http://schemas.openxmlformats.org/officeDocument/2006/relationships/slide" Target="/ppt/slides/slide7.xml" Id="R1016d7946bf5494c" /><Relationship Type="http://schemas.openxmlformats.org/officeDocument/2006/relationships/slide" Target="/ppt/slides/slide8.xml" Id="R495dcb55dcb44f04" /><Relationship Type="http://schemas.openxmlformats.org/officeDocument/2006/relationships/slide" Target="/ppt/slides/slide9.xml" Id="R712e72908e65497e" /><Relationship Type="http://schemas.openxmlformats.org/officeDocument/2006/relationships/slide" Target="/ppt/slides/slide10.xml" Id="R650d8e5130174487" /><Relationship Type="http://schemas.openxmlformats.org/officeDocument/2006/relationships/slide" Target="/ppt/slides/slide11.xml" Id="Rce97018c48724469" /><Relationship Type="http://schemas.openxmlformats.org/officeDocument/2006/relationships/slide" Target="/ppt/slides/slide12.xml" Id="Rc7c8250265bb4330" /><Relationship Type="http://schemas.openxmlformats.org/officeDocument/2006/relationships/slide" Target="/ppt/slides/slide13.xml" Id="R09c27007ed704070" /><Relationship Type="http://schemas.openxmlformats.org/officeDocument/2006/relationships/slide" Target="/ppt/slides/slide14.xml" Id="R8ba2070b1eef44e5" /><Relationship Type="http://schemas.openxmlformats.org/officeDocument/2006/relationships/slide" Target="/ppt/slides/slide15.xml" Id="R642567c3bfea4eeb" /><Relationship Type="http://schemas.openxmlformats.org/officeDocument/2006/relationships/slide" Target="/ppt/slides/slide16.xml" Id="Rab5bb61271294634" /><Relationship Type="http://schemas.openxmlformats.org/officeDocument/2006/relationships/slide" Target="/ppt/slides/slide17.xml" Id="R10cd5c4629614be7" /><Relationship Type="http://schemas.openxmlformats.org/officeDocument/2006/relationships/slide" Target="/ppt/slides/slide18.xml" Id="Rc4e32275740b431e" /><Relationship Type="http://schemas.openxmlformats.org/officeDocument/2006/relationships/slide" Target="/ppt/slides/slide19.xml" Id="R9eacee7963134cfc" /><Relationship Type="http://schemas.openxmlformats.org/officeDocument/2006/relationships/slide" Target="/ppt/slides/slide20.xml" Id="R011aa013f3cd4416" /><Relationship Type="http://schemas.openxmlformats.org/officeDocument/2006/relationships/slide" Target="/ppt/slides/slide21.xml" Id="R974c9e53d7504f45" /><Relationship Type="http://schemas.openxmlformats.org/officeDocument/2006/relationships/slide" Target="/ppt/slides/slide22.xml" Id="R84dc8f68c0c2455b" /><Relationship Type="http://schemas.openxmlformats.org/officeDocument/2006/relationships/slide" Target="/ppt/slides/slide23.xml" Id="R1768004323b447bf" /><Relationship Type="http://schemas.openxmlformats.org/officeDocument/2006/relationships/slide" Target="/ppt/slides/slide24.xml" Id="R4aa7451efb2d44ce" /><Relationship Type="http://schemas.openxmlformats.org/officeDocument/2006/relationships/slide" Target="/ppt/slides/slide25.xml" Id="R2bd59d3af4944a98" /><Relationship Type="http://schemas.openxmlformats.org/officeDocument/2006/relationships/slide" Target="/ppt/slides/slide26.xml" Id="Rbfd06db2e95647fd" /><Relationship Type="http://schemas.openxmlformats.org/officeDocument/2006/relationships/slide" Target="/ppt/slides/slide27.xml" Id="R813e804aedfd4b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68b07c1b1941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32e0144d404a35" /><Relationship Type="http://schemas.openxmlformats.org/officeDocument/2006/relationships/notesMaster" Target="/ppt/notesMasters/notesMaster1.xml" Id="R88947e60defd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215a5a9b504b6c" /><Relationship Type="http://schemas.openxmlformats.org/officeDocument/2006/relationships/notesMaster" Target="/ppt/notesMasters/notesMaster1.xml" Id="Rac58131cb007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516a70d81149c8" /><Relationship Type="http://schemas.openxmlformats.org/officeDocument/2006/relationships/notesMaster" Target="/ppt/notesMasters/notesMaster1.xml" Id="Rc62661dd4ae341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67d0a67e504793" /><Relationship Type="http://schemas.openxmlformats.org/officeDocument/2006/relationships/notesMaster" Target="/ppt/notesMasters/notesMaster1.xml" Id="R62070ced98eb4a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eb153e9714e1c" /><Relationship Type="http://schemas.openxmlformats.org/officeDocument/2006/relationships/notesMaster" Target="/ppt/notesMasters/notesMaster1.xml" Id="Rfa7eb8e6e5054b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fc8849419f41fe" /><Relationship Type="http://schemas.openxmlformats.org/officeDocument/2006/relationships/notesMaster" Target="/ppt/notesMasters/notesMaster1.xml" Id="Rbf79f5b4909145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0fe91742584b7d" /><Relationship Type="http://schemas.openxmlformats.org/officeDocument/2006/relationships/notesMaster" Target="/ppt/notesMasters/notesMaster1.xml" Id="Ra019c45e78254c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6e660705f14f07" /><Relationship Type="http://schemas.openxmlformats.org/officeDocument/2006/relationships/notesMaster" Target="/ppt/notesMasters/notesMaster1.xml" Id="R32cffe2f85c045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28e37d29434e62" /><Relationship Type="http://schemas.openxmlformats.org/officeDocument/2006/relationships/notesMaster" Target="/ppt/notesMasters/notesMaster1.xml" Id="R719f9a67f2e444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800c0d7ce84887" /><Relationship Type="http://schemas.openxmlformats.org/officeDocument/2006/relationships/notesMaster" Target="/ppt/notesMasters/notesMaster1.xml" Id="Rc0f4902d75f94b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846c5b76934b8e" /><Relationship Type="http://schemas.openxmlformats.org/officeDocument/2006/relationships/notesMaster" Target="/ppt/notesMasters/notesMaster1.xml" Id="R8a155b89da9c49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8aaaa96226439a" /><Relationship Type="http://schemas.openxmlformats.org/officeDocument/2006/relationships/notesMaster" Target="/ppt/notesMasters/notesMaster1.xml" Id="Rcde4115660f748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3ae071c15e49c3" /><Relationship Type="http://schemas.openxmlformats.org/officeDocument/2006/relationships/notesMaster" Target="/ppt/notesMasters/notesMaster1.xml" Id="R4a25b6e2bb7c4e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abb489d9d44ae5" /><Relationship Type="http://schemas.openxmlformats.org/officeDocument/2006/relationships/notesMaster" Target="/ppt/notesMasters/notesMaster1.xml" Id="R670a970d587b42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8a7e8f068c4fb2" /><Relationship Type="http://schemas.openxmlformats.org/officeDocument/2006/relationships/notesMaster" Target="/ppt/notesMasters/notesMaster1.xml" Id="Rc316e10da16849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14267558b94049" /><Relationship Type="http://schemas.openxmlformats.org/officeDocument/2006/relationships/notesMaster" Target="/ppt/notesMasters/notesMaster1.xml" Id="Rcc1a2493931d41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38803343f948e6" /><Relationship Type="http://schemas.openxmlformats.org/officeDocument/2006/relationships/notesMaster" Target="/ppt/notesMasters/notesMaster1.xml" Id="Rf9f7b31963c948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3162f98be94572" /><Relationship Type="http://schemas.openxmlformats.org/officeDocument/2006/relationships/notesMaster" Target="/ppt/notesMasters/notesMaster1.xml" Id="R9a00c7d9959d4b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eeb88b795f4ca8" /><Relationship Type="http://schemas.openxmlformats.org/officeDocument/2006/relationships/notesMaster" Target="/ppt/notesMasters/notesMaster1.xml" Id="Rde416be389e144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82cd44c55b4b06" /><Relationship Type="http://schemas.openxmlformats.org/officeDocument/2006/relationships/notesMaster" Target="/ppt/notesMasters/notesMaster1.xml" Id="R630643c66ba24d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ba218ce4cba42cb" /><Relationship Type="http://schemas.openxmlformats.org/officeDocument/2006/relationships/notesMaster" Target="/ppt/notesMasters/notesMaster1.xml" Id="Red4a73afe36d4c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53ec316f5b4b13" /><Relationship Type="http://schemas.openxmlformats.org/officeDocument/2006/relationships/notesMaster" Target="/ppt/notesMasters/notesMaster1.xml" Id="R5e7e35faa2b8433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a75b6bad9446aa" /><Relationship Type="http://schemas.openxmlformats.org/officeDocument/2006/relationships/notesMaster" Target="/ppt/notesMasters/notesMaster1.xml" Id="R256dabe2796a48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e14c14371248d9" /><Relationship Type="http://schemas.openxmlformats.org/officeDocument/2006/relationships/notesMaster" Target="/ppt/notesMasters/notesMaster1.xml" Id="R9ee47db7fbde4a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0e15b4f20424c57" /><Relationship Type="http://schemas.openxmlformats.org/officeDocument/2006/relationships/notesMaster" Target="/ppt/notesMasters/notesMaster1.xml" Id="R929398da26864b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c07110768944b0" /><Relationship Type="http://schemas.openxmlformats.org/officeDocument/2006/relationships/notesMaster" Target="/ppt/notesMasters/notesMaster1.xml" Id="R2488d2dbbb1a4c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1b1db692664c9f" /><Relationship Type="http://schemas.openxmlformats.org/officeDocument/2006/relationships/notesMaster" Target="/ppt/notesMasters/notesMaster1.xml" Id="R6858edd8224e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c6337adf645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16ec07488745d1" /><Relationship Type="http://schemas.openxmlformats.org/officeDocument/2006/relationships/slideLayout" Target="/ppt/slideLayouts/slideLayout1.xml" Id="R3c015e2fa2e64d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015e2fa2e64d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450a6d6bd4520" /><Relationship Type="http://schemas.openxmlformats.org/officeDocument/2006/relationships/notesSlide" Target="/ppt/notesSlides/notesSlide1.xml" Id="Rafb034973dc943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6436a70974b24" /><Relationship Type="http://schemas.openxmlformats.org/officeDocument/2006/relationships/notesSlide" Target="/ppt/notesSlides/notesSlide2.xml" Id="Rcc08beac7954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5c10ccb9b4810" /><Relationship Type="http://schemas.openxmlformats.org/officeDocument/2006/relationships/notesSlide" Target="/ppt/notesSlides/notesSlide3.xml" Id="Rbb5b8cb1cd1b4c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155d1799749d1" /><Relationship Type="http://schemas.openxmlformats.org/officeDocument/2006/relationships/notesSlide" Target="/ppt/notesSlides/notesSlide4.xml" Id="R3af8a92d80d049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6b81e74ad4fc8" /><Relationship Type="http://schemas.openxmlformats.org/officeDocument/2006/relationships/notesSlide" Target="/ppt/notesSlides/notesSlide5.xml" Id="R6f20327f5cc3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16b70a034489f" /><Relationship Type="http://schemas.openxmlformats.org/officeDocument/2006/relationships/notesSlide" Target="/ppt/notesSlides/notesSlide6.xml" Id="R8c7a09e05d154e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b7c287e9f4d53" /><Relationship Type="http://schemas.openxmlformats.org/officeDocument/2006/relationships/notesSlide" Target="/ppt/notesSlides/notesSlide7.xml" Id="Rcc4c1db1e83048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1f152f7d1417d" /><Relationship Type="http://schemas.openxmlformats.org/officeDocument/2006/relationships/notesSlide" Target="/ppt/notesSlides/notesSlide8.xml" Id="R6288c59041bd4d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851b63bc4849" /><Relationship Type="http://schemas.openxmlformats.org/officeDocument/2006/relationships/notesSlide" Target="/ppt/notesSlides/notesSlide9.xml" Id="R59fd575f5b0043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1f887df0049f5" /><Relationship Type="http://schemas.openxmlformats.org/officeDocument/2006/relationships/notesSlide" Target="/ppt/notesSlides/notesSlide10.xml" Id="R31953092e6ce43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a2ae3de3b4ec6" /><Relationship Type="http://schemas.openxmlformats.org/officeDocument/2006/relationships/notesSlide" Target="/ppt/notesSlides/notesSlide11.xml" Id="R47e3ba93752641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3923057944770" /><Relationship Type="http://schemas.openxmlformats.org/officeDocument/2006/relationships/notesSlide" Target="/ppt/notesSlides/notesSlide12.xml" Id="R226b14f191d044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f7589da514008" /><Relationship Type="http://schemas.openxmlformats.org/officeDocument/2006/relationships/notesSlide" Target="/ppt/notesSlides/notesSlide13.xml" Id="R21289cbe2a8548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a756ddd464bcd" /><Relationship Type="http://schemas.openxmlformats.org/officeDocument/2006/relationships/notesSlide" Target="/ppt/notesSlides/notesSlide14.xml" Id="Rc8ccff4a4e2b42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3c1650abd4cd4" /><Relationship Type="http://schemas.openxmlformats.org/officeDocument/2006/relationships/notesSlide" Target="/ppt/notesSlides/notesSlide15.xml" Id="R0cca4167d17144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c099da73d49f1" /><Relationship Type="http://schemas.openxmlformats.org/officeDocument/2006/relationships/notesSlide" Target="/ppt/notesSlides/notesSlide16.xml" Id="Rcc96931808f148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29f60110446e6" /><Relationship Type="http://schemas.openxmlformats.org/officeDocument/2006/relationships/notesSlide" Target="/ppt/notesSlides/notesSlide17.xml" Id="R6f8a3e7171854e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9f95264574cbe" /><Relationship Type="http://schemas.openxmlformats.org/officeDocument/2006/relationships/notesSlide" Target="/ppt/notesSlides/notesSlide18.xml" Id="R627073e3a29749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d427793cf4cf9" /><Relationship Type="http://schemas.openxmlformats.org/officeDocument/2006/relationships/notesSlide" Target="/ppt/notesSlides/notesSlide19.xml" Id="R4dc8d77e677c4c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4b078b2544c9d" /><Relationship Type="http://schemas.openxmlformats.org/officeDocument/2006/relationships/notesSlide" Target="/ppt/notesSlides/notesSlide20.xml" Id="R6cfd7d93943948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0926669374cef" /><Relationship Type="http://schemas.openxmlformats.org/officeDocument/2006/relationships/notesSlide" Target="/ppt/notesSlides/notesSlide21.xml" Id="R78f49b8666604f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4a26020c3412b" /><Relationship Type="http://schemas.openxmlformats.org/officeDocument/2006/relationships/notesSlide" Target="/ppt/notesSlides/notesSlide22.xml" Id="R8a648efd6f3543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586117f444512" /><Relationship Type="http://schemas.openxmlformats.org/officeDocument/2006/relationships/notesSlide" Target="/ppt/notesSlides/notesSlide23.xml" Id="R172b1be095a541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7861ebd24146" /><Relationship Type="http://schemas.openxmlformats.org/officeDocument/2006/relationships/notesSlide" Target="/ppt/notesSlides/notesSlide24.xml" Id="Ra83ae3ea286a4d3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be04ee608475e" /><Relationship Type="http://schemas.openxmlformats.org/officeDocument/2006/relationships/notesSlide" Target="/ppt/notesSlides/notesSlide25.xml" Id="Rd23b6dc1cbb643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eef044a074b11" /><Relationship Type="http://schemas.openxmlformats.org/officeDocument/2006/relationships/notesSlide" Target="/ppt/notesSlides/notesSlide26.xml" Id="R5df71a5be5eb4a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a2a97f111458f" /><Relationship Type="http://schemas.openxmlformats.org/officeDocument/2006/relationships/notesSlide" Target="/ppt/notesSlides/notesSlide27.xml" Id="R9c98c87196924b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ECEA2-2A85-4356-B023-9F4ABAFE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NOKTALAMA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İŞARETLERİ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38695-FE68-4AF1-919B-E5EF8AB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FE7EC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CFE7EC"/>
                </a:solidFill>
                <a:latin typeface="Aptos"/>
                <a:ea typeface="Aptos"/>
                <a:cs typeface="Aptos"/>
              </a:rPr>
              <a:t>TDK yazım kurallarındaki açıklamaların tamamı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C35EB-FAE0-4F04-8A71-1D92C67C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.  ,  ;  :  …  ?  !  —  /  “ ”  ( )  [ ]  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A64DF-B0F3-435F-8DFE-6D89B891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Kurallar, uyarılar ve örnek kullanımlar</a:t>
            </a:r>
          </a:p>
        </p:txBody>
      </p:sp>
    </p:spTree>
    <p:extLst>
      <p:ext uri="{BB962C8B-B14F-4D97-AF65-F5344CB8AC3E}">
        <p14:creationId xmlns:p14="http://schemas.microsoft.com/office/powerpoint/2010/main" val="829672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99621-E622-4F4B-AF90-588D2EC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7FBDB-29E2-459B-92B3-ABAC5566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98296-D4C6-4B74-8FBD-0EE4763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Noktalamanın temel ilkeleri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D484F-5070-43DC-99D6-D636A4DB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C5E18-38BF-4632-95CA-B693E2AE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617A8-8C69-4592-A7AC-EF1A7CA5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6CFA0-43B1-46B7-B235-E8A0AF86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Noktalama; duygu ve düşünceyi açık anlatır, cümlenin yapısını ve duraklarını belirler.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D5F12-2FA3-433B-B973-4AF9770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Okumayı ve anlamayı kolaylaştırır; vurgu ve ton gibi söyleyiş özelliklerini gösterir.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C7748-EB76-4A67-800F-EE634BFF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Nokta, virgül, noktalı virgül, iki nokta, üç nokta, soru, ünlem, tırnak, ayraç ve kesme işaretleri ilgili kelimeye bitişik yazılır.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5233C-0A43-46EE-A086-FDD26CE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Kesme dışındaki işaretlerden sonra bir harf boşluğu bırakılır.</a:t>
            </a:r>
          </a:p>
        </p:txBody>
      </p:sp>
    </p:spTree>
    <p:extLst>
      <p:ext uri="{BB962C8B-B14F-4D97-AF65-F5344CB8AC3E}">
        <p14:creationId xmlns:p14="http://schemas.microsoft.com/office/powerpoint/2010/main" val="1364909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46E1E-93F0-42AD-AE31-B27B1442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71A0D-889B-4EE3-96DF-2676AD21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4B8E4-4924-423E-B93A-0DC5477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cümle, kısaltma ve sıralama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C2C64-07FF-4785-94FC-29D13562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F1DAF-05C4-4F50-92E0-2218210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941A8-1FF4-4C54-B59E-C9DFAB56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CC8F3-FCDA-4024-B61D-B7FC0D6F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sonuna konur. Örnek: Türk Dil Kurumu, 1932 yılında kurulmuştur.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9BB2D-66E5-4FE8-AC97-24F899D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Bazı kısaltmaların sonunda kullanılır: Alb., Dr., Prof., Cad., Sok., s., vb., İng.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1F607-ED77-48E9-97A9-728332E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Sayılardan sonra sıra bildirir: 3., 15.; II. Mehmet, XV. yüzyıl, 4. Levent.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D8BBB-4A34-42C6-A012-0C41DC73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Virgül veya çizgiyle sıralanan rakamlarda yalnız sonuncudan sonra konur: 3, 4 ve 7. maddeler; XII–XIV. yüzyıllar.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ED995-D49A-40E6-A2CD-16617FF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Maddeleri gösteren rakam ve harflerden sonra kullanılır: I., 1., A., a.</a:t>
            </a:r>
          </a:p>
        </p:txBody>
      </p:sp>
    </p:spTree>
    <p:extLst>
      <p:ext uri="{BB962C8B-B14F-4D97-AF65-F5344CB8AC3E}">
        <p14:creationId xmlns:p14="http://schemas.microsoft.com/office/powerpoint/2010/main" val="755578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B073C-5984-4C98-87B3-27442EC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EAB16-D710-42B8-B801-F7B3412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E1035-07AE-43C3-BD73-4799AA85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tarih, saat, sayı ve teknik kullanım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AFAE-7B9C-442F-BC3A-82264192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06491-BDD3-4C8C-81B8-6FBFB8CB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5BEF9-DA99-44D6-B77F-0E61FE71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D025D-55FE-456A-A831-DE4C4F3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Tarihte gün, ay ve yılı ayırır: 29.5.1453, 29.X.1923.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30C3-E2FD-4CED-B1EA-1011624D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Saat ve dakikayı ayırır: 09.15, 13.00, 17.30.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0A488-F717-499B-ADC7-6FEC5670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Kitap ve dergi künyelerinin sonuna konur.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B5E69-FD35-4CA8-A569-D5E9313A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Dört ve daha çok rakamlı sayıları üçlü gruplara ayırır: 1.000, 326.197, 49.750.812.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5F74D-3399-49EA-BB87-38D254C0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Genel ağ adreslerinde kullanılır: tdk.gov.tr.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A103B-39DE-4214-9A49-CFAE33F8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Matematikte çarpma işareti yerine kullanılabilir: 4.5=20.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1EE3F-F607-4C62-BFFF-DB027575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Ay adı yazıyla yazılırsa önce ve sonra nokta kullanılmaz: 29 Mayıs 1453.</a:t>
            </a:r>
          </a:p>
        </p:txBody>
      </p:sp>
    </p:spTree>
    <p:extLst>
      <p:ext uri="{BB962C8B-B14F-4D97-AF65-F5344CB8AC3E}">
        <p14:creationId xmlns:p14="http://schemas.microsoft.com/office/powerpoint/2010/main" val="1228317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9670D-2DAC-4BE9-97FC-08CD4E6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94F3B-BE12-4A48-8C80-137DF18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C913E-2689-4245-8667-5E80D4CF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sıralama ve cümle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58549-028B-4F51-9346-9AB1DDC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BC6FF-C136-4741-9946-C1FEA9DC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C9B9-E4DE-49BF-813A-49A4F14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FF01A-642F-417F-9F44-0DF5F300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Eş görevli kelime ve kelime gruplarını ayırır: sessiz dereler, solgun ağaçlar, sarı güller.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5EB4C-11C0-421E-9190-59CF184B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Sıralı cümleleri ayırır: Umduk, bekledik, düşündük.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12184-9E00-4D06-BCFB-632B2D8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Uzun cümlede yüklemden uzak düşen özneyi belirtir.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1B272-A0CB-4639-9DF3-383D3597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Ara söz ve ara cümlelerin başına ve sonuna konur.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6DA59-29F5-4096-B74A-D07BD51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Anlamı güçlendiren tekrarların arasına konur: Akşam, yine akşam, yine akşam.</a:t>
            </a:r>
          </a:p>
        </p:txBody>
      </p:sp>
    </p:spTree>
    <p:extLst>
      <p:ext uri="{BB962C8B-B14F-4D97-AF65-F5344CB8AC3E}">
        <p14:creationId xmlns:p14="http://schemas.microsoft.com/office/powerpoint/2010/main" val="127947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08C11-E656-44CE-B69C-6886FEF4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D3339-D009-4D85-B487-52F4380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BF90B-D5D8-4BEC-AE1D-F97A72D3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alıntı, konuşma ve hitap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6149D-8CD1-4DBC-B504-24112F3A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D71A9-38BD-4E77-9BCF-CB53F1CF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83325-346A-485A-B35B-73DBD5F2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E49FC-624C-4B1F-83DE-B7AAEAC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Tırnak içinde olmayan alıntı cümlesinden sonra konur: Adana’ya yarın gideceğim, dedi.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463BF-7EBC-4000-976B-DDCAA6E8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Konuşma çizgisinden sonraki alıntının bitimine konur: — Gidiyor musunuz, diye sordu.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E761B-7EF8-4F93-B607-7817D11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Edebî eserde konuşma bölümünden önceki ifadenin sonuna konur.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FD672-2AF4-4A97-9C7C-3C62CD3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Ret, kabul ve teşvik bildiren sözlerden sonra konur: Peki, gideriz. Haydi, geç kalıyoruz.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0BBFF-63AA-4038-A2CF-758F510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Yapı ve anlam bağını belirginleştirerek anlam karışıklığını önler.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D8AE7-BB2F-4F81-94E8-EF2E66D4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Hitap sözlerinden sonra konur: Sayın Başkan, Sevgili Kardeşim,</a:t>
            </a:r>
          </a:p>
        </p:txBody>
      </p:sp>
    </p:spTree>
    <p:extLst>
      <p:ext uri="{BB962C8B-B14F-4D97-AF65-F5344CB8AC3E}">
        <p14:creationId xmlns:p14="http://schemas.microsoft.com/office/powerpoint/2010/main" val="1814224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8427D-ACF1-4987-A405-D06D279F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96CEB-89E4-4CCB-9680-86A60CF4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0651C-208C-42C0-9648-55556F87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sayı, fiilimsi ve zamir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8A3A4-F553-4406-B0AA-87149BC8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3DF6E-E4E8-49CA-9943-C4DF325B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316F9-49D3-4C35-99A3-9C1A1E20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87083-7B49-47EE-BC74-31387BBC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12. Ondalık kesri ayırır: 38,6; 0,45.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79A09-F17A-49B8-A229-88FD18C4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13. Art arda gelen zarf-fiil eki almış kelimelerden sonra konur: Bir karara varıp, arkadaşına bakarak konuştu.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3A554-199A-4F85-ABA4-FCC6F07F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14. Özne görevindeki bu, şu, o zamirlerinden sonra konur: Bu, benim gibi yazarlar için kolay olmaz.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31552-5604-46AF-AD8C-95F1A169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15. Künyede yazar, eser, basımevi, yer ve yıl bilgilerini ayırır. Soyadı önceyse soyadından sonra da virgül gelir.</a:t>
            </a:r>
          </a:p>
        </p:txBody>
      </p:sp>
    </p:spTree>
    <p:extLst>
      <p:ext uri="{BB962C8B-B14F-4D97-AF65-F5344CB8AC3E}">
        <p14:creationId xmlns:p14="http://schemas.microsoft.com/office/powerpoint/2010/main" val="18164647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61645-2656-423D-8714-C1EA758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91366-DA24-4A88-9004-6921804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6AC89-6A3A-413D-AA9F-21BEB756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kullanılmadığı yerler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8C9D7-73A0-4AF9-A0BA-6BDCCA8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602DE-96D0-49F5-9A97-CDD0A1DA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2409-4724-4D78-B9F4-DB0ECE0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2B837-6F52-4FED-A83B-86437229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bir zarf-fiil eki almış kelimeden sonra virgül konmaz.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4979D-B463-4A98-8071-95F36EBE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ve, veya, yahut, ya…ya bağlaçlarının önce ve sonuna virgül konmaz.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197D5-AFA8-4717-B216-15A77469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Hem…hem, ya…ya, gerek…gerek, ister…ister, ne…ne gibi tekrarlı bağlaçların çevresinde kullanılmaz.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BAE0A-4BF0-4A2D-AC37-84BA6E55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Pekiştirme ve bağlama görevindeki da/de bağlacından sonra kullanılmaz.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138A4-1631-4C64-9080-6EB46E9E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-ınca/-ince anlamındaki mı/mi ekinden sonra kullanılmaz.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12FA0-3D0F-4E30-9E7D-2327082C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Şart ekinden sonra virgül konmaz.</a:t>
            </a:r>
          </a:p>
        </p:txBody>
      </p:sp>
    </p:spTree>
    <p:extLst>
      <p:ext uri="{BB962C8B-B14F-4D97-AF65-F5344CB8AC3E}">
        <p14:creationId xmlns:p14="http://schemas.microsoft.com/office/powerpoint/2010/main" val="326882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BF5EE-A973-47A0-9E77-514384F9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1FD30-D900-40DC-9807-71723067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DAD8E-C9B6-43E2-9FFB-38A149DC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Noktalı virgül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F1895-B395-4444-AA64-DC83951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71EF6-FD68-44C6-A7F7-37D8F8D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FBB04-D644-4EF9-B883-F11B9519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98FD7-BEF6-4080-847A-D1806F17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Virgüllerle ayrılmış tür veya takımları ayırır: Türkiye, İngiltere, Azerbaycan; Ankara, Londra, Bakü.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D8DF3-170D-45A6-BA93-93F8999A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Kendi içinde virgül bulunan sıralı cümleleri ayırır: İçim içime sığmıyor; bağırmak, gülmek, ağlamak istiyorum.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E3B20-7357-4A9D-8CC1-DB70D89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İkiden fazla eş değer ögesi bulunan ve virgül içeren cümlede özneden sonra gelebilir: Yeni usul şiirimiz; zevksiz, köksüz, acemice görünüyordu.</a:t>
            </a:r>
          </a:p>
        </p:txBody>
      </p:sp>
    </p:spTree>
    <p:extLst>
      <p:ext uri="{BB962C8B-B14F-4D97-AF65-F5344CB8AC3E}">
        <p14:creationId xmlns:p14="http://schemas.microsoft.com/office/powerpoint/2010/main" val="1053137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6E35C-A226-4814-A2C2-CEDA6EE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F37B3-9D1D-4E42-9B68-76BE1734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D5C5A-B6AE-4BF1-AB91-5866EB5C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İki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1424C-9DC7-43E4-8A77-5E64FFEB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A7B54-75D5-493D-AA73-B656AE7E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1F4D0-8E8F-4E97-A79B-9308FDA9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F9B7A-CEC4-4453-8A8A-B3E168CD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Ardından örnek verilecek cümlenin sonuna konur.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0D8CA-2104-4C70-B6A2-D943466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Ardından açıklama verilecek cümlenin sonuna konur: Kendimi takdim edeyim: Meclis kâtiplerindenim.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C861F-63EB-479C-B375-59C00F34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Ses bilgisinde uzun ünlüyü gösterir: a:ile, ka:til, usu:le, i:cat.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722B3-BBF2-44BB-9FB8-9E973F14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Karşılıklı konuşmada konuşanın adından sonra konur: Bilge Kağan: Türklerim, işitin!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F60FC-BBD0-4DA2-84D4-55B1E0B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Edebî eserlerde konuşma bölümünden önceki ifadenin sonuna konur.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9335D-E5E9-49C1-B153-92B81CB1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Genel ağ adreslerinde kullanılır: http://tdk.gov.tr.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B23A1-6DAF-4F8D-BF66-3B86383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Matematikte bölme işareti olabilir: 56:8=7.</a:t>
            </a:r>
          </a:p>
        </p:txBody>
      </p:sp>
    </p:spTree>
    <p:extLst>
      <p:ext uri="{BB962C8B-B14F-4D97-AF65-F5344CB8AC3E}">
        <p14:creationId xmlns:p14="http://schemas.microsoft.com/office/powerpoint/2010/main" val="16826571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6BFA7-05DC-4290-BED4-4C8F1AB7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2A93D-AF42-46D0-8547-8D87384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F3906-A928-40E4-B901-D0C37001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Üç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8094B-D235-4A83-84C5-02DADE05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DE495-499C-4DBE-8C47-7B6EC573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2FA57-DC3F-47D1-BF4B-E357AB3E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BC8B-B2B4-413D-BFE0-7D1EE1E3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Anlatımca tamamlanmamış cümlenin sonuna konur.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6FA92-1656-4563-85A8-7C5B5E7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Açık yazılmak istenmeyen kelime veya bölümün yerine kullanılır: b…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A613E-3EBA-4E54-A186-9318BE3F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Alıntıda alınmayan baş, orta veya son bölümlerin yerine konur.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496F8-882C-4D03-AE41-3FC79420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Sözün kesildiğini, devamının hayale bırakıldığını gösterir veya anlatımı güçlendirir.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24A7E-80E9-445E-A770-79899AD1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Ünlem ve seslenmelerde anlatımı pekiştirir.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89CC4-150F-4BE0-B482-A33EB2C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Karşılıklı konuşmada eksik veya yetersiz cevabı gösterir.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5AFD3-60F9-4A34-BFDA-F7CF2B81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Ünlem ve soru işaretinden sonra üç nokta yerine iki nokta yeterlidir: !.. ?..  •  Üç nokta yerine iki veya daha çok nokta kullanılmaz.</a:t>
            </a:r>
          </a:p>
        </p:txBody>
      </p:sp>
    </p:spTree>
    <p:extLst>
      <p:ext uri="{BB962C8B-B14F-4D97-AF65-F5344CB8AC3E}">
        <p14:creationId xmlns:p14="http://schemas.microsoft.com/office/powerpoint/2010/main" val="17870871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5FADC-AAC5-4773-B7C4-17E78E5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072E2-8DC1-477D-A1A0-3BCC8ED9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1B387-A604-4723-B8DE-5B01E89A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Soru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82360-D81C-474B-988A-22351B72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AAD2D-460B-4A71-91E6-C15CA67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3B982-F9EB-4A7F-9E1F-49EA19F5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BC3B3-ED3A-4633-8D80-D9B62904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Soru eki veya soru sözü içeren cümle ve sözlerin sonuna konur.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9C16A-461C-4072-8528-8FDD5AEC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Soru anlamı taşıyan, fakat soru eki veya sözü içermeyen cümlelerin sonuna konur: — Adınız?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85E83-6383-4650-9E7D-48A51AC3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Bilinmeyen, kesin olmayan veya şüpheli yer, tarih ve benzeri bilgilerde kullanılır: 1496 (?) yılında…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9A8C1-65D7-48B1-8EC6-81291E74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mı/mi ekli yan cümle zarf tümleciyse cümlenin sonuna soru işareti gelmez: Akşam oldu mu sürüler döner.  •  Soru anlamlı sıralı ve bağlı cümlelerde işaret en sona konur.</a:t>
            </a:r>
          </a:p>
        </p:txBody>
      </p:sp>
    </p:spTree>
    <p:extLst>
      <p:ext uri="{BB962C8B-B14F-4D97-AF65-F5344CB8AC3E}">
        <p14:creationId xmlns:p14="http://schemas.microsoft.com/office/powerpoint/2010/main" val="1746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80154-979E-4AAF-8C76-A19D2F4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430DA-47AC-4B42-AAFD-E8902F8C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7012-E52F-4956-99FE-5CC10F41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Ünlem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8EF6F-8C8F-4A86-82C7-4D625C0C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745C-80F8-48CB-B20A-731A07E1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66C9A-4B2B-4928-ACEA-A36841F3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AC282-AC93-4667-B369-E345DAEA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Sevinç, kıvanç, acı, korku ve şaşma gibi duyguları anlatan cümle veya ibarelerin sonuna konur.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F1ADC-3B15-4147-A6BB-73124C65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Seslenme, hitap ve uyarı sözlerinden sonra kullanılır: Dur, yolcu!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5B012-7808-4C54-A749-F23D04E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Alay, kinaye veya küçümseme anlamı için ilgili sözden sonra yay ayraç içinde yazılır: akıllı (!).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2E56F-0DF4-41EE-8B81-4177D7D0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Seslenme ve hitap sözünün hemen ardından ya da cümlenin sonunda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552360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D306E-311F-47B3-9440-7821BA68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9231D-C73E-4D61-96A6-A89FD82A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AE1DE-EAA4-4158-80C9-A19AA6A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sözcük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C5AE1-1AC4-4414-81E7-0237389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012E5-BFA3-4407-95DD-D90F3F1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E7CF9-57A9-4A0F-99B6-1EBD62D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4BA9D-3CC9-4538-9F98-C5FED14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Satıra sığmayan kelime bölünürken satır sonuna konur.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97307-B5A0-4C29-BE66-98BFAB26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Ara söz ve ara cümlelerin başına ve sonuna bitişik yazılır: sürü -dört inekle birkaç koyun- köye girdi.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DBF12-1F5F-4A25-A665-0E8412F4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Kök, gövde ve ekleri ayırır: al-ış, gör-gü-süz-lük.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4C281-8210-42D7-B589-98E984D1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Fiil kök ve gövdelerini gösterir: al-, başar-, yazdır-.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8367A-DE18-43EE-A252-0C96E8E8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İsim yapma eklerinin başına; fiil yapma eklerinin başına ve sonuna konur: -lık, -la-, -tır-.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DE41D-ED95-4FAF-AB34-FD9CDD19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Heceleri gösterir: a-raş-tır-ma, prog-ram.</a:t>
            </a:r>
          </a:p>
        </p:txBody>
      </p:sp>
    </p:spTree>
    <p:extLst>
      <p:ext uri="{BB962C8B-B14F-4D97-AF65-F5344CB8AC3E}">
        <p14:creationId xmlns:p14="http://schemas.microsoft.com/office/powerpoint/2010/main" val="6817394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8386D-F6F6-4C77-9F6C-3A6EFDA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2F063-6F83-4769-A5C7-1738386F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452DE-66F5-4956-A059-C619180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aralık ve matematik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DAC1F-5B42-4E91-B190-2254288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855F6-A0ED-4A6C-B2D1-A796D73C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8284C-C5F3-49D4-A755-CF55093D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3B92F-6E7F-46B3-925B-6A5BC53D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“Arasında, ve, ile, ila, …-den …-e” anlamlarında kullanılır: Aydın-İzmir yolu, 09.30-10.30, 1914-1918.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C5C0-8AF5-4065-916B-85CD5B69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Matematikte çıkarma işaretidir: 50-20=30.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545D8-A06E-4E18-BE37-EE584E3B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Sıfırdan küçük değerleri gösterir: -2 °C.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3470E-2657-4448-88D6-1A3BE606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Sayı adlarının yinelenmesinde kısa çizgi kullanılmaz: on on beş yıl, üç beş kişi.</a:t>
            </a:r>
          </a:p>
        </p:txBody>
      </p:sp>
    </p:spTree>
    <p:extLst>
      <p:ext uri="{BB962C8B-B14F-4D97-AF65-F5344CB8AC3E}">
        <p14:creationId xmlns:p14="http://schemas.microsoft.com/office/powerpoint/2010/main" val="19248035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821D1-3332-48CA-8F05-85623143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EE3F3-28B7-4AC7-991A-642A005C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B287D-9CF0-423B-A5F7-0F2FFAD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Uzun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A1512-D24D-4A40-BABA-CA86702B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E2AC4-9ED5-493A-8412-3396C21E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0F6C6-5922-42C4-BF3C-F14E3AB2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6520D-AF56-495C-B59C-D4244B3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Satır başına alınan konuşmaları gösterir; “konuşma çizgisi” adı da kullanılır.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0281C-BF5D-46AB-AE4D-31B5F89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Oyunlarda konuşanın adından sonra gelebilir: Sıtkı Bey — Kaleyi kurtarmak için…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7097F-CD4E-480F-B5F5-33A58F28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Konuşmalar tırnak içinde verildiğinde uzun çizgi kullanılmaz.</a:t>
            </a:r>
          </a:p>
        </p:txBody>
      </p:sp>
    </p:spTree>
    <p:extLst>
      <p:ext uri="{BB962C8B-B14F-4D97-AF65-F5344CB8AC3E}">
        <p14:creationId xmlns:p14="http://schemas.microsoft.com/office/powerpoint/2010/main" val="8563920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C77DB-8615-4637-85A0-F8C4181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E8A99-9B78-4E9B-80B0-1DF4EF6B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1F569-ED44-4270-9BA9-80E7EDA2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BEFE-6437-4295-B366-7EA18868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2261C-3E35-45F2-AD64-6D0E2EA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155A2-C628-476C-BF4B-14D727A1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D0AE6-6CD0-4BC3-8E90-7ED33D63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Dizeler yan yana yazıldığında aralarına konur.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24936-EF1F-41CB-854F-31944C3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Adreste apartman ile daire numarasını; semt ile şehir adını ayırır: No.: 21/6 Kurtuluş / ANKARA.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AE250-59EA-45BB-907D-C29A4DCA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Tarihte gün, ay ve yılı ayırır: 18/11/1969, 15/IX/1994.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8118-B906-4460-BA4A-186123B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Dil bilgisinde eklerin farklı biçimlerini gösterir: -a/-e, -lık/-lik.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40EE8-F904-4C62-8F20-44735E4C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Genel ağ adreslerinde kullanılır.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23AB1-FB29-4558-800B-E99CE50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Matematikte bölme işaretidir: 70/2=35.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168F3-C6B8-4BBA-8FFF-FD26125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Birimler arası oranı boşluksuz gösterir: g/sn.</a:t>
            </a:r>
          </a:p>
        </p:txBody>
      </p:sp>
    </p:spTree>
    <p:extLst>
      <p:ext uri="{BB962C8B-B14F-4D97-AF65-F5344CB8AC3E}">
        <p14:creationId xmlns:p14="http://schemas.microsoft.com/office/powerpoint/2010/main" val="19192479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A6A17-C104-48AC-A31A-9100B45F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ED406-BC16-48E0-BDF4-E5B21E6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\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05621-78AD-4913-AE1D-BDFACBB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Ters 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4FD77-B668-4218-97D9-67F64D37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99E3E-3797-4600-9730-4184555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F7DF9-B787-4BF7-8A17-68F24C4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\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4286-38DF-4CFB-81E9-0220B6B9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Bilişim uygulamalarında art arda gelen dizinleri birbirinden ayırır.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C6AAA-5D69-4FAE-AC36-ADC86D61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Örnek: C:\Belgelerim\Türk İşaret Dili\Kitapçık.indd</a:t>
            </a:r>
          </a:p>
        </p:txBody>
      </p:sp>
    </p:spTree>
    <p:extLst>
      <p:ext uri="{BB962C8B-B14F-4D97-AF65-F5344CB8AC3E}">
        <p14:creationId xmlns:p14="http://schemas.microsoft.com/office/powerpoint/2010/main" val="6962265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F2C49-9CA4-49B9-8C53-528C10F7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DF78D-ECE5-48E9-A840-5D0B5BD7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 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F45D5-60AC-491D-9AD0-B9A4ADD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Tırnak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553C6-C260-4C4A-8621-24DD8967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4F28F-B90B-4B50-BF64-C9EB229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A137D-AD4A-4105-A1CA-0A0D2BF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“ 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CE68D-6B7A-4858-9D2B-FF457E2F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Başka bir kişiden veya yazıdan olduğu gibi aktarılan sözleri içine alır.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C49FC-D210-424D-BB6F-F830BE0A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8888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olarak vurgulanmak istenen sözleri gösterir: yeni bir “barış taarruzu”.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A3D76-D3DE-4E1E-A540-1337962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Cümle içinde eser, yazı ve bölüm adlarını gösterir: “Kendi Gök Kubbemiz”, “Yazım Kuralları”.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D6CF4-B3EE-48B9-A5B1-060337E0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8663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Bilimsel çalışmalarda künye verilirken makale adları tırnak içinde yazılır.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A7CEB-320B-4789-A543-9D129CE7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Alıntının sonundaki işaretler tırnak içinde kalır.  •  Tırnaklı söze gelen ek için kesme kullanılmaz: “Bit Palas”ını.  •  Vurgulanan sözler ve eser adları eğik yazıyla da gösterilebilir.</a:t>
            </a:r>
          </a:p>
        </p:txBody>
      </p:sp>
    </p:spTree>
    <p:extLst>
      <p:ext uri="{BB962C8B-B14F-4D97-AF65-F5344CB8AC3E}">
        <p14:creationId xmlns:p14="http://schemas.microsoft.com/office/powerpoint/2010/main" val="864570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0A11B-7F16-410A-B13B-F61AE542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A09A7-8836-42C6-8D64-772906BE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‘ 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8CE42-A523-4571-9F31-F422B91F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Tek tırnak ve denden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4F471-E903-444A-9A93-AA4E569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6498B-C921-4799-937A-75E62E3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447D0-DFFC-41F3-A509-502DA4F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‘ 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68220-9927-4706-BF79-8A5602C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tırnak, tırnak içindeki cümlede yeniden tırnağa alınması gereken söz veya ibareyi gösterir.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BE958-8307-48F3-8BE0-80C493DD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Örnek: “Şiirler içinde ‘Han Duvarları’ gibisi var mı?”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72A0A-4DB2-4E66-B5E4-580AFFE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Denden işareti (“), bir çizelgede alt alta gelen aynı söz, söz grubu veya sayının tekrar yazılmasını önler.</a:t>
            </a:r>
          </a:p>
        </p:txBody>
      </p:sp>
    </p:spTree>
    <p:extLst>
      <p:ext uri="{BB962C8B-B14F-4D97-AF65-F5344CB8AC3E}">
        <p14:creationId xmlns:p14="http://schemas.microsoft.com/office/powerpoint/2010/main" val="1394542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A264A-DA7F-4BD1-A39B-A266EC27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3F4A-3FD3-4256-AEF8-96F61DB2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A69A0-0507-4DA6-ACF4-4815091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 bilgi ve kaynak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7F75F-2773-4BB6-B1E4-19F74F5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7CF2C-DBB1-4090-BD66-CFC5097D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87A83-C9DE-4AC9-806D-5E1D0ACF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4CE76-F662-439C-846B-68FFEBD3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anlamını tamamlayan, fakat cümle dışında kalan ek bilgiyi gösterir. Ayraç içindeki yargı uygun işaretle biter.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26343-1D3A-42D7-916A-6A8DE2FE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veya cins isme ait ek ayraçtan önce yazılır: Yunus Emre’nin (1240?-1320).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44D6B-61C1-420E-98C5-BDCDD81D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Tiyatro ve senaryoda konuşanın hareket ve durumunu açıklar.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8E249-0F23-432B-A8B2-111F07A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Alıntının kaynağını, yazarını veya künye bilgisini gösterir.</a:t>
            </a:r>
          </a:p>
        </p:txBody>
      </p:sp>
    </p:spTree>
    <p:extLst>
      <p:ext uri="{BB962C8B-B14F-4D97-AF65-F5344CB8AC3E}">
        <p14:creationId xmlns:p14="http://schemas.microsoft.com/office/powerpoint/2010/main" val="8952893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6610A-089C-4BA7-B840-5224091B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5D96F-D2A8-4067-9A34-1FD554F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16A27-9A0F-4BAB-A94F-901BFF2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eksiltme ve işaretler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A16E9-3387-4B58-AE10-906DA7B7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1843F-4060-4D7B-9F47-44F3336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F0B00-D678-41FB-9068-4E81AAB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1BC91-377F-45FB-8744-070DCE5E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Alıntıda çıkarılan bölümün yerine konan üç nokta yay ayraç içine alınabilir: (…).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7ABF6-07DA-4B44-BC4D-C4948D03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Alay, kinaye veya küçümseme bildiren ünlem yay ayraç içine alınır: (!).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98495-3B10-4AC1-AC20-E02129F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Şüpheli veya kesin olmayan bilgi için soru işareti yay ayraç içine alınır: (?).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5D88F-C2C4-4587-9A91-A9CE1A2B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Maddeleri gösteren sayı ve harflerden sonra kapama ayracı kullanılır: I), 1), A), a).</a:t>
            </a:r>
          </a:p>
        </p:txBody>
      </p:sp>
    </p:spTree>
    <p:extLst>
      <p:ext uri="{BB962C8B-B14F-4D97-AF65-F5344CB8AC3E}">
        <p14:creationId xmlns:p14="http://schemas.microsoft.com/office/powerpoint/2010/main" val="11125201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91EB4-8E85-4CDA-BFD5-23A038B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A44BA-D93F-44E0-BA17-7776B075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[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82F69-E42D-48DF-962A-F261AD64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Köşeli ayraç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14F88-81B8-413E-B953-8564FF8D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7FC88-C9A5-4FC4-8D78-271387CB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9CAEA-A420-4CF6-8EE7-D4A59693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[ 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B31FF-3FE1-48E3-9A5F-57EADF73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Ayraç içinde yeniden ayraç gerektiğinde, yay ayraçtan önce köşeli ayraç kullanılır: [Cevat Şakir Kabaağaçlı (1886-1973)].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FAD42-7328-4135-8115-7047FAB5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Aktarma, çeviri ve alıntıda çalışmayı yapanın eklediği sözleri gösterir: fark[ın], çık[tığını].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24E4C-AF63-465D-A12F-3FA50377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Kaynak künyesinde bazı tamamlayıcı ayrıntıları gösterir: Reşat Nuri [Güntekin].</a:t>
            </a:r>
          </a:p>
        </p:txBody>
      </p:sp>
    </p:spTree>
    <p:extLst>
      <p:ext uri="{BB962C8B-B14F-4D97-AF65-F5344CB8AC3E}">
        <p14:creationId xmlns:p14="http://schemas.microsoft.com/office/powerpoint/2010/main" val="20645360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7459-18F7-41C0-ADE2-84186DBF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F522D-BB5E-408A-9444-A694E282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EBF0C-85F8-4420-9AAC-5636BE5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72EEA-E7FF-47EA-9B22-6A80230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54D78-84B1-44DD-A8B1-5815265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5E38B-1AA0-48AE-B5A2-4B25B9C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2A519-BFE0-4B7E-9D2E-C7523FA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Özel adlara gelen iyelik, durum ve bildirme eklerini ayırır: Türkiye’mizin, Atatürk’üm, Boğazı’nın.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EE06A-888D-43D9-9993-B1D2955A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Yer bildiren özel adın kısaltmalı söyleyişinde kullanılır: Hisar’dan, Boğaz’dan.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04781-CA91-47AD-B32C-D80AB9FD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Belirli bir kanun, tüzük veya yönetmelik kastedildiğinde büyük harfle yazılan ada gelen eki ayırır: Bu Kanun’un.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26C05-ACB6-4A1D-9473-2E2E9382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adın ayraç içindeki açıklamasında kesme, ayraçtan önce gelir: Yunus Emre’nin (1240?-1320).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41A18-2566-4FD5-B124-41EDCAC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Avrupa Birliği ek aldığında kesmeyle yazılır: Avrupa Birliği’ne.</a:t>
            </a:r>
          </a:p>
        </p:txBody>
      </p:sp>
    </p:spTree>
    <p:extLst>
      <p:ext uri="{BB962C8B-B14F-4D97-AF65-F5344CB8AC3E}">
        <p14:creationId xmlns:p14="http://schemas.microsoft.com/office/powerpoint/2010/main" val="8622384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65D58-4450-41F2-9EF8-8BBD794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035D6-3937-42AD-AAF6-7B72F3C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88534-F072-49CA-BD47-716862F9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adlarda uyarılar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609A1-3ABE-49A7-AE73-DD24447C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75AA1-EA10-4996-86AC-2A7CDE32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01481-4248-4765-85E7-229CF86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FEA11-07F0-4E38-8047-3CA38C58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Üçüncü tekil kişi iyelik eki taşıyan özel ada başka bir iyelik eki gelirse kesme kullanılmaz: Boğaz Köprümüzün.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13DD1-D753-4CC2-AD18-8BB7483F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Kurum, kuruluş, kurul, birleşim, oturum ve iş yeri adlarına gelen ekler kesmeyle ayrılmaz: Türk Dil Kurumundan.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BAA65-B379-4462-A7EB-287A267D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Başbakanlık ve Rektörlük gibi sözlere ünlüyle başlayan ek doğrudan gelir: Başbakanlığa, Rektörlüğe.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9FCAD-830A-4255-905C-D33F00D9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adlara gelen yapım ekleri, çokluk eki ve bunlardan sonraki ekler ayrılmaz: Türkçe, Türklüğün, Ahmetler.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94C3D-792A-45A3-9BE9-DED54A1A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p, ç, t, k ile biten özel adlar ek aldığında söyleyişte yumuşar: Ahmedi, Sinobu, Zonguldağı.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4DB9D-99EF-4A5A-9BAE-E25306A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 yerine kullanılan “o” zamiri küçük yazılır ve eki kesmeyle ayrılmaz.</a:t>
            </a:r>
          </a:p>
        </p:txBody>
      </p:sp>
    </p:spTree>
    <p:extLst>
      <p:ext uri="{BB962C8B-B14F-4D97-AF65-F5344CB8AC3E}">
        <p14:creationId xmlns:p14="http://schemas.microsoft.com/office/powerpoint/2010/main" val="23194893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4E368-453E-4744-B005-9E7DB2D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F110C-D7CF-4A28-9932-6A13E4B8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1396F-5989-4A26-8399-810D5891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diğer kullanımlar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98821-779C-478F-8520-CD8C4D35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9D759-8C08-4635-A09F-148BFCC8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E2322-3A04-4444-8C95-051FEEB3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E7DED0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7DED0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35590-734E-4323-90E1-91E8614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Kişi adından sonra gelen saygı ve ünvan sözüne eklenen eki ayırır: Nihat Bey’e, Türk Dil Kurumu Başkanı’na.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4961F-B50F-4855-B2CF-47380E8F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Kısaltmalara gelen ekleri ayırır: TBMM’nin, TDK’nin, TV’ye.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6E91F-E8A9-4946-8923-49F41DBA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Sayılara gelen ekleri ayırır: 1985’te, 8’inci, 2’nci, 657’yle.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6547C-852E-4188-8E5C-D0C0EBB9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Belirli tarih bildiren ay ve gün adlarına gelen ekleri ayırır: 17 Aralık’a, 12 Temmuz 2010 Pazartesi’nin.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3EF90-BFFF-4022-A96C-2CF3C5F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Ölçü ve söyleyiş gereği düşen sesleri gösterir: m’ola, n’eyleyim, par’etmez.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8D851-215D-4E7F-A5F2-1D917AA9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DD2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 ek veya harften sonra gelen eki ayırır: a’dan z’ye, -lık’la.</a:t>
            </a:r>
          </a:p>
        </p:txBody>
      </p:sp>
    </p:spTree>
    <p:extLst>
      <p:ext uri="{BB962C8B-B14F-4D97-AF65-F5344CB8AC3E}">
        <p14:creationId xmlns:p14="http://schemas.microsoft.com/office/powerpoint/2010/main" val="20802674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D0FDF-EDF5-4F20-8285-339366EE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BE9D7-02A8-4E85-AD57-ABEF7FB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4D69C-755C-4CD3-B292-32BDE0C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Hızlı başvuru matrisi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4585-2E63-4A24-BF48-BA6B452B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DED63-49AD-40B9-9CC2-1B080BD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57AD2-573F-4488-8A8F-8649B94E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Cümleyi bitirir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53C67-F5A0-4F02-AFC6-FF293CF7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.  ?  ! 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BC15F-6441-48EA-B0B0-0EDEB65F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Ögeleri ayırır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5E70E-DDB7-479A-BF5E-7A7B229D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,  ;  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3B69F-23B8-409E-85EA-3DF1CA4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Konuşma ve alıntı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3E68E-8596-4D9C-B84A-2AEAB92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—  “ ”  ‘ 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D0923-52DF-4DDC-85B6-C6279B4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 bilgi ve belirsizlik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CD82F-F29F-4055-9DD3-BE49314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( )  [ ]  (?)  (!)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1C1FE-A8DD-4710-9CE1-A1448518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Sözcük ve aralık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2AB23-92DE-45C6-87EA-5E877DBF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-  / 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D8433-665C-446C-8AEB-7CDE97A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Ekleri ayırır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A9240-9863-466C-8220-5250D831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915017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2026-09-28T19:14:57.2940000Z</dcterms:created>
  <dcterms:modified xsi:type="dcterms:W3CDTF">2026-09-28T19:14:57.2940000Z</dcterms:modified>
</coreProperties>
</file>