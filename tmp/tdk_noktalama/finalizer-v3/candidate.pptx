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b15172c9874445" /><Relationship Type="http://schemas.openxmlformats.org/officeDocument/2006/relationships/extended-properties" Target="/docProps/app.xml" Id="Rd6d2f668c93b4b38" /><Relationship Type="http://schemas.openxmlformats.org/officeDocument/2006/relationships/officeDocument" Target="/ppt/presentation.xml" Id="R2d05719b725a49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a26b0c7bae4b53"/>
  </p:sldMasterIdLst>
  <p:notesMasterIdLst>
    <p:notesMasterId xmlns:r="http://schemas.openxmlformats.org/officeDocument/2006/relationships" r:id="Rba5e9d28d3834ed0"/>
  </p:notesMasterIdLst>
  <p:sldIdLst>
    <p:sldId xmlns:r="http://schemas.openxmlformats.org/officeDocument/2006/relationships" id="256" r:id="R37ad6448a25a4b39"/>
    <p:sldId xmlns:r="http://schemas.openxmlformats.org/officeDocument/2006/relationships" id="257" r:id="R1ee4a8e158694d63"/>
    <p:sldId xmlns:r="http://schemas.openxmlformats.org/officeDocument/2006/relationships" id="258" r:id="R138f91ab2d4a4452"/>
    <p:sldId xmlns:r="http://schemas.openxmlformats.org/officeDocument/2006/relationships" id="259" r:id="R275e629917e04f3b"/>
    <p:sldId xmlns:r="http://schemas.openxmlformats.org/officeDocument/2006/relationships" id="260" r:id="Rd84cadc545c64b46"/>
    <p:sldId xmlns:r="http://schemas.openxmlformats.org/officeDocument/2006/relationships" id="261" r:id="R76a553cec0724299"/>
    <p:sldId xmlns:r="http://schemas.openxmlformats.org/officeDocument/2006/relationships" id="262" r:id="R027b29304e6b4876"/>
    <p:sldId xmlns:r="http://schemas.openxmlformats.org/officeDocument/2006/relationships" id="263" r:id="Raad37cf5446a4b43"/>
    <p:sldId xmlns:r="http://schemas.openxmlformats.org/officeDocument/2006/relationships" id="264" r:id="Ra41cc22065e544e8"/>
    <p:sldId xmlns:r="http://schemas.openxmlformats.org/officeDocument/2006/relationships" id="265" r:id="R6286037103294e22"/>
    <p:sldId xmlns:r="http://schemas.openxmlformats.org/officeDocument/2006/relationships" id="266" r:id="R8be590571ae34dcc"/>
    <p:sldId xmlns:r="http://schemas.openxmlformats.org/officeDocument/2006/relationships" id="267" r:id="R781612527fd0444f"/>
    <p:sldId xmlns:r="http://schemas.openxmlformats.org/officeDocument/2006/relationships" id="268" r:id="R846db015adb2441c"/>
    <p:sldId xmlns:r="http://schemas.openxmlformats.org/officeDocument/2006/relationships" id="269" r:id="Rd4e25c70a49145d4"/>
    <p:sldId xmlns:r="http://schemas.openxmlformats.org/officeDocument/2006/relationships" id="270" r:id="Rac0655ccd58c4d0b"/>
    <p:sldId xmlns:r="http://schemas.openxmlformats.org/officeDocument/2006/relationships" id="271" r:id="R923a45b58bc742d0"/>
    <p:sldId xmlns:r="http://schemas.openxmlformats.org/officeDocument/2006/relationships" id="272" r:id="R74754109d4284ef1"/>
    <p:sldId xmlns:r="http://schemas.openxmlformats.org/officeDocument/2006/relationships" id="273" r:id="R5cd755f2a9474704"/>
    <p:sldId xmlns:r="http://schemas.openxmlformats.org/officeDocument/2006/relationships" id="274" r:id="R42215a0cb5ae40d6"/>
    <p:sldId xmlns:r="http://schemas.openxmlformats.org/officeDocument/2006/relationships" id="275" r:id="R4d139e7e29a040a5"/>
    <p:sldId xmlns:r="http://schemas.openxmlformats.org/officeDocument/2006/relationships" id="276" r:id="R10133da36cfc4831"/>
    <p:sldId xmlns:r="http://schemas.openxmlformats.org/officeDocument/2006/relationships" id="277" r:id="R971719ad561b4eb1"/>
    <p:sldId xmlns:r="http://schemas.openxmlformats.org/officeDocument/2006/relationships" id="278" r:id="R5727be2f0c954555"/>
    <p:sldId xmlns:r="http://schemas.openxmlformats.org/officeDocument/2006/relationships" id="279" r:id="R4aa0191c8af64e8d"/>
    <p:sldId xmlns:r="http://schemas.openxmlformats.org/officeDocument/2006/relationships" id="280" r:id="Rda5e122121ae4f1c"/>
    <p:sldId xmlns:r="http://schemas.openxmlformats.org/officeDocument/2006/relationships" id="281" r:id="Rac5c4fdfd5454202"/>
    <p:sldId xmlns:r="http://schemas.openxmlformats.org/officeDocument/2006/relationships" id="282" r:id="R136abbb497604e1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4721802c9444c6" /><Relationship Type="http://schemas.openxmlformats.org/officeDocument/2006/relationships/slideMaster" Target="/ppt/slideMasters/slideMaster1.xml" Id="Re7a26b0c7bae4b53" /><Relationship Type="http://schemas.openxmlformats.org/officeDocument/2006/relationships/notesMaster" Target="/ppt/notesMasters/notesMaster1.xml" Id="Rba5e9d28d3834ed0" /><Relationship Type="http://schemas.openxmlformats.org/officeDocument/2006/relationships/presProps" Target="/ppt/presProps.xml" Id="R131eaa20c4734537" /><Relationship Type="http://schemas.openxmlformats.org/officeDocument/2006/relationships/tableStyles" Target="/ppt/tableStyles.xml" Id="Ra8f05e9ca1914ea9" /><Relationship Type="http://schemas.openxmlformats.org/officeDocument/2006/relationships/slide" Target="/ppt/slides/slide1.xml" Id="R37ad6448a25a4b39" /><Relationship Type="http://schemas.openxmlformats.org/officeDocument/2006/relationships/slide" Target="/ppt/slides/slide2.xml" Id="R1ee4a8e158694d63" /><Relationship Type="http://schemas.openxmlformats.org/officeDocument/2006/relationships/slide" Target="/ppt/slides/slide3.xml" Id="R138f91ab2d4a4452" /><Relationship Type="http://schemas.openxmlformats.org/officeDocument/2006/relationships/slide" Target="/ppt/slides/slide4.xml" Id="R275e629917e04f3b" /><Relationship Type="http://schemas.openxmlformats.org/officeDocument/2006/relationships/slide" Target="/ppt/slides/slide5.xml" Id="Rd84cadc545c64b46" /><Relationship Type="http://schemas.openxmlformats.org/officeDocument/2006/relationships/slide" Target="/ppt/slides/slide6.xml" Id="R76a553cec0724299" /><Relationship Type="http://schemas.openxmlformats.org/officeDocument/2006/relationships/slide" Target="/ppt/slides/slide7.xml" Id="R027b29304e6b4876" /><Relationship Type="http://schemas.openxmlformats.org/officeDocument/2006/relationships/slide" Target="/ppt/slides/slide8.xml" Id="Raad37cf5446a4b43" /><Relationship Type="http://schemas.openxmlformats.org/officeDocument/2006/relationships/slide" Target="/ppt/slides/slide9.xml" Id="Ra41cc22065e544e8" /><Relationship Type="http://schemas.openxmlformats.org/officeDocument/2006/relationships/slide" Target="/ppt/slides/slide10.xml" Id="R6286037103294e22" /><Relationship Type="http://schemas.openxmlformats.org/officeDocument/2006/relationships/slide" Target="/ppt/slides/slide11.xml" Id="R8be590571ae34dcc" /><Relationship Type="http://schemas.openxmlformats.org/officeDocument/2006/relationships/slide" Target="/ppt/slides/slide12.xml" Id="R781612527fd0444f" /><Relationship Type="http://schemas.openxmlformats.org/officeDocument/2006/relationships/slide" Target="/ppt/slides/slide13.xml" Id="R846db015adb2441c" /><Relationship Type="http://schemas.openxmlformats.org/officeDocument/2006/relationships/slide" Target="/ppt/slides/slide14.xml" Id="Rd4e25c70a49145d4" /><Relationship Type="http://schemas.openxmlformats.org/officeDocument/2006/relationships/slide" Target="/ppt/slides/slide15.xml" Id="Rac0655ccd58c4d0b" /><Relationship Type="http://schemas.openxmlformats.org/officeDocument/2006/relationships/slide" Target="/ppt/slides/slide16.xml" Id="R923a45b58bc742d0" /><Relationship Type="http://schemas.openxmlformats.org/officeDocument/2006/relationships/slide" Target="/ppt/slides/slide17.xml" Id="R74754109d4284ef1" /><Relationship Type="http://schemas.openxmlformats.org/officeDocument/2006/relationships/slide" Target="/ppt/slides/slide18.xml" Id="R5cd755f2a9474704" /><Relationship Type="http://schemas.openxmlformats.org/officeDocument/2006/relationships/slide" Target="/ppt/slides/slide19.xml" Id="R42215a0cb5ae40d6" /><Relationship Type="http://schemas.openxmlformats.org/officeDocument/2006/relationships/slide" Target="/ppt/slides/slide20.xml" Id="R4d139e7e29a040a5" /><Relationship Type="http://schemas.openxmlformats.org/officeDocument/2006/relationships/slide" Target="/ppt/slides/slide21.xml" Id="R10133da36cfc4831" /><Relationship Type="http://schemas.openxmlformats.org/officeDocument/2006/relationships/slide" Target="/ppt/slides/slide22.xml" Id="R971719ad561b4eb1" /><Relationship Type="http://schemas.openxmlformats.org/officeDocument/2006/relationships/slide" Target="/ppt/slides/slide23.xml" Id="R5727be2f0c954555" /><Relationship Type="http://schemas.openxmlformats.org/officeDocument/2006/relationships/slide" Target="/ppt/slides/slide24.xml" Id="R4aa0191c8af64e8d" /><Relationship Type="http://schemas.openxmlformats.org/officeDocument/2006/relationships/slide" Target="/ppt/slides/slide25.xml" Id="Rda5e122121ae4f1c" /><Relationship Type="http://schemas.openxmlformats.org/officeDocument/2006/relationships/slide" Target="/ppt/slides/slide26.xml" Id="Rac5c4fdfd5454202" /><Relationship Type="http://schemas.openxmlformats.org/officeDocument/2006/relationships/slide" Target="/ppt/slides/slide27.xml" Id="R136abbb497604e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a8269fa79f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177faa496949e0" /><Relationship Type="http://schemas.openxmlformats.org/officeDocument/2006/relationships/notesMaster" Target="/ppt/notesMasters/notesMaster1.xml" Id="Re3701bfbcec84c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3c3d36a4fe4278" /><Relationship Type="http://schemas.openxmlformats.org/officeDocument/2006/relationships/notesMaster" Target="/ppt/notesMasters/notesMaster1.xml" Id="R8b35166ceee04f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a2bb544c7d4c64" /><Relationship Type="http://schemas.openxmlformats.org/officeDocument/2006/relationships/notesMaster" Target="/ppt/notesMasters/notesMaster1.xml" Id="R179eddcdb6f049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f591a2b03f4840" /><Relationship Type="http://schemas.openxmlformats.org/officeDocument/2006/relationships/notesMaster" Target="/ppt/notesMasters/notesMaster1.xml" Id="R4d92988f912c45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99caf60b054903" /><Relationship Type="http://schemas.openxmlformats.org/officeDocument/2006/relationships/notesMaster" Target="/ppt/notesMasters/notesMaster1.xml" Id="Rc050ef52d8bd47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2c7833ae69415e" /><Relationship Type="http://schemas.openxmlformats.org/officeDocument/2006/relationships/notesMaster" Target="/ppt/notesMasters/notesMaster1.xml" Id="R105df43e572543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3449865cf54050" /><Relationship Type="http://schemas.openxmlformats.org/officeDocument/2006/relationships/notesMaster" Target="/ppt/notesMasters/notesMaster1.xml" Id="Rcd91404003e24af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f12d19c03e40a3" /><Relationship Type="http://schemas.openxmlformats.org/officeDocument/2006/relationships/notesMaster" Target="/ppt/notesMasters/notesMaster1.xml" Id="R3505f4b0da9940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7d490fc0224a72" /><Relationship Type="http://schemas.openxmlformats.org/officeDocument/2006/relationships/notesMaster" Target="/ppt/notesMasters/notesMaster1.xml" Id="Rb7369a4e1bf249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9f7af2c4d24294" /><Relationship Type="http://schemas.openxmlformats.org/officeDocument/2006/relationships/notesMaster" Target="/ppt/notesMasters/notesMaster1.xml" Id="Rc52cf5dca6084b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777fa3e15b45ab" /><Relationship Type="http://schemas.openxmlformats.org/officeDocument/2006/relationships/notesMaster" Target="/ppt/notesMasters/notesMaster1.xml" Id="Rbc1ee194137a4e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c2a1ac30e14fe4" /><Relationship Type="http://schemas.openxmlformats.org/officeDocument/2006/relationships/notesMaster" Target="/ppt/notesMasters/notesMaster1.xml" Id="R545278b6f46f4c1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d15b1e0e674e0c" /><Relationship Type="http://schemas.openxmlformats.org/officeDocument/2006/relationships/notesMaster" Target="/ppt/notesMasters/notesMaster1.xml" Id="R859e5b4f4c9a45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8b5229ea7941fb" /><Relationship Type="http://schemas.openxmlformats.org/officeDocument/2006/relationships/notesMaster" Target="/ppt/notesMasters/notesMaster1.xml" Id="R2462085059e24bc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b9944da116845e3" /><Relationship Type="http://schemas.openxmlformats.org/officeDocument/2006/relationships/notesMaster" Target="/ppt/notesMasters/notesMaster1.xml" Id="Rd4aa0e42e3214d0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c44b58475294a74" /><Relationship Type="http://schemas.openxmlformats.org/officeDocument/2006/relationships/notesMaster" Target="/ppt/notesMasters/notesMaster1.xml" Id="Rfdace631460145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887c105c6c462e" /><Relationship Type="http://schemas.openxmlformats.org/officeDocument/2006/relationships/notesMaster" Target="/ppt/notesMasters/notesMaster1.xml" Id="R319faba28c304b8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1aa78014ee44605" /><Relationship Type="http://schemas.openxmlformats.org/officeDocument/2006/relationships/notesMaster" Target="/ppt/notesMasters/notesMaster1.xml" Id="Rfa6be359d71943f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6562e61c2454568" /><Relationship Type="http://schemas.openxmlformats.org/officeDocument/2006/relationships/notesMaster" Target="/ppt/notesMasters/notesMaster1.xml" Id="R86c744a7e36a43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39bccaaf36c42cb" /><Relationship Type="http://schemas.openxmlformats.org/officeDocument/2006/relationships/notesMaster" Target="/ppt/notesMasters/notesMaster1.xml" Id="R1d63a724599847e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64968996ca84e97" /><Relationship Type="http://schemas.openxmlformats.org/officeDocument/2006/relationships/notesMaster" Target="/ppt/notesMasters/notesMaster1.xml" Id="R3e20b361cc3e42a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f4ca2730a548c8" /><Relationship Type="http://schemas.openxmlformats.org/officeDocument/2006/relationships/notesMaster" Target="/ppt/notesMasters/notesMaster1.xml" Id="Rc48bc187dc8542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849ee70db234a5c" /><Relationship Type="http://schemas.openxmlformats.org/officeDocument/2006/relationships/notesMaster" Target="/ppt/notesMasters/notesMaster1.xml" Id="R41154eba51b942a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7c785dcfa1741e0" /><Relationship Type="http://schemas.openxmlformats.org/officeDocument/2006/relationships/notesMaster" Target="/ppt/notesMasters/notesMaster1.xml" Id="R83264d51ba6949b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c2b30830edc4c5e" /><Relationship Type="http://schemas.openxmlformats.org/officeDocument/2006/relationships/notesMaster" Target="/ppt/notesMasters/notesMaster1.xml" Id="R2c9f56ecffc24c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6d88a73a926439e" /><Relationship Type="http://schemas.openxmlformats.org/officeDocument/2006/relationships/notesMaster" Target="/ppt/notesMasters/notesMaster1.xml" Id="R785ee82338ba492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5f5d312a8a64e10" /><Relationship Type="http://schemas.openxmlformats.org/officeDocument/2006/relationships/notesMaster" Target="/ppt/notesMasters/notesMaster1.xml" Id="R238b8690312c46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Kaynak: https://tdk.gov.tr/icerik/yazim-kurallari/noktalama-isaretleri-aciklamalar/ (erişim: 28.09.2026).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e06891e9f498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e04fac68544e6d" /><Relationship Type="http://schemas.openxmlformats.org/officeDocument/2006/relationships/slideLayout" Target="/ppt/slideLayouts/slideLayout1.xml" Id="R3bc679574eef4a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c679574eef4a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f5b46a6e74b36" /><Relationship Type="http://schemas.openxmlformats.org/officeDocument/2006/relationships/notesSlide" Target="/ppt/notesSlides/notesSlide1.xml" Id="R0f70239eb7f84c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f36fe3f534bb2" /><Relationship Type="http://schemas.openxmlformats.org/officeDocument/2006/relationships/notesSlide" Target="/ppt/notesSlides/notesSlide2.xml" Id="R2b484279d7754f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9b61031e14538" /><Relationship Type="http://schemas.openxmlformats.org/officeDocument/2006/relationships/notesSlide" Target="/ppt/notesSlides/notesSlide3.xml" Id="Rb125c97685e24e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7f1c45ddf462f" /><Relationship Type="http://schemas.openxmlformats.org/officeDocument/2006/relationships/notesSlide" Target="/ppt/notesSlides/notesSlide4.xml" Id="R7993bf8010ac41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08d06b8e8424a" /><Relationship Type="http://schemas.openxmlformats.org/officeDocument/2006/relationships/notesSlide" Target="/ppt/notesSlides/notesSlide5.xml" Id="R8ff4d12cd11a4c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a40ed95cc48ad" /><Relationship Type="http://schemas.openxmlformats.org/officeDocument/2006/relationships/notesSlide" Target="/ppt/notesSlides/notesSlide6.xml" Id="Re2dc229483cd45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a2033defa48ff" /><Relationship Type="http://schemas.openxmlformats.org/officeDocument/2006/relationships/notesSlide" Target="/ppt/notesSlides/notesSlide7.xml" Id="R54208ff10b67444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9f6aac50947a3" /><Relationship Type="http://schemas.openxmlformats.org/officeDocument/2006/relationships/notesSlide" Target="/ppt/notesSlides/notesSlide8.xml" Id="R14727f50e3b94c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02b7e51a240e1" /><Relationship Type="http://schemas.openxmlformats.org/officeDocument/2006/relationships/notesSlide" Target="/ppt/notesSlides/notesSlide9.xml" Id="Rc26b417d5b6f43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fd794d4dc4df3" /><Relationship Type="http://schemas.openxmlformats.org/officeDocument/2006/relationships/notesSlide" Target="/ppt/notesSlides/notesSlide10.xml" Id="R81814b2852ab46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38248d2b34577" /><Relationship Type="http://schemas.openxmlformats.org/officeDocument/2006/relationships/notesSlide" Target="/ppt/notesSlides/notesSlide11.xml" Id="R8ba02d43c9654a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2f4c287ec42c2" /><Relationship Type="http://schemas.openxmlformats.org/officeDocument/2006/relationships/notesSlide" Target="/ppt/notesSlides/notesSlide12.xml" Id="R561c2bdfeb7845b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477d8c74934ed3" /><Relationship Type="http://schemas.openxmlformats.org/officeDocument/2006/relationships/notesSlide" Target="/ppt/notesSlides/notesSlide13.xml" Id="R02c6ca887f2043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9351e6d8947d6" /><Relationship Type="http://schemas.openxmlformats.org/officeDocument/2006/relationships/notesSlide" Target="/ppt/notesSlides/notesSlide14.xml" Id="Rcfd21ee2d1dc4c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a2808c9d84f7b" /><Relationship Type="http://schemas.openxmlformats.org/officeDocument/2006/relationships/notesSlide" Target="/ppt/notesSlides/notesSlide15.xml" Id="Rd199fc4e7b2e4a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145e906a0432b" /><Relationship Type="http://schemas.openxmlformats.org/officeDocument/2006/relationships/notesSlide" Target="/ppt/notesSlides/notesSlide16.xml" Id="Rb2eca6bc28274bb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920443e9e4f1b" /><Relationship Type="http://schemas.openxmlformats.org/officeDocument/2006/relationships/notesSlide" Target="/ppt/notesSlides/notesSlide17.xml" Id="Rfc5b5e6722ff42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2d56e8d5446bc" /><Relationship Type="http://schemas.openxmlformats.org/officeDocument/2006/relationships/notesSlide" Target="/ppt/notesSlides/notesSlide18.xml" Id="R1e97917048f2411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c631ccf0e49bc" /><Relationship Type="http://schemas.openxmlformats.org/officeDocument/2006/relationships/notesSlide" Target="/ppt/notesSlides/notesSlide19.xml" Id="R12fa84ceb31a4e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2ee51d0bc4e5e" /><Relationship Type="http://schemas.openxmlformats.org/officeDocument/2006/relationships/notesSlide" Target="/ppt/notesSlides/notesSlide20.xml" Id="Rc13e9a4e859143f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4edb9baeb641f8" /><Relationship Type="http://schemas.openxmlformats.org/officeDocument/2006/relationships/notesSlide" Target="/ppt/notesSlides/notesSlide21.xml" Id="R395b44c5c4204ae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5bf0070ea4c7d" /><Relationship Type="http://schemas.openxmlformats.org/officeDocument/2006/relationships/notesSlide" Target="/ppt/notesSlides/notesSlide22.xml" Id="R535ad8c2ad02468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ecf420b994ad6" /><Relationship Type="http://schemas.openxmlformats.org/officeDocument/2006/relationships/notesSlide" Target="/ppt/notesSlides/notesSlide23.xml" Id="R92c33a67a6ad4a3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1d0d82f424754" /><Relationship Type="http://schemas.openxmlformats.org/officeDocument/2006/relationships/notesSlide" Target="/ppt/notesSlides/notesSlide24.xml" Id="Ra51db1606302469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d476912564a90" /><Relationship Type="http://schemas.openxmlformats.org/officeDocument/2006/relationships/notesSlide" Target="/ppt/notesSlides/notesSlide25.xml" Id="Re3a58fd3c6d3440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327dd04b74adf" /><Relationship Type="http://schemas.openxmlformats.org/officeDocument/2006/relationships/notesSlide" Target="/ppt/notesSlides/notesSlide26.xml" Id="R116a44faba6b4fa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ba683ce794a44" /><Relationship Type="http://schemas.openxmlformats.org/officeDocument/2006/relationships/notesSlide" Target="/ppt/notesSlides/notesSlide27.xml" Id="R91a00508ddb94b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A66E0-F1C9-4A47-9198-D60FADD5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7239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NOKTALAMA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İŞARETLERİ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03D73-9D5C-471E-908B-F830D93C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CFE7EC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CFE7EC"/>
                </a:solidFill>
                <a:latin typeface="Aptos"/>
                <a:ea typeface="Aptos"/>
                <a:cs typeface="Aptos"/>
              </a:rPr>
              <a:t>TDK yazım kurallarındaki açıklamaların tamamı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505A51-5AF5-4F10-91C6-91E99898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9C46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E9C46A"/>
                </a:solidFill>
                <a:latin typeface="Aptos"/>
                <a:ea typeface="Aptos"/>
                <a:cs typeface="Aptos"/>
              </a:rPr>
              <a:t>.  ,  ;  :  …  ?  !  —  /  “ ”  ( )  [ ]  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0522D7-867D-4551-8E2D-8EC340CA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007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Kurallar, uyarılar ve örnek kullanımlar</a:t>
            </a:r>
          </a:p>
        </p:txBody>
      </p:sp>
    </p:spTree>
    <p:extLst>
      <p:ext uri="{BB962C8B-B14F-4D97-AF65-F5344CB8AC3E}">
        <p14:creationId xmlns:p14="http://schemas.microsoft.com/office/powerpoint/2010/main" val="6431922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FE73E-5114-47BB-A528-03418871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8D3C7-0B56-467E-8C6D-C43754F0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8BA69E-5B97-45EF-94D4-A5B7F9D5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Noktalamanın temel ilkeleri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DC8E6-16D5-486F-8E9D-A3AEBC70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8E179-B26E-4D57-929D-870AD356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8A43A6-EC3D-4C77-B1F6-472475BC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Noktalama; duygu ve düşünceyi açık anlatır, cümlenin yapısını ve duraklarını belirler.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A7225D-D681-4EA4-B8A3-B64BB136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Okumayı ve anlamayı kolaylaştırır; vurgu ve ton gibi söyleyiş özelliklerini gösterir.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52694-E0F4-414F-9E4B-4D11C5D8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Nokta, virgül, noktalı virgül, iki nokta, üç nokta, soru, ünlem, tırnak, ayraç ve kesme işaretleri ilgili kelimeye bitişik yazılır.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8511A-46F5-43B5-A61C-CA087EA4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Kesme dışındaki işaretlerden sonra bir harf boşluğu bırakılır.</a:t>
            </a:r>
          </a:p>
        </p:txBody>
      </p:sp>
    </p:spTree>
    <p:extLst>
      <p:ext uri="{BB962C8B-B14F-4D97-AF65-F5344CB8AC3E}">
        <p14:creationId xmlns:p14="http://schemas.microsoft.com/office/powerpoint/2010/main" val="2821465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711F8-A7CD-4E68-8FD2-3291907F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F2237-E419-4D3A-BC05-D14B87DC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8460A-07E1-4180-9C9E-37F3EF71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Nokta: cümle, kısaltma ve sıralama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F742B-1A28-4385-88F4-CF65059E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431D2-607D-4462-9CDD-D752C46E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314E3-1706-4800-9F67-5C074C96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Cümlenin sonuna konur. Örnek: Türk Dil Kurumu, 1932 yılında kurulmuştur.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89E799-E040-4ADB-95A7-DC81184C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031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Bazı kısaltmaların sonunda kullanılır: Alb., Dr., Prof., Cad., Sok., s., vb., İng.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DEA1E-08A1-407E-893C-C1AD0FB7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662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Sayılardan sonra sıra bildirir: 3., 15.; II. Mehmet, XV. yüzyıl, 4. Levent.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ED910B-B069-499B-8817-682BF61A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293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Virgül veya çizgiyle sıralanan rakamlarda yalnız sonuncudan sonra konur: 3, 4 ve 7. maddeler; XII–XIV. yüzyıllar.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145D69-A350-4E1C-9461-7E7C0002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924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Maddeleri gösteren rakam ve harflerden sonra kullanılır: I., 1., A., a.</a:t>
            </a:r>
          </a:p>
        </p:txBody>
      </p:sp>
    </p:spTree>
    <p:extLst>
      <p:ext uri="{BB962C8B-B14F-4D97-AF65-F5344CB8AC3E}">
        <p14:creationId xmlns:p14="http://schemas.microsoft.com/office/powerpoint/2010/main" val="1271683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BCD228-4FF4-4299-BA96-54DE8448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40FC3C-6911-40A5-A1B5-EDBC160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4DC98-AB76-4C9C-8E23-0094B7AC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Nokta: tarih, saat, sayı ve teknik kullanım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67510-B00B-4709-B351-4D36B631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B6CAD-BE63-4833-A886-15D87051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6ACB3-B13E-478F-961C-1A83E73F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Tarihte gün, ay ve yılı ayırır: 29.5.1453, 29.X.1923.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ACC26-BFBF-4E4C-9567-716B2A95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Saat ve dakikayı ayırır: 09.15, 13.00, 17.30.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684FB-521F-43D0-84CE-0F8C36AA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Kitap ve dergi künyelerinin sonuna konur.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D547D-0FB8-4305-B593-C8902E2C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9. Dört ve daha çok rakamlı sayıları üçlü gruplara ayırır: 1.000, 326.197, 49.750.812.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4113B-D6F5-45A0-8B47-00DA2DFC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10. Genel ağ adreslerinde kullanılır: tdk.gov.tr.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FDF36-21C7-4892-A81F-0EE045D5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11. Matematikte çarpma işareti yerine kullanılabilir: 4.5=20.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C718E-76BB-423D-A7CC-0C3E1692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Ay adı yazıyla yazılırsa önce ve sonra nokta kullanılmaz: 29 Mayıs 1453.</a:t>
            </a:r>
          </a:p>
        </p:txBody>
      </p:sp>
    </p:spTree>
    <p:extLst>
      <p:ext uri="{BB962C8B-B14F-4D97-AF65-F5344CB8AC3E}">
        <p14:creationId xmlns:p14="http://schemas.microsoft.com/office/powerpoint/2010/main" val="10456501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BA9C0B-F17C-4EBA-834A-576D41C7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B15C3-5F43-45D5-ACDC-B9537EEC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14C90-8C21-472D-B582-52124F14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sıralama ve cümle yapısı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6E890-12E3-477D-BD5F-A78B72B3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3A46A5-21F2-447B-B28F-A9732489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12F4D-3139-48A6-98B4-F596B75E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Eş görevli kelime ve kelime gruplarını ayırır: sessiz dereler, solgun ağaçlar, sarı güller.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49485-16CF-4735-9B02-A16C71FA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031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Sıralı cümleleri ayırır: Umduk, bekledik, düşündük.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0580EB-5945-4261-8F57-356B9158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662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Uzun cümlede yüklemden uzak düşen özneyi belirtir.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BC4E9-5773-4F90-9112-B5408D80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293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Ara söz ve ara cümlelerin başına ve sonuna konur.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A079AD-C9AA-4FC9-9554-B17CD3BF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924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Anlamı güçlendiren tekrarların arasına konur: Akşam, yine akşam, yine akşam.</a:t>
            </a:r>
          </a:p>
        </p:txBody>
      </p:sp>
    </p:spTree>
    <p:extLst>
      <p:ext uri="{BB962C8B-B14F-4D97-AF65-F5344CB8AC3E}">
        <p14:creationId xmlns:p14="http://schemas.microsoft.com/office/powerpoint/2010/main" val="14915149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0366A-9362-49B0-8B43-6CFDA58C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23EECA-5542-4133-93B2-26549F2F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9BDDE-84C9-4A59-9052-D270E47A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alıntı, konuşma ve hitap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BBF06-4F34-4E00-9FB6-164DD7EE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5D6C5-655A-4EC8-B180-692C6F22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E40F0-AB98-41F7-971D-92CE0002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Tırnak içinde olmayan alıntı cümlesinden sonra konur: Adana’ya yarın gideceğim, dedi.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00283-C0A7-4DF2-B5A5-14C3FAA3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Konuşma çizgisinden sonraki alıntının bitimine konur: — Gidiyor musunuz, diye sordu.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CCA00-E3E3-4657-A370-4E60C43F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Edebî eserde konuşma bölümünden önceki ifadenin sonuna konur.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34E45-1E2D-4F39-817C-E95831D8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9. Ret, kabul ve teşvik bildiren sözlerden sonra konur: Peki, gideriz. Haydi, geç kalıyoruz.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2DD00-2D4F-42A2-A799-146C7DAE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10. Yapı ve anlam bağını belirginleştirerek anlam karışıklığını önler.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B5E66D-9B30-4E0A-9D39-68D87CF9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11. Hitap sözlerinden sonra konur: Sayın Başkan, Sevgili Kardeşim,</a:t>
            </a:r>
          </a:p>
        </p:txBody>
      </p:sp>
    </p:spTree>
    <p:extLst>
      <p:ext uri="{BB962C8B-B14F-4D97-AF65-F5344CB8AC3E}">
        <p14:creationId xmlns:p14="http://schemas.microsoft.com/office/powerpoint/2010/main" val="280437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9E303-0A45-49D2-843E-F3ED1DB9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2AA4E-A446-4A1E-B000-AC3D5957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6077C-F035-452F-A9AD-3BA7A4CD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sayı, fiilimsi ve zamir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A5723-5BE6-4AC1-819C-D940F90A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74DF9-29B7-4B0D-8B4A-37B3D52A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B84EE-E868-468C-B2A9-0752A91A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12. Ondalık kesri ayırır: 38,6; 0,45.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B61EC-296E-41F9-BE2B-3F610DF4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13. Art arda gelen zarf-fiil eki almış kelimelerden sonra konur: Bir karara varıp, arkadaşına bakarak konuştu.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AD63E-27FD-4DF7-A19C-FBBFABE0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14. Özne görevindeki bu, şu, o zamirlerinden sonra konur: Bu, benim gibi yazarlar için kolay olmaz.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7B096-B3DD-4599-91E3-F9DAF5E9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15. Künyede yazar, eser, basımevi, yer ve yıl bilgilerini ayırır. Soyadı önceyse soyadından sonra da virgül gelir.</a:t>
            </a:r>
          </a:p>
        </p:txBody>
      </p:sp>
    </p:spTree>
    <p:extLst>
      <p:ext uri="{BB962C8B-B14F-4D97-AF65-F5344CB8AC3E}">
        <p14:creationId xmlns:p14="http://schemas.microsoft.com/office/powerpoint/2010/main" val="1125685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249C7-77A3-4EA0-A7B6-C366AA7E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0E499-082E-4AE7-A275-CD50BDEC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,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3A783-4579-4B66-AE79-2B194520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Virgül: kullanılmadığı yerler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A082F-A037-427F-B377-2AF9B6D6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36A94-EA24-43C5-A220-DFD9FC26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2BCA3-DEFF-41A2-B11E-A281745B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Tek bir zarf-fiil eki almış kelimeden sonra virgül konmaz.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82FE1-DC05-4BF4-A9C7-B196E725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ve, veya, yahut, ya…ya bağlaçlarının önce ve sonuna virgül konmaz.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C3966F-88E3-4308-8F9F-1752F8CF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Hem…hem, ya…ya, gerek…gerek, ister…ister, ne…ne gibi tekrarlı bağlaçların çevresinde kullanılmaz.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6A179-171D-4108-9385-3298D367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Pekiştirme ve bağlama görevindeki da/de bağlacından sonra kullanılmaz.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76688-DB23-404F-BACA-712E8D1B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-ınca/-ince anlamındaki mı/mi ekinden sonra kullanılmaz.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38B51-B3DF-41A6-84C8-F4D60DF3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Şart ekinden sonra virgül konmaz.</a:t>
            </a:r>
          </a:p>
        </p:txBody>
      </p:sp>
    </p:spTree>
    <p:extLst>
      <p:ext uri="{BB962C8B-B14F-4D97-AF65-F5344CB8AC3E}">
        <p14:creationId xmlns:p14="http://schemas.microsoft.com/office/powerpoint/2010/main" val="12921615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EE99A-685E-4B4B-9BA7-588C512C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265015-7438-4F07-AE3D-7598B99D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;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79504-12A4-412F-8468-BA417120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Noktalı virgül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6C5CF-6896-4030-A593-2D5D3622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74170-6DED-4C2E-9530-13B4EBE2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C5A23D-9F07-4613-8D17-C9531BF9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Virgüllerle ayrılmış tür veya takımları ayırır: Türkiye, İngiltere, Azerbaycan; Ankara, Londra, Bakü.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9CC02-76BC-42BB-9CE4-87C0A65E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Kendi içinde virgül bulunan sıralı cümleleri ayırır: İçim içime sığmıyor; bağırmak, gülmek, ağlamak istiyorum.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DD7C3-3E21-4130-9D38-53586326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İkiden fazla eş değer ögesi bulunan ve virgül içeren cümlede özneden sonra gelebilir: Yeni usul şiirimiz; zevksiz, köksüz, acemice görünüyordu.</a:t>
            </a:r>
          </a:p>
        </p:txBody>
      </p:sp>
    </p:spTree>
    <p:extLst>
      <p:ext uri="{BB962C8B-B14F-4D97-AF65-F5344CB8AC3E}">
        <p14:creationId xmlns:p14="http://schemas.microsoft.com/office/powerpoint/2010/main" val="904139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9A484-AADE-407D-98E9-EDC5AFCB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2469F-9AAE-4A43-8C68-8A633F0C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: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FF8B2-5157-426B-B7E4-48A5B3AE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İki nokta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5495AC-3BC4-45AA-BC5D-ADDE70C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29042-8747-4C99-B10E-A6260BCD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AE07E-3879-4961-872A-E3E96F1A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Ardından örnek verilecek cümlenin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C184E-F0F9-4C63-8201-9256884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Ardından açıklama verilecek cümlenin sonuna konur: Kendimi takdim edeyim: Meclis kâtiplerindenim.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DE63C-11AC-41FC-AC07-7FD06A3A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Ses bilgisinde uzun ünlüyü gösterir: a:ile, ka:til, usu:le, i:cat.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5216F-8122-4CDB-8D0D-9F0846748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Karşılıklı konuşmada konuşanın adından sonra konur: Bilge Kağan: Türklerim, işitin!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1DC45-EE9B-4E0A-87B8-2CB8B537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Edebî eserlerde konuşma bölümünden önceki ifadenin sonuna konur.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AA02D-B04D-46AB-814A-03AB6E8C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Genel ağ adreslerinde kullanılır: http://tdk.gov.tr.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D5161-1904-43AD-AEA0-9EEF6AF0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Matematikte bölme işareti olabilir: 56:8=7.</a:t>
            </a:r>
          </a:p>
        </p:txBody>
      </p:sp>
    </p:spTree>
    <p:extLst>
      <p:ext uri="{BB962C8B-B14F-4D97-AF65-F5344CB8AC3E}">
        <p14:creationId xmlns:p14="http://schemas.microsoft.com/office/powerpoint/2010/main" val="5468013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7AF989-6337-4E75-AED2-A3B80C6B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70BAD-DF30-45DF-A228-F24F3B27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372F5-6176-418F-8F64-B64CE011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Üç nokta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8D216-3EFC-4C45-98B2-84E2250F3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6B0B3-B526-4308-AEAC-CF86B791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8C0B7-01F8-40E1-A82C-E332BCC5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Anlatımca tamamlanmamış cümlenin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2EF17-6C07-413C-9456-1C510B71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Açık yazılmak istenmeyen kelime veya bölümün yerine kullanılır: b…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9FE5D-35DA-4F41-BF16-635EC409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Alıntıda alınmayan baş, orta veya son bölümlerin yerine konur.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A33F65-F574-4BAF-93EC-B7E0BFDE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Sözün kesildiğini, devamının hayale bırakıldığını gösterir veya anlatımı güçlendirir.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9C4AC7-0B74-409B-BFD0-D98ACE39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6385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Ünlem ve seslenmelerde anlatımı pekiştirir.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92E9E-CF86-491A-8325-06A3B4A8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03700"/>
            <a:ext cx="520065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Karşılıklı konuşmada eksik veya yetersiz cevabı gösterir.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80491-62EF-4E2A-A5D0-0D6A543F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Ünlem ve soru işaretinden sonra üç nokta yerine iki nokta yeterlidir: !.. ?..  •  Üç nokta yerine iki veya daha çok nokta kullanılmaz.</a:t>
            </a:r>
          </a:p>
        </p:txBody>
      </p:sp>
    </p:spTree>
    <p:extLst>
      <p:ext uri="{BB962C8B-B14F-4D97-AF65-F5344CB8AC3E}">
        <p14:creationId xmlns:p14="http://schemas.microsoft.com/office/powerpoint/2010/main" val="17736560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45C79-5E20-4A86-83D9-CB50A8DF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9A1AD-8DD3-4D70-9022-82894981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B9BFE-5B90-4440-8BA5-E5E64EA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Soru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24E19-779F-4E02-B617-2BEF6672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940E1-E563-441B-8FCF-A034E07B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08D8F-0918-4493-B2A1-9D0BEC90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Soru eki veya soru sözü içeren cümle ve sözlerin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F7014C-FF95-4233-992D-BE9B336E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Soru anlamı taşıyan, fakat soru eki veya sözü içermeyen cümlelerin sonuna konur: — Adınız?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CBEB6-686C-4F42-B9D4-1DB3201A0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Bilinmeyen, kesin olmayan veya şüpheli yer, tarih ve benzeri bilgilerde kullanılır: 1496 (?) yılında…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A785C-6FCA-40F4-B17E-348A8297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mı/mi ekli yan cümle zarf tümleciyse cümlenin sonuna soru işareti gelmez: Akşam oldu mu sürüler döner.  •  Soru anlamlı sıralı ve bağlı cümlelerde işaret en sona konur.</a:t>
            </a:r>
          </a:p>
        </p:txBody>
      </p:sp>
    </p:spTree>
    <p:extLst>
      <p:ext uri="{BB962C8B-B14F-4D97-AF65-F5344CB8AC3E}">
        <p14:creationId xmlns:p14="http://schemas.microsoft.com/office/powerpoint/2010/main" val="6047121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EB662-BBB5-42A4-A9EB-82507646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BD67A-B2C4-43B6-9CFF-AAC947C9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5AE35-D0F9-4542-ADF5-D544A09A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Ünlem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F2798-7824-4382-88CB-A2FCC3A2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2B7D5-2F11-4603-B053-BDCF0496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853AD-339D-4310-8206-61F30EB1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Sevinç, kıvanç, acı, korku ve şaşma gibi duyguları anlatan cümle veya ibarelerin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E50D0-C98D-43F0-A5D3-D228F524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Seslenme, hitap ve uyarı sözlerinden sonra kullanılır: Dur, yolcu!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EDF5B-8891-4890-B007-D3A5D789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Alay, kinaye veya küçümseme anlamı için ilgili sözden sonra yay ayraç içinde yazılır: akıllı (!).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A58EB-0AB6-4E7B-81E4-527FBC49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Seslenme ve hitap sözünün hemen ardından ya da cümlenin sonunda kullanılabilir.</a:t>
            </a:r>
          </a:p>
        </p:txBody>
      </p:sp>
    </p:spTree>
    <p:extLst>
      <p:ext uri="{BB962C8B-B14F-4D97-AF65-F5344CB8AC3E}">
        <p14:creationId xmlns:p14="http://schemas.microsoft.com/office/powerpoint/2010/main" val="6553166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E65A2-D369-4890-B180-69C3C92D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AEE64-62CA-4684-88D5-F9221ED6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7B7D6-843A-4C92-838C-700EE4C1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Kısa çizgi: sözcük yapısı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539D17-EF0E-4F5C-9268-114DED48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77668-0963-4921-B859-E20216AC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04C994-3D11-4DB2-ABB4-C632B60B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Satıra sığmayan kelime bölünürken satır sonuna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A2029-4750-4CF1-BC6B-78698E38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Ara söz ve ara cümlelerin başına ve sonuna bitişik yazılır: sürü -dört inekle birkaç koyun- köye girdi.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5E9B6-5765-4456-8707-FA990BA0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Kök, gövde ve ekleri ayırır: al-ış, gör-gü-süz-lük.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C2B7D-E9DD-4F73-9FB3-3615330C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Fiil kök ve gövdelerini gösterir: al-, başar-, yazdır-.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BE853-FB4D-4BFD-9E78-A3818966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İsim yapma eklerinin başına; fiil yapma eklerinin başına ve sonuna konur: -lık, -la-, -tır-.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5F8B4-F672-4358-ACD6-AD3F6A39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Heceleri gösterir: a-raş-tır-ma, prog-ram.</a:t>
            </a:r>
          </a:p>
        </p:txBody>
      </p:sp>
    </p:spTree>
    <p:extLst>
      <p:ext uri="{BB962C8B-B14F-4D97-AF65-F5344CB8AC3E}">
        <p14:creationId xmlns:p14="http://schemas.microsoft.com/office/powerpoint/2010/main" val="6980081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560BD-E02D-45F9-8B4C-F426DB6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91C56-F101-4F40-8F5B-3FE9577C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71815-C844-4357-9B2C-70707D83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Kısa çizgi: aralık ve matematik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66218-AD47-4DFC-B6E1-91213D8F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01430-22E2-42B0-A81F-CC6880F4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15FC1-BECB-4893-A729-D427854E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“Arasında, ve, ile, ila, …-den …-e” anlamlarında kullanılır: Aydın-İzmir yolu, 09.30-10.30, 1914-1918.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BB137-BE29-4949-A468-191773B9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385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Matematikte çıkarma işaretidir: 50-20=30.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56A81-DDB9-4A0B-B85E-A7CDB9F3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3700"/>
            <a:ext cx="10858500" cy="1225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9. Sıfırdan küçük değerleri gösterir: -2 °C.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A2DA1-F515-48C2-8F3F-48B2305A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Sayı adlarının yinelenmesinde kısa çizgi kullanılmaz: on on beş yıl, üç beş kişi.</a:t>
            </a:r>
          </a:p>
        </p:txBody>
      </p:sp>
    </p:spTree>
    <p:extLst>
      <p:ext uri="{BB962C8B-B14F-4D97-AF65-F5344CB8AC3E}">
        <p14:creationId xmlns:p14="http://schemas.microsoft.com/office/powerpoint/2010/main" val="75559968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1C6389-4457-49B8-BC1B-944F0277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D79C4-179E-4DF2-B313-A4F14005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5969A-1973-44EE-9026-1D2E09D9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Uzun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20981-9E68-4290-ABF5-E3ED8A67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648CB-A945-4140-AD74-AAAD72F2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D35D9-757E-487C-A399-C1FC57D6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Satır başına alınan konuşmaları gösterir; “konuşma çizgisi” adı da kullanılır.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E43D5-D1DB-4023-AAAF-6D733E6E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Oyunlarda konuşanın adından sonra gelebilir: Sıtkı Bey — Kaleyi kurtarmak için…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908B5-F52E-47EE-AFD8-4E9DE045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Konuşmalar tırnak içinde verildiğinde uzun çizgi kullanılmaz.</a:t>
            </a:r>
          </a:p>
        </p:txBody>
      </p:sp>
    </p:spTree>
    <p:extLst>
      <p:ext uri="{BB962C8B-B14F-4D97-AF65-F5344CB8AC3E}">
        <p14:creationId xmlns:p14="http://schemas.microsoft.com/office/powerpoint/2010/main" val="5414714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5228C7-83E7-4407-B2CB-08B7BC72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9B79CE-852C-45DC-B603-2E3C3717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30531F-9FD3-4AEA-93C5-C976A914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Eğik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BECCA-4A79-4450-B5B0-F686639E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AC11A-257E-464E-BFBD-6C1A32E2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7AD69-459F-43C8-B5A4-D87A8EF3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Dizeler yan yana yazıldığında aralarına konur.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9503C-03BB-4069-97DA-6E71E9E2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Adreste apartman ile daire numarasını; semt ile şehir adını ayırır: No.: 21/6 Kurtuluş / ANKARA.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FE3CE3-D1E5-4D83-90E3-466A5514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Tarihte gün, ay ve yılı ayırır: 18/11/1969, 15/IX/1994.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5C9193-9EBF-4361-AE38-02E5FBC8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520065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Dil bilgisinde eklerin farklı biçimlerini gösterir: -a/-e, -lık/-lik.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A1DD2-61EE-4907-8224-8E2459BF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Genel ağ adreslerinde kullanılır.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B67B8-BA33-4537-8DFC-3F444858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Matematikte bölme işaretidir: 70/2=35.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4EAD2-A735-4735-BC88-981DE0D9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Birimler arası oranı boşluksuz gösterir: g/sn.</a:t>
            </a:r>
          </a:p>
        </p:txBody>
      </p:sp>
    </p:spTree>
    <p:extLst>
      <p:ext uri="{BB962C8B-B14F-4D97-AF65-F5344CB8AC3E}">
        <p14:creationId xmlns:p14="http://schemas.microsoft.com/office/powerpoint/2010/main" val="3328321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30DBCC-591E-48BC-BDF6-926793B1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D3D44-6E81-4386-BD1A-CD2AFEE3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\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56E09-2AB4-4F23-96A9-59D54FA5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Ters eğik çizgi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55B4E-7564-4DC4-8B78-525CF400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FCBFD-0B1C-4618-BE09-8DBD6ABD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7DF50-BE2B-4257-8F1A-5E897975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Bilişim uygulamalarında art arda gelen dizinleri birbirinden ayırır.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C42B8-F0B6-487D-961C-D1ED009B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Örnek: C:\Belgelerim\Türk İşaret Dili\Kitapçık.indd</a:t>
            </a:r>
          </a:p>
        </p:txBody>
      </p:sp>
    </p:spTree>
    <p:extLst>
      <p:ext uri="{BB962C8B-B14F-4D97-AF65-F5344CB8AC3E}">
        <p14:creationId xmlns:p14="http://schemas.microsoft.com/office/powerpoint/2010/main" val="10292331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FE7904-DF98-478D-BC6D-70837185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82386-19FA-4152-AFBC-F4B9AA75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 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8D359-C19A-4556-8F00-1EF02D68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Tırnak işareti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A96E2-D00C-4A34-8142-FFF971C9E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09E02-0243-4CBE-BB9C-07A1F098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2AC95-EAAA-440E-B259-C4FB2C3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Başka bir kişiden veya yazıdan olduğu gibi aktarılan sözleri içine alır.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1AC88-1181-4DC0-B9AD-CE5C046C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8888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Özel olarak vurgulanmak istenen sözleri gösterir: yeni bir “barış taarruzu”.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67A40-4FCF-4984-9A70-6337B2FA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33775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Cümle içinde eser, yazı ve bölüm adlarını gösterir: “Kendi Gök Kubbemiz”, “Yazım Kuralları”.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55B4E-008F-4156-8A8B-B795561E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8663"/>
            <a:ext cx="10858500" cy="890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Bilimsel çalışmalarda künye verilirken makale adları tırnak içinde yazılır.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48EE8-ADD0-4DF6-ADDF-988B097D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858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9E3"/>
          </a:solidFill>
          <a:ln xmlns:a="http://schemas.openxmlformats.org/drawingml/2006/main" w="9525">
            <a:solidFill>
              <a:srgbClr val="E76F51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A3E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3E2D"/>
                </a:solidFill>
                <a:latin typeface="Aptos"/>
                <a:ea typeface="Aptos"/>
                <a:cs typeface="Aptos"/>
              </a:rPr>
              <a:t>UYARI  Alıntının sonundaki işaretler tırnak içinde kalır.  •  Tırnaklı söze gelen ek için kesme kullanılmaz: “Bit Palas”ını.  •  Vurgulanan sözler ve eser adları eğik yazıyla da gösterilebilir.</a:t>
            </a:r>
          </a:p>
        </p:txBody>
      </p:sp>
    </p:spTree>
    <p:extLst>
      <p:ext uri="{BB962C8B-B14F-4D97-AF65-F5344CB8AC3E}">
        <p14:creationId xmlns:p14="http://schemas.microsoft.com/office/powerpoint/2010/main" val="8705239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21458-CE0C-4B6D-9F33-33353918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F77B4A-4613-4B61-91C6-FAB9CDCF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‘ 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29BE6-7480-4D9D-9057-CF901D79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Tek tırnak ve denden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E4B50-22E4-4258-B12C-E42C4709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52EE6E-F298-4410-9506-3F1CF1EA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A1326-0596-4E51-A046-88130011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Tek tırnak, tırnak içindeki cümlede yeniden tırnağa alınması gereken söz veya ibareyi gösterir.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FE453-5F6D-4CA9-A832-3D768ADE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Örnek: “Şiirler içinde ‘Han Duvarları’ gibisi var mı?”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98ED8-7FDC-4787-AEF0-FF606F6C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Denden işareti (“), bir çizelgede alt alta gelen aynı söz, söz grubu veya sayının tekrar yazılmasını önler.</a:t>
            </a:r>
          </a:p>
        </p:txBody>
      </p:sp>
    </p:spTree>
    <p:extLst>
      <p:ext uri="{BB962C8B-B14F-4D97-AF65-F5344CB8AC3E}">
        <p14:creationId xmlns:p14="http://schemas.microsoft.com/office/powerpoint/2010/main" val="50698448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C2B1E-EAA1-4121-9E5C-F03B168D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818AB-31AA-44CA-9892-C4CC54AC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B12B2-C5FB-4E1B-B3E4-AF14C3C3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Yay ayraç: ek bilgi ve kaynak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F870FE-D5B1-4028-A025-B730A623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6622E-16E7-4163-90CF-1FC78F7D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48BCC-107B-44CE-8F74-6F3C99C3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Cümlenin anlamını tamamlayan, fakat cümle dışında kalan ek bilgiyi gösterir. Ayraç içindeki yargı uygun işaretle biter.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CF70D6-7922-40C9-9BEF-45CF646F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Özel veya cins isme ait ek ayraçtan önce yazılır: Yunus Emre’nin (1240?-1320).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8D4E8-86A6-43D7-8898-753CAD2C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Tiyatro ve senaryoda konuşanın hareket ve durumunu açıklar.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0C88C-2E9C-4041-94D8-1D25379D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Alıntının kaynağını, yazarını veya künye bilgisini gösterir.</a:t>
            </a:r>
          </a:p>
        </p:txBody>
      </p:sp>
    </p:spTree>
    <p:extLst>
      <p:ext uri="{BB962C8B-B14F-4D97-AF65-F5344CB8AC3E}">
        <p14:creationId xmlns:p14="http://schemas.microsoft.com/office/powerpoint/2010/main" val="132417888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E73A4-D5C2-4DE4-AA3D-1EB44AE8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AFEE5-B858-4DAE-9C39-09FE284C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( 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7E2764-F5BA-4C18-BB93-3500D0B2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Yay ayraç: eksiltme ve işaretler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951CF-503A-4EDA-96CB-0F919AFA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CB5068-9C32-46BB-B1A2-ABDDF405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F67D6-1403-491D-9CEB-4D4C9575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Alıntıda çıkarılan bölümün yerine konan üç nokta yay ayraç içine alınabilir: (…).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86EA8-D1B3-40F4-9507-4C6F412F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9388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Alay, kinaye veya küçümseme bildiren ünlem yay ayraç içine alınır: (!).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96F97-D0F1-4C58-B262-2E6FC52F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14775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Şüpheli veya kesin olmayan bilgi için soru işareti yay ayraç içine alınır: (?).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43245-DE18-4FC4-81D9-C4F983D2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10163"/>
            <a:ext cx="10858500" cy="1081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8. Maddeleri gösteren sayı ve harflerden sonra kapama ayracı kullanılır: I), 1), A), a).</a:t>
            </a:r>
          </a:p>
        </p:txBody>
      </p:sp>
    </p:spTree>
    <p:extLst>
      <p:ext uri="{BB962C8B-B14F-4D97-AF65-F5344CB8AC3E}">
        <p14:creationId xmlns:p14="http://schemas.microsoft.com/office/powerpoint/2010/main" val="109311337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E9E0E-2F76-483A-9480-C9F0C47C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2F4E89-1468-40AE-8A4A-B4684111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[ 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DC2B4-1F33-4D0E-BC04-8E81F9D4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Köşeli ayraç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0A494-3D8E-4754-8E21-5BE52817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BBEDC4-36C4-42DE-A38D-D166EE06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1E966F-EDA1-4D6C-944D-F3B0A838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Ayraç içinde yeniden ayraç gerektiğinde, yay ayraçtan önce köşeli ayraç kullanılır: [Cevat Şakir Kabaağaçlı (1886-1973)].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67DCD-5C38-4803-B98F-672D52AA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Aktarma, çeviri ve alıntıda çalışmayı yapanın eklediği sözleri gösterir: fark[ın], çık[tığını].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38CB8-8B29-4BF3-B3A9-38CED1BF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1085850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Kaynak künyesinde bazı tamamlayıcı ayrıntıları gösterir: Reşat Nuri [Güntekin].</a:t>
            </a:r>
          </a:p>
        </p:txBody>
      </p:sp>
    </p:spTree>
    <p:extLst>
      <p:ext uri="{BB962C8B-B14F-4D97-AF65-F5344CB8AC3E}">
        <p14:creationId xmlns:p14="http://schemas.microsoft.com/office/powerpoint/2010/main" val="87886808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688F2-72C1-4229-ACFC-A5CE873B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884ED-BA8C-4D6E-8440-3A0D097A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A779A-2F71-44B8-961A-EF7DC82B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özel adlar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B0372F-5C8B-4CC5-B795-6EAA3D8A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C755A-B785-4955-A9D5-C60419F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DD904-B724-48CA-8404-42D7011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1. Özel adlara gelen iyelik, durum ve bildirme eklerini ayırır: Türkiye’mizin, Atatürk’üm, Boğazı’nın.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FB28F4-275A-4AAF-AF37-4B9ECB50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8031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Yer bildiren özel adın kısaltmalı söyleyişinde kullanılır: Hisar’dan, Boğaz’dan.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3648A-BA59-4B33-BE2F-ABD7A878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662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Belirli bir kanun, tüzük veya yönetmelik kastedildiğinde büyük harfle yazılan ada gelen eki ayırır: Bu Kanun’un.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0A396F-CF29-460C-99F8-B00F759C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9293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adın ayraç içindeki açıklamasında kesme, ayraçtan önce gelir: Yunus Emre’nin (1240?-1320).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AE078-4344-4F0D-BFC2-90A136F9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9240"/>
            <a:ext cx="10858500" cy="842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Avrupa Birliği ek aldığında kesmeyle yazılır: Avrupa Birliği’ne.</a:t>
            </a:r>
          </a:p>
        </p:txBody>
      </p:sp>
    </p:spTree>
    <p:extLst>
      <p:ext uri="{BB962C8B-B14F-4D97-AF65-F5344CB8AC3E}">
        <p14:creationId xmlns:p14="http://schemas.microsoft.com/office/powerpoint/2010/main" val="178719417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F8F23-084B-4EA9-9775-135BC494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00EA0-446F-44EA-B86C-11EFAA0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3AC1D-B352-4029-B459-197989AC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özel adlarda uyarılar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5D183-0071-4BB6-9D4C-7AE87729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1F04C-CE2E-42C0-BC56-F76B8F01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0C5E2-884C-41AF-ABEF-3072C523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Üçüncü tekil kişi iyelik eki taşıyan özel ada başka bir iyelik eki gelirse kesme kullanılmaz: Boğaz Köprümüzün.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CCEE9-1E80-4FA8-AD85-7B761BEE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Kurum, kuruluş, kurul, birleşim, oturum ve iş yeri adlarına gelen ekler kesmeyle ayrılmaz: Türk Dil Kurumundan.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9AD91-C03D-46EE-9AD8-17303F2C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Başbakanlık ve Rektörlük gibi sözlere ünlüyle başlayan ek doğrudan gelir: Başbakanlığa, Rektörlüğe.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E28D0F-9832-4D79-B22E-9072399B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adlara gelen yapım ekleri, çokluk eki ve bunlardan sonraki ekler ayrılmaz: Türkçe, Türklüğün, Ahmetler.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F8FC6-4293-4789-B7CB-ED70A3DB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p, ç, t, k ile biten özel adlar ek aldığında söyleyişte yumuşar: Ahmedi, Sinobu, Zonguldağı.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E9ADC-1F3F-4EE0-A606-D2FFD0CF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Özel ad yerine kullanılan “o” zamiri küçük yazılır ve eki kesmeyle ayrılmaz.</a:t>
            </a:r>
          </a:p>
        </p:txBody>
      </p:sp>
    </p:spTree>
    <p:extLst>
      <p:ext uri="{BB962C8B-B14F-4D97-AF65-F5344CB8AC3E}">
        <p14:creationId xmlns:p14="http://schemas.microsoft.com/office/powerpoint/2010/main" val="5609628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3D8021-30F4-4E4E-AF2F-70B4A400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8D427-3A65-44D9-9EEC-92780A51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0D7B6F-6BF8-4BD0-9F6F-6103BBFE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Kesme işareti: diğer kullanımlar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84B0D-4D24-41C4-9262-305B3CE8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ACC17-79A6-43F2-B33F-B6D30AF6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09F1E-5536-4C48-8F78-6659963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2. Kişi adından sonra gelen saygı ve ünvan sözüne eklenen eki ayırır: Nihat Bey’e, Türk Dil Kurumu Başkanı’na.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E61DB1-1159-4DF0-B4E1-E20818CD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3. Kısaltmalara gelen ekleri ayırır: TBMM’nin, TDK’nin, TV’ye.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B4BFB-4E0F-44E4-83DB-637F726E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4. Sayılara gelen ekleri ayırır: 1985’te, 8’inci, 2’nci, 657’yle.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B60DF-3398-4B66-9A45-B44B1AA8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5. Belirli tarih bildiren ay ve gün adlarına gelen ekleri ayırır: 17 Aralık’a, 12 Temmuz 2010 Pazartesi’nin.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84667-5C42-41D7-AE7A-D8E9853C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1785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6. Ölçü ve söyleyiş gereği düşen sesleri gösterir: m’ola, n’eyleyim, par’etmez.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18915-55F2-4A39-8DE6-9DFD3211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11700"/>
            <a:ext cx="5200650" cy="147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FBCC3"/>
            </a:solidFill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42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18242E"/>
                </a:solidFill>
                <a:latin typeface="Aptos"/>
                <a:ea typeface="Aptos"/>
                <a:cs typeface="Aptos"/>
              </a:rPr>
              <a:t>7. Bir ek veya harften sonra gelen eki ayırır: a’dan z’ye, -lık’la.</a:t>
            </a:r>
          </a:p>
        </p:txBody>
      </p:sp>
    </p:spTree>
    <p:extLst>
      <p:ext uri="{BB962C8B-B14F-4D97-AF65-F5344CB8AC3E}">
        <p14:creationId xmlns:p14="http://schemas.microsoft.com/office/powerpoint/2010/main" val="32723396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C32D1F-0C80-4E10-B8D3-AC9A26DE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A19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056802-AEF9-48BB-A50A-1646D0D1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1181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2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E54F5-F842-469E-9B4E-3B1DCF17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7625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Hızlı başvuru matrisi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0CC37-C0B0-41A3-9375-DEC32B01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523875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0717D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C7C21-6BF4-4D1D-B731-47592EBF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1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0717D"/>
                </a:solidFill>
                <a:latin typeface="Aptos"/>
                <a:ea typeface="Aptos"/>
                <a:cs typeface="Aptos"/>
              </a:rPr>
              <a:t>Türk Dil Kurumu • Noktalama İşaretleri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981746-F5D3-4394-8D6F-EB7F3795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Cümleyi bitirir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35B57-8D79-467B-BF82-4A224302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287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.  ?  !  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6C595-6FD8-4D51-B88F-9E9A9BF4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Ögeleri ayırır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5C6E79-D3A2-4F6B-804B-69989617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526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,  ;  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62EBB1-4169-4D0A-AA77-9BD20338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Konuşma ve alıntı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A1944-FB73-4FBF-9A91-AA7DDBA8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765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—  “ ”  ‘ 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DE8D9-B0E9-49C6-843A-6A615203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Ek bilgi ve belirsizlik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B66A6-AF4C-4C14-9A54-961AC27C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( )  [ ]  (?)  (!)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4DB896-8669-49A2-AF77-C14E2BD8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243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Sözcük ve aralık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BA71A0-BD47-4C9F-83B0-1C17716D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243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-  /  \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D0287-39FC-439D-AA14-FFB47B1D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3524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324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324B"/>
                </a:solidFill>
                <a:latin typeface="Aptos"/>
                <a:ea typeface="Aptos"/>
                <a:cs typeface="Aptos"/>
              </a:rPr>
              <a:t>Ekleri ayırır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8C873C-32BC-4D06-BF06-73380E10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48250"/>
            <a:ext cx="6572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AA19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AA198"/>
                </a:solidFill>
                <a:latin typeface="Aptos"/>
                <a:ea typeface="Aptos"/>
                <a:cs typeface="Aptos"/>
              </a:rPr>
              <a:t>’</a:t>
            </a:r>
          </a:p>
        </p:txBody>
      </p:sp>
    </p:spTree>
    <p:extLst>
      <p:ext uri="{BB962C8B-B14F-4D97-AF65-F5344CB8AC3E}">
        <p14:creationId xmlns:p14="http://schemas.microsoft.com/office/powerpoint/2010/main" val="293711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2026-09-28T19:15:42.4650000Z</dcterms:created>
  <dcterms:modified xsi:type="dcterms:W3CDTF">2026-09-28T19:15:42.4660000Z</dcterms:modified>
</coreProperties>
</file>