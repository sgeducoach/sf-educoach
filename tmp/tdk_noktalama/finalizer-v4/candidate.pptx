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d70d0de3754231" /><Relationship Type="http://schemas.openxmlformats.org/officeDocument/2006/relationships/extended-properties" Target="/docProps/app.xml" Id="Re306d9d3b2d24a2a" /><Relationship Type="http://schemas.openxmlformats.org/officeDocument/2006/relationships/officeDocument" Target="/ppt/presentation.xml" Id="Rc1969cc874fd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b38d6efa5642f0"/>
  </p:sldMasterIdLst>
  <p:notesMasterIdLst>
    <p:notesMasterId xmlns:r="http://schemas.openxmlformats.org/officeDocument/2006/relationships" r:id="R0a1d8a7f7c8c410e"/>
  </p:notesMasterIdLst>
  <p:sldIdLst>
    <p:sldId xmlns:r="http://schemas.openxmlformats.org/officeDocument/2006/relationships" id="256" r:id="Rd76dcb29b7b24947"/>
    <p:sldId xmlns:r="http://schemas.openxmlformats.org/officeDocument/2006/relationships" id="257" r:id="Rdaeaebd20c034168"/>
    <p:sldId xmlns:r="http://schemas.openxmlformats.org/officeDocument/2006/relationships" id="258" r:id="R0cd030aed7de422f"/>
    <p:sldId xmlns:r="http://schemas.openxmlformats.org/officeDocument/2006/relationships" id="259" r:id="Ra0df53e8df5947cc"/>
    <p:sldId xmlns:r="http://schemas.openxmlformats.org/officeDocument/2006/relationships" id="260" r:id="Rcf18a8ac69304e5e"/>
    <p:sldId xmlns:r="http://schemas.openxmlformats.org/officeDocument/2006/relationships" id="261" r:id="Red3d1de0d4fe4279"/>
    <p:sldId xmlns:r="http://schemas.openxmlformats.org/officeDocument/2006/relationships" id="262" r:id="Rec89190c4f7e4d2a"/>
    <p:sldId xmlns:r="http://schemas.openxmlformats.org/officeDocument/2006/relationships" id="263" r:id="R23351e5d28a64d37"/>
    <p:sldId xmlns:r="http://schemas.openxmlformats.org/officeDocument/2006/relationships" id="264" r:id="R30398f168486441e"/>
    <p:sldId xmlns:r="http://schemas.openxmlformats.org/officeDocument/2006/relationships" id="265" r:id="Re98a4f212c744fef"/>
    <p:sldId xmlns:r="http://schemas.openxmlformats.org/officeDocument/2006/relationships" id="266" r:id="R6d1144660eaf405e"/>
    <p:sldId xmlns:r="http://schemas.openxmlformats.org/officeDocument/2006/relationships" id="267" r:id="R02e114f2e5c345cc"/>
    <p:sldId xmlns:r="http://schemas.openxmlformats.org/officeDocument/2006/relationships" id="268" r:id="R97cecf42430542ec"/>
    <p:sldId xmlns:r="http://schemas.openxmlformats.org/officeDocument/2006/relationships" id="269" r:id="Rff52d76da46a4a2b"/>
    <p:sldId xmlns:r="http://schemas.openxmlformats.org/officeDocument/2006/relationships" id="270" r:id="R5db9418b2c104f17"/>
    <p:sldId xmlns:r="http://schemas.openxmlformats.org/officeDocument/2006/relationships" id="271" r:id="Rf5c03bfbf08d4372"/>
    <p:sldId xmlns:r="http://schemas.openxmlformats.org/officeDocument/2006/relationships" id="272" r:id="R38fd8eb98e6e467b"/>
    <p:sldId xmlns:r="http://schemas.openxmlformats.org/officeDocument/2006/relationships" id="273" r:id="Rda6378218e244590"/>
    <p:sldId xmlns:r="http://schemas.openxmlformats.org/officeDocument/2006/relationships" id="274" r:id="R690ca52375aa4c3a"/>
    <p:sldId xmlns:r="http://schemas.openxmlformats.org/officeDocument/2006/relationships" id="275" r:id="R36a86d1925444741"/>
    <p:sldId xmlns:r="http://schemas.openxmlformats.org/officeDocument/2006/relationships" id="276" r:id="Rc155b90b3d504dd7"/>
    <p:sldId xmlns:r="http://schemas.openxmlformats.org/officeDocument/2006/relationships" id="277" r:id="R3d3065ee4bc34114"/>
    <p:sldId xmlns:r="http://schemas.openxmlformats.org/officeDocument/2006/relationships" id="278" r:id="R746dab11341d48d1"/>
    <p:sldId xmlns:r="http://schemas.openxmlformats.org/officeDocument/2006/relationships" id="279" r:id="R3ccd3445f3184f07"/>
    <p:sldId xmlns:r="http://schemas.openxmlformats.org/officeDocument/2006/relationships" id="280" r:id="R52e5ee9124094e38"/>
    <p:sldId xmlns:r="http://schemas.openxmlformats.org/officeDocument/2006/relationships" id="281" r:id="R685cdd76d9ec4dbc"/>
    <p:sldId xmlns:r="http://schemas.openxmlformats.org/officeDocument/2006/relationships" id="282" r:id="R736a7058a23745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13c048e09d44aa" /><Relationship Type="http://schemas.openxmlformats.org/officeDocument/2006/relationships/slideMaster" Target="/ppt/slideMasters/slideMaster1.xml" Id="Rb7b38d6efa5642f0" /><Relationship Type="http://schemas.openxmlformats.org/officeDocument/2006/relationships/notesMaster" Target="/ppt/notesMasters/notesMaster1.xml" Id="R0a1d8a7f7c8c410e" /><Relationship Type="http://schemas.openxmlformats.org/officeDocument/2006/relationships/presProps" Target="/ppt/presProps.xml" Id="Re97678be7a6a4e24" /><Relationship Type="http://schemas.openxmlformats.org/officeDocument/2006/relationships/tableStyles" Target="/ppt/tableStyles.xml" Id="R28d7abbae7d44323" /><Relationship Type="http://schemas.openxmlformats.org/officeDocument/2006/relationships/slide" Target="/ppt/slides/slide1.xml" Id="Rd76dcb29b7b24947" /><Relationship Type="http://schemas.openxmlformats.org/officeDocument/2006/relationships/slide" Target="/ppt/slides/slide2.xml" Id="Rdaeaebd20c034168" /><Relationship Type="http://schemas.openxmlformats.org/officeDocument/2006/relationships/slide" Target="/ppt/slides/slide3.xml" Id="R0cd030aed7de422f" /><Relationship Type="http://schemas.openxmlformats.org/officeDocument/2006/relationships/slide" Target="/ppt/slides/slide4.xml" Id="Ra0df53e8df5947cc" /><Relationship Type="http://schemas.openxmlformats.org/officeDocument/2006/relationships/slide" Target="/ppt/slides/slide5.xml" Id="Rcf18a8ac69304e5e" /><Relationship Type="http://schemas.openxmlformats.org/officeDocument/2006/relationships/slide" Target="/ppt/slides/slide6.xml" Id="Red3d1de0d4fe4279" /><Relationship Type="http://schemas.openxmlformats.org/officeDocument/2006/relationships/slide" Target="/ppt/slides/slide7.xml" Id="Rec89190c4f7e4d2a" /><Relationship Type="http://schemas.openxmlformats.org/officeDocument/2006/relationships/slide" Target="/ppt/slides/slide8.xml" Id="R23351e5d28a64d37" /><Relationship Type="http://schemas.openxmlformats.org/officeDocument/2006/relationships/slide" Target="/ppt/slides/slide9.xml" Id="R30398f168486441e" /><Relationship Type="http://schemas.openxmlformats.org/officeDocument/2006/relationships/slide" Target="/ppt/slides/slide10.xml" Id="Re98a4f212c744fef" /><Relationship Type="http://schemas.openxmlformats.org/officeDocument/2006/relationships/slide" Target="/ppt/slides/slide11.xml" Id="R6d1144660eaf405e" /><Relationship Type="http://schemas.openxmlformats.org/officeDocument/2006/relationships/slide" Target="/ppt/slides/slide12.xml" Id="R02e114f2e5c345cc" /><Relationship Type="http://schemas.openxmlformats.org/officeDocument/2006/relationships/slide" Target="/ppt/slides/slide13.xml" Id="R97cecf42430542ec" /><Relationship Type="http://schemas.openxmlformats.org/officeDocument/2006/relationships/slide" Target="/ppt/slides/slide14.xml" Id="Rff52d76da46a4a2b" /><Relationship Type="http://schemas.openxmlformats.org/officeDocument/2006/relationships/slide" Target="/ppt/slides/slide15.xml" Id="R5db9418b2c104f17" /><Relationship Type="http://schemas.openxmlformats.org/officeDocument/2006/relationships/slide" Target="/ppt/slides/slide16.xml" Id="Rf5c03bfbf08d4372" /><Relationship Type="http://schemas.openxmlformats.org/officeDocument/2006/relationships/slide" Target="/ppt/slides/slide17.xml" Id="R38fd8eb98e6e467b" /><Relationship Type="http://schemas.openxmlformats.org/officeDocument/2006/relationships/slide" Target="/ppt/slides/slide18.xml" Id="Rda6378218e244590" /><Relationship Type="http://schemas.openxmlformats.org/officeDocument/2006/relationships/slide" Target="/ppt/slides/slide19.xml" Id="R690ca52375aa4c3a" /><Relationship Type="http://schemas.openxmlformats.org/officeDocument/2006/relationships/slide" Target="/ppt/slides/slide20.xml" Id="R36a86d1925444741" /><Relationship Type="http://schemas.openxmlformats.org/officeDocument/2006/relationships/slide" Target="/ppt/slides/slide21.xml" Id="Rc155b90b3d504dd7" /><Relationship Type="http://schemas.openxmlformats.org/officeDocument/2006/relationships/slide" Target="/ppt/slides/slide22.xml" Id="R3d3065ee4bc34114" /><Relationship Type="http://schemas.openxmlformats.org/officeDocument/2006/relationships/slide" Target="/ppt/slides/slide23.xml" Id="R746dab11341d48d1" /><Relationship Type="http://schemas.openxmlformats.org/officeDocument/2006/relationships/slide" Target="/ppt/slides/slide24.xml" Id="R3ccd3445f3184f07" /><Relationship Type="http://schemas.openxmlformats.org/officeDocument/2006/relationships/slide" Target="/ppt/slides/slide25.xml" Id="R52e5ee9124094e38" /><Relationship Type="http://schemas.openxmlformats.org/officeDocument/2006/relationships/slide" Target="/ppt/slides/slide26.xml" Id="R685cdd76d9ec4dbc" /><Relationship Type="http://schemas.openxmlformats.org/officeDocument/2006/relationships/slide" Target="/ppt/slides/slide27.xml" Id="R736a7058a237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e684dcfb5d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649b21a5b4ce2" /><Relationship Type="http://schemas.openxmlformats.org/officeDocument/2006/relationships/notesMaster" Target="/ppt/notesMasters/notesMaster1.xml" Id="Rd78d78e5a9a6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bce2c5c504968" /><Relationship Type="http://schemas.openxmlformats.org/officeDocument/2006/relationships/notesMaster" Target="/ppt/notesMasters/notesMaster1.xml" Id="Re986204978fb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cac46fbb5542c8" /><Relationship Type="http://schemas.openxmlformats.org/officeDocument/2006/relationships/notesMaster" Target="/ppt/notesMasters/notesMaster1.xml" Id="Rfb78e17bc57b41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ec4bd614a466b" /><Relationship Type="http://schemas.openxmlformats.org/officeDocument/2006/relationships/notesMaster" Target="/ppt/notesMasters/notesMaster1.xml" Id="R6856e58d29354b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d10ac5099462e" /><Relationship Type="http://schemas.openxmlformats.org/officeDocument/2006/relationships/notesMaster" Target="/ppt/notesMasters/notesMaster1.xml" Id="R6527b4fde536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a64c3971cf4dfc" /><Relationship Type="http://schemas.openxmlformats.org/officeDocument/2006/relationships/notesMaster" Target="/ppt/notesMasters/notesMaster1.xml" Id="R98633eee7b45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ddcb016194efa" /><Relationship Type="http://schemas.openxmlformats.org/officeDocument/2006/relationships/notesMaster" Target="/ppt/notesMasters/notesMaster1.xml" Id="R4acbe45055944e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e7334f5b52473e" /><Relationship Type="http://schemas.openxmlformats.org/officeDocument/2006/relationships/notesMaster" Target="/ppt/notesMasters/notesMaster1.xml" Id="Rdb97b6363e1c42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079120a82848da" /><Relationship Type="http://schemas.openxmlformats.org/officeDocument/2006/relationships/notesMaster" Target="/ppt/notesMasters/notesMaster1.xml" Id="Rafa2252996164d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f2f76c0c1b44b3" /><Relationship Type="http://schemas.openxmlformats.org/officeDocument/2006/relationships/notesMaster" Target="/ppt/notesMasters/notesMaster1.xml" Id="R1a50e5979dce4b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41dcfeed0e42ad" /><Relationship Type="http://schemas.openxmlformats.org/officeDocument/2006/relationships/notesMaster" Target="/ppt/notesMasters/notesMaster1.xml" Id="R6cab2c78aff14d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b8bb4e74b8419a" /><Relationship Type="http://schemas.openxmlformats.org/officeDocument/2006/relationships/notesMaster" Target="/ppt/notesMasters/notesMaster1.xml" Id="Rb22279d2bd5b42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f3e04a7f3e41c5" /><Relationship Type="http://schemas.openxmlformats.org/officeDocument/2006/relationships/notesMaster" Target="/ppt/notesMasters/notesMaster1.xml" Id="Re6ee7d3d152248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aa6a00db80420c" /><Relationship Type="http://schemas.openxmlformats.org/officeDocument/2006/relationships/notesMaster" Target="/ppt/notesMasters/notesMaster1.xml" Id="Rc5d521a5d0a140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4dd0002db34e08" /><Relationship Type="http://schemas.openxmlformats.org/officeDocument/2006/relationships/notesMaster" Target="/ppt/notesMasters/notesMaster1.xml" Id="Rd63e7e1e09544f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f1e494b33243eb" /><Relationship Type="http://schemas.openxmlformats.org/officeDocument/2006/relationships/notesMaster" Target="/ppt/notesMasters/notesMaster1.xml" Id="R0f8bcf381ab141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b63a38fa744810" /><Relationship Type="http://schemas.openxmlformats.org/officeDocument/2006/relationships/notesMaster" Target="/ppt/notesMasters/notesMaster1.xml" Id="Rf13770afc96e44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d3bc867cd14659" /><Relationship Type="http://schemas.openxmlformats.org/officeDocument/2006/relationships/notesMaster" Target="/ppt/notesMasters/notesMaster1.xml" Id="R75ad120bd07943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b51fe50eab4fef" /><Relationship Type="http://schemas.openxmlformats.org/officeDocument/2006/relationships/notesMaster" Target="/ppt/notesMasters/notesMaster1.xml" Id="Rf0652c5a026148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f3af4f0c7b43cd" /><Relationship Type="http://schemas.openxmlformats.org/officeDocument/2006/relationships/notesMaster" Target="/ppt/notesMasters/notesMaster1.xml" Id="R68d0099398824f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318b8e78fd442b" /><Relationship Type="http://schemas.openxmlformats.org/officeDocument/2006/relationships/notesMaster" Target="/ppt/notesMasters/notesMaster1.xml" Id="R59b939dc863f43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a60662c3f34c88" /><Relationship Type="http://schemas.openxmlformats.org/officeDocument/2006/relationships/notesMaster" Target="/ppt/notesMasters/notesMaster1.xml" Id="Rc1cb4ec2ff334c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f769e78c764ba6" /><Relationship Type="http://schemas.openxmlformats.org/officeDocument/2006/relationships/notesMaster" Target="/ppt/notesMasters/notesMaster1.xml" Id="R1080143047bf46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fa1e26b3db4535" /><Relationship Type="http://schemas.openxmlformats.org/officeDocument/2006/relationships/notesMaster" Target="/ppt/notesMasters/notesMaster1.xml" Id="Rf526791c605647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f8dddc03714895" /><Relationship Type="http://schemas.openxmlformats.org/officeDocument/2006/relationships/notesMaster" Target="/ppt/notesMasters/notesMaster1.xml" Id="R34b288368bb04e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f7267370e5344da" /><Relationship Type="http://schemas.openxmlformats.org/officeDocument/2006/relationships/notesMaster" Target="/ppt/notesMasters/notesMaster1.xml" Id="Rcd9f57c6a27f40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0e81894ab94a63" /><Relationship Type="http://schemas.openxmlformats.org/officeDocument/2006/relationships/notesMaster" Target="/ppt/notesMasters/notesMaster1.xml" Id="Rb172bfd2975c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912c5813a43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00786b25c4765" /><Relationship Type="http://schemas.openxmlformats.org/officeDocument/2006/relationships/slideLayout" Target="/ppt/slideLayouts/slideLayout1.xml" Id="R11d0dc9667b540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0dc9667b540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7a5a368314c39" /><Relationship Type="http://schemas.openxmlformats.org/officeDocument/2006/relationships/notesSlide" Target="/ppt/notesSlides/notesSlide1.xml" Id="Rf7bacab98d5a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0c2d5cdbf4c78" /><Relationship Type="http://schemas.openxmlformats.org/officeDocument/2006/relationships/notesSlide" Target="/ppt/notesSlides/notesSlide2.xml" Id="Rca0a7b042c5746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ef545f5144cef" /><Relationship Type="http://schemas.openxmlformats.org/officeDocument/2006/relationships/notesSlide" Target="/ppt/notesSlides/notesSlide3.xml" Id="R3945bd9b1e17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18862d9f04027" /><Relationship Type="http://schemas.openxmlformats.org/officeDocument/2006/relationships/notesSlide" Target="/ppt/notesSlides/notesSlide4.xml" Id="R78ef1d33984e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683584f464529" /><Relationship Type="http://schemas.openxmlformats.org/officeDocument/2006/relationships/notesSlide" Target="/ppt/notesSlides/notesSlide5.xml" Id="R0b69e0f828d946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efdf38dae44ff" /><Relationship Type="http://schemas.openxmlformats.org/officeDocument/2006/relationships/notesSlide" Target="/ppt/notesSlides/notesSlide6.xml" Id="Re08913f392d94d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e774d328a41ad" /><Relationship Type="http://schemas.openxmlformats.org/officeDocument/2006/relationships/notesSlide" Target="/ppt/notesSlides/notesSlide7.xml" Id="Rd0b8e1aeb40740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b18559f514c2d" /><Relationship Type="http://schemas.openxmlformats.org/officeDocument/2006/relationships/notesSlide" Target="/ppt/notesSlides/notesSlide8.xml" Id="Rea8aebde75cb42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89fd1cf724137" /><Relationship Type="http://schemas.openxmlformats.org/officeDocument/2006/relationships/notesSlide" Target="/ppt/notesSlides/notesSlide9.xml" Id="R8c4f2ac9583949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9ab6c8f864bd3" /><Relationship Type="http://schemas.openxmlformats.org/officeDocument/2006/relationships/notesSlide" Target="/ppt/notesSlides/notesSlide10.xml" Id="Rbc73a0fc9b7d4e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d9ed3a06140c2" /><Relationship Type="http://schemas.openxmlformats.org/officeDocument/2006/relationships/notesSlide" Target="/ppt/notesSlides/notesSlide11.xml" Id="R5ebf557609ee4a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9780805df4f9f" /><Relationship Type="http://schemas.openxmlformats.org/officeDocument/2006/relationships/notesSlide" Target="/ppt/notesSlides/notesSlide12.xml" Id="R99bec37155e244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353dd9072471d" /><Relationship Type="http://schemas.openxmlformats.org/officeDocument/2006/relationships/notesSlide" Target="/ppt/notesSlides/notesSlide13.xml" Id="R004502cbf2984d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3d58cf61043f0" /><Relationship Type="http://schemas.openxmlformats.org/officeDocument/2006/relationships/notesSlide" Target="/ppt/notesSlides/notesSlide14.xml" Id="R1cc4b0ab667e44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954c38cbf4f0b" /><Relationship Type="http://schemas.openxmlformats.org/officeDocument/2006/relationships/notesSlide" Target="/ppt/notesSlides/notesSlide15.xml" Id="R76923c302d3b4c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4efef88d84025" /><Relationship Type="http://schemas.openxmlformats.org/officeDocument/2006/relationships/notesSlide" Target="/ppt/notesSlides/notesSlide16.xml" Id="R23da9776d0be4e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733af395742c8" /><Relationship Type="http://schemas.openxmlformats.org/officeDocument/2006/relationships/notesSlide" Target="/ppt/notesSlides/notesSlide17.xml" Id="R258a78699a9d42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82e53982c4949" /><Relationship Type="http://schemas.openxmlformats.org/officeDocument/2006/relationships/notesSlide" Target="/ppt/notesSlides/notesSlide18.xml" Id="Ra6077cbbd2994b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57c2b81c74dbc" /><Relationship Type="http://schemas.openxmlformats.org/officeDocument/2006/relationships/notesSlide" Target="/ppt/notesSlides/notesSlide19.xml" Id="R5c68f7f2cec04e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b11bedeb3492e" /><Relationship Type="http://schemas.openxmlformats.org/officeDocument/2006/relationships/notesSlide" Target="/ppt/notesSlides/notesSlide20.xml" Id="R641a46d814214a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a731569a54aba" /><Relationship Type="http://schemas.openxmlformats.org/officeDocument/2006/relationships/notesSlide" Target="/ppt/notesSlides/notesSlide21.xml" Id="Racebdf430c8e41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1e6553f54dd7" /><Relationship Type="http://schemas.openxmlformats.org/officeDocument/2006/relationships/notesSlide" Target="/ppt/notesSlides/notesSlide22.xml" Id="Rfd7c92a5aa8b4d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13cd4870c4407" /><Relationship Type="http://schemas.openxmlformats.org/officeDocument/2006/relationships/notesSlide" Target="/ppt/notesSlides/notesSlide23.xml" Id="Rc51d355141c24b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0c55e81dd4a95" /><Relationship Type="http://schemas.openxmlformats.org/officeDocument/2006/relationships/notesSlide" Target="/ppt/notesSlides/notesSlide24.xml" Id="R07a23ada157d4c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4e8c1424e441e" /><Relationship Type="http://schemas.openxmlformats.org/officeDocument/2006/relationships/notesSlide" Target="/ppt/notesSlides/notesSlide25.xml" Id="R4773212601bb49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42f423a0485f" /><Relationship Type="http://schemas.openxmlformats.org/officeDocument/2006/relationships/notesSlide" Target="/ppt/notesSlides/notesSlide26.xml" Id="Re388af146c4547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f29e5f39e44c1" /><Relationship Type="http://schemas.openxmlformats.org/officeDocument/2006/relationships/notesSlide" Target="/ppt/notesSlides/notesSlide27.xml" Id="R3f6baadd0d9046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E58C6-1F98-4E19-A29A-C46A41CC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NOKTALAMA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İŞARETLERİ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8897D-33F2-45A0-8FC3-9DA910D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FE7EC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CFE7EC"/>
                </a:solidFill>
                <a:latin typeface="Aptos"/>
                <a:ea typeface="Aptos"/>
                <a:cs typeface="Aptos"/>
              </a:rPr>
              <a:t>TDK yazım kurallarındaki açıklamaların tamamı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96D8B-D246-4ED8-A3BC-DEECCF1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.  ,  ;  :  …  ?  !  —  /  “ ”  ( )  [ ]  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62435-5D16-4E4F-BDB7-FC3DD03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Kurallar, uyarılar ve örnek kullanımlar</a:t>
            </a:r>
          </a:p>
        </p:txBody>
      </p:sp>
    </p:spTree>
    <p:extLst>
      <p:ext uri="{BB962C8B-B14F-4D97-AF65-F5344CB8AC3E}">
        <p14:creationId xmlns:p14="http://schemas.microsoft.com/office/powerpoint/2010/main" val="1302636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60F0F-EF44-42CA-94F0-F967E62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9F973-2D72-4FD0-A44E-A60907A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EC384-AA14-4EA2-AB06-59308D2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Noktalamanın temel ilkeleri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E343C-055A-4AAA-BEE6-5CB68D9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69B99-8C8B-4E4A-9CA7-23D584D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908BA-155F-4918-9E3F-CF571253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Noktalama; duygu ve düşünceyi açık anlatır, cümlenin yapısını ve duraklarını belirler.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8937-3862-476B-B6D7-4CA5F6D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Okumayı ve anlamayı kolaylaştırır; vurgu ve ton gibi söyleyiş özelliklerini gösterir.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650BA-B1AD-4A08-ADE1-A1993A5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Nokta, virgül, noktalı virgül, iki nokta, üç nokta, soru, ünlem, tırnak, ayraç ve kesme işaretleri ilgili kelimeye bitişik yazılır.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5A6F6-786C-434E-A9C1-DE2C3C1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Kesme dışındaki işaretlerden sonra bir harf boşluğu bırakılır.</a:t>
            </a:r>
          </a:p>
        </p:txBody>
      </p:sp>
    </p:spTree>
    <p:extLst>
      <p:ext uri="{BB962C8B-B14F-4D97-AF65-F5344CB8AC3E}">
        <p14:creationId xmlns:p14="http://schemas.microsoft.com/office/powerpoint/2010/main" val="1035693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EA67E-6BB7-406B-83A6-7894E5ED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3314E-1DE2-4364-A039-8DFF549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3A008-7C32-46F5-BB40-3EFCC62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cümle, kısaltma ve sıralama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7F995-29D6-45C9-B84D-1ADE3332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DD9CE-ACBE-40FC-A815-2B01031F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8D485-649E-4649-B8AD-F925D8BB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sonuna konur.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Türk Dil Kurumu, 1932 yılında kurulmuştur.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EB181-34D3-4E74-AC79-A2B8C7DB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Bazı kısaltmaların sonunda kullanılır.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Alb., Dr., Prof., Cad., Sok., s., vb., İng.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3260F-6A05-4DB5-8D77-353CE14B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Sayılardan sonra sıra bildirir.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3., 15.; II. Mehmet, XV. yüzyıl, 4. Levent.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F34F6-5FCE-4DB1-B5CD-131D0B2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Virgül veya çizgiyle sıralanan rakamlarda yalnız sonuncudan sonra konur.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3, 4 ve 7. maddeler; XII–XIV. yüzyıllar.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2EDFE-AFAB-42DD-843B-8892054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Maddeleri gösteren rakam ve harflerden sonra kullanılır.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I., 1., A., a.</a:t>
            </a:r>
          </a:p>
        </p:txBody>
      </p:sp>
    </p:spTree>
    <p:extLst>
      <p:ext uri="{BB962C8B-B14F-4D97-AF65-F5344CB8AC3E}">
        <p14:creationId xmlns:p14="http://schemas.microsoft.com/office/powerpoint/2010/main" val="719863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579A6-0F76-4459-A8BB-CC764187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84CCC-90E9-42B2-919C-40B4782E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9CDC3-4D9D-4CFF-A9CF-DFCEDFA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tarih, saat, sayı ve teknik kullanım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DCC94-75A2-4188-BD2E-BB979C0C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CE609-61B6-46D4-B8F3-3B65B84C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D6EFB-A238-4870-96C0-F5EF27D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Tarihte gün, ay ve yılı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29.5.1453, 29.X.1923.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23372-8EE4-423C-AB95-865CFD8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Saat ve dakikayı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09.15, 13.00, 17.30.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30E88-B7E1-423C-996E-739D2E2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8. Kitap ve dergi künyelerinin sonuna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AEA0E-5705-4D9C-B3F4-1B311294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9. Dört ve daha çok rakamlı sayıları üçlü gruplara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1.000, 326.197, 49.750.812.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68824-7142-47CF-B871-9275EB4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Genel ağ adreslerinde kullanılır.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tdk.gov.tr.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CE00A-4CF0-47C6-A8E7-1FE3D3C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Matematikte çarpma işareti yerine kullanılabilir.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4.5=20.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EC0AB-49F5-47C8-BF78-59A8B3FC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Ay adı yazıyla yazılırsa önce ve sonra nokta kullanılmaz: 29 Mayıs 1453.</a:t>
            </a:r>
          </a:p>
        </p:txBody>
      </p:sp>
    </p:spTree>
    <p:extLst>
      <p:ext uri="{BB962C8B-B14F-4D97-AF65-F5344CB8AC3E}">
        <p14:creationId xmlns:p14="http://schemas.microsoft.com/office/powerpoint/2010/main" val="639838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5BD47-3343-4EEB-A9E1-75C8242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8D1A8-8879-43D3-B5ED-7E93823C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3D82-0926-4D11-93D7-8C0BA95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sıralama ve cümle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51DDF-B23E-4115-8F5E-4DBE34DF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F27D2-C306-4130-B520-3CAA725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607B8-B253-4AF0-99B6-074EF1FD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Eş görevli kelime ve kelime gruplarını ayırır.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sessiz dereler, solgun ağaçlar, sarı güller.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2B80E-F664-4B77-98CB-FE5450A3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Sıralı cümleleri ayırır.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Umduk, bekledik, düşündük.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7CB6A-C80B-4125-BEA1-10F7A68C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Uzun cümlede yüklemden uzak düşen özneyi belirtir.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2BC99-2D00-43C1-9212-6B1D8F0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Ara söz ve ara cümlelerin başına ve sonuna konur.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4EBFE-3C58-4FA6-A64A-10223E9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Anlamı güçlendiren tekrarların arasına konur.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Akşam, yine akşam, yine akşam.</a:t>
            </a:r>
          </a:p>
        </p:txBody>
      </p:sp>
    </p:spTree>
    <p:extLst>
      <p:ext uri="{BB962C8B-B14F-4D97-AF65-F5344CB8AC3E}">
        <p14:creationId xmlns:p14="http://schemas.microsoft.com/office/powerpoint/2010/main" val="1439426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FCCA5-B0CE-41CF-B4E8-AB137B9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408FB-420D-4521-A650-1A4E78B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875D4-C04C-4415-A11F-9DD801B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alıntı, konuşma ve hitap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12171-37C5-43A9-8EA3-894120E3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116F1-8AEA-483A-BE11-F1A9080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7C524-0613-4C36-B9E0-76D5A139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Tırnak içinde olmayan alıntı cümlesinden sonra konur.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Adana’ya yarın gideceğim, dedi.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63740-7258-4C94-B443-C8B3510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Konuşma çizgisinden sonraki alıntının bitimine konur.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— Gidiyor musunuz, diye sordu.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6FF01-D4AF-4E99-8FDC-3F0AB2D1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8. Edebî eserde konuşma bölümünden önceki ifadenin sonuna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B59DA-C96C-4E7B-A952-1013CD2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9. Ret, kabul ve teşvik bildiren sözlerden sonra konur.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Peki, gideriz. Haydi, geç kalıyoruz.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E8829-0857-4B62-966E-7D62DD3B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Yapı ve anlam bağını belirginleştirerek anlam karışıklığını önler.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4FA10-6FB1-4D7F-A03E-ED071D1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Hitap sözlerinden sonra konur.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Sayın Başkan, Sevgili Kardeşim,</a:t>
            </a:r>
          </a:p>
        </p:txBody>
      </p:sp>
    </p:spTree>
    <p:extLst>
      <p:ext uri="{BB962C8B-B14F-4D97-AF65-F5344CB8AC3E}">
        <p14:creationId xmlns:p14="http://schemas.microsoft.com/office/powerpoint/2010/main" val="1676058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5492D-ADFB-4364-95D7-95975240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8E23B-1AF8-4363-BBDA-42D593A4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C7397-B9E3-4CC8-AF84-FE76558D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sayı, fiilimsi ve zamir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F5F36-B8F7-4037-8D56-38A176BA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9FC04-AA36-4095-B39F-8842E2D0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7260A-F512-4E8A-848E-7BC6A512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12. Ondalık kesri ayırır.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38,6; 0,45.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A34C6-3BE2-4640-8D56-552E947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13. Art arda gelen zarf-fiil eki almış kelimelerden sonra konur.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Bir karara varıp, arkadaşına bakarak konuştu.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502F0-2FAC-4DCF-8B44-EBB21FC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14. Özne görevindeki bu, şu, o zamirlerinden sonra konur.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Bu, benim gibi yazarlar için kolay olmaz.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25E23-F5B5-4AB4-9C94-7B43F581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15. Künyede yazar, eser, basımevi, yer ve yıl bilgilerini ayırır. Soyadı önceyse soyadından sonra da virgül gelir.</a:t>
            </a:r>
          </a:p>
        </p:txBody>
      </p:sp>
    </p:spTree>
    <p:extLst>
      <p:ext uri="{BB962C8B-B14F-4D97-AF65-F5344CB8AC3E}">
        <p14:creationId xmlns:p14="http://schemas.microsoft.com/office/powerpoint/2010/main" val="2133880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D9E3E-4013-4402-A1B4-102E075D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A5231-61DF-48B8-B179-FCC4898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B39C4-F6DF-4E61-B0F8-A7AF296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kullanılmadığı yerler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BCEF7-C8CC-4BB0-9610-1DB7242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001FB-7939-43E1-A493-353CF03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BB2D9-3920-4EEC-A119-C98C358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bir zarf-fiil eki almış kelimeden sonra virgül konmaz.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8BD41-C587-4759-802F-ACCFA18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ve, veya, yahut, ya…ya bağlaçlarının önce ve sonuna virgül konmaz.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6E25D-578E-4145-A24A-50D95F9E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Hem…hem, ya…ya, gerek…gerek, ister…ister, ne…ne gibi tekrarlı bağlaçların çevresinde kullanılmaz.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3F262-3563-40CF-92B2-02FE6FC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Pekiştirme ve bağlama görevindeki da/de bağlacından sonra kullanılmaz.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8438F-9543-484E-9CD6-88285F5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-ınca/-ince anlamındaki mı/mi ekinden sonra kullanılmaz.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355D8-858A-4B36-B98C-5105ADE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Şart ekinden sonra virgül konmaz.</a:t>
            </a:r>
          </a:p>
        </p:txBody>
      </p:sp>
    </p:spTree>
    <p:extLst>
      <p:ext uri="{BB962C8B-B14F-4D97-AF65-F5344CB8AC3E}">
        <p14:creationId xmlns:p14="http://schemas.microsoft.com/office/powerpoint/2010/main" val="1210350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B876F-F30C-41E2-A07F-3DF75BB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D30C4-EFDF-4264-BFCF-5914D0A2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73EF7-B97F-4AC7-905F-E3F102C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Noktalı virgül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AE5C7-0082-40A8-818C-B489E494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1957-2289-4FD4-ACAB-B2ED914F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2AB76-CB2F-47A8-8EE7-8247706E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Virgüllerle ayrılmış tür veya takımları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Türkiye, İngiltere, Azerbaycan; Ankara, Londra, Bakü.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B2B75-A366-4B13-BA26-7D4632E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Kendi içinde virgül bulunan sıralı cümleleri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İçim içime sığmıyor; bağırmak, gülmek, ağlamak istiyorum.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45344-1B85-4726-80C9-9B9FF818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İkiden fazla eş değer ögesi bulunan ve virgül içeren cümlede özneden sonra gelebilir.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Yeni usul şiirimiz; zevksiz, köksüz, acemice görünüyordu.</a:t>
            </a:r>
          </a:p>
        </p:txBody>
      </p:sp>
    </p:spTree>
    <p:extLst>
      <p:ext uri="{BB962C8B-B14F-4D97-AF65-F5344CB8AC3E}">
        <p14:creationId xmlns:p14="http://schemas.microsoft.com/office/powerpoint/2010/main" val="114737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F3FAD-FCBE-4C76-B321-BB8B46E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8A59B-50AF-42D0-A303-1211D3EA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53A1-C73D-4679-A4C8-4A2EEF8C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İki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EB3A4-748F-452D-9A50-164474F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EE1FB-84D5-47AD-AF0F-4822C5E5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1482B-7653-4D7C-8A45-3F52B8F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Ardından örnek verilecek cümlenin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F6E5E-5A7E-4365-B718-A5EED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92714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Ardından açıklama verilecek cümlenin sonuna konur.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Kendimi takdim edeyim: Meclis kâtiplerindenim.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55C05-61EB-40F5-AD2A-C557B4C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Ses bilgisinde uzun ünlüyü gösterir.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a:ile, ka:til, usu:le, i:cat.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064DA-9DB1-4121-A1EB-7DAC787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Karşılıklı konuşmada konuşanın adından sonra konur.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Bilge Kağan: Türklerim, işitin!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98918-EDBB-434A-9409-4BFE5B23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Edebî eserlerde konuşma bölümünden önceki ifadenin sonuna konur.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64755-75B8-4836-A8CC-B7806BCF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Genel ağ adreslerinde kullanılır.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http://tdk.gov.tr.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57725-07FE-4B6D-8D93-FAB6777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Matematikte bölme işareti olabilir.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56:8=7.</a:t>
            </a:r>
          </a:p>
        </p:txBody>
      </p:sp>
    </p:spTree>
    <p:extLst>
      <p:ext uri="{BB962C8B-B14F-4D97-AF65-F5344CB8AC3E}">
        <p14:creationId xmlns:p14="http://schemas.microsoft.com/office/powerpoint/2010/main" val="91921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C132E-230E-4D8C-8B92-CBC8231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5385B-CDFC-4616-A279-DD89F059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52103-BD5B-40ED-905F-FD73C1E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Üç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B0FEB-925E-484D-A583-8D232CE3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D89E4-D688-42CF-982E-A7145FCA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E332-54EE-41DC-9C8B-D1A4DC4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Anlatımca tamamlanmamış cümlenin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52A86-ABFE-4543-8E5D-1153DC8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Açık yazılmak istenmeyen kelime veya bölümün yerine kullanılır.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BE88C-1EDE-4B41-AD59-750EBA9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Alıntıda alınmayan baş, orta veya son bölümlerin yerine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0C20D-A760-4E07-B347-C82147E3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Sözün kesildiğini, devamının hayale bırakıldığını gösterir veya anlatımı güçlendirir.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8B96F-81F4-42F7-ADE7-62F90AA7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Ünlem ve seslenmelerde anlatımı pekiştirir.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911AF-C6F9-4750-97BE-398A81F0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Karşılıklı konuşmada eksik veya yetersiz cevabı gösterir.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BA705-1BBB-4A82-A067-7322338E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Ünlem ve soru işaretinden sonra üç nokta yerine iki nokta yeterlidir: !.. ?..  •  Üç nokta yerine iki veya daha çok nokta kullanılmaz.</a:t>
            </a:r>
          </a:p>
        </p:txBody>
      </p:sp>
    </p:spTree>
    <p:extLst>
      <p:ext uri="{BB962C8B-B14F-4D97-AF65-F5344CB8AC3E}">
        <p14:creationId xmlns:p14="http://schemas.microsoft.com/office/powerpoint/2010/main" val="1432684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0767A-5B4A-4AC8-9B03-62EB6AE0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462D5-CD6C-46E5-88C2-4892B1D7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2C16B-F76F-40B2-8B7A-5029E4C7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Soru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89F81-839A-484C-BFB7-48DEC120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546F2-5689-4E05-9E9E-4291452A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4EA78-170F-453E-8B07-7B1C1F7D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Soru eki veya soru sözü içeren cümle ve sözlerin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B0EF-84A6-4D42-94DA-7EE1E5B8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Soru anlamı taşıyan, fakat soru eki veya sözü içermeyen cümlelerin sonuna konur.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— Adınız?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64037-907F-4BEC-AC5A-5BE9F4F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Bilinmeyen, kesin olmayan veya şüpheli yer, tarih ve benzeri bilgilerde kullanılır.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1496 (?) yılında…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29035-70C8-479E-9C18-0BC0CD2D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mı/mi ekli yan cümle zarf tümleciyse cümlenin sonuna soru işareti gelmez: Akşam oldu mu sürüler döner.  •  Soru anlamlı sıralı ve bağlı cümlelerde işaret en sona konur.</a:t>
            </a:r>
          </a:p>
        </p:txBody>
      </p:sp>
    </p:spTree>
    <p:extLst>
      <p:ext uri="{BB962C8B-B14F-4D97-AF65-F5344CB8AC3E}">
        <p14:creationId xmlns:p14="http://schemas.microsoft.com/office/powerpoint/2010/main" val="261439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161EB-9970-4A1B-A17D-1E9E2215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6FAF5-D0F0-478F-B982-1DC2A9E7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2F637-5B64-4D4A-B50E-634AEAB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Ünlem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25157-51DC-4DA1-9DD4-4949333C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3A766-A592-4CF8-8060-E36F2BE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5E00-9632-4C53-B1F4-88F891D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Sevinç, kıvanç, acı, korku ve şaşma gibi duyguları anlatan cümle veya ibarelerin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AEEB-4815-42BC-83A0-BA3EB2DB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Seslenme, hitap ve uyarı sözlerinden sonra kullanılır.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Dur, yolcu!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D678D-B3AD-45EA-BE0E-7331412D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Alay, kinaye veya küçümseme anlamı için ilgili sözden sonra yay ayraç içinde yazılır.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akıllı (!).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E101C-E475-4EE3-9730-D6A1C40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Seslenme ve hitap sözünün hemen ardından ya da cümlenin sonunda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14604201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77BEB-A409-4031-AFF5-E615263D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89967-BAAA-422F-81A7-B03D8547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A83AC-0F7D-4425-B134-6ED8EF0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sözcük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AC914-756F-4275-AF5B-1CD5745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D3712-3AC0-47D9-862E-2EBC76D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CCAD0-ED2A-40CE-B3C9-DEC73D7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Satıra sığmayan kelime bölünürken satır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CA9B4-2A45-4738-93AC-C42BA0C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Ara söz ve ara cümlelerin başına ve sonuna bitişik yazılır.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sürü -dört inekle birkaç koyun- köye girdi.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E567C-D76D-481F-93E6-8909689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Kök, gövde ve ekleri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al-ış, gör-gü-süz-lük.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90739-31FA-484B-B81D-4FF3E131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Fiil kök ve gövdelerini gösterir.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al-, başar-, yazdır-.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32698-A4C8-41E0-B639-0A33E50A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İsim yapma eklerinin başına; fiil yapma eklerinin başına ve sonuna konur.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-lık, -la-, -tır-.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41FC8-F565-42A0-A18A-21041967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Heceleri gösterir.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a-raş-tır-ma, prog-ram.</a:t>
            </a:r>
          </a:p>
        </p:txBody>
      </p:sp>
    </p:spTree>
    <p:extLst>
      <p:ext uri="{BB962C8B-B14F-4D97-AF65-F5344CB8AC3E}">
        <p14:creationId xmlns:p14="http://schemas.microsoft.com/office/powerpoint/2010/main" val="30313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ED806-8B1B-4EDE-9666-0B46C21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1F45D-01E6-4A9F-8F6B-A1E7E00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ED339-34A9-41A2-A9C3-84588BC1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aralık ve matematik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AA593-6C87-49C0-920F-A1498D8D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BDFFE-2531-428B-B712-2395268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E53FA-7984-479E-BCE9-2A9892A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“Arasında, ve, ile, ila, …-den …-e” anlamlarında kullanılır.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Aydın-İzmir yolu, 09.30-10.30, 1914-1918.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D7D63-233A-47C9-8B18-4BB926F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Matematikte çıkarma işaretidir.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50-20=30.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DB72-C1BA-4788-9F0B-DAB70F96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9. Sıfırdan küçük değerleri gösterir.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-2 °C.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6200E-CBED-4DE0-A4FD-509B7C89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Sayı adlarının yinelenmesinde kısa çizgi kullanılmaz: on on beş yıl, üç beş kişi.</a:t>
            </a:r>
          </a:p>
        </p:txBody>
      </p:sp>
    </p:spTree>
    <p:extLst>
      <p:ext uri="{BB962C8B-B14F-4D97-AF65-F5344CB8AC3E}">
        <p14:creationId xmlns:p14="http://schemas.microsoft.com/office/powerpoint/2010/main" val="17798099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F8C2F-631D-4DDE-925E-6A72E021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6EBD3-A0B6-4DB9-8063-8050A2E1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2F30B-E890-497C-8B6C-F0D49315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Uzun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89418-6DD2-447F-AABB-31003ED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324F2-D7A2-4BAE-841A-094E3AC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D4208-4D61-4FB6-A2B5-5739D50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Satır başına alınan konuşmaları gösterir; “konuşma çizgisi” adı da kullanılır.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5C5A7-37E8-4579-B70E-BEBA4A0E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Oyunlarda konuşanın adından sonra gelebilir.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Sıtkı Bey — Kaleyi kurtarmak için…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6DCF3-51FE-4F4F-AEC9-EDA065F0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Konuşmalar tırnak içinde verildiğinde uzun çizgi kullanılmaz.</a:t>
            </a:r>
          </a:p>
        </p:txBody>
      </p:sp>
    </p:spTree>
    <p:extLst>
      <p:ext uri="{BB962C8B-B14F-4D97-AF65-F5344CB8AC3E}">
        <p14:creationId xmlns:p14="http://schemas.microsoft.com/office/powerpoint/2010/main" val="4628283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5B240-C78F-4721-9BF6-5FA46DBC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D8409-01CC-4E3D-90C3-BFB762C6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F648F-DB75-4226-AAF1-A1552F9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3785A-C3EA-41A4-BA59-1320ACB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F5536-D1F2-4D2C-9C04-EDEEE28B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509D6-0EBA-467C-843F-43062A24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Dizeler yan yana yazıldığında aralarına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E2BF9-8339-44D3-A256-4C42DF8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Adreste apartman ile daire numarasını; semt ile şehir adını ayırır.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No.: 21/6 Kurtuluş / ANKARA.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919F7-5BF2-421A-A5E7-C1629861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Tarihte gün, ay ve yılı ayırır.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18/11/1969, 15/IX/1994.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F1DC1-451B-46D9-962C-8C1A4409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Dil bilgisinde eklerin farklı biçimlerini gösterir.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-a/-e, -lık/-lik.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CDBED-F2FC-47EA-95CB-9727EC8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Genel ağ adreslerinde kullanılır.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E79AC-F16E-48C6-BF05-2B2C05C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Matematikte bölme işaretidir.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70/2=35.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D8C9F-896D-4CD7-9BBA-C5DE1F4F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Birimler arası oranı boşluksuz gösterir.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g/sn.</a:t>
            </a:r>
          </a:p>
        </p:txBody>
      </p:sp>
    </p:spTree>
    <p:extLst>
      <p:ext uri="{BB962C8B-B14F-4D97-AF65-F5344CB8AC3E}">
        <p14:creationId xmlns:p14="http://schemas.microsoft.com/office/powerpoint/2010/main" val="16913190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3ACA4-A205-4FB4-A309-B48740A3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3273F-D91A-43FF-B06D-D08AD1E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\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35276-D9F8-4501-A76D-9C0ED3F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Ters 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89578-A1D4-422D-A2B8-CFA10D2D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0CD1F-C989-4C4B-9A75-AFFBB054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8F327-495A-41BD-9318-83FCEB0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Bilişim uygulamalarında art arda gelen dizinleri birbirinden ayırır.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C9D7F-41D2-4481-A5BE-B7FB420A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</a:pPr>
            <a:r>
              <a:rPr sz="20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C:\Belgelerim\Türk İşaret Dili\Kitapçık.indd</a:t>
            </a:r>
          </a:p>
        </p:txBody>
      </p:sp>
    </p:spTree>
    <p:extLst>
      <p:ext uri="{BB962C8B-B14F-4D97-AF65-F5344CB8AC3E}">
        <p14:creationId xmlns:p14="http://schemas.microsoft.com/office/powerpoint/2010/main" val="14415860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BD500-5716-494E-90C5-08DCF6FB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0A9C4-257C-4DC9-9231-A1B682E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 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DC1E7-3B2F-425E-9CCD-C3121FD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Tırnak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B98A5-F4D8-41B6-91DE-5A64B1CE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CD6F5-3861-4504-B9F0-B3EC12E0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356B6-29A4-4FB9-8B21-CDF600DE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Başka bir kişiden veya yazıdan olduğu gibi aktarılan sözleri içine alır.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8C3A7-EBF8-4266-A413-A81622B6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8888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olarak vurgulanmak istenen sözleri gösterir.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yeni bir “barış taarruzu”.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85135-CF5C-464D-8CFF-F730DE74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Cümle içinde eser, yazı ve bölüm adlarını gösterir.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“Kendi Gök Kubbemiz”, “Yazım Kuralları”.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EFD6-D608-403D-A237-AC86DEE7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8663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Bilimsel çalışmalarda künye verilirken makale adları tırnak içinde yazılır.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9793E-A387-4721-B80B-EF5C32B4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Alıntının sonundaki işaretler tırnak içinde kalır.  •  Tırnaklı söze gelen ek için kesme kullanılmaz: “Bit Palas”ını.  •  Vurgulanan sözler ve eser adları eğik yazıyla da gösterilebilir.</a:t>
            </a:r>
          </a:p>
        </p:txBody>
      </p:sp>
    </p:spTree>
    <p:extLst>
      <p:ext uri="{BB962C8B-B14F-4D97-AF65-F5344CB8AC3E}">
        <p14:creationId xmlns:p14="http://schemas.microsoft.com/office/powerpoint/2010/main" val="15872519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DDF4A-54BF-41C3-9161-5DBE90E7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09981-EAE2-47E5-BB11-C3F3FDA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‘ 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F75EB-81E0-4585-8D19-10C67DC6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Tek tırnak ve denden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B4404-A957-4824-A952-67B1EB8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D5C0E-0782-4AA0-9ACB-3E5C773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32291-875A-44B0-ABC0-55C6F00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tırnak, tırnak içindeki cümlede yeniden tırnağa alınması gereken söz veya ibareyi gösterir.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75DFE-CC8D-45E9-9B38-A59A494D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</a:pPr>
            <a:r>
              <a:rPr sz="20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“Şiirler içinde ‘Han Duvarları’ gibisi var mı?”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9C36B-F481-4831-AFD8-56275F95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Denden işareti (“), bir çizelgede alt alta gelen aynı söz, söz grubu veya sayının tekrar yazılmasını önler.</a:t>
            </a:r>
          </a:p>
        </p:txBody>
      </p:sp>
    </p:spTree>
    <p:extLst>
      <p:ext uri="{BB962C8B-B14F-4D97-AF65-F5344CB8AC3E}">
        <p14:creationId xmlns:p14="http://schemas.microsoft.com/office/powerpoint/2010/main" val="2459858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A45BA-F5A9-4047-82FC-C0527A6D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B5AB4-9224-4967-B03D-D8E6DBD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6F79E-ECC5-4C81-AB09-13EED6F7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 bilgi ve kaynak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D1BEA-B227-4897-B4A4-6AD26121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EE1DC-068C-48D2-AEC2-C6B524A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06AC8-963D-474D-B592-02A7919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anlamını tamamlayan, fakat cümle dışında kalan ek bilgiyi gösterir. Ayraç içindeki yargı uygun işaretle biter.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0D8E7-C472-4395-A0D9-6AE9CFE4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veya cins isme ait ek ayraçtan önce yazılır.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Yunus Emre’nin (1240?-1320).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DAF12-4440-4DD5-8EB1-3782BA1F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Tiyatro ve senaryoda konuşanın hareket ve durumunu açıklar.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2A71D-AE67-4CD6-8BA0-88E8A555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Alıntının kaynağını, yazarını veya künye bilgisini gösterir.</a:t>
            </a:r>
          </a:p>
        </p:txBody>
      </p:sp>
    </p:spTree>
    <p:extLst>
      <p:ext uri="{BB962C8B-B14F-4D97-AF65-F5344CB8AC3E}">
        <p14:creationId xmlns:p14="http://schemas.microsoft.com/office/powerpoint/2010/main" val="13685127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88F95-B4D2-487F-BD46-4CE6FB8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398C4-C066-42EC-B7E5-45669F09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00BD6-D24E-41E5-AB7D-7ED23089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eksiltme ve işaretler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DB3C1-3CBB-45EA-A952-472A421D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E9AE2-3215-44E2-8D7C-253787DD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D75A1-C66A-4B6F-BFE6-60FE05A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Alıntıda çıkarılan bölümün yerine konan üç nokta yay ayraç içine alınabilir.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(…).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49CA7-BA14-4DB0-BB73-EAF2C929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Alay, kinaye veya küçümseme bildiren ünlem yay ayraç içine alınır.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(!).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43BEC-BDC7-4C12-BF62-FFED4532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Şüpheli veya kesin olmayan bilgi için soru işareti yay ayraç içine alınır.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(?).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16360-D255-4AA5-B9BB-CDA788C7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Maddeleri gösteren sayı ve harflerden sonra kapama ayracı kullanılır.</a:t>
            </a:r>
          </a:p>
          <a:p xmlns:a="http://schemas.openxmlformats.org/drawingml/2006/main">
            <a:pPr>
              <a:defRPr sz="187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87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I), 1), A), a).</a:t>
            </a:r>
          </a:p>
        </p:txBody>
      </p:sp>
    </p:spTree>
    <p:extLst>
      <p:ext uri="{BB962C8B-B14F-4D97-AF65-F5344CB8AC3E}">
        <p14:creationId xmlns:p14="http://schemas.microsoft.com/office/powerpoint/2010/main" val="16880886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58DC7-CBDA-401B-B543-CCCA6AA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F13B4-4C63-487B-B0D2-EE77804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[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A5C49-46E2-42FB-B135-3EC461A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Köşeli ayraç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6CFDB-24F9-45CC-B194-7A97AE20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F667A-DBAD-4CF3-AEB7-C53AAB0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E17FC-4CA3-42DF-8ED2-DD127DB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Ayraç içinde yeniden ayraç gerektiğinde, yay ayraçtan önce köşeli ayraç kullanılır.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[Cevat Şakir Kabaağaçlı (1886-1973)].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06D63-E7F1-49CF-8214-EF9AB84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Aktarma, çeviri ve alıntıda çalışmayı yapanın eklediği sözleri gösterir.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fark[ın], çık[tığını].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6A3E5-B832-420C-974B-CCD06B59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Kaynak künyesinde bazı tamamlayıcı ayrıntıları gösterir.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Reşat Nuri [Güntekin].</a:t>
            </a:r>
          </a:p>
        </p:txBody>
      </p:sp>
    </p:spTree>
    <p:extLst>
      <p:ext uri="{BB962C8B-B14F-4D97-AF65-F5344CB8AC3E}">
        <p14:creationId xmlns:p14="http://schemas.microsoft.com/office/powerpoint/2010/main" val="145045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981BF-8376-4ECA-AAAC-AAE4F3D7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5B5B0-2510-497A-841B-0F7DBE1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58845-113B-4E2F-BF61-878261E7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8EF14-90DB-43CA-AE1B-8B5DB31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ED62B-0009-42D4-AD84-5CAFC7C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1DBD0-EC40-492E-91DA-A14C871B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1. Özel adlara gelen iyelik, durum ve bildirme eklerini ayırır.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Türkiye’mizin, Atatürk’üm, Boğazı’nın.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3350A-5566-4BD8-A84F-48437F11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Yer bildiren özel adın kısaltmalı söyleyişinde kullanılır.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Hisar’dan, Boğaz’dan.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CF577-B107-4FB8-BC3A-46045C6D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Belirli bir kanun, tüzük veya yönetmelik kastedildiğinde büyük harfle yazılan ada gelen eki ayırır.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Bu Kanun’un.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99EA1-F3C9-4D6D-9E67-16C13EB8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adın ayraç içindeki açıklamasında kesme, ayraçtan önce gelir.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Yunus Emre’nin (1240?-1320).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D05B3-40BC-429C-8E43-4D9A32D7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Avrupa Birliği ek aldığında kesmeyle yazılır.</a:t>
            </a:r>
          </a:p>
          <a:p xmlns:a="http://schemas.openxmlformats.org/drawingml/2006/main">
            <a:pPr>
              <a:defRPr sz="17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17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Avrupa Birliği’ne.</a:t>
            </a:r>
          </a:p>
        </p:txBody>
      </p:sp>
    </p:spTree>
    <p:extLst>
      <p:ext uri="{BB962C8B-B14F-4D97-AF65-F5344CB8AC3E}">
        <p14:creationId xmlns:p14="http://schemas.microsoft.com/office/powerpoint/2010/main" val="12392858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665E7-8A82-4378-8A3B-3590B80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92C9A-6800-4327-9CD4-E1C30E8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4308-AD64-427E-9314-5A4CC708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adlarda uyarılar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F40AD-6C9C-4342-ACEC-034E99D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8D429-BEFF-4D24-9A90-DF4D9F4A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6C05E-AC37-465D-821C-FCAA7E3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Üçüncü tekil kişi iyelik eki taşıyan özel ada başka bir iyelik eki gelirse kesme kullanılmaz.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Boğaz Köprümüzün.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1E0FB-DDE5-42D2-A7F7-702BE1B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Kurum, kuruluş, kurul, birleşim, oturum ve iş yeri adlarına gelen ekler kesmeyle ayrılmaz.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Türk Dil Kurumundan.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72E40-B899-4E61-BD27-56482F99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Başbakanlık ve Rektörlük gibi sözlere ünlüyle başlayan ek doğrudan gelir.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Başbakanlığa, Rektörlüğe.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6FB69-6E95-4B9C-A259-B7CFD34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adlara gelen yapım ekleri, çokluk eki ve bunlardan sonraki ekler ayrılmaz.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Türkçe, Türklüğün, Ahmetler.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B481C-FB59-4423-A4B4-BF1238DB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p, ç, t, k ile biten özel adlar ek aldığında söyleyişte yumuşar.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Ahmedi, Sinobu, Zonguldağı.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7CAA2-5B69-444C-BFB3-48E9332C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 yerine kullanılan “o” zamiri küçük yazılır ve eki kesmeyle ayrılmaz.</a:t>
            </a:r>
          </a:p>
        </p:txBody>
      </p:sp>
    </p:spTree>
    <p:extLst>
      <p:ext uri="{BB962C8B-B14F-4D97-AF65-F5344CB8AC3E}">
        <p14:creationId xmlns:p14="http://schemas.microsoft.com/office/powerpoint/2010/main" val="819076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7758B-0EF4-4DCA-BD7C-5A3ED33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3EB21-510E-477A-9460-BEECC13E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B47DA-FE93-467B-AFE9-C93F2FE4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diğer kullanımlar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9D2D2-103A-4CF3-9EF7-8FCCE8C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C23BD-C530-4E21-AC67-BA6EF12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F3974-8C0B-4F17-969B-2E8E9F45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Kişi adından sonra gelen saygı ve ünvan sözüne eklenen eki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Nihat Bey’e, Türk Dil Kurumu Başkanı’na.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418A6-D718-4393-A347-16C47870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Kısaltmalara gelen ekleri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TBMM’nin, TDK’nin, TV’ye.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9A7C6-7A75-488F-A1EB-8EFF678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Sayılara gelen ekleri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1985’te, 8’inci, 2’nci, 657’yle.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936D9-6C3D-4015-B56A-5CF41050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5. Belirli tarih bildiren ay ve gün adlarına gelen ekleri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17 Aralık’a, 12 Temmuz 2010 Pazartesi’nin.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EAFAC-E496-4DC0-9F6F-DCB1980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6. Ölçü ve söyleyiş gereği düşen sesleri gösterir.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m’ola, n’eyleyim, par’etmez.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92E12-FF31-4BF5-9AFA-8763DC10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 ek veya harften sonra gelen eki ayırır.</a:t>
            </a:r>
          </a:p>
          <a:p xmlns:a="http://schemas.openxmlformats.org/drawingml/2006/main">
            <a:pPr>
              <a:defRPr sz="2025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  </a:t>
            </a:r>
            <a:r>
              <a:rPr sz="2025" i="1">
                <a:solidFill>
                  <a:srgbClr val="18242E"/>
                </a:solidFill>
                <a:latin typeface="Aptos"/>
                <a:ea typeface="Aptos"/>
                <a:cs typeface="Aptos"/>
              </a:rPr>
              <a:t>a’dan z’ye, -lık’la.</a:t>
            </a:r>
          </a:p>
        </p:txBody>
      </p:sp>
    </p:spTree>
    <p:extLst>
      <p:ext uri="{BB962C8B-B14F-4D97-AF65-F5344CB8AC3E}">
        <p14:creationId xmlns:p14="http://schemas.microsoft.com/office/powerpoint/2010/main" val="19224449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B4B54-AF56-4418-A958-CDB42B9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5A6B3-7449-4DDF-8166-D935E23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6EDBB-4084-4044-AF26-4823079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Hızlı başvuru matrisi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A9CA-7EB0-4CD0-A39C-2797F490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24DF0-AE17-4401-B64A-6892933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34B0C-2E63-4C3D-B10E-0F910D6C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Cümleyi bitirir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4BC73-D35D-42BD-910C-8BCF527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.  ?  ! 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261A1-D49A-43E1-95E1-9E0F07F8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Ögeleri ayırır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94744-9DE2-4A25-BFDC-BAC250FF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,  ;  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285F6-2D4A-4EF8-808B-A48232DC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Konuşma ve alıntı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F1813-7076-431F-9CB9-B5EBA5E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—  “ ”  ‘ 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D5F30-0263-491A-B9AB-35AF1560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 bilgi ve belirsizlik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E434D-BE08-471E-9056-F27EFE35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( )  [ ]  (?)  (!)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47FB9-BAA9-4565-9073-753A2638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Sözcük ve aralık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B02DA-41E2-4D53-9223-E22110C1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-  / 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1AECF-72AC-45E9-A62C-E2DB4E3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Ekleri ayırır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9F610-3F27-4AF9-8A46-D0996B8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22966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2026-09-28T19:19:15.3720000Z</dcterms:created>
  <dcterms:modified xsi:type="dcterms:W3CDTF">2026-09-28T19:19:15.3720000Z</dcterms:modified>
</coreProperties>
</file>