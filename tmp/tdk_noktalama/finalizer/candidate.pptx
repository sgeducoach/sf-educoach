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387cfb8656f49cb" /><Relationship Type="http://schemas.openxmlformats.org/officeDocument/2006/relationships/extended-properties" Target="/docProps/app.xml" Id="Rfdb9584ded5b477e" /><Relationship Type="http://schemas.openxmlformats.org/officeDocument/2006/relationships/officeDocument" Target="/ppt/presentation.xml" Id="R8b5f94dcd2e0417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e78d02fce08463a"/>
  </p:sldMasterIdLst>
  <p:notesMasterIdLst>
    <p:notesMasterId xmlns:r="http://schemas.openxmlformats.org/officeDocument/2006/relationships" r:id="R29028ae493f64943"/>
  </p:notesMasterIdLst>
  <p:sldIdLst>
    <p:sldId xmlns:r="http://schemas.openxmlformats.org/officeDocument/2006/relationships" id="256" r:id="R19d7d121835b4f66"/>
    <p:sldId xmlns:r="http://schemas.openxmlformats.org/officeDocument/2006/relationships" id="257" r:id="R1927ddcff0f54343"/>
    <p:sldId xmlns:r="http://schemas.openxmlformats.org/officeDocument/2006/relationships" id="258" r:id="R56ddbd0c87604317"/>
    <p:sldId xmlns:r="http://schemas.openxmlformats.org/officeDocument/2006/relationships" id="259" r:id="Rd339119c1b434a46"/>
    <p:sldId xmlns:r="http://schemas.openxmlformats.org/officeDocument/2006/relationships" id="260" r:id="R284151e5b564452c"/>
    <p:sldId xmlns:r="http://schemas.openxmlformats.org/officeDocument/2006/relationships" id="261" r:id="R27e38617370c4219"/>
    <p:sldId xmlns:r="http://schemas.openxmlformats.org/officeDocument/2006/relationships" id="262" r:id="Red4e2853c52741dc"/>
    <p:sldId xmlns:r="http://schemas.openxmlformats.org/officeDocument/2006/relationships" id="263" r:id="Ra9eac516757c44cd"/>
    <p:sldId xmlns:r="http://schemas.openxmlformats.org/officeDocument/2006/relationships" id="264" r:id="R2456b45dddc7404b"/>
    <p:sldId xmlns:r="http://schemas.openxmlformats.org/officeDocument/2006/relationships" id="265" r:id="Reab21851159b4566"/>
    <p:sldId xmlns:r="http://schemas.openxmlformats.org/officeDocument/2006/relationships" id="266" r:id="R1c95326ea37746d6"/>
    <p:sldId xmlns:r="http://schemas.openxmlformats.org/officeDocument/2006/relationships" id="267" r:id="Rb2e1e7de56aa4f78"/>
    <p:sldId xmlns:r="http://schemas.openxmlformats.org/officeDocument/2006/relationships" id="268" r:id="R1a2cdb3b9b5d4303"/>
    <p:sldId xmlns:r="http://schemas.openxmlformats.org/officeDocument/2006/relationships" id="269" r:id="R543d763f123b4015"/>
    <p:sldId xmlns:r="http://schemas.openxmlformats.org/officeDocument/2006/relationships" id="270" r:id="R5cb7bb2851904e77"/>
    <p:sldId xmlns:r="http://schemas.openxmlformats.org/officeDocument/2006/relationships" id="271" r:id="R7063cc4e21684349"/>
    <p:sldId xmlns:r="http://schemas.openxmlformats.org/officeDocument/2006/relationships" id="272" r:id="R283ef61ee6d34164"/>
    <p:sldId xmlns:r="http://schemas.openxmlformats.org/officeDocument/2006/relationships" id="273" r:id="Rdd5a3175df1f44b4"/>
    <p:sldId xmlns:r="http://schemas.openxmlformats.org/officeDocument/2006/relationships" id="274" r:id="Raa88b617bad54de8"/>
    <p:sldId xmlns:r="http://schemas.openxmlformats.org/officeDocument/2006/relationships" id="275" r:id="R988f26944097404f"/>
    <p:sldId xmlns:r="http://schemas.openxmlformats.org/officeDocument/2006/relationships" id="276" r:id="R332c95b7fab94570"/>
    <p:sldId xmlns:r="http://schemas.openxmlformats.org/officeDocument/2006/relationships" id="277" r:id="R4b710bb93d3d4a10"/>
    <p:sldId xmlns:r="http://schemas.openxmlformats.org/officeDocument/2006/relationships" id="278" r:id="R5083c3e943754390"/>
    <p:sldId xmlns:r="http://schemas.openxmlformats.org/officeDocument/2006/relationships" id="279" r:id="Rb2f2b9d9515a4a08"/>
    <p:sldId xmlns:r="http://schemas.openxmlformats.org/officeDocument/2006/relationships" id="280" r:id="R143a2c04464f4c7f"/>
    <p:sldId xmlns:r="http://schemas.openxmlformats.org/officeDocument/2006/relationships" id="281" r:id="Re892ecd29ecd404b"/>
    <p:sldId xmlns:r="http://schemas.openxmlformats.org/officeDocument/2006/relationships" id="282" r:id="R582aa0c474434380"/>
    <p:sldId xmlns:r="http://schemas.openxmlformats.org/officeDocument/2006/relationships" id="283" r:id="R07417365f50e48d0"/>
    <p:sldId xmlns:r="http://schemas.openxmlformats.org/officeDocument/2006/relationships" id="284" r:id="R0293fe736c86422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a4b166622684aec" /><Relationship Type="http://schemas.openxmlformats.org/officeDocument/2006/relationships/slideMaster" Target="/ppt/slideMasters/slideMaster1.xml" Id="R2e78d02fce08463a" /><Relationship Type="http://schemas.openxmlformats.org/officeDocument/2006/relationships/notesMaster" Target="/ppt/notesMasters/notesMaster1.xml" Id="R29028ae493f64943" /><Relationship Type="http://schemas.openxmlformats.org/officeDocument/2006/relationships/presProps" Target="/ppt/presProps.xml" Id="Rcd24de5d8983411a" /><Relationship Type="http://schemas.openxmlformats.org/officeDocument/2006/relationships/tableStyles" Target="/ppt/tableStyles.xml" Id="R0d85daa65b9a4b79" /><Relationship Type="http://schemas.openxmlformats.org/officeDocument/2006/relationships/slide" Target="/ppt/slides/slide1.xml" Id="R19d7d121835b4f66" /><Relationship Type="http://schemas.openxmlformats.org/officeDocument/2006/relationships/slide" Target="/ppt/slides/slide2.xml" Id="R1927ddcff0f54343" /><Relationship Type="http://schemas.openxmlformats.org/officeDocument/2006/relationships/slide" Target="/ppt/slides/slide3.xml" Id="R56ddbd0c87604317" /><Relationship Type="http://schemas.openxmlformats.org/officeDocument/2006/relationships/slide" Target="/ppt/slides/slide4.xml" Id="Rd339119c1b434a46" /><Relationship Type="http://schemas.openxmlformats.org/officeDocument/2006/relationships/slide" Target="/ppt/slides/slide5.xml" Id="R284151e5b564452c" /><Relationship Type="http://schemas.openxmlformats.org/officeDocument/2006/relationships/slide" Target="/ppt/slides/slide6.xml" Id="R27e38617370c4219" /><Relationship Type="http://schemas.openxmlformats.org/officeDocument/2006/relationships/slide" Target="/ppt/slides/slide7.xml" Id="Red4e2853c52741dc" /><Relationship Type="http://schemas.openxmlformats.org/officeDocument/2006/relationships/slide" Target="/ppt/slides/slide8.xml" Id="Ra9eac516757c44cd" /><Relationship Type="http://schemas.openxmlformats.org/officeDocument/2006/relationships/slide" Target="/ppt/slides/slide9.xml" Id="R2456b45dddc7404b" /><Relationship Type="http://schemas.openxmlformats.org/officeDocument/2006/relationships/slide" Target="/ppt/slides/slide10.xml" Id="Reab21851159b4566" /><Relationship Type="http://schemas.openxmlformats.org/officeDocument/2006/relationships/slide" Target="/ppt/slides/slide11.xml" Id="R1c95326ea37746d6" /><Relationship Type="http://schemas.openxmlformats.org/officeDocument/2006/relationships/slide" Target="/ppt/slides/slide12.xml" Id="Rb2e1e7de56aa4f78" /><Relationship Type="http://schemas.openxmlformats.org/officeDocument/2006/relationships/slide" Target="/ppt/slides/slide13.xml" Id="R1a2cdb3b9b5d4303" /><Relationship Type="http://schemas.openxmlformats.org/officeDocument/2006/relationships/slide" Target="/ppt/slides/slide14.xml" Id="R543d763f123b4015" /><Relationship Type="http://schemas.openxmlformats.org/officeDocument/2006/relationships/slide" Target="/ppt/slides/slide15.xml" Id="R5cb7bb2851904e77" /><Relationship Type="http://schemas.openxmlformats.org/officeDocument/2006/relationships/slide" Target="/ppt/slides/slide16.xml" Id="R7063cc4e21684349" /><Relationship Type="http://schemas.openxmlformats.org/officeDocument/2006/relationships/slide" Target="/ppt/slides/slide17.xml" Id="R283ef61ee6d34164" /><Relationship Type="http://schemas.openxmlformats.org/officeDocument/2006/relationships/slide" Target="/ppt/slides/slide18.xml" Id="Rdd5a3175df1f44b4" /><Relationship Type="http://schemas.openxmlformats.org/officeDocument/2006/relationships/slide" Target="/ppt/slides/slide19.xml" Id="Raa88b617bad54de8" /><Relationship Type="http://schemas.openxmlformats.org/officeDocument/2006/relationships/slide" Target="/ppt/slides/slide20.xml" Id="R988f26944097404f" /><Relationship Type="http://schemas.openxmlformats.org/officeDocument/2006/relationships/slide" Target="/ppt/slides/slide21.xml" Id="R332c95b7fab94570" /><Relationship Type="http://schemas.openxmlformats.org/officeDocument/2006/relationships/slide" Target="/ppt/slides/slide22.xml" Id="R4b710bb93d3d4a10" /><Relationship Type="http://schemas.openxmlformats.org/officeDocument/2006/relationships/slide" Target="/ppt/slides/slide23.xml" Id="R5083c3e943754390" /><Relationship Type="http://schemas.openxmlformats.org/officeDocument/2006/relationships/slide" Target="/ppt/slides/slide24.xml" Id="Rb2f2b9d9515a4a08" /><Relationship Type="http://schemas.openxmlformats.org/officeDocument/2006/relationships/slide" Target="/ppt/slides/slide25.xml" Id="R143a2c04464f4c7f" /><Relationship Type="http://schemas.openxmlformats.org/officeDocument/2006/relationships/slide" Target="/ppt/slides/slide26.xml" Id="Re892ecd29ecd404b" /><Relationship Type="http://schemas.openxmlformats.org/officeDocument/2006/relationships/slide" Target="/ppt/slides/slide27.xml" Id="R582aa0c474434380" /><Relationship Type="http://schemas.openxmlformats.org/officeDocument/2006/relationships/slide" Target="/ppt/slides/slide28.xml" Id="R07417365f50e48d0" /><Relationship Type="http://schemas.openxmlformats.org/officeDocument/2006/relationships/slide" Target="/ppt/slides/slide29.xml" Id="R0293fe736c86422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264f66919c8463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30c0cf31f454859" /><Relationship Type="http://schemas.openxmlformats.org/officeDocument/2006/relationships/notesMaster" Target="/ppt/notesMasters/notesMaster1.xml" Id="R4fc87292489d45b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85ed37b8d134a3e" /><Relationship Type="http://schemas.openxmlformats.org/officeDocument/2006/relationships/notesMaster" Target="/ppt/notesMasters/notesMaster1.xml" Id="Rf96af3fac3d5458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a6bd53724344845" /><Relationship Type="http://schemas.openxmlformats.org/officeDocument/2006/relationships/notesMaster" Target="/ppt/notesMasters/notesMaster1.xml" Id="R140e3ba15edb4d4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8c7e3711b614391" /><Relationship Type="http://schemas.openxmlformats.org/officeDocument/2006/relationships/notesMaster" Target="/ppt/notesMasters/notesMaster1.xml" Id="R677387ac948a49b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63ad39d592047b8" /><Relationship Type="http://schemas.openxmlformats.org/officeDocument/2006/relationships/notesMaster" Target="/ppt/notesMasters/notesMaster1.xml" Id="Rab4c8290d8f74c8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5b642a53e2c4a45" /><Relationship Type="http://schemas.openxmlformats.org/officeDocument/2006/relationships/notesMaster" Target="/ppt/notesMasters/notesMaster1.xml" Id="R6ed10f00ff8f4cd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5bee7e4ddbc4521" /><Relationship Type="http://schemas.openxmlformats.org/officeDocument/2006/relationships/notesMaster" Target="/ppt/notesMasters/notesMaster1.xml" Id="Re9bf26848c8941e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733557ddc7f4abb" /><Relationship Type="http://schemas.openxmlformats.org/officeDocument/2006/relationships/notesMaster" Target="/ppt/notesMasters/notesMaster1.xml" Id="R7a7b68bf6fb1439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3ede8e7255e4c06" /><Relationship Type="http://schemas.openxmlformats.org/officeDocument/2006/relationships/notesMaster" Target="/ppt/notesMasters/notesMaster1.xml" Id="R93d9da43cf9a4eb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f3fb6270c94456c" /><Relationship Type="http://schemas.openxmlformats.org/officeDocument/2006/relationships/notesMaster" Target="/ppt/notesMasters/notesMaster1.xml" Id="Rd0a964f5dade4e22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acbac29b9a07414d" /><Relationship Type="http://schemas.openxmlformats.org/officeDocument/2006/relationships/notesMaster" Target="/ppt/notesMasters/notesMaster1.xml" Id="R3622145b7b8e4b23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f02df7bb75294ae5" /><Relationship Type="http://schemas.openxmlformats.org/officeDocument/2006/relationships/notesMaster" Target="/ppt/notesMasters/notesMaster1.xml" Id="R5f7553a8424346f3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a1fb31a8be3f45ef" /><Relationship Type="http://schemas.openxmlformats.org/officeDocument/2006/relationships/notesMaster" Target="/ppt/notesMasters/notesMaster1.xml" Id="R46e29509f93b4cc8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d2a31d3d31cf4bc3" /><Relationship Type="http://schemas.openxmlformats.org/officeDocument/2006/relationships/notesMaster" Target="/ppt/notesMasters/notesMaster1.xml" Id="R1cb8ceac5ecb4d04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cf3a0c44135e4653" /><Relationship Type="http://schemas.openxmlformats.org/officeDocument/2006/relationships/notesMaster" Target="/ppt/notesMasters/notesMaster1.xml" Id="R9fdb87cd34c2442a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3df39f62a3a5424c" /><Relationship Type="http://schemas.openxmlformats.org/officeDocument/2006/relationships/notesMaster" Target="/ppt/notesMasters/notesMaster1.xml" Id="R60645b25b1ab410d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18df8c4b21654336" /><Relationship Type="http://schemas.openxmlformats.org/officeDocument/2006/relationships/notesMaster" Target="/ppt/notesMasters/notesMaster1.xml" Id="Rdb9045df9a434309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03e4285782b54d9f" /><Relationship Type="http://schemas.openxmlformats.org/officeDocument/2006/relationships/notesMaster" Target="/ppt/notesMasters/notesMaster1.xml" Id="Reb13e6bab6174bfe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1bc1ff1964244239" /><Relationship Type="http://schemas.openxmlformats.org/officeDocument/2006/relationships/notesMaster" Target="/ppt/notesMasters/notesMaster1.xml" Id="Rfed1d2473b204df8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eac8248f4b404ff5" /><Relationship Type="http://schemas.openxmlformats.org/officeDocument/2006/relationships/notesMaster" Target="/ppt/notesMasters/notesMaster1.xml" Id="Ra0b99a0b7213495f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761ffe47218f4384" /><Relationship Type="http://schemas.openxmlformats.org/officeDocument/2006/relationships/notesMaster" Target="/ppt/notesMasters/notesMaster1.xml" Id="R7ef4ae4a77274d77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6ea03119b7184b81" /><Relationship Type="http://schemas.openxmlformats.org/officeDocument/2006/relationships/notesMaster" Target="/ppt/notesMasters/notesMaster1.xml" Id="Ra2470ca35b2e4baa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a9a712be0334417a" /><Relationship Type="http://schemas.openxmlformats.org/officeDocument/2006/relationships/notesMaster" Target="/ppt/notesMasters/notesMaster1.xml" Id="R0f927deb49024e87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a0ba9153715b4edf" /><Relationship Type="http://schemas.openxmlformats.org/officeDocument/2006/relationships/notesMaster" Target="/ppt/notesMasters/notesMaster1.xml" Id="R252c2f8863774acc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0a3d4eaecf504784" /><Relationship Type="http://schemas.openxmlformats.org/officeDocument/2006/relationships/notesMaster" Target="/ppt/notesMasters/notesMaster1.xml" Id="Re8d98b6e6c21475c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0871267edc9540e5" /><Relationship Type="http://schemas.openxmlformats.org/officeDocument/2006/relationships/notesMaster" Target="/ppt/notesMasters/notesMaster1.xml" Id="R62d96387383d4a0e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6ba810462d1f4d87" /><Relationship Type="http://schemas.openxmlformats.org/officeDocument/2006/relationships/notesMaster" Target="/ppt/notesMasters/notesMaster1.xml" Id="Rb1705c061cac4ed2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1a58be4750ec4595" /><Relationship Type="http://schemas.openxmlformats.org/officeDocument/2006/relationships/notesMaster" Target="/ppt/notesMasters/notesMaster1.xml" Id="Rf375a4e1c304466e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8b74a89911b048c1" /><Relationship Type="http://schemas.openxmlformats.org/officeDocument/2006/relationships/notesMaster" Target="/ppt/notesMasters/notesMaster1.xml" Id="R9166a44d74b34a8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Kaynak: https://tdk.gov.tr/icerik/yazim-kurallari/noktalama-isaretleri-aciklamalar/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Kaynak: https://tdk.gov.tr/icerik/yazim-kurallari/noktalama-isaretleri-aciklamalar/ (erişim: 28.09.2026).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Kaynak: https://tdk.gov.tr/icerik/yazim-kurallari/noktalama-isaretleri-aciklamalar/ (erişim: 28.09.2026).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Kaynak: https://tdk.gov.tr/icerik/yazim-kurallari/noktalama-isaretleri-aciklamalar/ (erişim: 28.09.2026).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Kaynak: https://tdk.gov.tr/icerik/yazim-kurallari/noktalama-isaretleri-aciklamalar/ (erişim: 28.09.2026).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Kaynak: https://tdk.gov.tr/icerik/yazim-kurallari/noktalama-isaretleri-aciklamalar/ (erişim: 28.09.2026).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Kaynak: https://tdk.gov.tr/icerik/yazim-kurallari/noktalama-isaretleri-aciklamalar/ (erişim: 28.09.2026).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Kaynak: https://tdk.gov.tr/icerik/yazim-kurallari/noktalama-isaretleri-aciklamalar/ (erişim: 28.09.2026).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Kaynak: https://tdk.gov.tr/icerik/yazim-kurallari/noktalama-isaretleri-aciklamalar/ (erişim: 28.09.2026).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Kaynak: https://tdk.gov.tr/icerik/yazim-kurallari/noktalama-isaretleri-aciklamalar/ (erişim: 28.09.2026).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Kaynak: https://tdk.gov.tr/icerik/yazim-kurallari/noktalama-isaretleri-aciklamalar/ (erişim: 28.09.2026).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Kaynak: https://tdk.gov.tr/icerik/yazim-kurallari/noktalama-isaretleri-aciklamalar/ (erişim: 28.09.2026).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Kaynak: https://tdk.gov.tr/icerik/yazim-kurallari/noktalama-isaretleri-aciklamalar/ (erişim: 28.09.2026).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Kaynak: https://tdk.gov.tr/icerik/yazim-kurallari/noktalama-isaretleri-aciklamalar/ (erişim: 28.09.2026).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Kaynak: https://tdk.gov.tr/icerik/yazim-kurallari/noktalama-isaretleri-aciklamalar/ (erişim: 28.09.2026).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Kaynak: https://tdk.gov.tr/icerik/yazim-kurallari/noktalama-isaretleri-aciklamalar/ (erişim: 28.09.2026).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Kaynak: https://tdk.gov.tr/icerik/yazim-kurallari/noktalama-isaretleri-aciklamalar/ (erişim: 28.09.2026).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Kaynak: https://tdk.gov.tr/icerik/yazim-kurallari/noktalama-isaretleri-aciklamalar/ (erişim: 28.09.2026).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Kaynak: https://tdk.gov.tr/icerik/yazim-kurallari/noktalama-isaretleri-aciklamalar/ (erişim: 28.09.2026).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Kaynak: https://tdk.gov.tr/icerik/yazim-kurallari/noktalama-isaretleri-aciklamalar/ (erişim: 28.09.2026).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Kaynak: https://tdk.gov.tr/icerik/yazim-kurallari/noktalama-isaretleri-aciklamalar/ (erişim: 28.09.2026).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Kaynak: https://tdk.gov.tr/icerik/yazim-kurallari/noktalama-isaretleri-aciklamalar/ (erişim: 28.09.2026).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Kaynak: https://tdk.gov.tr/icerik/yazim-kurallari/noktalama-isaretleri-aciklamalar/ (erişim: 28.09.2026).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Kaynak: https://tdk.gov.tr/icerik/yazim-kurallari/noktalama-isaretleri-aciklamalar/ (erişim: 28.09.2026).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Kaynak: https://tdk.gov.tr/icerik/yazim-kurallari/noktalama-isaretleri-aciklamalar/ (erişim: 28.09.2026).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Kaynak: https://tdk.gov.tr/icerik/yazim-kurallari/noktalama-isaretleri-aciklamalar/ (erişim: 28.09.2026).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Kaynak: https://tdk.gov.tr/icerik/yazim-kurallari/noktalama-isaretleri-aciklamalar/ (erişim: 28.09.2026).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Kaynak: https://tdk.gov.tr/icerik/yazim-kurallari/noktalama-isaretleri-aciklamalar/ (erişim: 28.09.2026).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Kaynak: https://tdk.gov.tr/icerik/yazim-kurallari/noktalama-isaretleri-aciklamalar/ (erişim: 28.09.2026).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916455437894a6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1c38f471407440e" /><Relationship Type="http://schemas.openxmlformats.org/officeDocument/2006/relationships/slideLayout" Target="/ppt/slideLayouts/slideLayout1.xml" Id="R76efe65d91284ba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6efe65d91284ba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596c0a9e474839" /><Relationship Type="http://schemas.openxmlformats.org/officeDocument/2006/relationships/notesSlide" Target="/ppt/notesSlides/notesSlide1.xml" Id="Rcf41f013a5d745a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aeb98bdb9e4cab" /><Relationship Type="http://schemas.openxmlformats.org/officeDocument/2006/relationships/notesSlide" Target="/ppt/notesSlides/notesSlide2.xml" Id="R91f8929fed3048a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abc262c30648f5" /><Relationship Type="http://schemas.openxmlformats.org/officeDocument/2006/relationships/notesSlide" Target="/ppt/notesSlides/notesSlide3.xml" Id="Rfc8146cec3a940c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9c4e6b001c4c06" /><Relationship Type="http://schemas.openxmlformats.org/officeDocument/2006/relationships/notesSlide" Target="/ppt/notesSlides/notesSlide4.xml" Id="R16e0f98e6e1e480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102a60e9164a2c" /><Relationship Type="http://schemas.openxmlformats.org/officeDocument/2006/relationships/notesSlide" Target="/ppt/notesSlides/notesSlide5.xml" Id="R819706e78c6a46a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133173fb6e4ab6" /><Relationship Type="http://schemas.openxmlformats.org/officeDocument/2006/relationships/notesSlide" Target="/ppt/notesSlides/notesSlide6.xml" Id="R3286c54d86da4b0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ddd06f49254e63" /><Relationship Type="http://schemas.openxmlformats.org/officeDocument/2006/relationships/notesSlide" Target="/ppt/notesSlides/notesSlide7.xml" Id="Rfe2add1e6ace46a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998d6d5fb24d27" /><Relationship Type="http://schemas.openxmlformats.org/officeDocument/2006/relationships/notesSlide" Target="/ppt/notesSlides/notesSlide8.xml" Id="R76ac019ceddf470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f3063d1db74822" /><Relationship Type="http://schemas.openxmlformats.org/officeDocument/2006/relationships/notesSlide" Target="/ppt/notesSlides/notesSlide9.xml" Id="Rdcbfea5fb2da447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b08e5f4ebf4d78" /><Relationship Type="http://schemas.openxmlformats.org/officeDocument/2006/relationships/notesSlide" Target="/ppt/notesSlides/notesSlide10.xml" Id="R631742bc7ee3474a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a48c7128dc48e3" /><Relationship Type="http://schemas.openxmlformats.org/officeDocument/2006/relationships/notesSlide" Target="/ppt/notesSlides/notesSlide11.xml" Id="R9b9c56795c474349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0c260132a542b5" /><Relationship Type="http://schemas.openxmlformats.org/officeDocument/2006/relationships/notesSlide" Target="/ppt/notesSlides/notesSlide12.xml" Id="R347f075d6dc540be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a43d3e48b14c7b" /><Relationship Type="http://schemas.openxmlformats.org/officeDocument/2006/relationships/notesSlide" Target="/ppt/notesSlides/notesSlide13.xml" Id="Ra7095d29393445dc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a5c39a97ed453f" /><Relationship Type="http://schemas.openxmlformats.org/officeDocument/2006/relationships/notesSlide" Target="/ppt/notesSlides/notesSlide14.xml" Id="R2df12b5a0b45450a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592308ea974641" /><Relationship Type="http://schemas.openxmlformats.org/officeDocument/2006/relationships/notesSlide" Target="/ppt/notesSlides/notesSlide15.xml" Id="Reb7d3788c7e24fda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bbc4671a984a01" /><Relationship Type="http://schemas.openxmlformats.org/officeDocument/2006/relationships/notesSlide" Target="/ppt/notesSlides/notesSlide16.xml" Id="Rd8ec915c19824e6f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6a746eed31420a" /><Relationship Type="http://schemas.openxmlformats.org/officeDocument/2006/relationships/notesSlide" Target="/ppt/notesSlides/notesSlide17.xml" Id="R7bb0a7f165784423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096f30d309456a" /><Relationship Type="http://schemas.openxmlformats.org/officeDocument/2006/relationships/notesSlide" Target="/ppt/notesSlides/notesSlide18.xml" Id="Rd00c9858b43e4244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b8531f41ef4340" /><Relationship Type="http://schemas.openxmlformats.org/officeDocument/2006/relationships/notesSlide" Target="/ppt/notesSlides/notesSlide19.xml" Id="Rffcb3679462e4d3a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0b6b8988824e22" /><Relationship Type="http://schemas.openxmlformats.org/officeDocument/2006/relationships/notesSlide" Target="/ppt/notesSlides/notesSlide20.xml" Id="R215c3c4ff5c444a5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1f85a93a574eb4" /><Relationship Type="http://schemas.openxmlformats.org/officeDocument/2006/relationships/notesSlide" Target="/ppt/notesSlides/notesSlide21.xml" Id="R228e79e8aeb14b9a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cbc657e4494076" /><Relationship Type="http://schemas.openxmlformats.org/officeDocument/2006/relationships/notesSlide" Target="/ppt/notesSlides/notesSlide22.xml" Id="R474b116e94244a46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46934528d74b66" /><Relationship Type="http://schemas.openxmlformats.org/officeDocument/2006/relationships/notesSlide" Target="/ppt/notesSlides/notesSlide23.xml" Id="R589e23700af14cc1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f0d3b78dd54389" /><Relationship Type="http://schemas.openxmlformats.org/officeDocument/2006/relationships/notesSlide" Target="/ppt/notesSlides/notesSlide24.xml" Id="R04525bfaf88e4d4c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fca554f4184f8b" /><Relationship Type="http://schemas.openxmlformats.org/officeDocument/2006/relationships/notesSlide" Target="/ppt/notesSlides/notesSlide25.xml" Id="R851eaac9586c46e4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d08d06c84d4273" /><Relationship Type="http://schemas.openxmlformats.org/officeDocument/2006/relationships/notesSlide" Target="/ppt/notesSlides/notesSlide26.xml" Id="R9c2357519c0849e8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73e5d2efc149cb" /><Relationship Type="http://schemas.openxmlformats.org/officeDocument/2006/relationships/notesSlide" Target="/ppt/notesSlides/notesSlide27.xml" Id="Ra9fefd7469ee451b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76d2b343e14d4a" /><Relationship Type="http://schemas.openxmlformats.org/officeDocument/2006/relationships/notesSlide" Target="/ppt/notesSlides/notesSlide28.xml" Id="R5ebe276eb13049ff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1cb07cc1a84167" /><Relationship Type="http://schemas.openxmlformats.org/officeDocument/2006/relationships/notesSlide" Target="/ppt/notesSlides/notesSlide29.xml" Id="Rd2e3ea71bae4408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4324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CAFAC2B-FAFA-42A6-B790-AC269F800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43000"/>
            <a:ext cx="66675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4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NOKTALAMA</a:t>
            </a:r>
          </a:p>
          <a:p xmlns:a="http://schemas.openxmlformats.org/drawingml/2006/main">
            <a:pPr>
              <a:defRPr sz="4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4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İŞARETLERİ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2B54388-4B78-430D-AB9E-158CE32CF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143250"/>
            <a:ext cx="619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CFE7EC"/>
                </a:solidFill>
                <a:latin typeface="Aptos"/>
                <a:ea typeface="Aptos"/>
                <a:cs typeface="Aptos"/>
              </a:defRPr>
            </a:pPr>
            <a:r>
              <a:rPr sz="1950" b="0">
                <a:solidFill>
                  <a:srgbClr val="CFE7EC"/>
                </a:solidFill>
                <a:latin typeface="Aptos"/>
                <a:ea typeface="Aptos"/>
                <a:cs typeface="Aptos"/>
              </a:rPr>
              <a:t>TDK yazım kurallarındaki açıklamaların tamamı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B475FD2-0ACD-4912-8B65-CF0718A03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191000"/>
            <a:ext cx="10287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E9C46A"/>
                </a:solidFill>
                <a:latin typeface="Aptos"/>
                <a:ea typeface="Aptos"/>
                <a:cs typeface="Aptos"/>
              </a:defRPr>
            </a:pPr>
            <a:r>
              <a:rPr sz="2925" b="1">
                <a:solidFill>
                  <a:srgbClr val="E9C46A"/>
                </a:solidFill>
                <a:latin typeface="Aptos"/>
                <a:ea typeface="Aptos"/>
                <a:cs typeface="Aptos"/>
              </a:rPr>
              <a:t>.  ,  ;  :  …  ?  !  —  /  “ ”  ( )  [ ]  ’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135ACC3-4540-43A7-9469-60319D4A2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524500"/>
            <a:ext cx="619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Sunum grubu + 1 m × 2 m afiş planı</a:t>
            </a:r>
          </a:p>
        </p:txBody>
      </p:sp>
    </p:spTree>
    <p:extLst>
      <p:ext uri="{BB962C8B-B14F-4D97-AF65-F5344CB8AC3E}">
        <p14:creationId xmlns:p14="http://schemas.microsoft.com/office/powerpoint/2010/main" val="103643959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AC9EB22-78F4-40AC-B445-45B9131BE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A19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30E7FC0-7F15-48B2-84B1-FC60DC04A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57200"/>
            <a:ext cx="10668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324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4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30A725E-FF81-4CEF-A146-4262109F0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476250"/>
            <a:ext cx="9144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4324B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4324B"/>
                </a:solidFill>
                <a:latin typeface="Aptos"/>
                <a:ea typeface="Aptos"/>
                <a:cs typeface="Aptos"/>
              </a:rPr>
              <a:t>Noktalamanın temel ilkeleri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9A4B4F4-CE79-4869-AAAF-E293494AC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523875"/>
            <a:ext cx="476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60717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60717D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FA3C374-170C-47F4-B7BD-7E6081014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57950"/>
            <a:ext cx="762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0717D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0717D"/>
                </a:solidFill>
                <a:latin typeface="Aptos"/>
                <a:ea typeface="Aptos"/>
                <a:cs typeface="Aptos"/>
              </a:rPr>
              <a:t>Kaynak: Türk Dil Kurumu, Noktalama İşaretleri (Açıklamalar)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41BA40F-6053-4363-8E02-A3A4244CC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76375"/>
            <a:ext cx="10972800" cy="68389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1E5"/>
            </a:solidFill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8242E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8242E"/>
                </a:solidFill>
                <a:latin typeface="Aptos"/>
                <a:ea typeface="Aptos"/>
                <a:cs typeface="Aptos"/>
              </a:rPr>
              <a:t>Noktalama; duygu ve düşünceyi açık anlatır, cümlenin yapısını ve duraklarını belirler.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F300C6A-9AFE-47E7-B717-6451201A5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74570"/>
            <a:ext cx="10972800" cy="6810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1E5"/>
            </a:solidFill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8242E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8242E"/>
                </a:solidFill>
                <a:latin typeface="Aptos"/>
                <a:ea typeface="Aptos"/>
                <a:cs typeface="Aptos"/>
              </a:rPr>
              <a:t>Okumayı ve anlamayı kolaylaştırır; vurgu ve ton gibi söyleyiş özelliklerini gösterir.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0F5ED96-C5F8-429F-9991-41D82EF8B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69908"/>
            <a:ext cx="10972800" cy="81248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1E5"/>
            </a:solidFill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8242E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8242E"/>
                </a:solidFill>
                <a:latin typeface="Aptos"/>
                <a:ea typeface="Aptos"/>
                <a:cs typeface="Aptos"/>
              </a:rPr>
              <a:t>Nokta, virgül, noktalı virgül, iki nokta, üç nokta, soru, ünlem, tırnak, ayraç ve kesme işaretleri ilgili kelimeye bitişik yazılır.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214E603-EAF5-4D5E-8029-F4B2092F1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96690"/>
            <a:ext cx="10972800" cy="6153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1E5"/>
            </a:solidFill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8242E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8242E"/>
                </a:solidFill>
                <a:latin typeface="Aptos"/>
                <a:ea typeface="Aptos"/>
                <a:cs typeface="Aptos"/>
              </a:rPr>
              <a:t>Kesme dışındaki işaretlerden sonra bir harf boşluğu bırakılır.</a:t>
            </a:r>
          </a:p>
        </p:txBody>
      </p:sp>
    </p:spTree>
    <p:extLst>
      <p:ext uri="{BB962C8B-B14F-4D97-AF65-F5344CB8AC3E}">
        <p14:creationId xmlns:p14="http://schemas.microsoft.com/office/powerpoint/2010/main" val="56991639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9AC2F65-BC42-411F-B7F2-BD04151EE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A19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457119A-6491-408F-AE41-AA7CA281D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57200"/>
            <a:ext cx="10668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324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4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5E386D-2C99-4ACF-8594-C984BB165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476250"/>
            <a:ext cx="9144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4324B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4324B"/>
                </a:solidFill>
                <a:latin typeface="Aptos"/>
                <a:ea typeface="Aptos"/>
                <a:cs typeface="Aptos"/>
              </a:rPr>
              <a:t>Nokta: cümle, kısaltma ve sıralama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EA85C6D-26F7-47ED-8369-D4E8307DD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523875"/>
            <a:ext cx="476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60717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60717D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BF73370-7631-4DD3-9017-CE41DFC1F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57950"/>
            <a:ext cx="762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0717D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0717D"/>
                </a:solidFill>
                <a:latin typeface="Aptos"/>
                <a:ea typeface="Aptos"/>
                <a:cs typeface="Aptos"/>
              </a:rPr>
              <a:t>Kaynak: Türk Dil Kurumu, Noktalama İşaretleri (Açıklamalar)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C24AB62-8A4D-456C-8C09-FD3F30583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76375"/>
            <a:ext cx="10972800" cy="6524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1E5"/>
            </a:solidFill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8242E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8242E"/>
                </a:solidFill>
                <a:latin typeface="Aptos"/>
                <a:ea typeface="Aptos"/>
                <a:cs typeface="Aptos"/>
              </a:rPr>
              <a:t>1. Cümlenin sonuna konur. Örnek: Türk Dil Kurumu, 1932 yılında kurulmuştur.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EADACD6-54D4-4562-8380-1496D983E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3138"/>
            <a:ext cx="10972800" cy="6810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1E5"/>
            </a:solidFill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8242E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8242E"/>
                </a:solidFill>
                <a:latin typeface="Aptos"/>
                <a:ea typeface="Aptos"/>
                <a:cs typeface="Aptos"/>
              </a:rPr>
              <a:t>2. Bazı kısaltmaların sonunda kullanılır: Alb., Dr., Prof., Cad., Sok., s., vb., İng.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D39B916-BE0B-4DDE-8F29-A31EB36F2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38475"/>
            <a:ext cx="10972800" cy="6610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1E5"/>
            </a:solidFill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8242E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8242E"/>
                </a:solidFill>
                <a:latin typeface="Aptos"/>
                <a:ea typeface="Aptos"/>
                <a:cs typeface="Aptos"/>
              </a:rPr>
              <a:t>3. Sayılardan sonra sıra bildirir: 3., 15.; II. Mehmet, XV. yüzyıl, 4. Levent.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766D999-8518-4DDE-89C2-7DCF2DCDF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3810"/>
            <a:ext cx="10972800" cy="769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1E5"/>
            </a:solidFill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8242E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8242E"/>
                </a:solidFill>
                <a:latin typeface="Aptos"/>
                <a:ea typeface="Aptos"/>
                <a:cs typeface="Aptos"/>
              </a:rPr>
              <a:t>4. Virgül veya çizgiyle sıralanan rakamlarda yalnız sonuncudan sonra konur: 3, 4 ve 7. maddeler; XII–XIV. yüzyıllar.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43D32C3-32F4-4963-A208-ACF8F6DCE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97730"/>
            <a:ext cx="10972800" cy="64960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1E5"/>
            </a:solidFill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8242E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8242E"/>
                </a:solidFill>
                <a:latin typeface="Aptos"/>
                <a:ea typeface="Aptos"/>
                <a:cs typeface="Aptos"/>
              </a:rPr>
              <a:t>5. Maddeleri gösteren rakam ve harflerden sonra kullanılır: I., 1., A., a.</a:t>
            </a:r>
          </a:p>
        </p:txBody>
      </p:sp>
    </p:spTree>
    <p:extLst>
      <p:ext uri="{BB962C8B-B14F-4D97-AF65-F5344CB8AC3E}">
        <p14:creationId xmlns:p14="http://schemas.microsoft.com/office/powerpoint/2010/main" val="31610908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4187E64-2BEE-4B11-83B1-99D668261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A19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FFBD5F3-42D0-44A6-B7D8-FA0B7DE38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57200"/>
            <a:ext cx="10668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324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4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D62674E-51A1-4986-8DC5-BC8712512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476250"/>
            <a:ext cx="9144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4324B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4324B"/>
                </a:solidFill>
                <a:latin typeface="Aptos"/>
                <a:ea typeface="Aptos"/>
                <a:cs typeface="Aptos"/>
              </a:rPr>
              <a:t>Nokta: tarih, saat, sayı ve teknik kullanım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35E97A4-8154-40D2-9F24-2CAD9C4A1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523875"/>
            <a:ext cx="476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60717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60717D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AE73B3D-76FB-4444-9303-F82946970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57950"/>
            <a:ext cx="762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0717D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0717D"/>
                </a:solidFill>
                <a:latin typeface="Aptos"/>
                <a:ea typeface="Aptos"/>
                <a:cs typeface="Aptos"/>
              </a:rPr>
              <a:t>Kaynak: Türk Dil Kurumu, Noktalama İşaretleri (Açıklamalar)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CA6F036-0C96-4465-A939-05C12063E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76375"/>
            <a:ext cx="5353050" cy="59817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1E5"/>
            </a:solidFill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8242E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8242E"/>
                </a:solidFill>
                <a:latin typeface="Aptos"/>
                <a:ea typeface="Aptos"/>
                <a:cs typeface="Aptos"/>
              </a:rPr>
              <a:t>6. Tarihte gün, ay ve yılı ayırır: 29.5.1453, 29.X.1923.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F1924C8-2137-45BE-B18E-E036F1E20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88845"/>
            <a:ext cx="53530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1E5"/>
            </a:solidFill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8242E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8242E"/>
                </a:solidFill>
                <a:latin typeface="Aptos"/>
                <a:ea typeface="Aptos"/>
                <a:cs typeface="Aptos"/>
              </a:rPr>
              <a:t>7. Saat ve dakikayı ayırır: 09.15, 13.00, 17.30.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D710842-AEA4-499E-AD81-E310A4851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93695"/>
            <a:ext cx="53530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1E5"/>
            </a:solidFill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8242E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8242E"/>
                </a:solidFill>
                <a:latin typeface="Aptos"/>
                <a:ea typeface="Aptos"/>
                <a:cs typeface="Aptos"/>
              </a:rPr>
              <a:t>8. Kitap ve dergi künyelerinin sonuna konur.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5155869-9735-4237-AAAD-1BA528ABF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476375"/>
            <a:ext cx="5353050" cy="68389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1E5"/>
            </a:solidFill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8242E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8242E"/>
                </a:solidFill>
                <a:latin typeface="Aptos"/>
                <a:ea typeface="Aptos"/>
                <a:cs typeface="Aptos"/>
              </a:rPr>
              <a:t>9. Dört ve daha çok rakamlı sayıları üçlü gruplara ayırır: 1.000, 326.197, 49.750.812.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42BFE61-E689-40A7-BD15-9F3EE6EC4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274570"/>
            <a:ext cx="53530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1E5"/>
            </a:solidFill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8242E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8242E"/>
                </a:solidFill>
                <a:latin typeface="Aptos"/>
                <a:ea typeface="Aptos"/>
                <a:cs typeface="Aptos"/>
              </a:rPr>
              <a:t>10. Genel ağ adreslerinde kullanılır: tdk.gov.tr.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C94014B-4AA4-4F61-A701-69078799A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979420"/>
            <a:ext cx="5353050" cy="61245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1E5"/>
            </a:solidFill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8242E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8242E"/>
                </a:solidFill>
                <a:latin typeface="Aptos"/>
                <a:ea typeface="Aptos"/>
                <a:cs typeface="Aptos"/>
              </a:rPr>
              <a:t>11. Matematikte çarpma işareti yerine kullanılabilir: 4.5=20.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C6F8A7A-D869-435B-8D70-B29C22348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95950"/>
            <a:ext cx="109728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E9E3"/>
          </a:solidFill>
          <a:ln xmlns:a="http://schemas.openxmlformats.org/drawingml/2006/main" w="9525">
            <a:solidFill>
              <a:srgbClr val="F1B8A8"/>
            </a:solidFill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7A3E2D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7A3E2D"/>
                </a:solidFill>
                <a:latin typeface="Aptos"/>
                <a:ea typeface="Aptos"/>
                <a:cs typeface="Aptos"/>
              </a:rPr>
              <a:t>UYARI  Ay adı yazıyla yazılırsa önce ve sonra nokta kullanılmaz: 29 Mayıs 1453.</a:t>
            </a:r>
          </a:p>
        </p:txBody>
      </p:sp>
    </p:spTree>
    <p:extLst>
      <p:ext uri="{BB962C8B-B14F-4D97-AF65-F5344CB8AC3E}">
        <p14:creationId xmlns:p14="http://schemas.microsoft.com/office/powerpoint/2010/main" val="19293528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7B3E75F-4780-43AD-BF56-8905BC880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A19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95F19C-7A2F-4C92-B0E6-2643951D7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57200"/>
            <a:ext cx="10668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324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4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,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2F66975-CEA1-442E-BA3F-43EB708CC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476250"/>
            <a:ext cx="9144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4324B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4324B"/>
                </a:solidFill>
                <a:latin typeface="Aptos"/>
                <a:ea typeface="Aptos"/>
                <a:cs typeface="Aptos"/>
              </a:rPr>
              <a:t>Virgül: sıralama ve cümle yapısı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E9FFB0C-99BB-488C-9C99-67D3B57AF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523875"/>
            <a:ext cx="476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60717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60717D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8F62EBE-9C1F-41F8-BCBB-FD6AA58EC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57950"/>
            <a:ext cx="762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0717D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0717D"/>
                </a:solidFill>
                <a:latin typeface="Aptos"/>
                <a:ea typeface="Aptos"/>
                <a:cs typeface="Aptos"/>
              </a:rPr>
              <a:t>Kaynak: Türk Dil Kurumu, Noktalama İşaretleri (Açıklamalar)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B3334BA-4676-47AD-AE1C-41DF740C4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76375"/>
            <a:ext cx="10972800" cy="70675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1E5"/>
            </a:solidFill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8242E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8242E"/>
                </a:solidFill>
                <a:latin typeface="Aptos"/>
                <a:ea typeface="Aptos"/>
                <a:cs typeface="Aptos"/>
              </a:rPr>
              <a:t>1. Eş görevli kelime ve kelime gruplarını ayırır: sessiz dereler, solgun ağaçlar, sarı güller.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8BFB92D-0CDA-4838-8E9E-87F93AFD2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97430"/>
            <a:ext cx="10972800" cy="59245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1E5"/>
            </a:solidFill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8242E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8242E"/>
                </a:solidFill>
                <a:latin typeface="Aptos"/>
                <a:ea typeface="Aptos"/>
                <a:cs typeface="Aptos"/>
              </a:rPr>
              <a:t>2. Sıralı cümleleri ayırır: Umduk, bekledik, düşündük.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51760FB-3BF1-45D4-9491-E44486461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04185"/>
            <a:ext cx="109728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1E5"/>
            </a:solidFill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8242E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8242E"/>
                </a:solidFill>
                <a:latin typeface="Aptos"/>
                <a:ea typeface="Aptos"/>
                <a:cs typeface="Aptos"/>
              </a:rPr>
              <a:t>3. Uzun cümlede yüklemden uzak düşen özneyi belirtir.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60C6C33-177B-48B2-A297-B7F75EB54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9035"/>
            <a:ext cx="109728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1E5"/>
            </a:solidFill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8242E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8242E"/>
                </a:solidFill>
                <a:latin typeface="Aptos"/>
                <a:ea typeface="Aptos"/>
                <a:cs typeface="Aptos"/>
              </a:rPr>
              <a:t>4. Ara söz ve ara cümlelerin başına ve sonuna konur.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115BA3C-4859-40BA-B9DF-D9AA6408D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13885"/>
            <a:ext cx="10972800" cy="66389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1E5"/>
            </a:solidFill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8242E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8242E"/>
                </a:solidFill>
                <a:latin typeface="Aptos"/>
                <a:ea typeface="Aptos"/>
                <a:cs typeface="Aptos"/>
              </a:rPr>
              <a:t>5. Anlamı güçlendiren tekrarların arasına konur: Akşam, yine akşam, yine akşam.</a:t>
            </a:r>
          </a:p>
        </p:txBody>
      </p:sp>
    </p:spTree>
    <p:extLst>
      <p:ext uri="{BB962C8B-B14F-4D97-AF65-F5344CB8AC3E}">
        <p14:creationId xmlns:p14="http://schemas.microsoft.com/office/powerpoint/2010/main" val="6311378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79FB6E0-5CA6-4DC0-9C89-5C16A68DA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A19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0B0178-5270-4190-9EA8-7A2E38E61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57200"/>
            <a:ext cx="10668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324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4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,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789B36F-24EA-4274-AFBE-92E8011DC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476250"/>
            <a:ext cx="9144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4324B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4324B"/>
                </a:solidFill>
                <a:latin typeface="Aptos"/>
                <a:ea typeface="Aptos"/>
                <a:cs typeface="Aptos"/>
              </a:rPr>
              <a:t>Virgül: alıntı, konuşma ve hitap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E4AB87C-1959-42FB-8C39-DA3AA9311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523875"/>
            <a:ext cx="476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60717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60717D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4CD9D43-C191-4C80-BC75-0F52F2699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57950"/>
            <a:ext cx="762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0717D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0717D"/>
                </a:solidFill>
                <a:latin typeface="Aptos"/>
                <a:ea typeface="Aptos"/>
                <a:cs typeface="Aptos"/>
              </a:rPr>
              <a:t>Kaynak: Türk Dil Kurumu, Noktalama İşaretleri (Açıklamalar)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BD6E4BC-BD79-4A09-B345-2A14F1D7E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76375"/>
            <a:ext cx="5353050" cy="6896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1E5"/>
            </a:solidFill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8242E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8242E"/>
                </a:solidFill>
                <a:latin typeface="Aptos"/>
                <a:ea typeface="Aptos"/>
                <a:cs typeface="Aptos"/>
              </a:rPr>
              <a:t>6. Tırnak içinde olmayan alıntı cümlesinden sonra konur: Adana’ya yarın gideceğim, dedi.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D2B8FB0-8352-4B33-B658-DAAE436D1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0285"/>
            <a:ext cx="5353050" cy="6867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1E5"/>
            </a:solidFill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8242E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8242E"/>
                </a:solidFill>
                <a:latin typeface="Aptos"/>
                <a:ea typeface="Aptos"/>
                <a:cs typeface="Aptos"/>
              </a:rPr>
              <a:t>7. Konuşma çizgisinden sonraki alıntının bitimine konur: — Gidiyor musunuz, diye sordu.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A46E6A7-6808-4269-B04B-26FE9B935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81338"/>
            <a:ext cx="5353050" cy="6210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1E5"/>
            </a:solidFill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8242E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8242E"/>
                </a:solidFill>
                <a:latin typeface="Aptos"/>
                <a:ea typeface="Aptos"/>
                <a:cs typeface="Aptos"/>
              </a:rPr>
              <a:t>8. Edebî eserde konuşma bölümünden önceki ifadenin sonuna konur.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F06CE71-8537-4D24-A841-B02D946AA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476375"/>
            <a:ext cx="5353050" cy="7010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1E5"/>
            </a:solidFill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8242E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8242E"/>
                </a:solidFill>
                <a:latin typeface="Aptos"/>
                <a:ea typeface="Aptos"/>
                <a:cs typeface="Aptos"/>
              </a:rPr>
              <a:t>9. Ret, kabul ve teşvik bildiren sözlerden sonra konur: Peki, gideriz. Haydi, geç kalıyoruz.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28EE662-EAD7-4475-B5A9-5161696C8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291715"/>
            <a:ext cx="5353050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1E5"/>
            </a:solidFill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8242E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8242E"/>
                </a:solidFill>
                <a:latin typeface="Aptos"/>
                <a:ea typeface="Aptos"/>
                <a:cs typeface="Aptos"/>
              </a:rPr>
              <a:t>10. Yapı ve anlam bağını belirginleştirerek anlam karışıklığını önler.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7D8CCF5-2193-4E11-8098-3F9319B78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044190"/>
            <a:ext cx="5353050" cy="6267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1E5"/>
            </a:solidFill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8242E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8242E"/>
                </a:solidFill>
                <a:latin typeface="Aptos"/>
                <a:ea typeface="Aptos"/>
                <a:cs typeface="Aptos"/>
              </a:rPr>
              <a:t>11. Hitap sözlerinden sonra konur: Sayın Başkan, Sevgili Kardeşim,</a:t>
            </a:r>
          </a:p>
        </p:txBody>
      </p:sp>
    </p:spTree>
    <p:extLst>
      <p:ext uri="{BB962C8B-B14F-4D97-AF65-F5344CB8AC3E}">
        <p14:creationId xmlns:p14="http://schemas.microsoft.com/office/powerpoint/2010/main" val="91157926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EDB2D94-C7C4-4A55-9583-56032F769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A19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8902040-4831-4404-A8FD-4C5418659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57200"/>
            <a:ext cx="10668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324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4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,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E1C45B8-3C9D-4667-AE68-96549FB5D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476250"/>
            <a:ext cx="9144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4324B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4324B"/>
                </a:solidFill>
                <a:latin typeface="Aptos"/>
                <a:ea typeface="Aptos"/>
                <a:cs typeface="Aptos"/>
              </a:rPr>
              <a:t>Virgül: sayı, fiilimsi ve zamir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DD82E2A-8213-4F91-A17E-0820D8BF7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523875"/>
            <a:ext cx="476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60717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60717D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C209648-BFC8-4B70-BED7-6F1211538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57950"/>
            <a:ext cx="762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0717D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0717D"/>
                </a:solidFill>
                <a:latin typeface="Aptos"/>
                <a:ea typeface="Aptos"/>
                <a:cs typeface="Aptos"/>
              </a:rPr>
              <a:t>Kaynak: Türk Dil Kurumu, Noktalama İşaretleri (Açıklamalar)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381E37F-ADD2-4705-BE14-8EAEEA6D9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76375"/>
            <a:ext cx="109728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1E5"/>
            </a:solidFill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8242E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8242E"/>
                </a:solidFill>
                <a:latin typeface="Aptos"/>
                <a:ea typeface="Aptos"/>
                <a:cs typeface="Aptos"/>
              </a:rPr>
              <a:t>12. Ondalık kesri ayırır: 38,6; 0,45.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AB51132-2CDE-4EB8-AED2-BC501DC83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81225"/>
            <a:ext cx="10972800" cy="752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1E5"/>
            </a:solidFill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8242E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8242E"/>
                </a:solidFill>
                <a:latin typeface="Aptos"/>
                <a:ea typeface="Aptos"/>
                <a:cs typeface="Aptos"/>
              </a:rPr>
              <a:t>13. Art arda gelen zarf-fiil eki almış kelimelerden sonra konur: Bir karara varıp, arkadaşına bakarak konuştu.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C3477A6-2CEB-49D5-850B-7429B5A42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0"/>
            <a:ext cx="10972800" cy="72104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1E5"/>
            </a:solidFill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8242E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8242E"/>
                </a:solidFill>
                <a:latin typeface="Aptos"/>
                <a:ea typeface="Aptos"/>
                <a:cs typeface="Aptos"/>
              </a:rPr>
              <a:t>14. Özne görevindeki bu, şu, o zamirlerinden sonra konur: Bu, benim gibi yazarlar için kolay olmaz.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A1D704F-85E6-48D0-8CC9-21B03ABBA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83343"/>
            <a:ext cx="10972800" cy="76390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1E5"/>
            </a:solidFill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8242E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8242E"/>
                </a:solidFill>
                <a:latin typeface="Aptos"/>
                <a:ea typeface="Aptos"/>
                <a:cs typeface="Aptos"/>
              </a:rPr>
              <a:t>15. Künyede yazar, eser, basımevi, yer ve yıl bilgilerini ayırır. Soyadı önceyse soyadından sonra da virgül gelir.</a:t>
            </a:r>
          </a:p>
        </p:txBody>
      </p:sp>
    </p:spTree>
    <p:extLst>
      <p:ext uri="{BB962C8B-B14F-4D97-AF65-F5344CB8AC3E}">
        <p14:creationId xmlns:p14="http://schemas.microsoft.com/office/powerpoint/2010/main" val="206714306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4A5BCD5-C60D-4095-BB5B-1250A9831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A19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7FAFDF-BD03-4509-B1AD-A18016DF5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57200"/>
            <a:ext cx="10668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324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4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,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DE65BEF-3916-462F-A8A1-62D98FD26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476250"/>
            <a:ext cx="9144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4324B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4324B"/>
                </a:solidFill>
                <a:latin typeface="Aptos"/>
                <a:ea typeface="Aptos"/>
                <a:cs typeface="Aptos"/>
              </a:rPr>
              <a:t>Virgül: kullanılmadığı yerler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980057A-03AC-472B-8FC8-624EAA5DD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523875"/>
            <a:ext cx="476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60717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60717D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CF2B40E-22FB-4BCF-B72F-C037FCE60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57950"/>
            <a:ext cx="762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0717D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0717D"/>
                </a:solidFill>
                <a:latin typeface="Aptos"/>
                <a:ea typeface="Aptos"/>
                <a:cs typeface="Aptos"/>
              </a:rPr>
              <a:t>Kaynak: Türk Dil Kurumu, Noktalama İşaretleri (Açıklamalar)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AC11293-2782-4943-8354-3D9B7FECE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76375"/>
            <a:ext cx="5353050" cy="60388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1E5"/>
            </a:solidFill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8242E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8242E"/>
                </a:solidFill>
                <a:latin typeface="Aptos"/>
                <a:ea typeface="Aptos"/>
                <a:cs typeface="Aptos"/>
              </a:rPr>
              <a:t>Tek bir zarf-fiil eki almış kelimeden sonra virgül konmaz.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8B7246-496A-4E3E-928B-B85B6D1DC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4560"/>
            <a:ext cx="5353050" cy="6267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1E5"/>
            </a:solidFill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8242E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8242E"/>
                </a:solidFill>
                <a:latin typeface="Aptos"/>
                <a:ea typeface="Aptos"/>
                <a:cs typeface="Aptos"/>
              </a:rPr>
              <a:t>ve, veya, yahut, ya…ya bağlaçlarının önce ve sonuna virgül konmaz.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C017710-ABB7-4667-92D3-6637691F2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35605"/>
            <a:ext cx="5353050" cy="7153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1E5"/>
            </a:solidFill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8242E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8242E"/>
                </a:solidFill>
                <a:latin typeface="Aptos"/>
                <a:ea typeface="Aptos"/>
                <a:cs typeface="Aptos"/>
              </a:rPr>
              <a:t>Hem…hem, ya…ya, gerek…gerek, ister…ister, ne…ne gibi tekrarlı bağlaçların çevresinde kullanılmaz.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41B5961-E83D-43E0-BA6B-FA38BB693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476375"/>
            <a:ext cx="5353050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1E5"/>
            </a:solidFill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8242E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8242E"/>
                </a:solidFill>
                <a:latin typeface="Aptos"/>
                <a:ea typeface="Aptos"/>
                <a:cs typeface="Aptos"/>
              </a:rPr>
              <a:t>Pekiştirme ve bağlama görevindeki da/de bağlacından sonra kullanılmaz.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8D3C1E6-33E4-4635-9944-55805F78F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228850"/>
            <a:ext cx="5353050" cy="59817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1E5"/>
            </a:solidFill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8242E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8242E"/>
                </a:solidFill>
                <a:latin typeface="Aptos"/>
                <a:ea typeface="Aptos"/>
                <a:cs typeface="Aptos"/>
              </a:rPr>
              <a:t>-ınca/-ince anlamındaki mı/mi ekinden sonra kullanılmaz.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B0025E3-CBA1-478F-89DC-FACDBAC17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941320"/>
            <a:ext cx="53530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1E5"/>
            </a:solidFill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8242E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8242E"/>
                </a:solidFill>
                <a:latin typeface="Aptos"/>
                <a:ea typeface="Aptos"/>
                <a:cs typeface="Aptos"/>
              </a:rPr>
              <a:t>Şart ekinden sonra virgül konmaz.</a:t>
            </a:r>
          </a:p>
        </p:txBody>
      </p:sp>
    </p:spTree>
    <p:extLst>
      <p:ext uri="{BB962C8B-B14F-4D97-AF65-F5344CB8AC3E}">
        <p14:creationId xmlns:p14="http://schemas.microsoft.com/office/powerpoint/2010/main" val="94109028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8AEBEFB-6494-4219-893D-8B5F9DB9C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A19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F9CEE50-5E94-4131-9E81-B596F66C5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57200"/>
            <a:ext cx="10668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324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4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;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DD94B99-9F5C-46E2-AF49-3A1A79E05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476250"/>
            <a:ext cx="9144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4324B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4324B"/>
                </a:solidFill>
                <a:latin typeface="Aptos"/>
                <a:ea typeface="Aptos"/>
                <a:cs typeface="Aptos"/>
              </a:rPr>
              <a:t>Noktalı virgül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12E93E-2EF6-49C2-A258-00AD65D56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523875"/>
            <a:ext cx="476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60717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60717D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DED16FC-6649-4968-A571-D0C3D0C5D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57950"/>
            <a:ext cx="762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0717D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0717D"/>
                </a:solidFill>
                <a:latin typeface="Aptos"/>
                <a:ea typeface="Aptos"/>
                <a:cs typeface="Aptos"/>
              </a:rPr>
              <a:t>Kaynak: Türk Dil Kurumu, Noktalama İşaretleri (Açıklamalar)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D462982-69FE-4C26-88F8-D11C626DA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76375"/>
            <a:ext cx="10972800" cy="7353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1E5"/>
            </a:solidFill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8242E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8242E"/>
                </a:solidFill>
                <a:latin typeface="Aptos"/>
                <a:ea typeface="Aptos"/>
                <a:cs typeface="Aptos"/>
              </a:rPr>
              <a:t>1. Virgüllerle ayrılmış tür veya takımları ayırır: Türkiye, İngiltere, Azerbaycan; Ankara, Londra, Bakü.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E558729-0BBE-4692-8E24-AC79B7200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6005"/>
            <a:ext cx="10972800" cy="7610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1E5"/>
            </a:solidFill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8242E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8242E"/>
                </a:solidFill>
                <a:latin typeface="Aptos"/>
                <a:ea typeface="Aptos"/>
                <a:cs typeface="Aptos"/>
              </a:rPr>
              <a:t>2. Kendi içinde virgül bulunan sıralı cümleleri ayırır: İçim içime sığmıyor; bağırmak, gülmek, ağlamak istiyorum.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2F3F2C2-FB71-4F19-A8D0-83E700A9A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01353"/>
            <a:ext cx="10972800" cy="8553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1E5"/>
            </a:solidFill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8242E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8242E"/>
                </a:solidFill>
                <a:latin typeface="Aptos"/>
                <a:ea typeface="Aptos"/>
                <a:cs typeface="Aptos"/>
              </a:rPr>
              <a:t>3. İkiden fazla eş değer ögesi bulunan ve virgül içeren cümlede özneden sonra gelebilir: Yeni usul şiirimiz; zevksiz, köksüz, acemice görünüyordu.</a:t>
            </a:r>
          </a:p>
        </p:txBody>
      </p:sp>
    </p:spTree>
    <p:extLst>
      <p:ext uri="{BB962C8B-B14F-4D97-AF65-F5344CB8AC3E}">
        <p14:creationId xmlns:p14="http://schemas.microsoft.com/office/powerpoint/2010/main" val="44479505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A2D05E5-6E1F-42BC-B196-CE7ABE500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A19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A8B9DF4-BCDF-48C7-93BE-6E56F9719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57200"/>
            <a:ext cx="10668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324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4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: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2112B8-A7A6-41CE-81B6-6C720B370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476250"/>
            <a:ext cx="9144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4324B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4324B"/>
                </a:solidFill>
                <a:latin typeface="Aptos"/>
                <a:ea typeface="Aptos"/>
                <a:cs typeface="Aptos"/>
              </a:rPr>
              <a:t>İki nokta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97AA623-5009-4453-962C-E0B05242C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523875"/>
            <a:ext cx="476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60717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60717D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99D0302-8AC2-485F-BCB7-088627227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57950"/>
            <a:ext cx="762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0717D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0717D"/>
                </a:solidFill>
                <a:latin typeface="Aptos"/>
                <a:ea typeface="Aptos"/>
                <a:cs typeface="Aptos"/>
              </a:rPr>
              <a:t>Kaynak: Türk Dil Kurumu, Noktalama İşaretleri (Açıklamalar)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E52BD9D-B5C4-491D-B97D-8DD53290D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76375"/>
            <a:ext cx="53530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1E5"/>
            </a:solidFill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8242E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8242E"/>
                </a:solidFill>
                <a:latin typeface="Aptos"/>
                <a:ea typeface="Aptos"/>
                <a:cs typeface="Aptos"/>
              </a:rPr>
              <a:t>1. Ardından örnek verilecek cümlenin sonuna konur.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1EEE990-0752-484D-83C6-EE98603CC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81225"/>
            <a:ext cx="53530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1E5"/>
            </a:solidFill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8242E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8242E"/>
                </a:solidFill>
                <a:latin typeface="Aptos"/>
                <a:ea typeface="Aptos"/>
                <a:cs typeface="Aptos"/>
              </a:rPr>
              <a:t>2. Ardından açıklama verilecek cümlenin sonuna konur: Kendimi takdim edeyim: Meclis kâtiplerindenim.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65653F0-767A-46C4-896A-0F6C897D1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19425"/>
            <a:ext cx="5353050" cy="63531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1E5"/>
            </a:solidFill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8242E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8242E"/>
                </a:solidFill>
                <a:latin typeface="Aptos"/>
                <a:ea typeface="Aptos"/>
                <a:cs typeface="Aptos"/>
              </a:rPr>
              <a:t>3. Ses bilgisinde uzun ünlüyü gösterir: a:ile, ka:til, usu:le, i:cat.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57E5347-45D7-4C93-B45C-2CF426CB4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69043"/>
            <a:ext cx="5353050" cy="68389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1E5"/>
            </a:solidFill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8242E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8242E"/>
                </a:solidFill>
                <a:latin typeface="Aptos"/>
                <a:ea typeface="Aptos"/>
                <a:cs typeface="Aptos"/>
              </a:rPr>
              <a:t>4. Karşılıklı konuşmada konuşanın adından sonra konur: Bilge Kağan: Türklerim, işitin!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8522A88-E274-4363-9F06-33EA209E1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476375"/>
            <a:ext cx="5353050" cy="62960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1E5"/>
            </a:solidFill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8242E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8242E"/>
                </a:solidFill>
                <a:latin typeface="Aptos"/>
                <a:ea typeface="Aptos"/>
                <a:cs typeface="Aptos"/>
              </a:rPr>
              <a:t>5. Edebî eserlerde konuşma bölümünden önceki ifadenin sonuna konur.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03B962C-D915-45C8-A12E-13BA2AB06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220278"/>
            <a:ext cx="5353050" cy="5953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1E5"/>
            </a:solidFill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8242E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8242E"/>
                </a:solidFill>
                <a:latin typeface="Aptos"/>
                <a:ea typeface="Aptos"/>
                <a:cs typeface="Aptos"/>
              </a:rPr>
              <a:t>6. Genel ağ adreslerinde kullanılır: http://tdk.gov.tr.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F98483C-1D4A-4AD3-BEC6-98353169A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929890"/>
            <a:ext cx="53530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1E5"/>
            </a:solidFill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8242E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8242E"/>
                </a:solidFill>
                <a:latin typeface="Aptos"/>
                <a:ea typeface="Aptos"/>
                <a:cs typeface="Aptos"/>
              </a:rPr>
              <a:t>7. Matematikte bölme işareti olabilir: 56:8=7.</a:t>
            </a:r>
          </a:p>
        </p:txBody>
      </p:sp>
    </p:spTree>
    <p:extLst>
      <p:ext uri="{BB962C8B-B14F-4D97-AF65-F5344CB8AC3E}">
        <p14:creationId xmlns:p14="http://schemas.microsoft.com/office/powerpoint/2010/main" val="192653302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D8CFD36-FCE4-4C22-86EA-47FEEAE80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A19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7E317D-8F25-43B4-A1AB-4BEA604F7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57200"/>
            <a:ext cx="10668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324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4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…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3BA5387-7447-40E4-BD13-106147D8C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476250"/>
            <a:ext cx="9144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4324B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4324B"/>
                </a:solidFill>
                <a:latin typeface="Aptos"/>
                <a:ea typeface="Aptos"/>
                <a:cs typeface="Aptos"/>
              </a:rPr>
              <a:t>Üç nokta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2A9F32A-DBE9-40AA-89F1-8EA146BA6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523875"/>
            <a:ext cx="476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60717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60717D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3CCFFF4-79D2-48AE-B0D8-ECF1067C3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57950"/>
            <a:ext cx="762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0717D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0717D"/>
                </a:solidFill>
                <a:latin typeface="Aptos"/>
                <a:ea typeface="Aptos"/>
                <a:cs typeface="Aptos"/>
              </a:rPr>
              <a:t>Kaynak: Türk Dil Kurumu, Noktalama İşaretleri (Açıklamalar)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0C57B43-B8F5-4699-B5C6-9F3A61AE5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76375"/>
            <a:ext cx="53530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1E5"/>
            </a:solidFill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8242E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8242E"/>
                </a:solidFill>
                <a:latin typeface="Aptos"/>
                <a:ea typeface="Aptos"/>
                <a:cs typeface="Aptos"/>
              </a:rPr>
              <a:t>1. Anlatımca tamamlanmamış cümlenin sonuna konur.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9AC21ED-E1D7-4F09-A603-8CA3094FA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81225"/>
            <a:ext cx="5353050" cy="63531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1E5"/>
            </a:solidFill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8242E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8242E"/>
                </a:solidFill>
                <a:latin typeface="Aptos"/>
                <a:ea typeface="Aptos"/>
                <a:cs typeface="Aptos"/>
              </a:rPr>
              <a:t>2. Açık yazılmak istenmeyen kelime veya bölümün yerine kullanılır: b…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F180398-1C16-41C0-934F-38E9DA291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30843"/>
            <a:ext cx="5353050" cy="6238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1E5"/>
            </a:solidFill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8242E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8242E"/>
                </a:solidFill>
                <a:latin typeface="Aptos"/>
                <a:ea typeface="Aptos"/>
                <a:cs typeface="Aptos"/>
              </a:rPr>
              <a:t>3. Alıntıda alınmayan baş, orta veya son bölümlerin yerine konur.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F60F163-7648-460B-990A-63BA6030F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476375"/>
            <a:ext cx="5353050" cy="6896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1E5"/>
            </a:solidFill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8242E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8242E"/>
                </a:solidFill>
                <a:latin typeface="Aptos"/>
                <a:ea typeface="Aptos"/>
                <a:cs typeface="Aptos"/>
              </a:rPr>
              <a:t>4. Sözün kesildiğini, devamının hayale bırakıldığını gösterir veya anlatımı güçlendirir.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8C6F002-3757-4A6B-87A1-4B62434C4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280285"/>
            <a:ext cx="53530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1E5"/>
            </a:solidFill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8242E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8242E"/>
                </a:solidFill>
                <a:latin typeface="Aptos"/>
                <a:ea typeface="Aptos"/>
                <a:cs typeface="Aptos"/>
              </a:rPr>
              <a:t>5. Ünlem ve seslenmelerde anlatımı pekiştirir.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86E2788-7C74-44CD-B162-F947C0AA6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985135"/>
            <a:ext cx="53530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1E5"/>
            </a:solidFill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8242E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8242E"/>
                </a:solidFill>
                <a:latin typeface="Aptos"/>
                <a:ea typeface="Aptos"/>
                <a:cs typeface="Aptos"/>
              </a:rPr>
              <a:t>6. Karşılıklı konuşmada eksik veya yetersiz cevabı gösterir.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ECBBC00-D9F6-44EB-8379-9EE06126B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95950"/>
            <a:ext cx="109728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E9E3"/>
          </a:solidFill>
          <a:ln xmlns:a="http://schemas.openxmlformats.org/drawingml/2006/main" w="9525">
            <a:solidFill>
              <a:srgbClr val="F1B8A8"/>
            </a:solidFill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7A3E2D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7A3E2D"/>
                </a:solidFill>
                <a:latin typeface="Aptos"/>
                <a:ea typeface="Aptos"/>
                <a:cs typeface="Aptos"/>
              </a:rPr>
              <a:t>UYARI  Ünlem ve soru işaretinden sonra üç nokta yerine iki nokta yeterlidir: !.. ?..  •  Üç nokta yerine iki veya daha çok nokta kullanılmaz.</a:t>
            </a:r>
          </a:p>
        </p:txBody>
      </p:sp>
    </p:spTree>
    <p:extLst>
      <p:ext uri="{BB962C8B-B14F-4D97-AF65-F5344CB8AC3E}">
        <p14:creationId xmlns:p14="http://schemas.microsoft.com/office/powerpoint/2010/main" val="165772008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23CF1C2-7F02-4513-AB55-D4F8B7A59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A19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D9D3D25-9853-4962-BF18-05F3193DA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57200"/>
            <a:ext cx="10668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324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4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?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080DA0B-4974-4525-AB66-E2A152E2B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476250"/>
            <a:ext cx="9144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4324B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4324B"/>
                </a:solidFill>
                <a:latin typeface="Aptos"/>
                <a:ea typeface="Aptos"/>
                <a:cs typeface="Aptos"/>
              </a:rPr>
              <a:t>Soru işareti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99FAE95-32E8-4058-A46E-AC2E85590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523875"/>
            <a:ext cx="476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60717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60717D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6CF912D-44CC-499B-8071-7A9450BDF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57950"/>
            <a:ext cx="762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0717D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0717D"/>
                </a:solidFill>
                <a:latin typeface="Aptos"/>
                <a:ea typeface="Aptos"/>
                <a:cs typeface="Aptos"/>
              </a:rPr>
              <a:t>Kaynak: Türk Dil Kurumu, Noktalama İşaretleri (Açıklamalar)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AF35FBA-9712-4CE9-96A0-C525FB3EA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76375"/>
            <a:ext cx="10972800" cy="6238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1E5"/>
            </a:solidFill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8242E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8242E"/>
                </a:solidFill>
                <a:latin typeface="Aptos"/>
                <a:ea typeface="Aptos"/>
                <a:cs typeface="Aptos"/>
              </a:rPr>
              <a:t>1. Soru eki veya soru sözü içeren cümle ve sözlerin sonuna konur.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24A062F-AC41-4DA8-A510-E364B1D7A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14563"/>
            <a:ext cx="10972800" cy="70389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1E5"/>
            </a:solidFill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8242E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8242E"/>
                </a:solidFill>
                <a:latin typeface="Aptos"/>
                <a:ea typeface="Aptos"/>
                <a:cs typeface="Aptos"/>
              </a:rPr>
              <a:t>2. Soru anlamı taşıyan, fakat soru eki veya sözü içermeyen cümlelerin sonuna konur: — Adınız?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C852A6E-C001-4BBA-84D0-5BFFBF3A2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32760"/>
            <a:ext cx="10972800" cy="7353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1E5"/>
            </a:solidFill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8242E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8242E"/>
                </a:solidFill>
                <a:latin typeface="Aptos"/>
                <a:ea typeface="Aptos"/>
                <a:cs typeface="Aptos"/>
              </a:rPr>
              <a:t>3. Bilinmeyen, kesin olmayan veya şüpheli yer, tarih ve benzeri bilgilerde kullanılır: 1496 (?) yılında…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5597894-8128-4C79-B365-B64F687A6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95950"/>
            <a:ext cx="109728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E9E3"/>
          </a:solidFill>
          <a:ln xmlns:a="http://schemas.openxmlformats.org/drawingml/2006/main" w="9525">
            <a:solidFill>
              <a:srgbClr val="F1B8A8"/>
            </a:solidFill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7A3E2D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7A3E2D"/>
                </a:solidFill>
                <a:latin typeface="Aptos"/>
                <a:ea typeface="Aptos"/>
                <a:cs typeface="Aptos"/>
              </a:rPr>
              <a:t>UYARI  mı/mi ekli yan cümle zarf tümleciyse cümlenin sonuna soru işareti gelmez: Akşam oldu mu sürüler döner.  •  Soru anlamlı sıralı ve bağlı cümlelerde işaret en sona konur.</a:t>
            </a:r>
          </a:p>
        </p:txBody>
      </p:sp>
    </p:spTree>
    <p:extLst>
      <p:ext uri="{BB962C8B-B14F-4D97-AF65-F5344CB8AC3E}">
        <p14:creationId xmlns:p14="http://schemas.microsoft.com/office/powerpoint/2010/main" val="1475352207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7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4A651A4-56C4-4A3A-81D3-DB615E71F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A19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DDC7321-E137-4705-9221-E9D0458CD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57200"/>
            <a:ext cx="10668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324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4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!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996E1B8-8A55-450A-896D-ACA932E41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476250"/>
            <a:ext cx="9144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4324B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4324B"/>
                </a:solidFill>
                <a:latin typeface="Aptos"/>
                <a:ea typeface="Aptos"/>
                <a:cs typeface="Aptos"/>
              </a:rPr>
              <a:t>Ünlem işareti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6F3393C-0D4C-48C9-95CD-A6806ED89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523875"/>
            <a:ext cx="476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60717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60717D"/>
                </a:solidFill>
                <a:latin typeface="Aptos"/>
                <a:ea typeface="Aptos"/>
                <a:cs typeface="Aptos"/>
              </a:rPr>
              <a:t>13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8C29070-921A-4065-AD35-CC7924E0B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57950"/>
            <a:ext cx="762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0717D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0717D"/>
                </a:solidFill>
                <a:latin typeface="Aptos"/>
                <a:ea typeface="Aptos"/>
                <a:cs typeface="Aptos"/>
              </a:rPr>
              <a:t>Kaynak: Türk Dil Kurumu, Noktalama İşaretleri (Açıklamalar)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8EFE314-E23B-4D47-A659-D85C50820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76375"/>
            <a:ext cx="10972800" cy="7153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1E5"/>
            </a:solidFill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8242E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8242E"/>
                </a:solidFill>
                <a:latin typeface="Aptos"/>
                <a:ea typeface="Aptos"/>
                <a:cs typeface="Aptos"/>
              </a:rPr>
              <a:t>1. Sevinç, kıvanç, acı, korku ve şaşma gibi duyguları anlatan cümle veya ibarelerin sonuna konur.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3690419-CFB9-41F0-ABAE-27A654419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06003"/>
            <a:ext cx="10972800" cy="63531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1E5"/>
            </a:solidFill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8242E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8242E"/>
                </a:solidFill>
                <a:latin typeface="Aptos"/>
                <a:ea typeface="Aptos"/>
                <a:cs typeface="Aptos"/>
              </a:rPr>
              <a:t>2. Seslenme, hitap ve uyarı sözlerinden sonra kullanılır: Dur, yolcu!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D287EEB-DC1C-4479-9727-B5202FB5B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55620"/>
            <a:ext cx="109728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1E5"/>
            </a:solidFill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8242E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8242E"/>
                </a:solidFill>
                <a:latin typeface="Aptos"/>
                <a:ea typeface="Aptos"/>
                <a:cs typeface="Aptos"/>
              </a:rPr>
              <a:t>3. Alay, kinaye veya küçümseme anlamı için ilgili sözden sonra yay ayraç içinde yazılır: akıllı (!).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BAEB93D-39B0-4EF8-8D06-C7FB0623C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95950"/>
            <a:ext cx="109728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E9E3"/>
          </a:solidFill>
          <a:ln xmlns:a="http://schemas.openxmlformats.org/drawingml/2006/main" w="9525">
            <a:solidFill>
              <a:srgbClr val="F1B8A8"/>
            </a:solidFill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7A3E2D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7A3E2D"/>
                </a:solidFill>
                <a:latin typeface="Aptos"/>
                <a:ea typeface="Aptos"/>
                <a:cs typeface="Aptos"/>
              </a:rPr>
              <a:t>UYARI  Seslenme ve hitap sözünün hemen ardından ya da cümlenin sonunda kullanılabilir.</a:t>
            </a:r>
          </a:p>
        </p:txBody>
      </p:sp>
    </p:spTree>
    <p:extLst>
      <p:ext uri="{BB962C8B-B14F-4D97-AF65-F5344CB8AC3E}">
        <p14:creationId xmlns:p14="http://schemas.microsoft.com/office/powerpoint/2010/main" val="1435657664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7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2E82D9D-7958-4DE3-BAED-34E14636F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A19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ACB5CCE-11E2-4CE5-903C-5938D2B30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57200"/>
            <a:ext cx="10668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324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4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-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5C178A9-854C-44AD-8AC3-776EB8935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476250"/>
            <a:ext cx="9144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4324B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4324B"/>
                </a:solidFill>
                <a:latin typeface="Aptos"/>
                <a:ea typeface="Aptos"/>
                <a:cs typeface="Aptos"/>
              </a:rPr>
              <a:t>Kısa çizgi: sözcük yapısı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E5E6DE-4134-4318-9933-0DD1A57D6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523875"/>
            <a:ext cx="476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60717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60717D"/>
                </a:solidFill>
                <a:latin typeface="Aptos"/>
                <a:ea typeface="Aptos"/>
                <a:cs typeface="Aptos"/>
              </a:rPr>
              <a:t>14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BEBC82C-CC0D-425D-B6EF-07E86E7EA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57950"/>
            <a:ext cx="762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0717D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0717D"/>
                </a:solidFill>
                <a:latin typeface="Aptos"/>
                <a:ea typeface="Aptos"/>
                <a:cs typeface="Aptos"/>
              </a:rPr>
              <a:t>Kaynak: Türk Dil Kurumu, Noktalama İşaretleri (Açıklamalar)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900C2B5-4B87-4541-9D18-3E9616095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76375"/>
            <a:ext cx="5353050" cy="59817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1E5"/>
            </a:solidFill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8242E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8242E"/>
                </a:solidFill>
                <a:latin typeface="Aptos"/>
                <a:ea typeface="Aptos"/>
                <a:cs typeface="Aptos"/>
              </a:rPr>
              <a:t>1. Satıra sığmayan kelime bölünürken satır sonuna konur.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45D49B4-2296-4042-AFD5-06E94CE3C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88845"/>
            <a:ext cx="5353050" cy="7410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1E5"/>
            </a:solidFill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8242E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8242E"/>
                </a:solidFill>
                <a:latin typeface="Aptos"/>
                <a:ea typeface="Aptos"/>
                <a:cs typeface="Aptos"/>
              </a:rPr>
              <a:t>2. Ara söz ve ara cümlelerin başına ve sonuna bitişik yazılır: sürü -dört inekle birkaç koyun- köye girdi.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0F54677-1BA1-47CC-A7DE-A8A203A19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4190"/>
            <a:ext cx="5353050" cy="59245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1E5"/>
            </a:solidFill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8242E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8242E"/>
                </a:solidFill>
                <a:latin typeface="Aptos"/>
                <a:ea typeface="Aptos"/>
                <a:cs typeface="Aptos"/>
              </a:rPr>
              <a:t>3. Kök, gövde ve ekleri ayırır: al-ış, gör-gü-süz-lük.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E6EBB4E-677B-47E4-81CF-D7BAD866D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476375"/>
            <a:ext cx="5353050" cy="60388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1E5"/>
            </a:solidFill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8242E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8242E"/>
                </a:solidFill>
                <a:latin typeface="Aptos"/>
                <a:ea typeface="Aptos"/>
                <a:cs typeface="Aptos"/>
              </a:rPr>
              <a:t>4. Fiil kök ve gövdelerini gösterir: al-, başar-, yazdır-.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DD1EC47-57A3-4B7E-9B90-FF917FE03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194560"/>
            <a:ext cx="5353050" cy="7096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1E5"/>
            </a:solidFill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8242E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8242E"/>
                </a:solidFill>
                <a:latin typeface="Aptos"/>
                <a:ea typeface="Aptos"/>
                <a:cs typeface="Aptos"/>
              </a:rPr>
              <a:t>5. İsim yapma eklerinin başına; fiil yapma eklerinin başına ve sonuna konur: -lık, -la-, -tır-.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DD21B7A-3762-4E42-87D5-AD7F585A3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018473"/>
            <a:ext cx="53530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1E5"/>
            </a:solidFill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8242E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8242E"/>
                </a:solidFill>
                <a:latin typeface="Aptos"/>
                <a:ea typeface="Aptos"/>
                <a:cs typeface="Aptos"/>
              </a:rPr>
              <a:t>6. Heceleri gösterir: a-raş-tır-ma, prog-ram.</a:t>
            </a:r>
          </a:p>
        </p:txBody>
      </p:sp>
    </p:spTree>
    <p:extLst>
      <p:ext uri="{BB962C8B-B14F-4D97-AF65-F5344CB8AC3E}">
        <p14:creationId xmlns:p14="http://schemas.microsoft.com/office/powerpoint/2010/main" val="1316854935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7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E40286D-735F-4527-BB56-BE4A70A8D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A19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D41E07E-120B-48A6-9959-6F53BD7AC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57200"/>
            <a:ext cx="10668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324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4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-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BB80DCB-B320-4ECF-902A-21CFDF8BE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476250"/>
            <a:ext cx="9144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4324B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4324B"/>
                </a:solidFill>
                <a:latin typeface="Aptos"/>
                <a:ea typeface="Aptos"/>
                <a:cs typeface="Aptos"/>
              </a:rPr>
              <a:t>Kısa çizgi: aralık ve matematik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2B74723-B290-4105-9491-635672A95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523875"/>
            <a:ext cx="476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60717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60717D"/>
                </a:solidFill>
                <a:latin typeface="Aptos"/>
                <a:ea typeface="Aptos"/>
                <a:cs typeface="Aptos"/>
              </a:rPr>
              <a:t>15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6275B07-AB7C-4DC0-B893-B4381CBEB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57950"/>
            <a:ext cx="762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0717D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0717D"/>
                </a:solidFill>
                <a:latin typeface="Aptos"/>
                <a:ea typeface="Aptos"/>
                <a:cs typeface="Aptos"/>
              </a:rPr>
              <a:t>Kaynak: Türk Dil Kurumu, Noktalama İşaretleri (Açıklamalar)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AD91616-D450-442E-A14F-E7BE7B023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76375"/>
            <a:ext cx="10972800" cy="7381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1E5"/>
            </a:solidFill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8242E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8242E"/>
                </a:solidFill>
                <a:latin typeface="Aptos"/>
                <a:ea typeface="Aptos"/>
                <a:cs typeface="Aptos"/>
              </a:rPr>
              <a:t>7. “Arasında, ve, ile, ila, …-den …-e” anlamlarında kullanılır: Aydın-İzmir yolu, 09.30-10.30, 1914-1918.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6C18FCF-FCA0-42D0-8ECC-6F58DE53F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8863"/>
            <a:ext cx="109728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1E5"/>
            </a:solidFill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8242E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8242E"/>
                </a:solidFill>
                <a:latin typeface="Aptos"/>
                <a:ea typeface="Aptos"/>
                <a:cs typeface="Aptos"/>
              </a:rPr>
              <a:t>8. Matematikte çıkarma işaretidir: 50-20=30.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31B16DA-E798-4DF1-BE83-E5CFF2E68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33713"/>
            <a:ext cx="109728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1E5"/>
            </a:solidFill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8242E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8242E"/>
                </a:solidFill>
                <a:latin typeface="Aptos"/>
                <a:ea typeface="Aptos"/>
                <a:cs typeface="Aptos"/>
              </a:rPr>
              <a:t>9. Sıfırdan küçük değerleri gösterir: -2 °C.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497318A-0689-429F-BFF8-22AD76A5E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95950"/>
            <a:ext cx="109728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E9E3"/>
          </a:solidFill>
          <a:ln xmlns:a="http://schemas.openxmlformats.org/drawingml/2006/main" w="9525">
            <a:solidFill>
              <a:srgbClr val="F1B8A8"/>
            </a:solidFill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7A3E2D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7A3E2D"/>
                </a:solidFill>
                <a:latin typeface="Aptos"/>
                <a:ea typeface="Aptos"/>
                <a:cs typeface="Aptos"/>
              </a:rPr>
              <a:t>UYARI  Sayı adlarının yinelenmesinde kısa çizgi kullanılmaz: on on beş yıl, üç beş kişi.</a:t>
            </a:r>
          </a:p>
        </p:txBody>
      </p:sp>
    </p:spTree>
    <p:extLst>
      <p:ext uri="{BB962C8B-B14F-4D97-AF65-F5344CB8AC3E}">
        <p14:creationId xmlns:p14="http://schemas.microsoft.com/office/powerpoint/2010/main" val="1031692876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7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5515AAC-31CB-442F-A93B-5D0C24C16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A19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48BFE57-B088-4D99-B0FF-BBB6EED85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57200"/>
            <a:ext cx="10668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324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4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—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7373990-2832-41A3-9153-5BDC0BA4F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476250"/>
            <a:ext cx="9144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4324B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4324B"/>
                </a:solidFill>
                <a:latin typeface="Aptos"/>
                <a:ea typeface="Aptos"/>
                <a:cs typeface="Aptos"/>
              </a:rPr>
              <a:t>Uzun çizgi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2A87F53-1B3B-4D4A-8186-25CCB3727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523875"/>
            <a:ext cx="476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60717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60717D"/>
                </a:solidFill>
                <a:latin typeface="Aptos"/>
                <a:ea typeface="Aptos"/>
                <a:cs typeface="Aptos"/>
              </a:rPr>
              <a:t>16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8641CD6-7FF1-416F-A4C3-FCDA91A79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57950"/>
            <a:ext cx="762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0717D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0717D"/>
                </a:solidFill>
                <a:latin typeface="Aptos"/>
                <a:ea typeface="Aptos"/>
                <a:cs typeface="Aptos"/>
              </a:rPr>
              <a:t>Kaynak: Türk Dil Kurumu, Noktalama İşaretleri (Açıklamalar)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D316758-16FD-4137-8B73-418E687FC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76375"/>
            <a:ext cx="10972800" cy="6610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1E5"/>
            </a:solidFill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8242E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8242E"/>
                </a:solidFill>
                <a:latin typeface="Aptos"/>
                <a:ea typeface="Aptos"/>
                <a:cs typeface="Aptos"/>
              </a:rPr>
              <a:t>Satır başına alınan konuşmaları gösterir; “konuşma çizgisi” adı da kullanılır.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88AA715-6958-4322-9DB9-6C92DDE8B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51710"/>
            <a:ext cx="10972800" cy="66389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1E5"/>
            </a:solidFill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8242E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8242E"/>
                </a:solidFill>
                <a:latin typeface="Aptos"/>
                <a:ea typeface="Aptos"/>
                <a:cs typeface="Aptos"/>
              </a:rPr>
              <a:t>Oyunlarda konuşanın adından sonra gelebilir: Sıtkı Bey — Kaleyi kurtarmak için…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429D5A0-1FAF-4F24-BDBC-49F33B646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29903"/>
            <a:ext cx="10972800" cy="61245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1E5"/>
            </a:solidFill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8242E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8242E"/>
                </a:solidFill>
                <a:latin typeface="Aptos"/>
                <a:ea typeface="Aptos"/>
                <a:cs typeface="Aptos"/>
              </a:rPr>
              <a:t>Konuşmalar tırnak içinde verildiğinde uzun çizgi kullanılmaz.</a:t>
            </a:r>
          </a:p>
        </p:txBody>
      </p:sp>
    </p:spTree>
    <p:extLst>
      <p:ext uri="{BB962C8B-B14F-4D97-AF65-F5344CB8AC3E}">
        <p14:creationId xmlns:p14="http://schemas.microsoft.com/office/powerpoint/2010/main" val="2143086899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7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CB99984-E18A-4EDF-A394-64D1C846C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A19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76FF749-22F3-424D-830C-8C18CE350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57200"/>
            <a:ext cx="10668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324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4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/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856E5C7-09A4-4A4A-8E59-1CEE201D6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476250"/>
            <a:ext cx="9144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4324B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4324B"/>
                </a:solidFill>
                <a:latin typeface="Aptos"/>
                <a:ea typeface="Aptos"/>
                <a:cs typeface="Aptos"/>
              </a:rPr>
              <a:t>Eğik çizgi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A568561-953D-4247-8851-F6BC40DD1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523875"/>
            <a:ext cx="476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60717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60717D"/>
                </a:solidFill>
                <a:latin typeface="Aptos"/>
                <a:ea typeface="Aptos"/>
                <a:cs typeface="Aptos"/>
              </a:rPr>
              <a:t>17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BE7278F-5B85-40AF-941E-D158B2B99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57950"/>
            <a:ext cx="762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0717D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0717D"/>
                </a:solidFill>
                <a:latin typeface="Aptos"/>
                <a:ea typeface="Aptos"/>
                <a:cs typeface="Aptos"/>
              </a:rPr>
              <a:t>Kaynak: Türk Dil Kurumu, Noktalama İşaretleri (Açıklamalar)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D4E8325-F4B8-4E11-9F25-C8E1D2DB8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76375"/>
            <a:ext cx="53530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1E5"/>
            </a:solidFill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8242E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8242E"/>
                </a:solidFill>
                <a:latin typeface="Aptos"/>
                <a:ea typeface="Aptos"/>
                <a:cs typeface="Aptos"/>
              </a:rPr>
              <a:t>1. Dizeler yan yana yazıldığında aralarına konur.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4F7D07B-9FDB-47E3-B1C6-3D7656C51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81225"/>
            <a:ext cx="5353050" cy="72104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1E5"/>
            </a:solidFill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8242E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8242E"/>
                </a:solidFill>
                <a:latin typeface="Aptos"/>
                <a:ea typeface="Aptos"/>
                <a:cs typeface="Aptos"/>
              </a:rPr>
              <a:t>2. Adreste apartman ile daire numarasını; semt ile şehir adını ayırır: No.: 21/6 Kurtuluş / ANKARA.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009C0B6-0B31-4556-8DCA-3E1CA9ECD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16568"/>
            <a:ext cx="5353050" cy="60388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1E5"/>
            </a:solidFill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8242E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8242E"/>
                </a:solidFill>
                <a:latin typeface="Aptos"/>
                <a:ea typeface="Aptos"/>
                <a:cs typeface="Aptos"/>
              </a:rPr>
              <a:t>3. Tarihte gün, ay ve yılı ayırır: 18/11/1969, 15/IX/1994.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0F13698-F88C-4997-900D-4078AE85F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34753"/>
            <a:ext cx="5353050" cy="6438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1E5"/>
            </a:solidFill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8242E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8242E"/>
                </a:solidFill>
                <a:latin typeface="Aptos"/>
                <a:ea typeface="Aptos"/>
                <a:cs typeface="Aptos"/>
              </a:rPr>
              <a:t>4. Dil bilgisinde eklerin farklı biçimlerini gösterir: -a/-e, -lık/-lik.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3CF1AE9-1817-4179-AA8B-7CB873608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476375"/>
            <a:ext cx="53530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1E5"/>
            </a:solidFill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8242E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8242E"/>
                </a:solidFill>
                <a:latin typeface="Aptos"/>
                <a:ea typeface="Aptos"/>
                <a:cs typeface="Aptos"/>
              </a:rPr>
              <a:t>5. Genel ağ adreslerinde kullanılır.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2393C18-4AE5-4E04-A22D-A988E2821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181225"/>
            <a:ext cx="53530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1E5"/>
            </a:solidFill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8242E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8242E"/>
                </a:solidFill>
                <a:latin typeface="Aptos"/>
                <a:ea typeface="Aptos"/>
                <a:cs typeface="Aptos"/>
              </a:rPr>
              <a:t>6. Matematikte bölme işaretidir: 70/2=35.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1DC7C1B-4522-4224-92BF-82833A5E0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886075"/>
            <a:ext cx="53530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1E5"/>
            </a:solidFill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8242E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8242E"/>
                </a:solidFill>
                <a:latin typeface="Aptos"/>
                <a:ea typeface="Aptos"/>
                <a:cs typeface="Aptos"/>
              </a:rPr>
              <a:t>7. Birimler arası oranı boşluksuz gösterir: g/sn.</a:t>
            </a:r>
          </a:p>
        </p:txBody>
      </p:sp>
    </p:spTree>
    <p:extLst>
      <p:ext uri="{BB962C8B-B14F-4D97-AF65-F5344CB8AC3E}">
        <p14:creationId xmlns:p14="http://schemas.microsoft.com/office/powerpoint/2010/main" val="2075491750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7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4B4E236-3A6B-4E17-B7FC-1866BF071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A19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41753AD-ACD6-4943-A7D2-E401E2D9B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57200"/>
            <a:ext cx="10668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324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4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\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CA61189-81FF-40F6-ABAC-AB2E7217F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476250"/>
            <a:ext cx="9144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4324B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4324B"/>
                </a:solidFill>
                <a:latin typeface="Aptos"/>
                <a:ea typeface="Aptos"/>
                <a:cs typeface="Aptos"/>
              </a:rPr>
              <a:t>Ters eğik çizgi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80ACE8B-C2BF-4F29-B9AA-C94430D6A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523875"/>
            <a:ext cx="476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60717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60717D"/>
                </a:solidFill>
                <a:latin typeface="Aptos"/>
                <a:ea typeface="Aptos"/>
                <a:cs typeface="Aptos"/>
              </a:rPr>
              <a:t>18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625F4EB-CD2B-40A3-92F9-FA6ECB867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57950"/>
            <a:ext cx="762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0717D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0717D"/>
                </a:solidFill>
                <a:latin typeface="Aptos"/>
                <a:ea typeface="Aptos"/>
                <a:cs typeface="Aptos"/>
              </a:rPr>
              <a:t>Kaynak: Türk Dil Kurumu, Noktalama İşaretleri (Açıklamalar)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7852E30-2CFB-40F3-9A4E-C006AA0C4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76375"/>
            <a:ext cx="10972800" cy="6324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1E5"/>
            </a:solidFill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8242E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8242E"/>
                </a:solidFill>
                <a:latin typeface="Aptos"/>
                <a:ea typeface="Aptos"/>
                <a:cs typeface="Aptos"/>
              </a:rPr>
              <a:t>Bilişim uygulamalarında art arda gelen dizinleri birbirinden ayırır.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4EA6D82-8069-459C-813E-EC12B2D3B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23135"/>
            <a:ext cx="109728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1E5"/>
            </a:solidFill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8242E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8242E"/>
                </a:solidFill>
                <a:latin typeface="Aptos"/>
                <a:ea typeface="Aptos"/>
                <a:cs typeface="Aptos"/>
              </a:rPr>
              <a:t>Örnek: C:\Belgelerim\Türk İşaret Dili\Kitapçık.indd</a:t>
            </a:r>
          </a:p>
        </p:txBody>
      </p:sp>
    </p:spTree>
    <p:extLst>
      <p:ext uri="{BB962C8B-B14F-4D97-AF65-F5344CB8AC3E}">
        <p14:creationId xmlns:p14="http://schemas.microsoft.com/office/powerpoint/2010/main" val="29764107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7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B1B5EB3-4E81-4811-B141-A3F354838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A19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A9F0BAC-AF78-435E-9A25-E0257072B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57200"/>
            <a:ext cx="10668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324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4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“ ”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1F5EF82-F832-48D9-A639-F43CD814F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476250"/>
            <a:ext cx="9144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4324B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4324B"/>
                </a:solidFill>
                <a:latin typeface="Aptos"/>
                <a:ea typeface="Aptos"/>
                <a:cs typeface="Aptos"/>
              </a:rPr>
              <a:t>Tırnak işareti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FDF65DC-4DA3-4532-AF70-405034275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523875"/>
            <a:ext cx="476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60717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60717D"/>
                </a:solidFill>
                <a:latin typeface="Aptos"/>
                <a:ea typeface="Aptos"/>
                <a:cs typeface="Aptos"/>
              </a:rPr>
              <a:t>19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EE2D5BF-E7A5-4453-9103-6D2B6C4FE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57950"/>
            <a:ext cx="762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0717D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0717D"/>
                </a:solidFill>
                <a:latin typeface="Aptos"/>
                <a:ea typeface="Aptos"/>
                <a:cs typeface="Aptos"/>
              </a:rPr>
              <a:t>Kaynak: Türk Dil Kurumu, Noktalama İşaretleri (Açıklamalar)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3F144EA-46A9-42C1-9F6C-5F7E83630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76375"/>
            <a:ext cx="10972800" cy="6524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1E5"/>
            </a:solidFill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8242E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8242E"/>
                </a:solidFill>
                <a:latin typeface="Aptos"/>
                <a:ea typeface="Aptos"/>
                <a:cs typeface="Aptos"/>
              </a:rPr>
              <a:t>1. Başka bir kişiden veya yazıdan olduğu gibi aktarılan sözleri içine alır.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C4B64F8-8A49-487A-8B41-2CB7B4F38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3138"/>
            <a:ext cx="10972800" cy="66389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1E5"/>
            </a:solidFill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8242E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8242E"/>
                </a:solidFill>
                <a:latin typeface="Aptos"/>
                <a:ea typeface="Aptos"/>
                <a:cs typeface="Aptos"/>
              </a:rPr>
              <a:t>2. Özel olarak vurgulanmak istenen sözleri gösterir: yeni bir “barış taarruzu”.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71E41E4-8E4C-4172-B9FA-BAF66DFCA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21330"/>
            <a:ext cx="10972800" cy="7096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1E5"/>
            </a:solidFill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8242E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8242E"/>
                </a:solidFill>
                <a:latin typeface="Aptos"/>
                <a:ea typeface="Aptos"/>
                <a:cs typeface="Aptos"/>
              </a:rPr>
              <a:t>3. Cümle içinde eser, yazı ve bölüm adlarını gösterir: “Kendi Gök Kubbemiz”, “Yazım Kuralları”.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3ABE16E-66DB-41C7-8DFF-5C6A21650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45243"/>
            <a:ext cx="10972800" cy="6610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1E5"/>
            </a:solidFill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8242E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8242E"/>
                </a:solidFill>
                <a:latin typeface="Aptos"/>
                <a:ea typeface="Aptos"/>
                <a:cs typeface="Aptos"/>
              </a:rPr>
              <a:t>4. Bilimsel çalışmalarda künye verilirken makale adları tırnak içinde yazılır.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51E471E-2733-4B75-8E66-D12C1D0F9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95950"/>
            <a:ext cx="109728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E9E3"/>
          </a:solidFill>
          <a:ln xmlns:a="http://schemas.openxmlformats.org/drawingml/2006/main" w="9525">
            <a:solidFill>
              <a:srgbClr val="F1B8A8"/>
            </a:solidFill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7A3E2D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7A3E2D"/>
                </a:solidFill>
                <a:latin typeface="Aptos"/>
                <a:ea typeface="Aptos"/>
                <a:cs typeface="Aptos"/>
              </a:rPr>
              <a:t>UYARI  Alıntının sonundaki işaretler tırnak içinde kalır.  •  Tırnaklı söze gelen ek için kesme kullanılmaz: “Bit Palas”ını.  •  Vurgulanan sözler ve eser adları eğik yazıyla da gösterilebilir.</a:t>
            </a:r>
          </a:p>
        </p:txBody>
      </p:sp>
    </p:spTree>
    <p:extLst>
      <p:ext uri="{BB962C8B-B14F-4D97-AF65-F5344CB8AC3E}">
        <p14:creationId xmlns:p14="http://schemas.microsoft.com/office/powerpoint/2010/main" val="1274513250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7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69D12C5-3905-4845-AFE3-4AFCA6818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A19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A906F7-ADE1-44A0-A7B5-11315C7E3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57200"/>
            <a:ext cx="10668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324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4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‘ ’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06B3854-9C15-4D12-A036-C1BCC26A1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476250"/>
            <a:ext cx="9144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4324B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4324B"/>
                </a:solidFill>
                <a:latin typeface="Aptos"/>
                <a:ea typeface="Aptos"/>
                <a:cs typeface="Aptos"/>
              </a:rPr>
              <a:t>Tek tırnak ve denden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9200EE1-C171-4FC8-B6A5-657EEE7FF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523875"/>
            <a:ext cx="476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60717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60717D"/>
                </a:solidFill>
                <a:latin typeface="Aptos"/>
                <a:ea typeface="Aptos"/>
                <a:cs typeface="Aptos"/>
              </a:rPr>
              <a:t>20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918E703-F009-4468-982E-D3902CF77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57950"/>
            <a:ext cx="762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0717D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0717D"/>
                </a:solidFill>
                <a:latin typeface="Aptos"/>
                <a:ea typeface="Aptos"/>
                <a:cs typeface="Aptos"/>
              </a:rPr>
              <a:t>Kaynak: Türk Dil Kurumu, Noktalama İşaretleri (Açıklamalar)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98E5BDE-E143-4C86-A8B8-BE00252F3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76375"/>
            <a:ext cx="10972800" cy="7096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1E5"/>
            </a:solidFill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8242E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8242E"/>
                </a:solidFill>
                <a:latin typeface="Aptos"/>
                <a:ea typeface="Aptos"/>
                <a:cs typeface="Aptos"/>
              </a:rPr>
              <a:t>Tek tırnak, tırnak içindeki cümlede yeniden tırnağa alınması gereken söz veya ibareyi gösterir.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3C31F5B-5C1B-4526-B71D-B2A8D19DE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00288"/>
            <a:ext cx="10972800" cy="59245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1E5"/>
            </a:solidFill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8242E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8242E"/>
                </a:solidFill>
                <a:latin typeface="Aptos"/>
                <a:ea typeface="Aptos"/>
                <a:cs typeface="Aptos"/>
              </a:rPr>
              <a:t>Örnek: “Şiirler içinde ‘Han Duvarları’ gibisi var mı?”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5F66E3F-68CC-41DF-8C82-559CC76BB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07043"/>
            <a:ext cx="10972800" cy="74390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1E5"/>
            </a:solidFill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8242E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8242E"/>
                </a:solidFill>
                <a:latin typeface="Aptos"/>
                <a:ea typeface="Aptos"/>
                <a:cs typeface="Aptos"/>
              </a:rPr>
              <a:t>Denden işareti (“), bir çizelgede alt alta gelen aynı söz, söz grubu veya sayının tekrar yazılmasını önler.</a:t>
            </a:r>
          </a:p>
        </p:txBody>
      </p:sp>
    </p:spTree>
    <p:extLst>
      <p:ext uri="{BB962C8B-B14F-4D97-AF65-F5344CB8AC3E}">
        <p14:creationId xmlns:p14="http://schemas.microsoft.com/office/powerpoint/2010/main" val="1660080464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7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0305E57-65DF-46C8-909B-38FB869DC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A19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A65AB15-C994-47CF-BE15-33077EAC4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57200"/>
            <a:ext cx="10668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324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4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( )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9F18E05-EFC0-42DE-9480-AF6F05C41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476250"/>
            <a:ext cx="9144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4324B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4324B"/>
                </a:solidFill>
                <a:latin typeface="Aptos"/>
                <a:ea typeface="Aptos"/>
                <a:cs typeface="Aptos"/>
              </a:rPr>
              <a:t>Yay ayraç: ek bilgi ve kaynak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C9968A5-C1A9-4681-A190-387C8DE8B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523875"/>
            <a:ext cx="476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60717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60717D"/>
                </a:solidFill>
                <a:latin typeface="Aptos"/>
                <a:ea typeface="Aptos"/>
                <a:cs typeface="Aptos"/>
              </a:rPr>
              <a:t>21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570AA64-D388-4CF1-B819-0E3CD8A48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57950"/>
            <a:ext cx="762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0717D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0717D"/>
                </a:solidFill>
                <a:latin typeface="Aptos"/>
                <a:ea typeface="Aptos"/>
                <a:cs typeface="Aptos"/>
              </a:rPr>
              <a:t>Kaynak: Türk Dil Kurumu, Noktalama İşaretleri (Açıklamalar)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A58EB32-5BEC-4B73-BE17-9CB8F7F27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76375"/>
            <a:ext cx="10972800" cy="78676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1E5"/>
            </a:solidFill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8242E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8242E"/>
                </a:solidFill>
                <a:latin typeface="Aptos"/>
                <a:ea typeface="Aptos"/>
                <a:cs typeface="Aptos"/>
              </a:rPr>
              <a:t>1. Cümlenin anlamını tamamlayan, fakat cümle dışında kalan ek bilgiyi gösterir. Ayraç içindeki yargı uygun işaretle biter.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FB05430-BB93-4B24-8143-DE853A4F6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77440"/>
            <a:ext cx="10972800" cy="6696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1E5"/>
            </a:solidFill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8242E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8242E"/>
                </a:solidFill>
                <a:latin typeface="Aptos"/>
                <a:ea typeface="Aptos"/>
                <a:cs typeface="Aptos"/>
              </a:rPr>
              <a:t>2. Özel veya cins isme ait ek ayraçtan önce yazılır: Yunus Emre’nin (1240?-1320).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8A3456A-5B45-43E9-9172-F06A9AEF8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61348"/>
            <a:ext cx="10972800" cy="6153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1E5"/>
            </a:solidFill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8242E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8242E"/>
                </a:solidFill>
                <a:latin typeface="Aptos"/>
                <a:ea typeface="Aptos"/>
                <a:cs typeface="Aptos"/>
              </a:rPr>
              <a:t>3. Tiyatro ve senaryoda konuşanın hareket ve durumunu açıklar.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2FD55DE-548E-465D-9D03-D2B7F4494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90963"/>
            <a:ext cx="10972800" cy="61817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1E5"/>
            </a:solidFill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8242E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8242E"/>
                </a:solidFill>
                <a:latin typeface="Aptos"/>
                <a:ea typeface="Aptos"/>
                <a:cs typeface="Aptos"/>
              </a:rPr>
              <a:t>4. Alıntının kaynağını, yazarını veya künye bilgisini gösterir.</a:t>
            </a:r>
          </a:p>
        </p:txBody>
      </p:sp>
    </p:spTree>
    <p:extLst>
      <p:ext uri="{BB962C8B-B14F-4D97-AF65-F5344CB8AC3E}">
        <p14:creationId xmlns:p14="http://schemas.microsoft.com/office/powerpoint/2010/main" val="413116003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7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B71F570-87FA-467D-A3E8-699447748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A19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79FA5C6-BBDB-4DCB-852E-E7B208F51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57200"/>
            <a:ext cx="10668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324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4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( )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E8BEF8-0F94-4124-994F-78D0538D5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476250"/>
            <a:ext cx="9144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4324B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4324B"/>
                </a:solidFill>
                <a:latin typeface="Aptos"/>
                <a:ea typeface="Aptos"/>
                <a:cs typeface="Aptos"/>
              </a:rPr>
              <a:t>Yay ayraç: eksiltme ve işaretler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B0FB345-3097-4A16-B6C8-146E6E14F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523875"/>
            <a:ext cx="476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60717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60717D"/>
                </a:solidFill>
                <a:latin typeface="Aptos"/>
                <a:ea typeface="Aptos"/>
                <a:cs typeface="Aptos"/>
              </a:rPr>
              <a:t>22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FE9608B-CEE7-48B1-BCEA-B98BBA093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57950"/>
            <a:ext cx="762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0717D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0717D"/>
                </a:solidFill>
                <a:latin typeface="Aptos"/>
                <a:ea typeface="Aptos"/>
                <a:cs typeface="Aptos"/>
              </a:rPr>
              <a:t>Kaynak: Türk Dil Kurumu, Noktalama İşaretleri (Açıklamalar)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935BFF6-2208-4F41-BC23-F80A206C0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76375"/>
            <a:ext cx="10972800" cy="6781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1E5"/>
            </a:solidFill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8242E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8242E"/>
                </a:solidFill>
                <a:latin typeface="Aptos"/>
                <a:ea typeface="Aptos"/>
                <a:cs typeface="Aptos"/>
              </a:rPr>
              <a:t>5. Alıntıda çıkarılan bölümün yerine konan üç nokta yay ayraç içine alınabilir: (…).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AF28940-DD0E-4181-9EF6-FAA026D29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68855"/>
            <a:ext cx="10972800" cy="64960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1E5"/>
            </a:solidFill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8242E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8242E"/>
                </a:solidFill>
                <a:latin typeface="Aptos"/>
                <a:ea typeface="Aptos"/>
                <a:cs typeface="Aptos"/>
              </a:rPr>
              <a:t>6. Alay, kinaye veya küçümseme bildiren ünlem yay ayraç içine alınır: (!).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5856C45-73AA-4A72-A558-1E65EFFD2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32760"/>
            <a:ext cx="10972800" cy="67246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1E5"/>
            </a:solidFill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8242E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8242E"/>
                </a:solidFill>
                <a:latin typeface="Aptos"/>
                <a:ea typeface="Aptos"/>
                <a:cs typeface="Aptos"/>
              </a:rPr>
              <a:t>7. Şüpheli veya kesin olmayan bilgi için soru işareti yay ayraç içine alınır: (?).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AE4F3D2-06E8-4225-B994-83E80AF42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9525"/>
            <a:ext cx="10972800" cy="6896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1E5"/>
            </a:solidFill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8242E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8242E"/>
                </a:solidFill>
                <a:latin typeface="Aptos"/>
                <a:ea typeface="Aptos"/>
                <a:cs typeface="Aptos"/>
              </a:rPr>
              <a:t>8. Maddeleri gösteren sayı ve harflerden sonra kapama ayracı kullanılır: I), 1), A), a).</a:t>
            </a:r>
          </a:p>
        </p:txBody>
      </p:sp>
    </p:spTree>
    <p:extLst>
      <p:ext uri="{BB962C8B-B14F-4D97-AF65-F5344CB8AC3E}">
        <p14:creationId xmlns:p14="http://schemas.microsoft.com/office/powerpoint/2010/main" val="657712058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7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B58B123-171D-440C-BC14-08BACE064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A19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79353C-8CA5-4F13-8C29-F06C6345D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57200"/>
            <a:ext cx="10668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324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4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[ ]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0F2F810-8F4D-4973-9C7B-F81F35D6A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476250"/>
            <a:ext cx="9144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4324B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4324B"/>
                </a:solidFill>
                <a:latin typeface="Aptos"/>
                <a:ea typeface="Aptos"/>
                <a:cs typeface="Aptos"/>
              </a:rPr>
              <a:t>Köşeli ayraç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A3EC4A2-768C-4044-A561-8EF2A8422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523875"/>
            <a:ext cx="476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60717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60717D"/>
                </a:solidFill>
                <a:latin typeface="Aptos"/>
                <a:ea typeface="Aptos"/>
                <a:cs typeface="Aptos"/>
              </a:rPr>
              <a:t>23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B451C2B-F5D1-40DA-A72E-2B4342396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57950"/>
            <a:ext cx="762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0717D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0717D"/>
                </a:solidFill>
                <a:latin typeface="Aptos"/>
                <a:ea typeface="Aptos"/>
                <a:cs typeface="Aptos"/>
              </a:rPr>
              <a:t>Kaynak: Türk Dil Kurumu, Noktalama İşaretleri (Açıklamalar)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BC040B8-620B-456C-B632-EC87EAC85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76375"/>
            <a:ext cx="10972800" cy="792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1E5"/>
            </a:solidFill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8242E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8242E"/>
                </a:solidFill>
                <a:latin typeface="Aptos"/>
                <a:ea typeface="Aptos"/>
                <a:cs typeface="Aptos"/>
              </a:rPr>
              <a:t>1. Ayraç içinde yeniden ayraç gerektiğinde, yay ayraçtan önce köşeli ayraç kullanılır: [Cevat Şakir Kabaağaçlı (1886-1973)].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1EA790D-17D1-4E55-8F0A-2FB2CF499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3155"/>
            <a:ext cx="10972800" cy="71818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1E5"/>
            </a:solidFill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8242E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8242E"/>
                </a:solidFill>
                <a:latin typeface="Aptos"/>
                <a:ea typeface="Aptos"/>
                <a:cs typeface="Aptos"/>
              </a:rPr>
              <a:t>2. Aktarma, çeviri ve alıntıda çalışmayı yapanın eklediği sözleri gösterir: fark[ın], çık[tığını].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21AFAF7-BAEA-4265-9565-F0A107192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15640"/>
            <a:ext cx="10972800" cy="67246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1E5"/>
            </a:solidFill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8242E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8242E"/>
                </a:solidFill>
                <a:latin typeface="Aptos"/>
                <a:ea typeface="Aptos"/>
                <a:cs typeface="Aptos"/>
              </a:rPr>
              <a:t>3. Kaynak künyesinde bazı tamamlayıcı ayrıntıları gösterir: Reşat Nuri [Güntekin].</a:t>
            </a:r>
          </a:p>
        </p:txBody>
      </p:sp>
    </p:spTree>
    <p:extLst>
      <p:ext uri="{BB962C8B-B14F-4D97-AF65-F5344CB8AC3E}">
        <p14:creationId xmlns:p14="http://schemas.microsoft.com/office/powerpoint/2010/main" val="1938475671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7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9674593-0F35-476C-8761-7BEC64ABD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A19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0A9E511-998E-4883-925A-D6075652C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57200"/>
            <a:ext cx="10668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324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4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’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CFE7452-A8D2-4903-99FB-FB9BF2E31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476250"/>
            <a:ext cx="9144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4324B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4324B"/>
                </a:solidFill>
                <a:latin typeface="Aptos"/>
                <a:ea typeface="Aptos"/>
                <a:cs typeface="Aptos"/>
              </a:rPr>
              <a:t>Kesme işareti: özel adlar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152CFDD-FC0E-4FD3-8260-A5994D20C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523875"/>
            <a:ext cx="476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60717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60717D"/>
                </a:solidFill>
                <a:latin typeface="Aptos"/>
                <a:ea typeface="Aptos"/>
                <a:cs typeface="Aptos"/>
              </a:rPr>
              <a:t>24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5E54CC7-7BFD-4131-9FB5-BC7AECC03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57950"/>
            <a:ext cx="762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0717D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0717D"/>
                </a:solidFill>
                <a:latin typeface="Aptos"/>
                <a:ea typeface="Aptos"/>
                <a:cs typeface="Aptos"/>
              </a:rPr>
              <a:t>Kaynak: Türk Dil Kurumu, Noktalama İşaretleri (Açıklamalar)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ADA5025-A727-4E11-8838-F664FCA23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76375"/>
            <a:ext cx="10972800" cy="7296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1E5"/>
            </a:solidFill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8242E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8242E"/>
                </a:solidFill>
                <a:latin typeface="Aptos"/>
                <a:ea typeface="Aptos"/>
                <a:cs typeface="Aptos"/>
              </a:rPr>
              <a:t>1. Özel adlara gelen iyelik, durum ve bildirme eklerini ayırır: Türkiye’mizin, Atatürk’üm, Boğazı’nın.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69D3076-7883-4F29-BB06-092F51428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0290"/>
            <a:ext cx="109728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1E5"/>
            </a:solidFill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8242E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8242E"/>
                </a:solidFill>
                <a:latin typeface="Aptos"/>
                <a:ea typeface="Aptos"/>
                <a:cs typeface="Aptos"/>
              </a:rPr>
              <a:t>Yer bildiren özel adın kısaltmalı söyleyişinde kullanılır: Hisar’dan, Boğaz’dan.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2B6FB3E-B493-481F-9B2A-D2E7E4973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01340"/>
            <a:ext cx="10972800" cy="7581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1E5"/>
            </a:solidFill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8242E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8242E"/>
                </a:solidFill>
                <a:latin typeface="Aptos"/>
                <a:ea typeface="Aptos"/>
                <a:cs typeface="Aptos"/>
              </a:rPr>
              <a:t>Belirli bir kanun, tüzük veya yönetmelik kastedildiğinde büyük harfle yazılan ada gelen eki ayırır: Bu Kanun’un.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7B9036A-FBF2-4274-8886-3EC4532CA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73830"/>
            <a:ext cx="10972800" cy="7096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1E5"/>
            </a:solidFill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8242E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8242E"/>
                </a:solidFill>
                <a:latin typeface="Aptos"/>
                <a:ea typeface="Aptos"/>
                <a:cs typeface="Aptos"/>
              </a:rPr>
              <a:t>Özel adın ayraç içindeki açıklamasında kesme, ayraçtan önce gelir: Yunus Emre’nin (1240?-1320).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A61ECC3-8311-4316-9D70-4F7C9EB5F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97743"/>
            <a:ext cx="10972800" cy="6210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1E5"/>
            </a:solidFill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8242E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8242E"/>
                </a:solidFill>
                <a:latin typeface="Aptos"/>
                <a:ea typeface="Aptos"/>
                <a:cs typeface="Aptos"/>
              </a:rPr>
              <a:t>Avrupa Birliği ek aldığında kesmeyle yazılır: Avrupa Birliği’ne.</a:t>
            </a:r>
          </a:p>
        </p:txBody>
      </p:sp>
    </p:spTree>
    <p:extLst>
      <p:ext uri="{BB962C8B-B14F-4D97-AF65-F5344CB8AC3E}">
        <p14:creationId xmlns:p14="http://schemas.microsoft.com/office/powerpoint/2010/main" val="223222707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7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537DBBD-63C7-4599-B9F4-80804A673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A19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3BDC61-27AE-4DA3-B8D5-6F5CF3AA2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57200"/>
            <a:ext cx="10668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324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4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’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0AF8B41-2BB4-4E29-A3A0-F2A5FA6E4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476250"/>
            <a:ext cx="9144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4324B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4324B"/>
                </a:solidFill>
                <a:latin typeface="Aptos"/>
                <a:ea typeface="Aptos"/>
                <a:cs typeface="Aptos"/>
              </a:rPr>
              <a:t>Kesme işareti: özel adlarda uyarılar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3449CA9-F484-4788-A9FB-D79593CCF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523875"/>
            <a:ext cx="476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60717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60717D"/>
                </a:solidFill>
                <a:latin typeface="Aptos"/>
                <a:ea typeface="Aptos"/>
                <a:cs typeface="Aptos"/>
              </a:rPr>
              <a:t>25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B603508-6A99-4507-8B65-9D567946B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57950"/>
            <a:ext cx="762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0717D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0717D"/>
                </a:solidFill>
                <a:latin typeface="Aptos"/>
                <a:ea typeface="Aptos"/>
                <a:cs typeface="Aptos"/>
              </a:rPr>
              <a:t>Kaynak: Türk Dil Kurumu, Noktalama İşaretleri (Açıklamalar)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4507E55-9304-4863-B8CB-E4D18B657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76375"/>
            <a:ext cx="5353050" cy="75533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1E5"/>
            </a:solidFill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8242E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8242E"/>
                </a:solidFill>
                <a:latin typeface="Aptos"/>
                <a:ea typeface="Aptos"/>
                <a:cs typeface="Aptos"/>
              </a:rPr>
              <a:t>Üçüncü tekil kişi iyelik eki taşıyan özel ada başka bir iyelik eki gelirse kesme kullanılmaz: Boğaz Köprümüzün.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8A1D256-E86E-42AC-B6C3-8BFE13452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46008"/>
            <a:ext cx="5353050" cy="75533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1E5"/>
            </a:solidFill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8242E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8242E"/>
                </a:solidFill>
                <a:latin typeface="Aptos"/>
                <a:ea typeface="Aptos"/>
                <a:cs typeface="Aptos"/>
              </a:rPr>
              <a:t>Kurum, kuruluş, kurul, birleşim, oturum ve iş yeri adlarına gelen ekler kesmeyle ayrılmaz: Türk Dil Kurumundan.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85CE975-F2C7-420D-8F61-A8B6219E1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15640"/>
            <a:ext cx="5353050" cy="72104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1E5"/>
            </a:solidFill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8242E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8242E"/>
                </a:solidFill>
                <a:latin typeface="Aptos"/>
                <a:ea typeface="Aptos"/>
                <a:cs typeface="Aptos"/>
              </a:rPr>
              <a:t>Başbakanlık ve Rektörlük gibi sözlere ünlüyle başlayan ek doğrudan gelir: Başbakanlığa, Rektörlüğe.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C5EFA96-F9B1-4C92-BEA3-59279F98F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476375"/>
            <a:ext cx="5353050" cy="7467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1E5"/>
            </a:solidFill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8242E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8242E"/>
                </a:solidFill>
                <a:latin typeface="Aptos"/>
                <a:ea typeface="Aptos"/>
                <a:cs typeface="Aptos"/>
              </a:rPr>
              <a:t>Özel adlara gelen yapım ekleri, çokluk eki ve bunlardan sonraki ekler ayrılmaz: Türkçe, Türklüğün, Ahmetler.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F444E38-569B-4101-BDBA-6FE1B6554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337435"/>
            <a:ext cx="5353050" cy="7010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1E5"/>
            </a:solidFill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8242E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8242E"/>
                </a:solidFill>
                <a:latin typeface="Aptos"/>
                <a:ea typeface="Aptos"/>
                <a:cs typeface="Aptos"/>
              </a:rPr>
              <a:t>p, ç, t, k ile biten özel adlar ek aldığında söyleyişte yumuşar: Ahmedi, Sinobu, Zonguldağı.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C6613BB-B0D8-4690-AF86-868F83687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152775"/>
            <a:ext cx="5353050" cy="655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1E5"/>
            </a:solidFill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8242E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8242E"/>
                </a:solidFill>
                <a:latin typeface="Aptos"/>
                <a:ea typeface="Aptos"/>
                <a:cs typeface="Aptos"/>
              </a:rPr>
              <a:t>Özel ad yerine kullanılan “o” zamiri küçük yazılır ve eki kesmeyle ayrılmaz.</a:t>
            </a:r>
          </a:p>
        </p:txBody>
      </p:sp>
    </p:spTree>
    <p:extLst>
      <p:ext uri="{BB962C8B-B14F-4D97-AF65-F5344CB8AC3E}">
        <p14:creationId xmlns:p14="http://schemas.microsoft.com/office/powerpoint/2010/main" val="400766930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7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202E53C-A5EE-4C21-A6E6-4B35670E6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A19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F79943D-9010-4B1D-9023-EA66A724E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57200"/>
            <a:ext cx="10668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324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4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’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8CE1F3-43AA-449A-8567-E21E3257A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476250"/>
            <a:ext cx="9144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4324B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4324B"/>
                </a:solidFill>
                <a:latin typeface="Aptos"/>
                <a:ea typeface="Aptos"/>
                <a:cs typeface="Aptos"/>
              </a:rPr>
              <a:t>Kesme işareti: diğer kullanımlar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EFA237-0A47-4E60-A914-35EE08D58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523875"/>
            <a:ext cx="476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60717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60717D"/>
                </a:solidFill>
                <a:latin typeface="Aptos"/>
                <a:ea typeface="Aptos"/>
                <a:cs typeface="Aptos"/>
              </a:rPr>
              <a:t>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DFB3586-9255-4B27-B5C0-82B71ECFB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57950"/>
            <a:ext cx="762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0717D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0717D"/>
                </a:solidFill>
                <a:latin typeface="Aptos"/>
                <a:ea typeface="Aptos"/>
                <a:cs typeface="Aptos"/>
              </a:rPr>
              <a:t>Kaynak: Türk Dil Kurumu, Noktalama İşaretleri (Açıklamalar)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221ACAC-DF93-452D-ADB3-9BA8B58E6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76375"/>
            <a:ext cx="5353050" cy="752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1E5"/>
            </a:solidFill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8242E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8242E"/>
                </a:solidFill>
                <a:latin typeface="Aptos"/>
                <a:ea typeface="Aptos"/>
                <a:cs typeface="Aptos"/>
              </a:rPr>
              <a:t>2. Kişi adından sonra gelen saygı ve ünvan sözüne eklenen eki ayırır: Nihat Bey’e, Türk Dil Kurumu Başkanı’na.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38C4A68-41CB-4887-9179-774DEB5E6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43150"/>
            <a:ext cx="5353050" cy="6153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1E5"/>
            </a:solidFill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8242E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8242E"/>
                </a:solidFill>
                <a:latin typeface="Aptos"/>
                <a:ea typeface="Aptos"/>
                <a:cs typeface="Aptos"/>
              </a:rPr>
              <a:t>3. Kısaltmalara gelen ekleri ayırır: TBMM’nin, TDK’nin, TV’ye.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9D75144-9398-4F65-BC6E-1A6F82FF9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72765"/>
            <a:ext cx="5353050" cy="6238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1E5"/>
            </a:solidFill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8242E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8242E"/>
                </a:solidFill>
                <a:latin typeface="Aptos"/>
                <a:ea typeface="Aptos"/>
                <a:cs typeface="Aptos"/>
              </a:rPr>
              <a:t>4. Sayılara gelen ekleri ayırır: 1985’te, 8’inci, 2’nci, 657’yle.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A66EE0F-9D88-4EB5-9CED-6E91087A5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476375"/>
            <a:ext cx="5353050" cy="7467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1E5"/>
            </a:solidFill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8242E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8242E"/>
                </a:solidFill>
                <a:latin typeface="Aptos"/>
                <a:ea typeface="Aptos"/>
                <a:cs typeface="Aptos"/>
              </a:rPr>
              <a:t>5. Belirli tarih bildiren ay ve gün adlarına gelen ekleri ayırır: 17 Aralık’a, 12 Temmuz 2010 Pazartesi’nin.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5938927-A997-4610-A976-80B855ED6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337435"/>
            <a:ext cx="5353050" cy="66389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1E5"/>
            </a:solidFill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8242E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8242E"/>
                </a:solidFill>
                <a:latin typeface="Aptos"/>
                <a:ea typeface="Aptos"/>
                <a:cs typeface="Aptos"/>
              </a:rPr>
              <a:t>6. Ölçü ve söyleyiş gereği düşen sesleri gösterir: m’ola, n’eyleyim, par’etmez.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F0ECAC5-107D-4612-A8C8-D2F001928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115628"/>
            <a:ext cx="5353050" cy="62960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1E5"/>
            </a:solidFill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8242E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8242E"/>
                </a:solidFill>
                <a:latin typeface="Aptos"/>
                <a:ea typeface="Aptos"/>
                <a:cs typeface="Aptos"/>
              </a:rPr>
              <a:t>7. Bir ek veya harften sonra gelen eki ayırır: a’dan z’ye, -lık’la.</a:t>
            </a:r>
          </a:p>
        </p:txBody>
      </p:sp>
    </p:spTree>
    <p:extLst>
      <p:ext uri="{BB962C8B-B14F-4D97-AF65-F5344CB8AC3E}">
        <p14:creationId xmlns:p14="http://schemas.microsoft.com/office/powerpoint/2010/main" val="51202611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7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9669BB0-73BB-4885-972D-A3E6D5380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A19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04FF9D-8F5A-4BE5-BA67-0783F18E8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57200"/>
            <a:ext cx="10668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324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4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✓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1757F85-F2D9-4095-8272-5D2F86F0D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476250"/>
            <a:ext cx="9144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4324B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4324B"/>
                </a:solidFill>
                <a:latin typeface="Aptos"/>
                <a:ea typeface="Aptos"/>
                <a:cs typeface="Aptos"/>
              </a:rPr>
              <a:t>Hızlı başvuru matrisi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4A3B76C-0568-40D4-AEFA-C55B4CC61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523875"/>
            <a:ext cx="476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60717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60717D"/>
                </a:solidFill>
                <a:latin typeface="Aptos"/>
                <a:ea typeface="Aptos"/>
                <a:cs typeface="Aptos"/>
              </a:rPr>
              <a:t>27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6ADF2BF-725C-4BBE-A834-5B97ACCA6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57950"/>
            <a:ext cx="762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0717D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0717D"/>
                </a:solidFill>
                <a:latin typeface="Aptos"/>
                <a:ea typeface="Aptos"/>
                <a:cs typeface="Aptos"/>
              </a:rPr>
              <a:t>Kaynak: Türk Dil Kurumu, Noktalama İşaretleri (Açıklamalar)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DC9424E-A0A6-4E3D-A672-97D620FFF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28750"/>
            <a:ext cx="352425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4324B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4324B"/>
                </a:solidFill>
                <a:latin typeface="Aptos"/>
                <a:ea typeface="Aptos"/>
                <a:cs typeface="Aptos"/>
              </a:rPr>
              <a:t>Cümleyi bitirir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D989D43-ACEC-418D-A5D3-F7C6E28CC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428750"/>
            <a:ext cx="657225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7F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2AA198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2AA198"/>
                </a:solidFill>
                <a:latin typeface="Aptos"/>
                <a:ea typeface="Aptos"/>
                <a:cs typeface="Aptos"/>
              </a:rPr>
              <a:t>.  ?  !  …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6545B3A-325B-4FD9-B0CF-C041946D2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52650"/>
            <a:ext cx="352425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4324B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4324B"/>
                </a:solidFill>
                <a:latin typeface="Aptos"/>
                <a:ea typeface="Aptos"/>
                <a:cs typeface="Aptos"/>
              </a:rPr>
              <a:t>Ögeleri ayırır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9739434-78D3-4FED-8734-AB6F21FD0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152650"/>
            <a:ext cx="657225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7F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2AA198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2AA198"/>
                </a:solidFill>
                <a:latin typeface="Aptos"/>
                <a:ea typeface="Aptos"/>
                <a:cs typeface="Aptos"/>
              </a:rPr>
              <a:t>,  ;  :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E7204C3-DC72-4B6C-8844-1B682F1FE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76550"/>
            <a:ext cx="352425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4324B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4324B"/>
                </a:solidFill>
                <a:latin typeface="Aptos"/>
                <a:ea typeface="Aptos"/>
                <a:cs typeface="Aptos"/>
              </a:rPr>
              <a:t>Konuşma ve alıntı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A59223A-B591-43F9-9D88-289B244A8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876550"/>
            <a:ext cx="657225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7F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2AA198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2AA198"/>
                </a:solidFill>
                <a:latin typeface="Aptos"/>
                <a:ea typeface="Aptos"/>
                <a:cs typeface="Aptos"/>
              </a:rPr>
              <a:t>—  “ ”  ‘ ’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64A6F6E-C007-45E4-B1D4-22DC86020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600450"/>
            <a:ext cx="352425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4324B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4324B"/>
                </a:solidFill>
                <a:latin typeface="Aptos"/>
                <a:ea typeface="Aptos"/>
                <a:cs typeface="Aptos"/>
              </a:rPr>
              <a:t>Ek bilgi ve belirsizlik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2FF0388-FF6A-47AF-AC4B-B6E15CBBC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600450"/>
            <a:ext cx="657225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7F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2AA198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2AA198"/>
                </a:solidFill>
                <a:latin typeface="Aptos"/>
                <a:ea typeface="Aptos"/>
                <a:cs typeface="Aptos"/>
              </a:rPr>
              <a:t>( )  [ ]  (?)  (!)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2B09ED2-8D39-49CE-A424-A190C9C22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24350"/>
            <a:ext cx="352425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4324B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4324B"/>
                </a:solidFill>
                <a:latin typeface="Aptos"/>
                <a:ea typeface="Aptos"/>
                <a:cs typeface="Aptos"/>
              </a:rPr>
              <a:t>Sözcük ve aralık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4B0C328-7A3E-4D4C-ABB7-790EDD985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324350"/>
            <a:ext cx="657225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7F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2AA198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2AA198"/>
                </a:solidFill>
                <a:latin typeface="Aptos"/>
                <a:ea typeface="Aptos"/>
                <a:cs typeface="Aptos"/>
              </a:rPr>
              <a:t>-  /  \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E94CE6C-EC18-4670-A76C-8E56FF592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048250"/>
            <a:ext cx="352425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4324B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4324B"/>
                </a:solidFill>
                <a:latin typeface="Aptos"/>
                <a:ea typeface="Aptos"/>
                <a:cs typeface="Aptos"/>
              </a:rPr>
              <a:t>Ekleri ayırır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B1F9226-69F3-43F3-8063-49DB93873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5048250"/>
            <a:ext cx="657225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7F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2AA198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2AA198"/>
                </a:solidFill>
                <a:latin typeface="Aptos"/>
                <a:ea typeface="Aptos"/>
                <a:cs typeface="Aptos"/>
              </a:rPr>
              <a:t>’</a:t>
            </a:r>
          </a:p>
        </p:txBody>
      </p:sp>
    </p:spTree>
    <p:extLst>
      <p:ext uri="{BB962C8B-B14F-4D97-AF65-F5344CB8AC3E}">
        <p14:creationId xmlns:p14="http://schemas.microsoft.com/office/powerpoint/2010/main" val="1862175219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7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BE680D9-AF1B-466B-9D35-46C3505FF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A19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A830861-CAB2-4CB8-81D3-92B3A0117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57200"/>
            <a:ext cx="10668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324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4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1:2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1612D1E-542B-4448-96DC-F5279F4DD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476250"/>
            <a:ext cx="9144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4324B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4324B"/>
                </a:solidFill>
                <a:latin typeface="Aptos"/>
                <a:ea typeface="Aptos"/>
                <a:cs typeface="Aptos"/>
              </a:rPr>
              <a:t>1 m × 2 m afiş ön izlemesi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5EA83C-D091-485F-8AC0-88CE3EE9F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523875"/>
            <a:ext cx="476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60717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60717D"/>
                </a:solidFill>
                <a:latin typeface="Aptos"/>
                <a:ea typeface="Aptos"/>
                <a:cs typeface="Aptos"/>
              </a:rPr>
              <a:t>28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C8FD6D7-982E-4311-A617-19AF25B29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57950"/>
            <a:ext cx="762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0717D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0717D"/>
                </a:solidFill>
                <a:latin typeface="Aptos"/>
                <a:ea typeface="Aptos"/>
                <a:cs typeface="Aptos"/>
              </a:rPr>
              <a:t>Kaynak: Türk Dil Kurumu, Noktalama İşaretleri (Açıklamalar)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34E170D-EB40-4F38-A17A-A23D0AF9D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1123950"/>
            <a:ext cx="7620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0717D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0717D"/>
                </a:solidFill>
                <a:latin typeface="Aptos"/>
                <a:ea typeface="Aptos"/>
                <a:cs typeface="Aptos"/>
              </a:rPr>
              <a:t>Baskı yönü: dikey  |  Ölçekli tasarım: 50 × 100 cm  |  Baskı: %200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9B000BC-B9E7-4FD2-BFC1-D7A103FE2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1619250"/>
            <a:ext cx="4095750" cy="438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4324B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291F03D-FF34-462D-9790-BFE698637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1790700"/>
            <a:ext cx="36766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4324B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4324B"/>
                </a:solidFill>
                <a:latin typeface="Aptos"/>
                <a:ea typeface="Aptos"/>
                <a:cs typeface="Aptos"/>
              </a:rPr>
              <a:t>NOKTALAMA İŞARETLERİ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51EAD54-838D-4D26-94ED-3B95B3F8C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2324100"/>
            <a:ext cx="13525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6A8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Cümle sonu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5349929-E351-45CA-BF87-D0D5EEC42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3575" y="2324100"/>
            <a:ext cx="21717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5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2AA198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2AA198"/>
                </a:solidFill>
                <a:latin typeface="Aptos"/>
                <a:ea typeface="Aptos"/>
                <a:cs typeface="Aptos"/>
              </a:rPr>
              <a:t>. ? ! …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8B00AB5-891A-4E47-86E5-4580207B9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2867025"/>
            <a:ext cx="13525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6A8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Ayırma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4AEB9A3-C97A-4030-B5C1-00FC1FCA6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3575" y="2867025"/>
            <a:ext cx="21717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5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2AA198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2AA198"/>
                </a:solidFill>
                <a:latin typeface="Aptos"/>
                <a:ea typeface="Aptos"/>
                <a:cs typeface="Aptos"/>
              </a:rPr>
              <a:t>, ; :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EFFC2E2-9EAF-43C8-94D0-EF38B760B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3409950"/>
            <a:ext cx="13525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6A8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Alıntı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A2221DD-A4FB-4734-8C4E-E5480F1E8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3575" y="3409950"/>
            <a:ext cx="21717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5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2AA198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2AA198"/>
                </a:solidFill>
                <a:latin typeface="Aptos"/>
                <a:ea typeface="Aptos"/>
                <a:cs typeface="Aptos"/>
              </a:rPr>
              <a:t>— “ ” ‘ ’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AA93B3D-1A92-4EDC-9156-A72A46B9A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3952875"/>
            <a:ext cx="13525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6A8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Ayraç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073DE78-5642-4067-A0B6-277D8B922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3575" y="3952875"/>
            <a:ext cx="21717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5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2AA198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2AA198"/>
                </a:solidFill>
                <a:latin typeface="Aptos"/>
                <a:ea typeface="Aptos"/>
                <a:cs typeface="Aptos"/>
              </a:rPr>
              <a:t>( ) [ ]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8B00A9F-C96C-4D92-8807-29EA5A777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4495800"/>
            <a:ext cx="13525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6A8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Yapı ve ek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62EB311-166F-441C-9909-A0176A819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3575" y="4495800"/>
            <a:ext cx="21717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5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2AA198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2AA198"/>
                </a:solidFill>
                <a:latin typeface="Aptos"/>
                <a:ea typeface="Aptos"/>
                <a:cs typeface="Aptos"/>
              </a:rPr>
              <a:t>- / \ ’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34EAC9B-0351-4E7E-81C9-74AD321A2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5095875"/>
            <a:ext cx="36385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18242E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8242E"/>
                </a:solidFill>
                <a:latin typeface="Aptos"/>
                <a:ea typeface="Aptos"/>
                <a:cs typeface="Aptos"/>
              </a:rPr>
              <a:t>Alt bölüm: 17 işaretin tüm kuralları ve uyarıları, 5 sütunlu yoğun başvuru düzeninde</a:t>
            </a:r>
          </a:p>
        </p:txBody>
      </p:sp>
    </p:spTree>
    <p:extLst>
      <p:ext uri="{BB962C8B-B14F-4D97-AF65-F5344CB8AC3E}">
        <p14:creationId xmlns:p14="http://schemas.microsoft.com/office/powerpoint/2010/main" val="1963931697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7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071A280-F6CA-4BF0-A87D-12CBAFD51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A19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A515C04-278C-45BD-93A0-730CB5AE3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57200"/>
            <a:ext cx="10668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324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4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1×2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EF9A574-8424-48BA-B99B-15AAEC950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476250"/>
            <a:ext cx="9144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4324B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4324B"/>
                </a:solidFill>
                <a:latin typeface="Aptos"/>
                <a:ea typeface="Aptos"/>
                <a:cs typeface="Aptos"/>
              </a:rPr>
              <a:t>Afiş uygulama ve baskı planı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8C173EE-A26A-45C1-AA81-F6A2DD427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523875"/>
            <a:ext cx="476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60717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60717D"/>
                </a:solidFill>
                <a:latin typeface="Aptos"/>
                <a:ea typeface="Aptos"/>
                <a:cs typeface="Aptos"/>
              </a:rPr>
              <a:t>29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14AB463-17D7-4FB2-8B5C-6872D8446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57950"/>
            <a:ext cx="762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0717D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0717D"/>
                </a:solidFill>
                <a:latin typeface="Aptos"/>
                <a:ea typeface="Aptos"/>
                <a:cs typeface="Aptos"/>
              </a:rPr>
              <a:t>Kaynak: Türk Dil Kurumu, Noktalama İşaretleri (Açıklamalar)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7C8E5E2-F8B4-4791-88D0-0FCC18D63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76375"/>
            <a:ext cx="5353050" cy="792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1E5"/>
            </a:solidFill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8242E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8242E"/>
                </a:solidFill>
                <a:latin typeface="Aptos"/>
                <a:ea typeface="Aptos"/>
                <a:cs typeface="Aptos"/>
              </a:rPr>
              <a:t>Nihai ölçü: 1000 × 2000 mm, dikey. PowerPoint sınırı nedeniyle tasarım 500 × 1000 mm hazırlanır ve %200 büyütülerek basılır.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011F13C-F5E9-4C3E-AF40-55C4DEF1E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3155"/>
            <a:ext cx="5353050" cy="695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1E5"/>
            </a:solidFill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8242E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8242E"/>
                </a:solidFill>
                <a:latin typeface="Aptos"/>
                <a:ea typeface="Aptos"/>
                <a:cs typeface="Aptos"/>
              </a:rPr>
              <a:t>Güvenli alan: her kenardan en az 30 mm. Taşma payı matbaanın talebine göre ayrıca eklenir.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6D00610-7695-452A-9F95-CA8E222CB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92780"/>
            <a:ext cx="5353050" cy="7610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1E5"/>
            </a:solidFill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8242E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8242E"/>
                </a:solidFill>
                <a:latin typeface="Aptos"/>
                <a:ea typeface="Aptos"/>
                <a:cs typeface="Aptos"/>
              </a:rPr>
              <a:t>Okuma mesafesi: başlık 6-8 m, ana işaretler 3-4 m, kural metinleri 1-2 m mesafeden okunacak büyüklükte planlanır.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F6A7642-69ED-49B7-BA39-8E33729A0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476375"/>
            <a:ext cx="5353050" cy="79819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1E5"/>
            </a:solidFill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8242E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8242E"/>
                </a:solidFill>
                <a:latin typeface="Aptos"/>
                <a:ea typeface="Aptos"/>
                <a:cs typeface="Aptos"/>
              </a:rPr>
              <a:t>İçerik düzeni: üstte kullanım ilkeleri; ortada 17 işaret için beş sütun; altta “sık karıştırılanlar” ve TDK kaynak bağlantısı.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5F6D7FD-3293-4B26-86CE-A049D9454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388870"/>
            <a:ext cx="5353050" cy="7153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1E5"/>
            </a:solidFill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8242E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8242E"/>
                </a:solidFill>
                <a:latin typeface="Aptos"/>
                <a:ea typeface="Aptos"/>
                <a:cs typeface="Aptos"/>
              </a:rPr>
              <a:t>Baskı çıktısı: PDF/X-4 tercih edilir; görseller 150 dpi ve üzeri, metinler vektör olarak korunur.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BEF8535-79F7-49AE-AB72-A42D7C4D5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218498"/>
            <a:ext cx="5353050" cy="72104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1E5"/>
            </a:solidFill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8242E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8242E"/>
                </a:solidFill>
                <a:latin typeface="Aptos"/>
                <a:ea typeface="Aptos"/>
                <a:cs typeface="Aptos"/>
              </a:rPr>
              <a:t>Renk: mat kâğıtta koyu lacivert, turkuaz ve sıcak krem; yüksek kontrastlı başlık ve uyarı alanları.</a:t>
            </a:r>
          </a:p>
        </p:txBody>
      </p:sp>
    </p:spTree>
    <p:extLst>
      <p:ext uri="{BB962C8B-B14F-4D97-AF65-F5344CB8AC3E}">
        <p14:creationId xmlns:p14="http://schemas.microsoft.com/office/powerpoint/2010/main" val="99812153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2026-09-28T19:09:33.8130000Z</dcterms:created>
  <dcterms:modified xsi:type="dcterms:W3CDTF">2026-09-28T19:09:33.8140000Z</dcterms:modified>
</coreProperties>
</file>