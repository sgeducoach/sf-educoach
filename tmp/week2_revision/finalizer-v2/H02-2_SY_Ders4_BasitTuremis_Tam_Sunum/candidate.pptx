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d2c1be3776486d" /><Relationship Type="http://schemas.openxmlformats.org/officeDocument/2006/relationships/extended-properties" Target="/docProps/app.xml" Id="R800eccac6e654561" /><Relationship Type="http://schemas.openxmlformats.org/officeDocument/2006/relationships/officeDocument" Target="/ppt/presentation.xml" Id="Rc022e8ffa3be4b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397083ee6a4284"/>
  </p:sldMasterIdLst>
  <p:notesMasterIdLst>
    <p:notesMasterId xmlns:r="http://schemas.openxmlformats.org/officeDocument/2006/relationships" r:id="R7118aedab87147b3"/>
  </p:notesMasterIdLst>
  <p:sldIdLst>
    <p:sldId xmlns:r="http://schemas.openxmlformats.org/officeDocument/2006/relationships" id="256" r:id="R7acd41300bc343c3"/>
    <p:sldId xmlns:r="http://schemas.openxmlformats.org/officeDocument/2006/relationships" id="257" r:id="R9085a11636754c5a"/>
    <p:sldId xmlns:r="http://schemas.openxmlformats.org/officeDocument/2006/relationships" id="258" r:id="R78fdc131d9b241e5"/>
    <p:sldId xmlns:r="http://schemas.openxmlformats.org/officeDocument/2006/relationships" id="259" r:id="Ra91f4d0b2c0d469e"/>
    <p:sldId xmlns:r="http://schemas.openxmlformats.org/officeDocument/2006/relationships" id="260" r:id="R16f24ed1b622462a"/>
    <p:sldId xmlns:r="http://schemas.openxmlformats.org/officeDocument/2006/relationships" id="261" r:id="R69c51d25ab244e9c"/>
    <p:sldId xmlns:r="http://schemas.openxmlformats.org/officeDocument/2006/relationships" id="262" r:id="R5c1d4bb5396a45c1"/>
    <p:sldId xmlns:r="http://schemas.openxmlformats.org/officeDocument/2006/relationships" id="263" r:id="R614e8eeccf1a4e93"/>
    <p:sldId xmlns:r="http://schemas.openxmlformats.org/officeDocument/2006/relationships" id="264" r:id="R8e89ae1d1b104d93"/>
    <p:sldId xmlns:r="http://schemas.openxmlformats.org/officeDocument/2006/relationships" id="265" r:id="Ra8f837e665e34cae"/>
    <p:sldId xmlns:r="http://schemas.openxmlformats.org/officeDocument/2006/relationships" id="266" r:id="R2e8f92599daf4403"/>
    <p:sldId xmlns:r="http://schemas.openxmlformats.org/officeDocument/2006/relationships" id="267" r:id="Ra80c3b1581ab4d53"/>
    <p:sldId xmlns:r="http://schemas.openxmlformats.org/officeDocument/2006/relationships" id="268" r:id="Re64564c5d33f4b89"/>
    <p:sldId xmlns:r="http://schemas.openxmlformats.org/officeDocument/2006/relationships" id="269" r:id="R42c9dcdc0f6f4433"/>
    <p:sldId xmlns:r="http://schemas.openxmlformats.org/officeDocument/2006/relationships" id="270" r:id="R35e89092824f4331"/>
    <p:sldId xmlns:r="http://schemas.openxmlformats.org/officeDocument/2006/relationships" id="271" r:id="Rba6bf5635307425e"/>
    <p:sldId xmlns:r="http://schemas.openxmlformats.org/officeDocument/2006/relationships" id="272" r:id="R0c62389956b342bb"/>
    <p:sldId xmlns:r="http://schemas.openxmlformats.org/officeDocument/2006/relationships" id="273" r:id="R6f7dc0a677f74457"/>
    <p:sldId xmlns:r="http://schemas.openxmlformats.org/officeDocument/2006/relationships" id="274" r:id="R0a8ba3cfe32f4ce8"/>
    <p:sldId xmlns:r="http://schemas.openxmlformats.org/officeDocument/2006/relationships" id="275" r:id="R28db1f10ec424047"/>
    <p:sldId xmlns:r="http://schemas.openxmlformats.org/officeDocument/2006/relationships" id="276" r:id="R8093405d01d2408a"/>
    <p:sldId xmlns:r="http://schemas.openxmlformats.org/officeDocument/2006/relationships" id="277" r:id="R3728ff347f2f48e9"/>
    <p:sldId xmlns:r="http://schemas.openxmlformats.org/officeDocument/2006/relationships" id="278" r:id="Rc8b7ffec231b4418"/>
    <p:sldId xmlns:r="http://schemas.openxmlformats.org/officeDocument/2006/relationships" id="279" r:id="Ra2c2b3d115c24a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d0bac4b2d14b7e" /><Relationship Type="http://schemas.openxmlformats.org/officeDocument/2006/relationships/slideMaster" Target="/ppt/slideMasters/slideMaster1.xml" Id="R3e397083ee6a4284" /><Relationship Type="http://schemas.openxmlformats.org/officeDocument/2006/relationships/notesMaster" Target="/ppt/notesMasters/notesMaster1.xml" Id="R7118aedab87147b3" /><Relationship Type="http://schemas.openxmlformats.org/officeDocument/2006/relationships/presProps" Target="/ppt/presProps.xml" Id="Rd96f55be918b4781" /><Relationship Type="http://schemas.openxmlformats.org/officeDocument/2006/relationships/viewProps" Target="/ppt/viewProps.xml" Id="R5c456239c71f4d87" /><Relationship Type="http://schemas.openxmlformats.org/officeDocument/2006/relationships/tableStyles" Target="/ppt/tableStyles.xml" Id="R8ad0ad10687041f8" /><Relationship Type="http://schemas.openxmlformats.org/officeDocument/2006/relationships/slide" Target="/ppt/slides/slide1.xml" Id="R7acd41300bc343c3" /><Relationship Type="http://schemas.openxmlformats.org/officeDocument/2006/relationships/slide" Target="/ppt/slides/slide2.xml" Id="R9085a11636754c5a" /><Relationship Type="http://schemas.openxmlformats.org/officeDocument/2006/relationships/slide" Target="/ppt/slides/slide3.xml" Id="R78fdc131d9b241e5" /><Relationship Type="http://schemas.openxmlformats.org/officeDocument/2006/relationships/slide" Target="/ppt/slides/slide4.xml" Id="Ra91f4d0b2c0d469e" /><Relationship Type="http://schemas.openxmlformats.org/officeDocument/2006/relationships/slide" Target="/ppt/slides/slide5.xml" Id="R16f24ed1b622462a" /><Relationship Type="http://schemas.openxmlformats.org/officeDocument/2006/relationships/slide" Target="/ppt/slides/slide6.xml" Id="R69c51d25ab244e9c" /><Relationship Type="http://schemas.openxmlformats.org/officeDocument/2006/relationships/slide" Target="/ppt/slides/slide7.xml" Id="R5c1d4bb5396a45c1" /><Relationship Type="http://schemas.openxmlformats.org/officeDocument/2006/relationships/slide" Target="/ppt/slides/slide8.xml" Id="R614e8eeccf1a4e93" /><Relationship Type="http://schemas.openxmlformats.org/officeDocument/2006/relationships/slide" Target="/ppt/slides/slide9.xml" Id="R8e89ae1d1b104d93" /><Relationship Type="http://schemas.openxmlformats.org/officeDocument/2006/relationships/slide" Target="/ppt/slides/slide10.xml" Id="Ra8f837e665e34cae" /><Relationship Type="http://schemas.openxmlformats.org/officeDocument/2006/relationships/slide" Target="/ppt/slides/slide11.xml" Id="R2e8f92599daf4403" /><Relationship Type="http://schemas.openxmlformats.org/officeDocument/2006/relationships/slide" Target="/ppt/slides/slide12.xml" Id="Ra80c3b1581ab4d53" /><Relationship Type="http://schemas.openxmlformats.org/officeDocument/2006/relationships/slide" Target="/ppt/slides/slide13.xml" Id="Re64564c5d33f4b89" /><Relationship Type="http://schemas.openxmlformats.org/officeDocument/2006/relationships/slide" Target="/ppt/slides/slide14.xml" Id="R42c9dcdc0f6f4433" /><Relationship Type="http://schemas.openxmlformats.org/officeDocument/2006/relationships/slide" Target="/ppt/slides/slide15.xml" Id="R35e89092824f4331" /><Relationship Type="http://schemas.openxmlformats.org/officeDocument/2006/relationships/slide" Target="/ppt/slides/slide16.xml" Id="Rba6bf5635307425e" /><Relationship Type="http://schemas.openxmlformats.org/officeDocument/2006/relationships/slide" Target="/ppt/slides/slide17.xml" Id="R0c62389956b342bb" /><Relationship Type="http://schemas.openxmlformats.org/officeDocument/2006/relationships/slide" Target="/ppt/slides/slide18.xml" Id="R6f7dc0a677f74457" /><Relationship Type="http://schemas.openxmlformats.org/officeDocument/2006/relationships/slide" Target="/ppt/slides/slide19.xml" Id="R0a8ba3cfe32f4ce8" /><Relationship Type="http://schemas.openxmlformats.org/officeDocument/2006/relationships/slide" Target="/ppt/slides/slide20.xml" Id="R28db1f10ec424047" /><Relationship Type="http://schemas.openxmlformats.org/officeDocument/2006/relationships/slide" Target="/ppt/slides/slide21.xml" Id="R8093405d01d2408a" /><Relationship Type="http://schemas.openxmlformats.org/officeDocument/2006/relationships/slide" Target="/ppt/slides/slide22.xml" Id="R3728ff347f2f48e9" /><Relationship Type="http://schemas.openxmlformats.org/officeDocument/2006/relationships/slide" Target="/ppt/slides/slide23.xml" Id="Rc8b7ffec231b4418" /><Relationship Type="http://schemas.openxmlformats.org/officeDocument/2006/relationships/slide" Target="/ppt/slides/slide24.xml" Id="Ra2c2b3d115c24a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c9654fce494a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9f209d8c6441e1" /><Relationship Type="http://schemas.openxmlformats.org/officeDocument/2006/relationships/notesMaster" Target="/ppt/notesMasters/notesMaster1.xml" Id="Rd929c6a14d4c48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fa81bb2f1a4cad" /><Relationship Type="http://schemas.openxmlformats.org/officeDocument/2006/relationships/notesMaster" Target="/ppt/notesMasters/notesMaster1.xml" Id="R1f24222c91e346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c54b831211455a" /><Relationship Type="http://schemas.openxmlformats.org/officeDocument/2006/relationships/notesMaster" Target="/ppt/notesMasters/notesMaster1.xml" Id="Ra96248dfb0a448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3632cbaf564019" /><Relationship Type="http://schemas.openxmlformats.org/officeDocument/2006/relationships/notesMaster" Target="/ppt/notesMasters/notesMaster1.xml" Id="R59287554060641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e4abe039bd4f8a" /><Relationship Type="http://schemas.openxmlformats.org/officeDocument/2006/relationships/notesMaster" Target="/ppt/notesMasters/notesMaster1.xml" Id="Rb5fb1e68cebc4d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5ff26aef194abe" /><Relationship Type="http://schemas.openxmlformats.org/officeDocument/2006/relationships/notesMaster" Target="/ppt/notesMasters/notesMaster1.xml" Id="Refe5329532394c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1f1ca918754241" /><Relationship Type="http://schemas.openxmlformats.org/officeDocument/2006/relationships/notesMaster" Target="/ppt/notesMasters/notesMaster1.xml" Id="Rad13753ff6eb43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8a491f233f4805" /><Relationship Type="http://schemas.openxmlformats.org/officeDocument/2006/relationships/notesMaster" Target="/ppt/notesMasters/notesMaster1.xml" Id="Rc83333c393e049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c0bc2d368c4175" /><Relationship Type="http://schemas.openxmlformats.org/officeDocument/2006/relationships/notesMaster" Target="/ppt/notesMasters/notesMaster1.xml" Id="R5c822eca90c24a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dda6ae1b3c4fa4" /><Relationship Type="http://schemas.openxmlformats.org/officeDocument/2006/relationships/notesMaster" Target="/ppt/notesMasters/notesMaster1.xml" Id="Rb2e3822c4c0a4e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33ac5ef5c84973" /><Relationship Type="http://schemas.openxmlformats.org/officeDocument/2006/relationships/notesMaster" Target="/ppt/notesMasters/notesMaster1.xml" Id="R7770099514ee4b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8df1f4dcfa4f4d" /><Relationship Type="http://schemas.openxmlformats.org/officeDocument/2006/relationships/notesMaster" Target="/ppt/notesMasters/notesMaster1.xml" Id="Rbfe489ca27d743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cb16563bd848a5" /><Relationship Type="http://schemas.openxmlformats.org/officeDocument/2006/relationships/notesMaster" Target="/ppt/notesMasters/notesMaster1.xml" Id="Re040c1d038b74c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1ee7fd6b4645aa" /><Relationship Type="http://schemas.openxmlformats.org/officeDocument/2006/relationships/notesMaster" Target="/ppt/notesMasters/notesMaster1.xml" Id="R1f2bcc6d963542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49377115c64f60" /><Relationship Type="http://schemas.openxmlformats.org/officeDocument/2006/relationships/notesMaster" Target="/ppt/notesMasters/notesMaster1.xml" Id="Rc2bc57cd70254a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d22b189ab74dec" /><Relationship Type="http://schemas.openxmlformats.org/officeDocument/2006/relationships/notesMaster" Target="/ppt/notesMasters/notesMaster1.xml" Id="R9edfca31b33446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9a1581b94d4fd0" /><Relationship Type="http://schemas.openxmlformats.org/officeDocument/2006/relationships/notesMaster" Target="/ppt/notesMasters/notesMaster1.xml" Id="R31f896a052b64f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5b0c430b05433e" /><Relationship Type="http://schemas.openxmlformats.org/officeDocument/2006/relationships/notesMaster" Target="/ppt/notesMasters/notesMaster1.xml" Id="R72a01577aa3642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4fdb3e6118c4d15" /><Relationship Type="http://schemas.openxmlformats.org/officeDocument/2006/relationships/notesMaster" Target="/ppt/notesMasters/notesMaster1.xml" Id="Rf031a8400c954f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abcae969894a1c" /><Relationship Type="http://schemas.openxmlformats.org/officeDocument/2006/relationships/notesMaster" Target="/ppt/notesMasters/notesMaster1.xml" Id="R2d12391d4b284a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44ff726ecd14fa9" /><Relationship Type="http://schemas.openxmlformats.org/officeDocument/2006/relationships/notesMaster" Target="/ppt/notesMasters/notesMaster1.xml" Id="R34fb1e4fc56a43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8f146ba7fb432b" /><Relationship Type="http://schemas.openxmlformats.org/officeDocument/2006/relationships/notesMaster" Target="/ppt/notesMasters/notesMaster1.xml" Id="Re0f674bcd76040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606c416f3624227" /><Relationship Type="http://schemas.openxmlformats.org/officeDocument/2006/relationships/notesMaster" Target="/ppt/notesMasters/notesMaster1.xml" Id="Rcdcfbf30e8f94e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11f0eccc8a04658" /><Relationship Type="http://schemas.openxmlformats.org/officeDocument/2006/relationships/notesMaster" Target="/ppt/notesMasters/notesMaster1.xml" Id="R6c35df7a5e1a42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d68401413466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6b3057eab54d5b" /><Relationship Type="http://schemas.openxmlformats.org/officeDocument/2006/relationships/slideLayout" Target="/ppt/slideLayouts/slideLayout1.xml" Id="Re4ec9a7791424f8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ec9a7791424f8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223cc237d44db" /><Relationship Type="http://schemas.openxmlformats.org/officeDocument/2006/relationships/image" Target="/ppt/media/image.png" Id="Raa420ccc42254f85" /><Relationship Type="http://schemas.openxmlformats.org/officeDocument/2006/relationships/image" Target="/ppt/media/image2.png" Id="R5dba9eb30cce4359" /><Relationship Type="http://schemas.openxmlformats.org/officeDocument/2006/relationships/notesSlide" Target="/ppt/notesSlides/notesSlide1.xml" Id="Re8071fc002cf4d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fcb9ef08b46a0" /><Relationship Type="http://schemas.openxmlformats.org/officeDocument/2006/relationships/image" Target="/ppt/media/image3.png" Id="R9bd2d93045c14f57" /><Relationship Type="http://schemas.openxmlformats.org/officeDocument/2006/relationships/notesSlide" Target="/ppt/notesSlides/notesSlide2.xml" Id="R71c7dc01d82a41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2fbff94494753" /><Relationship Type="http://schemas.openxmlformats.org/officeDocument/2006/relationships/image" Target="/ppt/media/image4.png" Id="R5930a7e97c414200" /><Relationship Type="http://schemas.openxmlformats.org/officeDocument/2006/relationships/notesSlide" Target="/ppt/notesSlides/notesSlide3.xml" Id="Rfa5ed5968c0f42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ef2f279cb47ea" /><Relationship Type="http://schemas.openxmlformats.org/officeDocument/2006/relationships/image" Target="/ppt/media/image5.png" Id="R8bbc6b9d130d4a16" /><Relationship Type="http://schemas.openxmlformats.org/officeDocument/2006/relationships/notesSlide" Target="/ppt/notesSlides/notesSlide4.xml" Id="R492b5390fd6640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c4969b7bc405a" /><Relationship Type="http://schemas.openxmlformats.org/officeDocument/2006/relationships/image" Target="/ppt/media/image6.png" Id="R19e4a0ff4884402f" /><Relationship Type="http://schemas.openxmlformats.org/officeDocument/2006/relationships/notesSlide" Target="/ppt/notesSlides/notesSlide5.xml" Id="R7ec0902505cc43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e9ed9df014871" /><Relationship Type="http://schemas.openxmlformats.org/officeDocument/2006/relationships/image" Target="/ppt/media/image7.png" Id="Rd2d36116ded44d71" /><Relationship Type="http://schemas.openxmlformats.org/officeDocument/2006/relationships/notesSlide" Target="/ppt/notesSlides/notesSlide6.xml" Id="R3da81472665f40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a937337734a7a" /><Relationship Type="http://schemas.openxmlformats.org/officeDocument/2006/relationships/image" Target="/ppt/media/image8.png" Id="R1cad283053a54ac8" /><Relationship Type="http://schemas.openxmlformats.org/officeDocument/2006/relationships/notesSlide" Target="/ppt/notesSlides/notesSlide7.xml" Id="R60964d8b470947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0fe9e3f534657" /><Relationship Type="http://schemas.openxmlformats.org/officeDocument/2006/relationships/image" Target="/ppt/media/image9.png" Id="R8a48ed9e18214215" /><Relationship Type="http://schemas.openxmlformats.org/officeDocument/2006/relationships/notesSlide" Target="/ppt/notesSlides/notesSlide8.xml" Id="R33c15932bb0841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e2e268a7c45bc" /><Relationship Type="http://schemas.openxmlformats.org/officeDocument/2006/relationships/image" Target="/ppt/media/image10.png" Id="R3d4d6a52c2a645df" /><Relationship Type="http://schemas.openxmlformats.org/officeDocument/2006/relationships/notesSlide" Target="/ppt/notesSlides/notesSlide9.xml" Id="Rda1e9962bb0245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02d90b77f4429" /><Relationship Type="http://schemas.openxmlformats.org/officeDocument/2006/relationships/image" Target="/ppt/media/image11.png" Id="Re75b6b5a93384812" /><Relationship Type="http://schemas.openxmlformats.org/officeDocument/2006/relationships/notesSlide" Target="/ppt/notesSlides/notesSlide10.xml" Id="Rb6a7a46d8a2844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80ef2670548c4" /><Relationship Type="http://schemas.openxmlformats.org/officeDocument/2006/relationships/image" Target="/ppt/media/image12.png" Id="R8a4f4e18f48f4174" /><Relationship Type="http://schemas.openxmlformats.org/officeDocument/2006/relationships/notesSlide" Target="/ppt/notesSlides/notesSlide11.xml" Id="Ra09e351f60c54a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5b5ca56fa4ff2" /><Relationship Type="http://schemas.openxmlformats.org/officeDocument/2006/relationships/image" Target="/ppt/media/image13.png" Id="R78eb19136f1d4828" /><Relationship Type="http://schemas.openxmlformats.org/officeDocument/2006/relationships/notesSlide" Target="/ppt/notesSlides/notesSlide12.xml" Id="R526ba188a43d49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965f5b0534310" /><Relationship Type="http://schemas.openxmlformats.org/officeDocument/2006/relationships/image" Target="/ppt/media/image14.png" Id="R1276f1e1fb344dfe" /><Relationship Type="http://schemas.openxmlformats.org/officeDocument/2006/relationships/notesSlide" Target="/ppt/notesSlides/notesSlide13.xml" Id="R915a5ec2cd0246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8c885d1014a3f" /><Relationship Type="http://schemas.openxmlformats.org/officeDocument/2006/relationships/image" Target="/ppt/media/image15.png" Id="R883e0d02f52d441d" /><Relationship Type="http://schemas.openxmlformats.org/officeDocument/2006/relationships/notesSlide" Target="/ppt/notesSlides/notesSlide14.xml" Id="R369fdb983db447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c7593e3724eb0" /><Relationship Type="http://schemas.openxmlformats.org/officeDocument/2006/relationships/image" Target="/ppt/media/image16.png" Id="R2ea45ef2dfa44b21" /><Relationship Type="http://schemas.openxmlformats.org/officeDocument/2006/relationships/notesSlide" Target="/ppt/notesSlides/notesSlide15.xml" Id="R18fa7458306f4b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cb2dd424e42f0" /><Relationship Type="http://schemas.openxmlformats.org/officeDocument/2006/relationships/image" Target="/ppt/media/image16.png" Id="Rcf46bd53eaa64261" /><Relationship Type="http://schemas.openxmlformats.org/officeDocument/2006/relationships/notesSlide" Target="/ppt/notesSlides/notesSlide16.xml" Id="Rb789812bbbeb40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9169562ec4b43" /><Relationship Type="http://schemas.openxmlformats.org/officeDocument/2006/relationships/image" Target="/ppt/media/image17.png" Id="R4a46298206e04983" /><Relationship Type="http://schemas.openxmlformats.org/officeDocument/2006/relationships/notesSlide" Target="/ppt/notesSlides/notesSlide17.xml" Id="R0007ea4725674f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e1b56f32242ec" /><Relationship Type="http://schemas.openxmlformats.org/officeDocument/2006/relationships/image" Target="/ppt/media/image17.png" Id="Ra8df10c288614eb5" /><Relationship Type="http://schemas.openxmlformats.org/officeDocument/2006/relationships/notesSlide" Target="/ppt/notesSlides/notesSlide18.xml" Id="R805f972776dc4e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0e60e121b4007" /><Relationship Type="http://schemas.openxmlformats.org/officeDocument/2006/relationships/image" Target="/ppt/media/image18.png" Id="R31b27b574bb34cf7" /><Relationship Type="http://schemas.openxmlformats.org/officeDocument/2006/relationships/notesSlide" Target="/ppt/notesSlides/notesSlide19.xml" Id="R7b820301f2c74a6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d29481dbc4660" /><Relationship Type="http://schemas.openxmlformats.org/officeDocument/2006/relationships/image" Target="/ppt/media/image18.png" Id="R6e3386908e9b4880" /><Relationship Type="http://schemas.openxmlformats.org/officeDocument/2006/relationships/notesSlide" Target="/ppt/notesSlides/notesSlide20.xml" Id="Rd5b1946c431e494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8efb5eea54d73" /><Relationship Type="http://schemas.openxmlformats.org/officeDocument/2006/relationships/image" Target="/ppt/media/image19.png" Id="R7f3c7ac7f25d4301" /><Relationship Type="http://schemas.openxmlformats.org/officeDocument/2006/relationships/notesSlide" Target="/ppt/notesSlides/notesSlide21.xml" Id="R01045804edea44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bc901a7574552" /><Relationship Type="http://schemas.openxmlformats.org/officeDocument/2006/relationships/image" Target="/ppt/media/image20.png" Id="R0e734a1f95c841cf" /><Relationship Type="http://schemas.openxmlformats.org/officeDocument/2006/relationships/notesSlide" Target="/ppt/notesSlides/notesSlide22.xml" Id="R4d9b6b7b782347e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e724c4c5a4461" /><Relationship Type="http://schemas.openxmlformats.org/officeDocument/2006/relationships/image" Target="/ppt/media/image21.png" Id="R8f4899446dc748fd" /><Relationship Type="http://schemas.openxmlformats.org/officeDocument/2006/relationships/notesSlide" Target="/ppt/notesSlides/notesSlide23.xml" Id="Rc5a4791ee6ba4d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e83a1af5043eb" /><Relationship Type="http://schemas.openxmlformats.org/officeDocument/2006/relationships/image" Target="/ppt/media/image22.png" Id="R3f2d881c2512478f" /><Relationship Type="http://schemas.openxmlformats.org/officeDocument/2006/relationships/notesSlide" Target="/ppt/notesSlides/notesSlide24.xml" Id="R645019c504094e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B932CF1-7F01-43CC-A547-1021D24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0"/>
            <a:ext cx="432511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4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00DBC3-79AB-4445-B919-36DFDCE6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601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SÖZCÜKTE YAPI · DERS 4/6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7E6D8CE-37F8-4097-BECC-15052DEE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69494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Basit / Türemiş Sözcük</a:t>
            </a:r>
            <a:endParaRPr sz="4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23B5A49-D2EB-4401-B7BD-E3600AAA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Sözcükte Yapım Eki Var mı, Yok mu?</a:t>
            </a:r>
            <a:endParaRPr sz="2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470FEF6-854A-4921-8F4F-B384A007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247802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A44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EE73688-CF1A-451B-A1CE-2547A97F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24780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 dk · </a:t>
            </a:r>
            <a:r>
              <a:rPr sz="1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Blokta</a:t>
            </a:r>
            <a:r>
              <a:rPr sz="1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2 föy</a:t>
            </a:r>
            <a:endParaRPr sz="17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BFFBC46-6F24-4B43-98DE-073793FF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3429000"/>
            <a:ext cx="309524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A44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43E330-8200-4C61-90C2-0EF84F13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3429000"/>
            <a:ext cx="30952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Dil Bilgisi · Hafta 3</a:t>
            </a:r>
            <a:endParaRPr sz="17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6042B4-02B9-4F12-9419-31977CC4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B78"/>
          </a:solidFill>
        </p:spPr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20ccc42254f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664" y="4306824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55FB775-E765-444C-8620-8E7F719F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062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Sedat GÜLER ve Claude Opus 5  ·  TYT Türkçe Ders Anlatım Serisi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9A6EE52-A972-4E39-A2AD-55F9E459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554480"/>
            <a:ext cx="2743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42A44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E47166A-F543-45AE-9D25-71C3485E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554480"/>
            <a:ext cx="2743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KALEM</a:t>
            </a:r>
            <a:endParaRPr sz="21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F6CA0B-25DF-4D47-85C4-E4D540AC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331720"/>
            <a:ext cx="2743200" cy="288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yapım eki yok → BASİT</a:t>
            </a:r>
            <a:endParaRPr sz="16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8ACBE6C-EBFF-4F3D-8434-062D6B4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880360"/>
            <a:ext cx="27432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AA2740D-4C0B-423F-BD04-37A22B2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880360"/>
            <a:ext cx="2743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kalem + lik</a:t>
            </a:r>
            <a:endParaRPr sz="17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ED318AA-0BCA-43A4-A980-7F9BBEC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45643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↓  yapım eki eklendi</a:t>
            </a:r>
            <a:endParaRPr sz="15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E822BE8-3244-4D26-BD40-9927CDA4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40480"/>
            <a:ext cx="329184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982DE4F-27A3-4CFA-A69D-6026099A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40480"/>
            <a:ext cx="32918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KALEMLİK</a:t>
            </a:r>
            <a:endParaRPr sz="2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AC41510-8BFA-48F5-82C3-F0420BE5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663440"/>
            <a:ext cx="3291840" cy="288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yeni sözcük → TÜREMİŞ</a:t>
            </a:r>
            <a:endParaRPr sz="16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BEE2565-180A-4308-A0F3-D843ACB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212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B78"/>
          </a:solidFill>
        </p:spPr>
      </p:sp>
      <p:pic>
        <p:nvPicPr>
          <p:cNvPr id="4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a9eb30cce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7806" y="5397246"/>
            <a:ext cx="452628" cy="4526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81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55374E4-8CD1-4C93-B8EB-CDD4903F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2d93045c14f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7A3A4B1-ACD3-4CFE-AD8A-15C7205B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KAZANIM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CC7D45F-E8D4-4D56-87A8-5AB199B9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Bugün Ne Öğreneceğiz?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D5798C5-1A54-4644-9D08-4A239F3B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10881360" cy="104317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692EC88-472E-4690-B58B-7A9ABBBE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98929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42499A8-D9E4-40C8-B80E-626EF169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98929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23A3AB8-41B1-4203-BD31-3ACDCE8D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28800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Basit sözcüğün (hiç yapım eki almamış) ve türemiş sözcüğün (en az bir yapım eki almış) tanımını öğrenecek.</a:t>
            </a:r>
            <a:endParaRPr sz="21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52D5CA9-CD33-4569-8015-76591D88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20111"/>
            <a:ext cx="10881360" cy="104317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21349D7-4401-421F-B484-DA8228AD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9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18F4A1E-5B3F-406B-8603-4ADF6E91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9024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144A2A7-39F6-4B8B-87D4-C63341E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0111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 sözcüğü basit mi türemiş mi olduğuna karar verirken izlenecek adım adım yöntemi uygulayacak.</a:t>
            </a:r>
            <a:endParaRPr sz="2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7500912-6B3F-47A7-826F-288F617C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11422"/>
            <a:ext cx="10881360" cy="104317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E71757F-3717-452E-A2D2-7B012273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81551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7A6F9EB-B862-4C93-94EF-BC201EF3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81551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7E39BD9-CC1E-4207-AB6D-42BA7791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11422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"Çok ek almak" ile "türemiş olmak"ın aynı şey olmadığını, ek TÜRÜNÜN (yapım/çekim) belirleyici olduğunu kavrayacak.</a:t>
            </a:r>
            <a:endParaRPr sz="2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C707978-F847-40F6-8E2C-7E4194BC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02732"/>
            <a:ext cx="10881360" cy="104317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EFD08E5-F7CE-42D2-940E-DBEE7CE1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72861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161B529-531B-47FE-B77F-61E2F83B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72861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20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E8F6EC3-9562-4A7D-B665-E27EAB8F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02732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TYT tarzı sorularda basit/türemiş ayrımını gerçek ve pekiştirme sorular üzerinde uygulayarak doğru cevaba ulaşabilecek.</a:t>
            </a:r>
            <a:endParaRPr sz="2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1FA633B-561A-4835-B929-57ABDF64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Kazanım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11C1AA5-8A31-4953-8B4A-F63964A7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5702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0FE2CDA-E1F7-4ECB-B6B3-FC55CE6A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0a7e97c414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F27F81A-65DF-4B06-80EB-B38E153B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BAĞLANTI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BBA7A7F-C497-45C5-BA2D-72E2302B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İki Dersin Sentezi: Basit / Türemiş</a:t>
            </a:r>
            <a:endParaRPr sz="27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6C38933-A419-4EAB-BFB0-2260E46E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15341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EB077EA-554D-4CFB-AF20-5D991A80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1442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Son iki derste iki tür eki öğrendik: </a:t>
            </a: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yapım eki</a:t>
            </a: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(yeni sözcük türetir) ve </a:t>
            </a: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çekim eki</a:t>
            </a: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(işlerlik kazandırır). Bugün bu ikisini bir araya getirip tek bir soruya cevap veriyoruz: bir sözcükte YAPIM EKİ var mı? Varsa türemiş, yoksa basittir — sıradaki derste bu ikisinin üstüne birleşik sözcük ekleyeceğiz.</a:t>
            </a:r>
            <a:endParaRPr sz="20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C77010D-62CE-4EFB-AF4A-7B814C27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25800"/>
            <a:ext cx="3246120" cy="2315464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D323D6C-96CC-4408-97B0-F81C7858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54400"/>
            <a:ext cx="27889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Yapım + Çekim Eki (geçen iki ders)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3F1FA2-A240-479C-8B14-167EC622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21480"/>
            <a:ext cx="278892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İki ek türünü ayrı ayrı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tanıdık.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E4599FA-AEEC-478A-95CD-F0EA7BDC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225800"/>
            <a:ext cx="457200" cy="432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→</a:t>
            </a:r>
            <a:endParaRPr sz="24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9C83A89-06A5-4D61-88B5-CFFE2190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25800"/>
            <a:ext cx="3246120" cy="2315464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1E2761">
                <a:alpha val="25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9A1CF7C-C7E5-43AB-854E-FF7ED699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54400"/>
            <a:ext cx="27889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Basit / Türemiş (bugün)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62090A6-0E6E-4BDD-A211-59C9FF3E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21480"/>
            <a:ext cx="278892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Sözcükte yapım eki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var mı yok mu, ona bakarız.</a:t>
            </a:r>
            <a:endParaRPr sz="2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316D9A-67E3-4F56-B42E-C86611CE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3225800"/>
            <a:ext cx="457200" cy="432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→</a:t>
            </a:r>
            <a:endParaRPr sz="24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4392B8-8018-4B69-A67B-F05096E9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225800"/>
            <a:ext cx="3246120" cy="2333498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03E025-4D35-4C64-ABF6-652C97CE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454400"/>
            <a:ext cx="278892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Birleşik Sözcük</a:t>
            </a:r>
            <a:endParaRPr sz="21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E0A7B5D-23D7-4D4C-BEC7-F00F70D3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878834"/>
            <a:ext cx="2788920" cy="1543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Sıradaki konu: iki sözcüğün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birleşip yeni sözcük olması.</a:t>
            </a:r>
            <a:endParaRPr sz="2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E75CB7D-8AE6-4829-9A7F-33B2BDB8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Bağlantı</a:t>
            </a:r>
            <a:endParaRPr sz="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01A88FB-6714-4398-9A9D-8252F6B2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28943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776F36C-D086-4E9E-AF62-8CF875A3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c6b9d130d4a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178D103-A975-4C84-B1D8-EC4D8BD9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HAZIRLIK SORUSU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44FC4B7-9986-420F-9826-D78EDD68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Hangisi Yeni Sözcük, Hangisi Değil?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A8DE818-95A6-466C-ABFD-BD808795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881360" cy="1082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Geçen iki derste "öğretmen" (kök + yapım eki) ve "öğretmenler/öğretmenimiz" (+ çekim eki) örneklerini gördük. 2 dakika düşünün: aşağıdaki iki sözcükten hangisinde yapım eki VAR, hangisinde YOK?</a:t>
            </a:r>
            <a:endParaRPr sz="2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764FB26-4AD5-413F-9426-B986ED29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865120"/>
            <a:ext cx="310896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F122E38-386E-455E-A2F3-94A04AAE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865120"/>
            <a:ext cx="31089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kalemlerimiz</a:t>
            </a:r>
            <a:endParaRPr sz="2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E66E1FF-5827-4D24-A490-9F2BCEB3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865120"/>
            <a:ext cx="310896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B16278F-D186-4CB4-8F68-790CD37C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865120"/>
            <a:ext cx="31089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öğretmenler</a:t>
            </a:r>
            <a:endParaRPr sz="2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5CCA1F0-D7C4-4E5C-8964-1F9D5407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91000"/>
            <a:ext cx="10881360" cy="153416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2E1BF58-A5FD-4E30-9D49-9252614E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0332720" cy="1442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Cevap:  </a:t>
            </a: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"kalemlerimiz" = kalem-ler-imiz — kalem zaten basit bir köktür, eklenenler (çoğul, iyelik) sadece ÇEKİM EKİ; sözcük hâlâ BASİT. "öğretmenler" = öğret-men-ler — "öğret" fiil köküne önce YAPIM EKİ (-men) eklenmiş, sonra çekim eki (-ler); sözcük TÜREMİŞ. İşte bu ayrıma bugün odaklanıyoruz: </a:t>
            </a: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BASİT / TÜREMİŞ SÖZCÜK.</a:t>
            </a:r>
            <a:endParaRPr sz="2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359FF1D-4F4E-40AC-A16B-7A01FB64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Hazırlık Sorusu</a:t>
            </a:r>
            <a:endParaRPr sz="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E0C1BD5-9368-46A2-9507-D3D96D48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95640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D3DA412-9B0D-40A5-A701-C24B74E7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4a0ff488440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EEECAD9-F18A-4833-9D91-A3A97834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ANLATIM · 1/3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369AF33-4431-4829-AD02-9EA55F4B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Basit Sözcük Nedir?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05BD2B8-68E6-4863-97D7-65249BE4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F59DD0-0543-455C-A1BF-AD050EA9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332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Tanım:  </a:t>
            </a: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Hiç yapım eki almamış sözcüktür. Basit sözcük çekim eki alabilir — önemli olan yapım ekinin hiç olmamasıdır.</a:t>
            </a:r>
            <a:endParaRPr sz="2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22431D5-E291-45D5-AB18-BEFEDC94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10881360" cy="511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Örnek: "Senin çantanı okulda gördüm." cümlesindeki her sözcük basittir — hiçbiri yapım eki almamıştır, hepsi sadece çekim eki taşır:</a:t>
            </a:r>
            <a:endParaRPr sz="1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7F9A991-164B-4242-B766-A86044D6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108813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19370B4-5D06-4239-AF3A-25A4B70F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66744"/>
            <a:ext cx="2194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EC652AC-AB12-44B5-BBFB-12272DBC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66744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sen-in</a:t>
            </a:r>
            <a:endParaRPr sz="2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106E77C-8FB5-4E1A-9C23-982F7FB4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11880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sadece tamlayan eki (çekim)</a:t>
            </a:r>
            <a:endParaRPr sz="2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5811D22-D5D1-4CC4-AB97-AC380064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87952"/>
            <a:ext cx="108813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B364AEB-8CC7-4FDE-99D8-0B03B0F2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42816"/>
            <a:ext cx="2194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D089E21-9EA3-4FC2-95FE-FD2B0367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42816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çanta-n-ı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B162C2A-C4ED-4B43-A9D6-1E22801D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87952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sadece iyelik + belirtme eki (çekim)</a:t>
            </a:r>
            <a:endParaRPr sz="2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2DE3991-2905-46ED-A3F3-22365CF3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64024"/>
            <a:ext cx="108813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9334FED-631D-438C-95A3-7E43910C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18888"/>
            <a:ext cx="2194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4810661-25C0-4BF8-A779-37C92965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18888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okul-da</a:t>
            </a:r>
            <a:endParaRPr sz="20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3193FC6-1100-4676-820D-A4E5A5CC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764024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sadece bulunma hâl eki (çekim)</a:t>
            </a:r>
            <a:endParaRPr sz="2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9FD737A-2518-4C91-A597-6A8121A6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0096"/>
            <a:ext cx="108813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F9F1A2B-3D0A-496A-8C18-76DF7E3D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94960"/>
            <a:ext cx="2194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8FAB8C3-349B-4D26-8C17-A0F48883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94960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gör-dü-m</a:t>
            </a:r>
            <a:endParaRPr sz="2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43D2D11-33DE-4783-BDE7-62BCEB25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40096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sadece kip + şahıs eki (çekim)</a:t>
            </a:r>
            <a:endParaRPr sz="21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85E35698-117E-44C1-970D-16D2C85D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EC42B58-99E4-42F0-ABE7-A367E41F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932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Kısaca: Basit sözcükte kökten sonra gelen her ek ÇEKİM EKİDİR — hiç yapım eki yoktur.</a:t>
            </a:r>
            <a:endParaRPr sz="18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6B4A4CB-6A93-4284-9769-172F63F1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Anlatım — Basit Sözcük Nedir?</a:t>
            </a:r>
            <a:endParaRPr sz="9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4F1744A-7BD9-45FD-83B3-8E3637C7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73332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DE7B6B-E431-488B-A47D-7C0A129F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36116ded44d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EB2B6C3-8E1E-42ED-A5E7-D6A0F600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ANLATIM · 2/3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FFECDD6-2CD8-4860-AA19-BCEBDFC5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Türemiş Sözcük Nedir?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F909AD6-1857-4759-90EA-B5D66ECF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0E3CD59-6B9F-402D-86E3-D21F6766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332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Tanım:  </a:t>
            </a: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 az bir yapım eki almış sözcüktür. Türemiş sözcük, yapım ekinin yanında çekim eki de alabilir.</a:t>
            </a:r>
            <a:endParaRPr sz="2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6C41A7C-1ED7-432D-9BD7-4325F0C5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10881360" cy="511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Örnek: "Yaşamda zorluklarla karşılaşılır." cümlesindeki her sözcük türemiştir — çünkü her biri en az bir yapım eki taşır:</a:t>
            </a:r>
            <a:endParaRPr sz="1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F6F2A49-AF3B-437D-B8AF-560EFD2D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1088136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4C613D4-2883-404E-BFBB-37C07AAB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85032"/>
            <a:ext cx="2743200" cy="509016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BD648C6-8359-4825-8B6B-6C8C7C7E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85032"/>
            <a:ext cx="2743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yaş-a-m-da</a:t>
            </a:r>
            <a:endParaRPr sz="2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5669A9A-83E2-4508-A49A-FDD091B4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11880"/>
            <a:ext cx="7406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yaş (isim kökü) + -a (isimden fiil) + -m (fiilden isim) + -da (çekim)</a:t>
            </a:r>
            <a:endParaRPr sz="16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9C7C835-4BA9-4CE3-9DDF-B34C59E0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70248"/>
            <a:ext cx="1088136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AF00A1A-58BE-4CD6-AEBE-0628C10E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1792"/>
            <a:ext cx="2743200" cy="509016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CF1184B-9847-433D-8398-52DD3204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1792"/>
            <a:ext cx="2743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zor-luk-lar-la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2938DDE-B220-4571-85FE-881F3F60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270248"/>
            <a:ext cx="7406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zor (isim kökü) + -luk (isimden isim) + -lar (çekim) + -la (çekim)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9921C3A-4EF4-4026-8AF7-0E280A34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28616"/>
            <a:ext cx="1088136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99906A3-62D9-484B-A764-AD71E347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78552"/>
            <a:ext cx="2743200" cy="509016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A061949-521C-49BE-9A72-A466092F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78552"/>
            <a:ext cx="2743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karşı-la-ş-ıl-ır</a:t>
            </a:r>
            <a:endParaRPr sz="20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D64BB5D-6ABB-4109-9FEB-BC26E0AF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28616"/>
            <a:ext cx="7406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karşı (isim kökü) + -la, -ş, -ıl (üç yapım eki) + -ır (çekim)</a:t>
            </a:r>
            <a:endParaRPr sz="16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5C3050C-5A82-45F8-80EE-FA1B8EF8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06440"/>
            <a:ext cx="1088136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859043-9F86-4693-A469-6089C18F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332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Kısaca: Türemiş sözcükte en az BİR yapım eki vardır — kalan ekler çekim eki olabilir ya da hiç olmayabilir.</a:t>
            </a:r>
            <a:endParaRPr sz="17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8EF2CBB-6FDB-43E9-BF43-AAE263BB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Anlatım — Türemiş Sözcük Nedir?</a:t>
            </a:r>
            <a:endParaRPr sz="9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54DF816-428A-4A5F-8D5F-904D177E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842851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626E4E-5B38-41D8-97E0-00C1303D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d283053a54a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9AADF39-F40B-4ED0-B185-7F2B0B10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ANLATIM · 3/3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9DA5CF1-29F2-4F03-87C5-A41DF9B9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Ayırt Etme Yöntemi — Adım Adım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8094F48-B785-4244-85E7-11F637AA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6BA5242-52C1-473F-9D0E-3A15BC31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1E2E343-CEEA-461B-8CEF-92EB73CA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2221BDB-26AC-4A68-80F9-32D87F9D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7360"/>
            <a:ext cx="9692640" cy="369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Sözcüğü köküne kadar ekle­rine ayır</a:t>
            </a:r>
            <a:endParaRPr sz="2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124423E-8D8E-4926-8222-1C9020FA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52777"/>
            <a:ext cx="969264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Sözcüğü en küçük parçalarına (kök + ekler) böl.</a:t>
            </a:r>
            <a:endParaRPr sz="2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3430DE7-CA8F-4937-ACCF-321B9AF8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5194"/>
            <a:ext cx="10881360" cy="1319657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9F90CB8-6CB4-4453-B27D-FB9EB0F4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356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103C873-482A-48A1-AC7E-FD4A1952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3562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0BD0693-738A-47E6-9842-46D3C0F2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6634"/>
            <a:ext cx="9692640" cy="369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Her ekin GÖREVİNE bak</a:t>
            </a:r>
            <a:endParaRPr sz="20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3FAEC38-9CD5-4011-8A44-F0F7D9B7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2051"/>
            <a:ext cx="969264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Ek yeni bir anlam/sözcük mü katıyor (yapım eki) yoksa sadece dilbilgisel görev mi katıyor (çekim eki)?</a:t>
            </a:r>
            <a:endParaRPr sz="20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BD95E69-4D09-4723-8E0C-83B6A4F2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04005"/>
            <a:ext cx="10881360" cy="1319657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9A83F57-C666-492B-9DA3-4BCAD796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1237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E45F061-99DE-409C-A38C-BBCB0242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12374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6DB50F5-4835-4A8D-84B7-71405D8A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5445"/>
            <a:ext cx="9692640" cy="369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Karar ver</a:t>
            </a:r>
            <a:endParaRPr sz="20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9709678-7F0F-4FBD-8CE3-8ED24C3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862"/>
            <a:ext cx="969264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 az bir yapım eki varsa TÜREMİŞ; hiç yoksa (sadece çekim ekleri varsa ya da hiç ek yoksa) BASİT.</a:t>
            </a:r>
            <a:endParaRPr sz="20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C5CB0B6-7DDF-4A67-BB72-61234625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01970"/>
            <a:ext cx="10881360" cy="830834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3B42F6F-006F-4164-9257-A06837CD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1970"/>
            <a:ext cx="10332720" cy="7393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Altın kural: Kaç ek aldığı önemli değildir — TEK bir yapım eki bile sözcüğü türemiş yapar; İSTER 5 çekim eki alsın, yapım eki yoksa sözcük yine basittir.</a:t>
            </a:r>
            <a:endParaRPr sz="20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DB53449-43C9-4D9D-801B-52E32E85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Anlatım — Ayırt Etme Yöntemi</a:t>
            </a:r>
            <a:endParaRPr sz="9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0C55AA-185C-41AC-8029-7B46B989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50420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8E2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A1C397-005C-41F5-A4CC-CFD5BE95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0"/>
            <a:ext cx="40507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B12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601B7B4-3347-4C99-8EF2-2424EE3F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1B12"/>
          </a:solidFill>
        </p:spPr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8ed9e182142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7132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D16C71A-904C-4F3A-BCCF-EC6E105E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548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DİKKAT!</a:t>
            </a:r>
            <a:endParaRPr sz="3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8C5F863-A4AA-4F8D-9513-37C9DEEC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515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Çekim Eki Almak, Sözcüğü Türemiş Yapmaz!</a:t>
            </a:r>
            <a:endParaRPr sz="2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01A5B63-A8EE-4B82-BEF1-4BBB845A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53234"/>
            <a:ext cx="10515600" cy="11361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Öğrenciler çok ek gören bir sözcüğü otomatik olarak "türemiş" sanır. Oysa önemli olan ek SAYISI değil, ek TÜRÜDÜR — hiç yapım eki yoksa, kaç çekim eki alırsa alsın sözcük BASİT kalır.</a:t>
            </a:r>
            <a:endParaRPr sz="21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AB8E8-5F6F-43AB-8DDF-2720026A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33394"/>
            <a:ext cx="10515600" cy="8763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E1B12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4A3AB2E-0693-4BC5-8B27-D710A327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394"/>
            <a:ext cx="27432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Balıklarda</a:t>
            </a:r>
            <a:endParaRPr sz="2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012E032-3E41-4038-8084-347634F0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533394"/>
            <a:ext cx="72237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balık-lar-da → "-lar" çoğul, "-da" hâl eki: 2 ek, ama İKİSİ DE ÇEKİM. Sözcük yine BASİTTİR.</a:t>
            </a:r>
            <a:endParaRPr sz="2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2D25911-E240-45FB-9C77-317E02A2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46854"/>
            <a:ext cx="10515600" cy="8763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E1B12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EFACAB3-831F-4550-906A-B26020F4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6854"/>
            <a:ext cx="27432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Masamızda</a:t>
            </a:r>
            <a:endParaRPr sz="2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0B11B2F-2517-4C8C-A7C4-00D45734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546854"/>
            <a:ext cx="72237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masa-mız-da → "-mız" iyelik, "-da" hâl eki: 2 çekim eki. Hâlâ BASİTTİR.</a:t>
            </a:r>
            <a:endParaRPr sz="2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548B8F5-B1D4-4C81-B2E7-0C5C24A7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60314"/>
            <a:ext cx="10515600" cy="8763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E1B12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E605B23-6452-4E3B-BD53-724C7D10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0314"/>
            <a:ext cx="27432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Kitaplarımızdan</a:t>
            </a:r>
            <a:endParaRPr sz="2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D87D080-DB90-4018-A9D5-D6480692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5560314"/>
            <a:ext cx="72237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kitap-lar-ımız-dan → 3 çekim eki üst üste (çoğul+iyelik+hâl) — yine yapım eki YOK, sözcük BASİTTİR.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878764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8E2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922D93-628C-41C6-ACD1-2A6FFB7D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0"/>
            <a:ext cx="40507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B12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165FA93-6038-4BEB-AC56-B153A867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1B12"/>
          </a:solidFill>
        </p:spPr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d6a52c2a645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7132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680481C-63B1-462D-A576-88143680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548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DİKKAT!</a:t>
            </a:r>
            <a:endParaRPr sz="3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1F3BA0C-6C1A-4506-A7C0-40F7EA55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515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Ters Tuzak: Tek Yapım Eki Bile Türemiş Yapar!</a:t>
            </a:r>
            <a:endParaRPr sz="2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272DF3D-973F-44C9-A4EA-E20B486E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772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B4C268A-4C47-4E4F-B5BC-4CAC4054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7728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8E2318"/>
                </a:solidFill>
                <a:latin typeface="Cambria"/>
                <a:ea typeface="Cambria"/>
                <a:cs typeface="Cambria"/>
              </a:rPr>
              <a:t>1</a:t>
            </a:r>
            <a:endParaRPr sz="2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F31FB4-763B-4522-9100-72B933E2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53234"/>
            <a:ext cx="969264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"Az ek var, o zaman basittir" yanılgısı.</a:t>
            </a:r>
            <a:endParaRPr sz="2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2B5DC3E-568E-4C6A-ACB7-54842648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95702"/>
            <a:ext cx="9692640" cy="11090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"tatlı" (tat + -lı) sadece TEK bir yapım eki almıştır — ama bu bile sözcüğü TÜREMİŞ yapmaya yeter. Ek sayısının azlığı basit olduğu anlamına gelmez.</a:t>
            </a:r>
            <a:endParaRPr sz="20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43A10DC-BB64-4BD3-9A01-FDB90E41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84879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FC621F7-4509-4DE8-B72F-FBE47206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84879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8E2318"/>
                </a:solidFill>
                <a:latin typeface="Cambria"/>
                <a:ea typeface="Cambria"/>
                <a:cs typeface="Cambria"/>
              </a:rPr>
              <a:t>2</a:t>
            </a:r>
            <a:endParaRPr sz="2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BC64059-1FA1-4FF6-8BCC-17F75D4A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60825"/>
            <a:ext cx="969264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Türemiş sözcük çekim eki alınca "basitleşmez".</a:t>
            </a:r>
            <a:endParaRPr sz="21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55CA880-755F-4EE2-83D5-0ACB9323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3293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"tatlım" = tatlı (türemiş) + -m (iyelik çekim eki). Çekim eki eklenmesi kökteki yapım ekini yok saymaz — sözcük hâlâ TÜREMİŞTİR.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6013566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CEAA378-77ED-4A63-A394-35A38FC4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b6b5a933848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ED25648-447B-4696-93FA-BA5A2BED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SINIF ETKINLIĞI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99B9847-6D5A-4B37-AF26-B5FE0F66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Basit mi, Türemiş mi? (3 Dakika)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8C823D9-36B7-41A8-9A3C-ACB7C732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Yanınızdaki arkadaşınızla birlikte aşağıdaki 8 sözcüğün BASİT mi TÜREMİŞ mi olduğunu belirleyin. Süre: 3 dakika.</a:t>
            </a:r>
            <a:endParaRPr sz="2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6A90D11-C9EB-4AA2-8200-BE9BDF50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4906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26DAB31-2279-48C7-A0AC-5FCE9B3B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4906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kalemlik</a:t>
            </a:r>
            <a:endParaRPr sz="2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DF66C88-58AC-4B9A-A5EF-5384BC3A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4906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E33DB62-F757-47A3-81F6-9EEF6237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4906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defterimiz</a:t>
            </a:r>
            <a:endParaRPr sz="2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AEBAF84-785A-4737-BDF6-4284C271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4906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98F13EB-2558-4DCA-98FB-E742C180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4906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sevgi</a:t>
            </a:r>
            <a:endParaRPr sz="2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E5EFB34-9AF9-47D9-9BCD-9F3C3D8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4906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2E24605-6CA1-493A-ACB6-C7A535C5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4906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sınavlarda</a:t>
            </a:r>
            <a:endParaRPr sz="2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5CFE89F-C69C-4C6B-8854-E6EDC8A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0918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07DB3B7-0CC8-4E10-9B44-C35BD926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0918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dinlenmek</a:t>
            </a:r>
            <a:endParaRPr sz="2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E25B5D1-147C-4939-9C7B-05A74F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40918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2CF4B55-10CF-486F-B760-A60FF319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40918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öğrencilerin</a:t>
            </a:r>
            <a:endParaRPr sz="2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D472462-E6E4-4F6D-A3F5-51029A5A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18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7339941-2304-4E03-A806-77EA0C45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18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yazılım</a:t>
            </a:r>
            <a:endParaRPr sz="2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F11C8B3-C7D3-4E96-9A9D-3B8AD28D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40918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80700AC-A2CB-4003-B828-90A056B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40918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kitaplarımızdan</a:t>
            </a:r>
            <a:endParaRPr sz="2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E9F5626-F9B3-4AF6-B575-FDFC840A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0748"/>
            <a:ext cx="10881360" cy="812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91EA5186-E0BA-45B9-9222-1E9E00A1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60748"/>
            <a:ext cx="103327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İpucu: Sözcüğü köke kadar soyun; en az bir YAPIM eki bulursanız türemiş, hiç bulamazsanız (sadece çekim ekleri varsa) basittir.</a:t>
            </a:r>
            <a:endParaRPr sz="20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901DB1A-867A-4D0F-99EF-FF303B17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Sınıf Etkinliği</a:t>
            </a:r>
            <a:endParaRPr sz="9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7F2E81B-4AA5-4AAC-8308-8F8D944A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930051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E331E1E-0018-4E98-BC03-DC4B5E20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f4e18f48f4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22622E2-9947-4A77-9EFC-8EFB3CC6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ETKINLIK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B80642F-BE2D-4DE6-AEA9-CCCE25A9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Cevap Anahtarı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4A1D3AF-C632-46CB-A7F7-FFF507BC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AAAA8DA-EA56-4EF6-9570-9CF1E712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kalemlik</a:t>
            </a:r>
            <a:endParaRPr sz="20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786F788-5E5B-4578-A3F4-C2D7ADC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D68848-E9EC-42BD-A702-387EAC2E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TÜREMİŞ</a:t>
            </a:r>
            <a:endParaRPr sz="2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6459863-EE8C-40B0-B1FB-48CD80B2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kalem + -lik</a:t>
            </a:r>
            <a:endParaRPr sz="16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7A04FF2-9B85-4188-A467-FE424F03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828800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507C0A0-3AE8-4C78-968F-BC0100F4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65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defterimiz</a:t>
            </a:r>
            <a:endParaRPr sz="20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B28D633-A3E4-464A-A8A5-5393C3F9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377440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92A421D-3CB9-4CB1-AAAC-064E47F3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37744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BASİT</a:t>
            </a:r>
            <a:endParaRPr sz="21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30E85F4-3C01-4677-ACAE-2632BAFA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546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defter + -imiz (çekim)</a:t>
            </a:r>
            <a:endParaRPr sz="16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437E8AA-93A1-472C-9EA6-A8AD837F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DDF2826-2B02-4B6D-9608-6C6B9932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65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sevgi</a:t>
            </a:r>
            <a:endParaRPr sz="20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9693B6A-5B36-4999-9A2C-3F495CDD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77440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6FCF356-562C-49F1-ABBB-EBA16365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7744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TÜREMİŞ</a:t>
            </a:r>
            <a:endParaRPr sz="21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06DD8F-77A4-441E-8F82-8AA08BD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546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sev + -gi</a:t>
            </a:r>
            <a:endParaRPr sz="16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4040BBA-A195-4400-B9A5-746B0A29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828800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242B87A-17EB-4A32-A3B1-9B7C2C27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965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sınavlarda</a:t>
            </a:r>
            <a:endParaRPr sz="20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D28B09B-E83E-417C-B6DC-7517375F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77440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4A31F6C-D3C6-4921-B3B3-3C0C22BD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7744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BASİT</a:t>
            </a:r>
            <a:endParaRPr sz="2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D600A4B-24B7-4ACD-AF16-4ACABFFB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154680"/>
            <a:ext cx="2286000" cy="57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sınav + -lar + -da (çekim)</a:t>
            </a:r>
            <a:endParaRPr sz="16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CB8E430-7615-4683-ADC2-C1E5B0FF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38244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9ED9ADF-6721-4BF1-A84F-2C3C09EB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54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dinlenmek</a:t>
            </a:r>
            <a:endParaRPr sz="20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0B1F17DE-C548-4904-A417-84DB5AFB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86884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36EA0D7-FAA6-4E51-9580-D156111D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86884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TÜREMİŞ</a:t>
            </a:r>
            <a:endParaRPr sz="21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728CE28C-190C-4E9B-9483-29BED775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6412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dinle + -n + -mek</a:t>
            </a:r>
            <a:endParaRPr sz="16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95A64836-A42B-451D-8C0C-992E80B4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238244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B1A50E4-A41C-4C73-A6E7-928ACBDF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3754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öğrencilerin</a:t>
            </a:r>
            <a:endParaRPr sz="2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A597DE8F-6020-4E0C-BB1D-9C57AD5D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786884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A647108-CA0C-4AFF-9B9D-FDE7147E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786884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BASİT</a:t>
            </a:r>
            <a:endParaRPr sz="21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EB7F1D15-E740-46EB-AB78-69A561DB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564124"/>
            <a:ext cx="2286000" cy="57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öğrenci + -ler + -in (çekim)</a:t>
            </a:r>
            <a:endParaRPr sz="16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3F4DED21-EA42-40B5-B56A-FAF73794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38244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05EC7BBB-C0C7-4ED3-9CCA-84EE9C48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54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yazılım</a:t>
            </a:r>
            <a:endParaRPr sz="20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E21CA53E-6688-4623-8648-C6C03527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786884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A2E00F30-9544-4676-B399-853F9056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786884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TÜREMİŞ</a:t>
            </a:r>
            <a:endParaRPr sz="21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DF3438F6-53F5-4F0A-9FB1-D6D710F0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56412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yaz + -ıl + -ım</a:t>
            </a:r>
            <a:endParaRPr sz="160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2B401488-687E-4944-A9A5-8A0AF865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238244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694CF46E-8AA4-475B-A949-E1D1B764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3754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kitaplarımızdan</a:t>
            </a:r>
            <a:endParaRPr sz="200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3BCC1EAD-B701-43A9-AB4D-810CAE2A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86884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05AC64AE-17C3-4EB1-BD19-96B7D7DB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86884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BASİT</a:t>
            </a:r>
            <a:endParaRPr sz="21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37F9DDF5-17D9-41F9-A0FE-7D54AEE1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564124"/>
            <a:ext cx="2286000" cy="57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kitap + -lar+ımız+dan (çekim)</a:t>
            </a:r>
            <a:endParaRPr sz="16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97EFEBC5-8133-4428-BAE9-C4EA40BD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Etkinlik Cevapları</a:t>
            </a:r>
            <a:endParaRPr sz="90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C65EC0A1-5DDE-419C-AB70-5825665F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627040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EDCEB84-090D-4A92-A168-A4068391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b19136f1d4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48E5E5-8485-4D89-A896-67051FF4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HIZLI HATIRLATMA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C836F6B-2F54-4F8A-951F-772BC0BE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Kaldığımız Yer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B8B8CD3-98E3-4FFA-A974-FBF8F401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3337560" cy="192709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B29A5F4-32B6-4BA7-A035-B2D82073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94560"/>
            <a:ext cx="28803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Basit Sözcük</a:t>
            </a:r>
            <a:endParaRPr sz="2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4CC416C-5B7B-4AC9-9231-57E5E3F5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18994"/>
            <a:ext cx="288036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Hiç yapım eki almamıştır;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çekim eki alabilir.</a:t>
            </a:r>
            <a:endParaRPr sz="2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0C4D2A2-2350-49B1-9F6F-EECDE69E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65960"/>
            <a:ext cx="333756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6F69AC8-33AD-41CE-B447-136BB7A3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194560"/>
            <a:ext cx="28803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Türemiş Sözcük</a:t>
            </a:r>
            <a:endParaRPr sz="2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6A13876-B50B-4B72-BB57-9E060113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18994"/>
            <a:ext cx="2880360" cy="858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 az bir yapım eki</a:t>
            </a:r>
            <a:endParaRPr sz="2100"/>
          </a:p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almıştır.</a:t>
            </a:r>
            <a:endParaRPr sz="21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582D637-9D7A-4C23-AFB5-9596D83D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5960"/>
            <a:ext cx="3337560" cy="192709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DA9C21C-DCDE-4CC6-8033-FD08BD1B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4560"/>
            <a:ext cx="28803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Ayırt Etme</a:t>
            </a:r>
            <a:endParaRPr sz="21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B7548E2-D6EA-474B-BB01-37C8E910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8994"/>
            <a:ext cx="288036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Ek sayısı değil,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ek TÜRÜ (yapım/çekim) önemlidir.</a:t>
            </a:r>
            <a:endParaRPr sz="2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5EF057A-9192-4CDD-9B1F-971AF822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Hızlı Hatırlatma</a:t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4604DC0-80B0-4A92-B94D-3C9579AE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3852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A8B069-097D-4798-A6FE-BBA60344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6f1e1fb344d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1CB161-321B-40EA-8F40-992283D9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DERINLEŞME · 1/2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C7D698E-FF8C-4511-92C4-07173BDC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Gövde ve Gövdeden Türemiş Sözcük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DFCD52A-1A5D-4276-BAC3-3C04CB0D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3D3C5B6-A24E-4F37-B9EF-4DB49453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332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Kural:  </a:t>
            </a:r>
            <a:r>
              <a:rPr sz="19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 yapım eki alan sözcüğe GÖVDE, birden çok yapım eki alan sözcüğe ise GÖVDEDEN TÜREMİŞ SÖZCÜK denir. Bütün gövdeler türemiştir — ama her türemiş sözcük gövde değildir.</a:t>
            </a:r>
            <a:endParaRPr sz="1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89688F2-4501-4D0E-A9F4-97C53123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1088136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70B1D5A-C98B-45C5-84D6-8D84BBD3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8960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tatlı</a:t>
            </a:r>
            <a:endParaRPr sz="2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25E0CB7-DF32-498F-9BA9-3607FEEB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108960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tat + -lı</a:t>
            </a:r>
            <a:endParaRPr sz="2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59EEE74-C2CE-4AA1-9254-11D11FD0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08960"/>
            <a:ext cx="20116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yapım eki</a:t>
            </a:r>
            <a:endParaRPr sz="21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4072783-AA6B-43C1-9002-60134348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163824"/>
            <a:ext cx="329184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3F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8E4619F-4803-4106-9AC9-50D05DA6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163824"/>
            <a:ext cx="3291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GÖVDE</a:t>
            </a:r>
            <a:endParaRPr sz="20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5722D09-4D0B-4B6A-98DA-BF7380DA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22192"/>
            <a:ext cx="1088136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C92BCE5-33BC-4248-9896-88400849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2219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tatlıcılık</a:t>
            </a:r>
            <a:endParaRPr sz="2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FF925CE-A5AE-45F1-8510-10BAFA9B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822192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tat + -lı + -cı + -lık</a:t>
            </a:r>
            <a:endParaRPr sz="2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CC709BE-6A11-4295-A5B9-146C31D6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822192"/>
            <a:ext cx="20116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yapım eki</a:t>
            </a:r>
            <a:endParaRPr sz="2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03D7D96-053F-4BF0-868C-C2F3E40F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77056"/>
            <a:ext cx="329184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93925B5-EEC5-4E16-829C-5B12078E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77056"/>
            <a:ext cx="3291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GÖVDEDEN TÜREMİŞ</a:t>
            </a:r>
            <a:endParaRPr sz="20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F329CBDA-77A1-4555-A07A-96DB7A62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35424"/>
            <a:ext cx="1088136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92AADA1-3CF5-4D7C-B2D0-92F783CA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35424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gözle-</a:t>
            </a:r>
            <a:endParaRPr sz="2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7538CD6-F897-47CA-93F1-FC55DBA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535424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göz + -le</a:t>
            </a:r>
            <a:endParaRPr sz="21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76881F0-672A-4D73-B9F6-438E8BDC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535424"/>
            <a:ext cx="20116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yapım eki</a:t>
            </a:r>
            <a:endParaRPr sz="21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274BA11-0114-4299-9C83-4CEF327B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590288"/>
            <a:ext cx="329184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3F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67D65DB-907A-4540-A659-EFB40A36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590288"/>
            <a:ext cx="3291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GÖVDE</a:t>
            </a:r>
            <a:endParaRPr sz="2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6D07CF0-432B-41EB-AFCD-400953F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48656"/>
            <a:ext cx="1088136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653651B-CEC7-4AD9-BAA1-A4AAAF9A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48656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gözlem</a:t>
            </a:r>
            <a:endParaRPr sz="21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9F8C3A9-544F-40DA-981C-8165E04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248656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gözle- + -m</a:t>
            </a:r>
            <a:endParaRPr sz="21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F3525E7-E57C-44EE-B029-DC511050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248656"/>
            <a:ext cx="20116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yapım eki</a:t>
            </a:r>
            <a:endParaRPr sz="21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68FC008A-8F9B-413E-A668-01A80234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5303520"/>
            <a:ext cx="329184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DCEC62-39B1-4055-B130-1002F9AB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5303520"/>
            <a:ext cx="3291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GÖVDEDEN TÜREMİŞ</a:t>
            </a:r>
            <a:endParaRPr sz="20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BD47D38-8053-401A-AE5A-AED41FBA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26480"/>
            <a:ext cx="10881360" cy="41148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26F1EC24-3848-412D-8170-9BDE58F5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2648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Kaynak: Limit Yayınları TYT Türkçe El Kitabı — "Bütün gövdeler türemiş sözcüktür."</a:t>
            </a:r>
            <a:endParaRPr sz="195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AC22F4-AABA-420C-96D2-6857DD4D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Derinleşme — Gövde ve Gövdeden Türemiş Sözcük</a:t>
            </a:r>
            <a:endParaRPr sz="9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0031DB50-9031-4BE9-8A25-50E432B3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666849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7DA68E-90C3-4154-BA4F-F204F3BB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e0d02f52d44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5709A2F-763B-4B3E-81BD-DC04819D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DERINLEŞME · 2/2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0D4A44D-F043-4D02-9034-DA4EA19C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Basit Sanılan Ama Türemiş Sözcükler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C6AD153-219A-4B8C-B94B-177E4EB6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B2F3890-838D-4EC9-A696-8E2780C0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332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Kural:  </a:t>
            </a:r>
            <a:r>
              <a:rPr sz="19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Günlük dilde "tek parça" gibi hissettiren bazı sözcükler, kökle karşılaştırıldığında aslında bir yapım eki taşır. TYT'de bu tür sözcükler en sık şaşırtan tuzaklardandır.</a:t>
            </a:r>
            <a:endParaRPr sz="1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40FB4F-D237-492A-884E-6DC06D8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D9FA562-5470-49C3-9198-6913AE78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72968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86C34D1-EDBB-4DC5-8115-8C77CB0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72968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ılık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55F580F-F380-4932-8EE6-9190E5B4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08960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ılı- + -k</a:t>
            </a:r>
            <a:endParaRPr sz="2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6D737D-C015-40A0-9EE4-45D5CE47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08960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E3CFCA7-B3A8-4C18-A0DE-B979FAF6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12464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12BB3EA-EF4A-46F9-ABF0-86526861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76472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47441C-FC77-4B15-BC33-D9705068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76472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ışık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4AA325C-4ED1-494D-B6C4-1001AA56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12464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ışı- + -k</a:t>
            </a:r>
            <a:endParaRPr sz="2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B87B0DA-5B05-4A85-94F4-025FC8AD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712464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CBB0158-23CF-4DF8-A3A6-CDE39631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15968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131B168-97DE-4C57-8434-1A7F6978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79976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5AEC5A8-390F-48C4-BDDC-7421024C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79976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batı</a:t>
            </a:r>
            <a:endParaRPr sz="20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3A90F01-444B-4695-95D6-3A395535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15968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bat- + -ı</a:t>
            </a:r>
            <a:endParaRPr sz="2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20618F5-ABF5-4A30-84E6-A5F1C7AE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315968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66EA64E-824C-428C-AB44-E418B3D0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19472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6DFB0DE-5EA7-4AA0-A38E-E8EB84C8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5A26DD9-A00D-41CA-A004-E94121E7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doğu</a:t>
            </a:r>
            <a:endParaRPr sz="2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B380D44-EF03-4F1F-9E5D-C7BAD69D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19472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doğ- + -u</a:t>
            </a:r>
            <a:endParaRPr sz="21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079B86-194A-41CC-A357-7FF2E099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919472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3FA55C59-9DF5-4CCE-8C40-CFE08ED0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22976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93324A9-5CA5-4F29-B673-DE796091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86984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724DC73-10BD-4A65-8708-CA9AEEAC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86984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kıvrım</a:t>
            </a:r>
            <a:endParaRPr sz="20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85773D0-F50C-4FED-855D-A54171A3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522976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kıvır- + -(ı)m</a:t>
            </a:r>
            <a:endParaRPr sz="21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65500060-F49D-4292-9706-823CB81A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522976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DD1CA148-D2C2-4E12-8FBA-B4FC53B8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72200"/>
            <a:ext cx="10881360" cy="36576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B40E6C6C-0138-4FFB-BD34-29E7C3F4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7220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Kaynak: Okyanus TYT Türkçe Konu Anlatımı — bu sözcükler TÜREMİŞTİR, basit değildir. Köke dikkat!</a:t>
            </a:r>
            <a:endParaRPr sz="17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8814DE39-C2BF-4FD0-99A8-68E0A82C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Derinleşme — Basit Sanılan Tuzaklar</a:t>
            </a:r>
            <a:endParaRPr sz="9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712ECBF7-9E4F-4326-964F-8B96D7A7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348244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925FF4A-E151-4628-90F7-960DB8A0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45ef2dfa4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8D1201D-8E2C-460D-8A04-B8E6302D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1/3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B743012-ABEC-42DD-9D16-A65AEFB1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Soru Çözümü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403759A-6AB8-4C38-A897-7224A604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A335D51-8A56-4465-B2BD-50C6AA9B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ÖSYM (ÖSS - 2000)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5FF618A-D9A1-40EF-81B3-3E08486C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08792" cy="4451523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23BB1A1-61CE-4F86-BEF4-D9C082C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0360152" cy="12172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Sıfatlar, adlarla fiillerin kök ya da gövdelerine yapım ekleri getirilerek oluşturulur. Aşağıdaki atasözlerinin hangisinde bu yolla yapılmış bir sıfat vardır?</a:t>
            </a:r>
            <a:endParaRPr sz="2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C376171-B00E-4423-ACDD-69E89855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3839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Güneş balçıkla sıvanmaz.</a:t>
            </a:r>
            <a:endParaRPr sz="2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0E1A14D-2E04-4E45-8912-55CE6411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840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Korkunun ecele faydası yoktur.</a:t>
            </a:r>
            <a:endParaRPr sz="2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92E7B11-24F7-45FC-8A5E-ECA60816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7841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Her ağacın meyvesi yenmez.</a:t>
            </a:r>
            <a:endParaRPr sz="2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2AFE23A-D13F-4588-AA64-7E25F14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4841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Mızrak çuvala sığmaz.</a:t>
            </a:r>
            <a:endParaRPr sz="21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82ECFA4-D0EC-4135-BCFE-BF8DE5B1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1842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E)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İşleyen demir pas tutmaz.</a:t>
            </a:r>
            <a:endParaRPr sz="21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37392A7-8A20-42A1-96A3-C531080D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1 — gerçek ÖSYM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0F68DC6-4826-45C3-9D5E-109AB6AA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740012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034921-3AB3-43E5-AEE3-9EEFF36B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6bd53eaa642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039EDAC-5D42-4A7B-9640-529B13E5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1/3  ·  ÇÖZÜM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7B8F9BB-51BC-472F-A862-53C56339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Çözüm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DBD9218-BD6A-4780-88E1-FFE0463D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B3F091F-03A1-48E4-A2A1-060FE74C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ÖSYM (ÖSS - 2000)</a:t>
            </a:r>
            <a:endParaRPr sz="10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6D7E1C7-A4C4-4DCF-8C0E-1CA58494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908792" cy="443484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1E3A5F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8233051-EF7B-4879-BA56-F1BE6B34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103601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ÇÖZÜM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0DBA66D-449B-4985-9B10-C222D05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80B2024-7130-43DA-B909-8C14CC16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E</a:t>
            </a:r>
            <a:endParaRPr sz="2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5D1687F-A256-4319-8F9A-2D739C1E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14600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Doğru cevap</a:t>
            </a:r>
            <a:endParaRPr sz="1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16012AC-95BD-4B67-A1FE-3FA44F05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6160"/>
            <a:ext cx="10360152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E) İşleyen demir pas tutmaz.  </a:t>
            </a:r>
            <a:r>
              <a:rPr sz="1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doğru cevap.
</a:t>
            </a:r>
            <a:r>
              <a:rPr sz="18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"işleyen" = iş (ad kökü) + -le (isimden fiil yapım eki) + -y (kaynaştırma) + -en (sıfat-fiil eki) — yapım ekiyle TÜREMİŞ bir sıfattır. C'deki "her" ise basit bir sıfattır (hiç ek almamıştır), diğer seçeneklerde sıfat yoktur.</a:t>
            </a:r>
            <a:endParaRPr sz="18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FEB4F38-A567-4E65-BBD4-C8DDDCFE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1 — çözüm — gerçek ÖSYM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55A8DE-73C7-44FB-820F-843C3315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18345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154C946-611B-4637-8B4D-44CB40DB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6298206e049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E6252C7-4D29-4FB9-81C3-7D411BEA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2/3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D3178AE-9B29-4CA1-AB7D-CA59814F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Soru Çözümü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B9FD3C1-DD23-4137-B310-A1B2A7DD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764271D-8670-4D6E-9A09-6BCE5D6D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Okyanus (Pekiştirme)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E88B7C9-A8A0-4315-9F91-FBECDB8E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08792" cy="443484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0AAD106-5432-47CA-ADF9-539F4F91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0360152" cy="4147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Aşağıdaki cümlelerin hangisinde türemiş isim kullanılmamıştır?</a:t>
            </a:r>
            <a:endParaRPr sz="2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D0EBB30-00F8-47D7-A927-BB3A8D50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1326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Yolların kuralını şoförler belirliyor.</a:t>
            </a:r>
            <a:endParaRPr sz="2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2FFF0EE-B526-4B7B-98CB-697EFB6D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3870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Öğretmenliğe başladığım günleri hatırladım.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ED841D2-999F-4EAD-94D7-F7C4A738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6415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Yolda oduncuyla karşılaştım.</a:t>
            </a:r>
            <a:endParaRPr sz="2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12FF719-8F2D-454B-83FF-86ABF3E5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8959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Soruların çözümünü internete koymuş.</a:t>
            </a:r>
            <a:endParaRPr sz="2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17907D-0C08-454D-974F-03F47E82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71503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E)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 gürültüye dayanmam çok zordu.</a:t>
            </a:r>
            <a:endParaRPr sz="2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C2EC51B-1A40-4988-8A09-721DB23C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2 — pekiştirme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02162CB-5160-4E01-9EB5-2B98BCD6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1168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C0A431-117B-4CD4-AA26-F9B52AE2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f10c288614e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E8C8C25-0AC1-43DB-9BCE-F0DB0A2D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2/3  ·  ÇÖZÜM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4545F60-EF1E-4430-8A88-FAFDF416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Çözüm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2837691-3BB6-4428-939E-1471D3A2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C887E4D-7200-4513-905C-78E6F876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Okyanus (Pekiştirme)</a:t>
            </a:r>
            <a:endParaRPr sz="10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4DF1BE1-6A5F-46BD-91ED-296CAEE4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908792" cy="443484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1E3A5F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B7134AD-929B-4F3F-98C4-4A7A959A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103601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ÇÖZÜM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AC7650D-0F15-4C36-A823-934436B2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29247E2-8E0D-41A4-A74C-2707DAFF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A</a:t>
            </a:r>
            <a:endParaRPr sz="2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88E667C-B89A-4002-A2EA-52E2AD0D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14600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Doğru cevap</a:t>
            </a:r>
            <a:endParaRPr sz="1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682C14-8729-4912-B31E-114571BC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6160"/>
            <a:ext cx="10360152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1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doğru cevap.
</a:t>
            </a:r>
            <a:r>
              <a:rPr sz="18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A'daki isimler ("yolların", "kuralını", "şoförler") sadece çekim eki almıştır, hepsi basittir. B) öğretmen-lik, C) odun-cu, D) çöz-üm, E) gürül-tü sözcüklerindeki koyu kısımlar birer yapım ekidir — bu seçeneklerde türemiş isim vardır.</a:t>
            </a:r>
            <a:endParaRPr sz="1850"/>
          </a:p>
          <a:p xmlns:a="http://schemas.openxmlformats.org/drawingml/2006/main">
            <a:pPr marL="0" indent="0">
              <a:buNone/>
            </a:pPr>
            <a:endParaRPr sz="1850"/>
          </a:p>
          <a:p xmlns:a="http://schemas.openxmlformats.org/drawingml/2006/main">
            <a:pPr marL="0" indent="0">
              <a:buNone/>
            </a:pPr>
            <a:r>
              <a:rPr sz="185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Kaynak: Okyanus TYT Türkçe Konu Anlatımı, "Yapısına Göre Sözcükler" pekiştirme testi (ÖSYM'ye ait değildir, yayınevinin kendi hazırladığı TYT formatında bir sorudur).</a:t>
            </a:r>
            <a:endParaRPr sz="18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DB5B779-C5C1-4882-B382-BF0B0AA5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2 — çözüm — pekiştirme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932E077-F9AA-4E1A-992C-E4E00041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36077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08E9FB-6D99-4373-9381-CD52DFCA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27b574bb34c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DD3B708-7A64-4B2F-87DD-B80D3F0D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3/3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45E60B3-6395-4398-ABA9-4D0C9763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Soru Çözümü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D008DE5-4A2B-425E-9CF8-6EBADC30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0605ABB-9F7E-4913-907D-4CD698F4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Okyanus (Pekiştirme)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DD1B35-44FF-4881-99FD-9DC6596C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08792" cy="443484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4EF07-D668-4161-8DAA-4DFB2227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0360152" cy="11090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"Geceleri bir çarpıntı duyarsan / Telaş telaş yağmurdan kaçıyorum / Sarayburnu'ndan geçiyorum / Akşamsa eylülse ıslanmamışsam / Benim görsen belki anlayamazsın" Bu dizelerde aşağıdakilerden hangisi yoktur?</a:t>
            </a:r>
            <a:endParaRPr sz="2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A260534-8D60-41E7-A508-B0DD0F83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5635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Basit fiil</a:t>
            </a:r>
            <a:endParaRPr sz="2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349B18C-685B-45FD-873C-0BB682F7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0219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Birleşik fiil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188BC3D-C350-41A4-A63D-145C9E97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4803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Türemiş isim</a:t>
            </a:r>
            <a:endParaRPr sz="2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9D3B7A0-3B5E-43C2-9B03-043D3DB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9387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Ayrılma durumu eki</a:t>
            </a:r>
            <a:endParaRPr sz="2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1F1EE4C-3FD4-4988-B14D-4316EBE0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3971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E)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İsimden fiil yapım eki</a:t>
            </a:r>
            <a:endParaRPr sz="2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2F10174-DE7D-46B6-871B-BB46F575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3 — pekiştirme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925603B-7379-4033-8213-25F8EDFE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328187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5489228-1377-4DF6-B7EE-66BB281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386908e9b48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53B3B92-90E6-4ED0-B2B2-3EAE5567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3/3  ·  ÇÖZÜM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7314ECE-D4FA-45F9-98B4-10A92E86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Çözüm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4B04E80-2509-45F1-B1DC-DED39AFE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AD10287-087D-4DB1-99B1-BE4048B9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Okyanus (Pekiştirme)</a:t>
            </a:r>
            <a:endParaRPr sz="10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8C9340E-69E9-44D5-93E7-5AFD8BE2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908792" cy="443484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1E3A5F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D59A2FF-A5D7-4370-836C-2031356C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103601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ÇÖZÜM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C83D19D-6309-47FB-8410-2350ABBE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109204D-03EE-493C-9D98-C98B1765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E</a:t>
            </a:r>
            <a:endParaRPr sz="2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76B9804-605B-43B0-967E-ED5679B7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14600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Doğru cevap</a:t>
            </a:r>
            <a:endParaRPr sz="1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C35FAA1-4A4E-4115-A22D-368A45FB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6160"/>
            <a:ext cx="10360152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E) İsimden fiil yapım eki  </a:t>
            </a:r>
            <a:r>
              <a:rPr sz="1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doğru cevap (dizelerde bulunmayan).
</a:t>
            </a:r>
            <a:r>
              <a:rPr sz="18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duy-ar-sa-n (basit fiil), yağmur-dan (ayrılma hâli, çekim), Sarayburnu (türemiş özel isim) gibi unsurlar dizelerde vardır; ancak isim kökünden fiil türeten bir yapım eki ("-la/-le" tipi) bu dizelerde geçmemektedir.</a:t>
            </a:r>
            <a:endParaRPr sz="1850"/>
          </a:p>
          <a:p xmlns:a="http://schemas.openxmlformats.org/drawingml/2006/main">
            <a:pPr marL="0" indent="0">
              <a:buNone/>
            </a:pPr>
            <a:endParaRPr sz="1850"/>
          </a:p>
          <a:p xmlns:a="http://schemas.openxmlformats.org/drawingml/2006/main">
            <a:pPr marL="0" indent="0">
              <a:buNone/>
            </a:pPr>
            <a:r>
              <a:rPr sz="185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Kaynak: Okyanus TYT Türkçe Konu Anlatımı, "Yapısına Göre Sözcükler" pekiştirme testi (ÖSYM'ye ait değildir, yayınevinin kendi hazırladığı TYT formatında bir sorudur).</a:t>
            </a:r>
            <a:endParaRPr sz="18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D084FF4-1DB8-4B23-90CE-DE1A71DD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3 — çözüm — pekiştirme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C215D13-E173-468E-BAD6-48FEF647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909224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615074-6B6D-4A2F-91E9-CDA79C05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c7ac7f25d43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C9A9512-DFEC-4F79-AA3A-B9411FC5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DERS SONU KONTROL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74F9A2A-3B9A-4DD6-BD29-BF75CB13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Hızlı Kontrol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F691877-331B-4B1A-8EA7-8B94F440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Aşağıdaki sözcüklerin basit mi türemiş mi olduğunu birlikte söyleyelim:</a:t>
            </a:r>
            <a:endParaRPr sz="2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A404949-E12E-4576-9DC5-E06D695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07514"/>
            <a:ext cx="2514600" cy="1456436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ADED4EF-4D69-42CF-B5A2-D55A5CC8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44674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gözlük</a:t>
            </a:r>
            <a:endParaRPr sz="2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ECBD11-48AB-4D20-9AFA-1CF1ABC2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69108"/>
            <a:ext cx="251460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↓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5AA7B11-E2FA-4B50-8ACF-1836BE09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7550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TÜREMİŞ</a:t>
            </a:r>
            <a:endParaRPr sz="2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638270B-D2CD-42D1-82C8-B3723554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07514"/>
            <a:ext cx="2514600" cy="1456436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D8BF320-4878-4F20-967C-C9726C14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44674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gözlerimiz</a:t>
            </a:r>
            <a:endParaRPr sz="2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A507978-3697-4FDF-8D0E-ED8391C3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769108"/>
            <a:ext cx="251460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↓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ACE5244-FFEA-496D-B51E-2F4D537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7550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BASİT</a:t>
            </a:r>
            <a:endParaRPr sz="2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376EDA7-5668-4202-8C7A-409CA08A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7514"/>
            <a:ext cx="2514600" cy="1456436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BCD5319-B623-4D5F-97D5-FAE2A80F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4674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sevimli</a:t>
            </a:r>
            <a:endParaRPr sz="2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149C64A-7EB3-4496-8BFE-651AF1C0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9108"/>
            <a:ext cx="251460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↓</a:t>
            </a:r>
            <a:endParaRPr sz="2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FEF8C38-5B8F-4585-B7C5-B042951B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7550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TÜREMİŞ</a:t>
            </a:r>
            <a:endParaRPr sz="2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3B98328-1469-4EE2-B2AF-46AF34E9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07514"/>
            <a:ext cx="2514600" cy="1456436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EC944F3-5E34-46D7-83DA-69216EAD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344674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evlerde</a:t>
            </a:r>
            <a:endParaRPr sz="2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5CA5C9D-BC57-40B2-9669-8C6B7738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69108"/>
            <a:ext cx="251460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↓</a:t>
            </a:r>
            <a:endParaRPr sz="2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060F603-C704-4A30-B3CC-70407529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17550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BASİT</a:t>
            </a:r>
            <a:endParaRPr sz="2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F57E12BB-A7B6-479C-8D67-F27BB606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9710"/>
            <a:ext cx="10881360" cy="8128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4E63C58-54E4-4CDE-AA9D-F8C4BF75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710"/>
            <a:ext cx="103327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 dört sözcüğün basit/türemiş kararını doğru verebiliyorsanız, bugünkü hedefe ulaştınız!</a:t>
            </a:r>
            <a:endParaRPr sz="20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6A31545-D1D7-4312-B6D4-5C971FEF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Hızlı Kontrol</a:t>
            </a:r>
            <a:endParaRPr sz="9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22963D3-4B16-4864-BAB8-6AE4482C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238570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913812C-6C5A-4E36-A7BE-7ADDEB44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062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4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0013E35-E278-4C43-9560-DA971A34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0584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B78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34a1f95c841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8126" y="1191006"/>
            <a:ext cx="452628" cy="452628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9D4BD27-AA04-4C1F-941F-C616544C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3200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Ders Özeti</a:t>
            </a:r>
            <a:endParaRPr sz="2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3DD3800-64D4-4E80-B963-E82DF090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320040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Basit / Türemiş Sözcük — Ders 4/6</a:t>
            </a:r>
            <a:endParaRPr sz="2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2AAD949-FDF1-4166-B7CC-692AC312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7772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BUGÜN ÖĞRENDIKLERIMIZ</a:t>
            </a:r>
            <a:endParaRPr sz="13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126B1DA-947B-4395-98CE-62CF6B4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34440"/>
            <a:ext cx="21945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26195D-F47E-46C7-974F-04B953E0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344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Basit Sözcük</a:t>
            </a:r>
            <a:endParaRPr sz="20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0EFE9ED-603D-46A5-A9A9-6D3D8CB0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234440"/>
            <a:ext cx="246888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989BE8-72D0-4F86-96A9-5C369901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234440"/>
            <a:ext cx="2468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Türemiş Sözcük</a:t>
            </a:r>
            <a:endParaRPr sz="20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69F351B-19C8-4629-BC0C-4D460B2F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28800"/>
            <a:ext cx="301752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B34EE3A-3DB5-4F4E-9A87-E36267F5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2880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Ayırt Etme Yöntemi</a:t>
            </a:r>
            <a:endParaRPr sz="20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ADEDECA-3B16-4FC5-A7D8-2FCC650B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384048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BE210B3-D09A-4503-84A5-D3F1DB8F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3840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Gövde / Gövdeden Türemiş</a:t>
            </a:r>
            <a:endParaRPr sz="20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7A5C33A-B7CD-44C0-BBDE-49E94199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23160"/>
            <a:ext cx="21945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2CE76-12C1-4AAD-AD9D-2750D385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231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Sık Tuzaklar</a:t>
            </a:r>
            <a:endParaRPr sz="20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35E118D-22CC-4BBC-8E9D-9CE0E56A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80360"/>
            <a:ext cx="690372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9A4CA45-6886-40AE-8607-78F9AE4F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17520"/>
            <a:ext cx="6400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Basit sözcük, </a:t>
            </a: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hiç yapım eki almamış (çekim eki alabilir); </a:t>
            </a:r>
            <a:r>
              <a:rPr sz="15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türemiş sözcük</a:t>
            </a: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ise en az bir yapım eki almıştır. Belirleyici olan ek SAYISI değil, ek TÜRÜDÜR — bir sözcüğü türemiş yapmak için tek bir yapım eki bile yeterlidir.</a:t>
            </a:r>
            <a:endParaRPr sz="15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FB885AD-7565-46A2-B199-9B871218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434840"/>
            <a:ext cx="690372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9A441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59CCB72-21C2-4997-B7F4-79434DD0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590288"/>
            <a:ext cx="5943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SIRADAKİ DERS</a:t>
            </a:r>
            <a:endParaRPr sz="16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3DD8BD-99A0-4BB4-8A64-6064FC2E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864608"/>
            <a:ext cx="5943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42A44"/>
                </a:solidFill>
                <a:latin typeface="Cambria"/>
                <a:ea typeface="Cambria"/>
                <a:cs typeface="Cambria"/>
              </a:rPr>
              <a:t>Birleşik Sözcük (Ders 5/6)  →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6709025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CF37FAC-0515-41AC-811B-2D6FF97B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899446dc748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6B68DD6-B9F1-464C-A2E1-4D9571ED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PEKIŞTIRME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9D14C74-5E1E-4B28-88D0-6F00062D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Ödev: Basit / Türemiş Ayırma Alıştırması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114F9D0-C6C9-4828-8EE3-F5721A8A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Sıradaki derse kadar aşağıdaki 10 sözcüğün BASİT mi TÜREMİŞ mi olduğunu, türemişse hangi ekle türediğini defterinize yazın:</a:t>
            </a:r>
            <a:endParaRPr sz="2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FEA0520-EB44-4443-AA2F-9029C009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490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7478F6F-68E8-4564-A6C0-91D5E37A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490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1. kapıcı</a:t>
            </a:r>
            <a:endParaRPr sz="2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A7CE699-66B7-469B-891D-E5D72D4C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449068"/>
            <a:ext cx="2011680" cy="81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D942553-0B50-430F-BE54-4A6ADF30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449068"/>
            <a:ext cx="201168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2. kapılarımızdan</a:t>
            </a:r>
            <a:endParaRPr sz="2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E5F695A-A5B0-4E67-9FD9-F35C61A4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490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2B69520-D934-4609-8A98-0756011B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490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3. sevinç</a:t>
            </a:r>
            <a:endParaRPr sz="2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6835883-A5EB-4595-9150-5C067741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49068"/>
            <a:ext cx="2011680" cy="81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E15AD7D-6842-4FA9-B478-C41D3D94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49068"/>
            <a:ext cx="201168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4. defterlerimizde</a:t>
            </a:r>
            <a:endParaRPr sz="2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83B4DFA-9571-4787-90F0-B8FF5724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4490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5D508D3-DD60-4ABC-A0B8-0FA57962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4490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5. gözlük</a:t>
            </a:r>
            <a:endParaRPr sz="2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AB57657-BBF9-499D-B5A7-B8140A05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904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A9C0B91-1ED3-47F2-B917-16BB9ACF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904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6. gözlerimize</a:t>
            </a:r>
            <a:endParaRPr sz="2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4DD60C6-5A66-4EF7-8610-CA741374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4904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52918AA-F643-4866-A825-F005AD20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4904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7. tatlandı</a:t>
            </a:r>
            <a:endParaRPr sz="2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4C48E191-B627-4C3B-939B-C0FFAB51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904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A5CD639-3031-4200-93D9-4DF1664B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904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8. tatlarımızı</a:t>
            </a:r>
            <a:endParaRPr sz="2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7300FE7-05A9-47AE-8C16-97003F89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4904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A8883CB-2964-4B7F-9BDD-A0FC1C2B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4904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9. yazarlık</a:t>
            </a:r>
            <a:endParaRPr sz="21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60DAFE30-62A9-484A-9E3E-CF029D16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490468"/>
            <a:ext cx="2011680" cy="81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3B71B0A-E7F9-4530-95D1-3D661E15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490468"/>
            <a:ext cx="201168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10. kalemlerimizi</a:t>
            </a:r>
            <a:endParaRPr sz="20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0644920-D0FC-46C2-831A-1E5333B2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23308"/>
            <a:ext cx="10881360" cy="812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A3E215F-9498-4C1E-8965-0D36B479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3308"/>
            <a:ext cx="103327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Not: Bir sözcüğü türemiş yapan şey ek sayısı değil, en az bir yapım eki taşımasıdır — köke kadar sabırla soyun.</a:t>
            </a:r>
            <a:endParaRPr sz="20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F14AC96-2C78-4C41-9B84-A557FD6A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Ödev</a:t>
            </a:r>
            <a:endParaRPr sz="9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D768E5B-E993-40AC-9949-003C15F7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118923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7CFF98-700E-469E-96E7-F6720A78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0"/>
            <a:ext cx="40507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4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154D8A8-30A4-464D-BE60-9FC7CF41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B78"/>
          </a:solidFill>
        </p:spPr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d881c251247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7132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557B03B-EB93-4170-B995-C298C561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94360"/>
            <a:ext cx="6400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Ders Tamamlandı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A199539-8E99-4F96-91D5-718D34F3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Basit / Türemiş Sözcük — Sözcükte Yapı, Ders 4/6</a:t>
            </a:r>
            <a:endParaRPr sz="14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3D7DAAC-7EDD-45A9-AE2E-DE49FC6A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70408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ACBCC32-4CAB-4073-B7D0-447AF8B0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6492240" cy="14323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Bugün öğrendik:  </a:t>
            </a:r>
            <a:endParaRPr sz="1850"/>
          </a:p>
          <a:p xmlns:a="http://schemas.openxmlformats.org/drawingml/2006/main">
            <a:pPr marL="0" indent="0">
              <a:buNone/>
            </a:pPr>
            <a:r>
              <a:rPr sz="18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Basit ve türemiş sözcük tanımları, ayırt etme yöntemi, gövde/gövdeden türemiş sözcük kavramı ve basit sanılan ama türemiş olan sözcük tuzakları.</a:t>
            </a:r>
            <a:endParaRPr sz="18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53F9264-4E0D-40B1-8C45-FDF33BC6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704088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9A441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DED285-641F-4C64-80A9-A092FFC6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5968"/>
            <a:ext cx="5943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SIRADAKİ DERS (5/6)</a:t>
            </a:r>
            <a:endParaRPr sz="1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27E7982-646B-4DBB-B684-EB4E9EA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0288"/>
            <a:ext cx="5943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42A44"/>
                </a:solidFill>
                <a:latin typeface="Cambria"/>
                <a:ea typeface="Cambria"/>
                <a:cs typeface="Cambria"/>
              </a:rPr>
              <a:t>Birleşik Sözcük  →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883671D-A50E-4EAD-BD39-9045720F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E8CB0"/>
                </a:solidFill>
                <a:latin typeface="Calibri"/>
                <a:ea typeface="Calibri"/>
                <a:cs typeface="Calibri"/>
              </a:rPr>
              <a:t>TYT Türkçe Ders Anlatım Projesi  ·  Sedat GÜLER ve Claude Opus 5 tarafından üretilmiştir.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485096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2026-09-22T08:01:49.4190000Z</dcterms:created>
  <dcterms:modified xsi:type="dcterms:W3CDTF">2026-09-22T08:01:49.4200000Z</dcterms:modified>
</coreProperties>
</file>