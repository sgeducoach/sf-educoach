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4a80d77d124c60" /><Relationship Type="http://schemas.openxmlformats.org/officeDocument/2006/relationships/extended-properties" Target="/docProps/app.xml" Id="R196cd363a065421b" /><Relationship Type="http://schemas.openxmlformats.org/officeDocument/2006/relationships/officeDocument" Target="/ppt/presentation.xml" Id="Rc94b54d4b75045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ccb024abbc4713"/>
  </p:sldMasterIdLst>
  <p:notesMasterIdLst>
    <p:notesMasterId xmlns:r="http://schemas.openxmlformats.org/officeDocument/2006/relationships" r:id="R3dbcc91696234a33"/>
  </p:notesMasterIdLst>
  <p:sldIdLst>
    <p:sldId xmlns:r="http://schemas.openxmlformats.org/officeDocument/2006/relationships" id="256" r:id="R0baf6ff2f4c54032"/>
    <p:sldId xmlns:r="http://schemas.openxmlformats.org/officeDocument/2006/relationships" id="257" r:id="R644a36d3913b4129"/>
    <p:sldId xmlns:r="http://schemas.openxmlformats.org/officeDocument/2006/relationships" id="258" r:id="Rdf12973c36ad429c"/>
    <p:sldId xmlns:r="http://schemas.openxmlformats.org/officeDocument/2006/relationships" id="259" r:id="R06bfa6d5e6b14232"/>
    <p:sldId xmlns:r="http://schemas.openxmlformats.org/officeDocument/2006/relationships" id="260" r:id="Rf8a472a0e97e481d"/>
    <p:sldId xmlns:r="http://schemas.openxmlformats.org/officeDocument/2006/relationships" id="261" r:id="Rac616fb9d8d84013"/>
    <p:sldId xmlns:r="http://schemas.openxmlformats.org/officeDocument/2006/relationships" id="262" r:id="R38d8a0e4b6634511"/>
    <p:sldId xmlns:r="http://schemas.openxmlformats.org/officeDocument/2006/relationships" id="263" r:id="R21440cb0805c4844"/>
    <p:sldId xmlns:r="http://schemas.openxmlformats.org/officeDocument/2006/relationships" id="264" r:id="R7aa1b1cbc2214801"/>
    <p:sldId xmlns:r="http://schemas.openxmlformats.org/officeDocument/2006/relationships" id="265" r:id="R423111b41ebd47b2"/>
    <p:sldId xmlns:r="http://schemas.openxmlformats.org/officeDocument/2006/relationships" id="266" r:id="R7272e9f89b594f73"/>
    <p:sldId xmlns:r="http://schemas.openxmlformats.org/officeDocument/2006/relationships" id="267" r:id="R86dbdeee924d4e3d"/>
    <p:sldId xmlns:r="http://schemas.openxmlformats.org/officeDocument/2006/relationships" id="268" r:id="R0873979010844b58"/>
    <p:sldId xmlns:r="http://schemas.openxmlformats.org/officeDocument/2006/relationships" id="269" r:id="Rb825080c337d4b74"/>
    <p:sldId xmlns:r="http://schemas.openxmlformats.org/officeDocument/2006/relationships" id="270" r:id="Rcd8dee9cbbfe4b02"/>
    <p:sldId xmlns:r="http://schemas.openxmlformats.org/officeDocument/2006/relationships" id="271" r:id="Rb4ba73cb5bec4850"/>
    <p:sldId xmlns:r="http://schemas.openxmlformats.org/officeDocument/2006/relationships" id="272" r:id="Rba567da4bcfd47ef"/>
    <p:sldId xmlns:r="http://schemas.openxmlformats.org/officeDocument/2006/relationships" id="273" r:id="Re09fe704717a4adc"/>
    <p:sldId xmlns:r="http://schemas.openxmlformats.org/officeDocument/2006/relationships" id="274" r:id="R72907a9bd4304731"/>
    <p:sldId xmlns:r="http://schemas.openxmlformats.org/officeDocument/2006/relationships" id="275" r:id="R4aa08557a69542e7"/>
    <p:sldId xmlns:r="http://schemas.openxmlformats.org/officeDocument/2006/relationships" id="276" r:id="R60884ba68a6c4739"/>
    <p:sldId xmlns:r="http://schemas.openxmlformats.org/officeDocument/2006/relationships" id="277" r:id="Re160d72d8ee34c83"/>
    <p:sldId xmlns:r="http://schemas.openxmlformats.org/officeDocument/2006/relationships" id="278" r:id="R244b15df0e5f40c5"/>
    <p:sldId xmlns:r="http://schemas.openxmlformats.org/officeDocument/2006/relationships" id="279" r:id="R63f6540a706546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3ef721ae7e4c07" /><Relationship Type="http://schemas.openxmlformats.org/officeDocument/2006/relationships/slideMaster" Target="/ppt/slideMasters/slideMaster1.xml" Id="Rc8ccb024abbc4713" /><Relationship Type="http://schemas.openxmlformats.org/officeDocument/2006/relationships/notesMaster" Target="/ppt/notesMasters/notesMaster1.xml" Id="R3dbcc91696234a33" /><Relationship Type="http://schemas.openxmlformats.org/officeDocument/2006/relationships/presProps" Target="/ppt/presProps.xml" Id="Rdf26f151c2ea47e8" /><Relationship Type="http://schemas.openxmlformats.org/officeDocument/2006/relationships/viewProps" Target="/ppt/viewProps.xml" Id="R2b9e61f86ef8465f" /><Relationship Type="http://schemas.openxmlformats.org/officeDocument/2006/relationships/tableStyles" Target="/ppt/tableStyles.xml" Id="R2fb8dd95dfee4b01" /><Relationship Type="http://schemas.openxmlformats.org/officeDocument/2006/relationships/slide" Target="/ppt/slides/slide1.xml" Id="R0baf6ff2f4c54032" /><Relationship Type="http://schemas.openxmlformats.org/officeDocument/2006/relationships/slide" Target="/ppt/slides/slide2.xml" Id="R644a36d3913b4129" /><Relationship Type="http://schemas.openxmlformats.org/officeDocument/2006/relationships/slide" Target="/ppt/slides/slide3.xml" Id="Rdf12973c36ad429c" /><Relationship Type="http://schemas.openxmlformats.org/officeDocument/2006/relationships/slide" Target="/ppt/slides/slide4.xml" Id="R06bfa6d5e6b14232" /><Relationship Type="http://schemas.openxmlformats.org/officeDocument/2006/relationships/slide" Target="/ppt/slides/slide5.xml" Id="Rf8a472a0e97e481d" /><Relationship Type="http://schemas.openxmlformats.org/officeDocument/2006/relationships/slide" Target="/ppt/slides/slide6.xml" Id="Rac616fb9d8d84013" /><Relationship Type="http://schemas.openxmlformats.org/officeDocument/2006/relationships/slide" Target="/ppt/slides/slide7.xml" Id="R38d8a0e4b6634511" /><Relationship Type="http://schemas.openxmlformats.org/officeDocument/2006/relationships/slide" Target="/ppt/slides/slide8.xml" Id="R21440cb0805c4844" /><Relationship Type="http://schemas.openxmlformats.org/officeDocument/2006/relationships/slide" Target="/ppt/slides/slide9.xml" Id="R7aa1b1cbc2214801" /><Relationship Type="http://schemas.openxmlformats.org/officeDocument/2006/relationships/slide" Target="/ppt/slides/slide10.xml" Id="R423111b41ebd47b2" /><Relationship Type="http://schemas.openxmlformats.org/officeDocument/2006/relationships/slide" Target="/ppt/slides/slide11.xml" Id="R7272e9f89b594f73" /><Relationship Type="http://schemas.openxmlformats.org/officeDocument/2006/relationships/slide" Target="/ppt/slides/slide12.xml" Id="R86dbdeee924d4e3d" /><Relationship Type="http://schemas.openxmlformats.org/officeDocument/2006/relationships/slide" Target="/ppt/slides/slide13.xml" Id="R0873979010844b58" /><Relationship Type="http://schemas.openxmlformats.org/officeDocument/2006/relationships/slide" Target="/ppt/slides/slide14.xml" Id="Rb825080c337d4b74" /><Relationship Type="http://schemas.openxmlformats.org/officeDocument/2006/relationships/slide" Target="/ppt/slides/slide15.xml" Id="Rcd8dee9cbbfe4b02" /><Relationship Type="http://schemas.openxmlformats.org/officeDocument/2006/relationships/slide" Target="/ppt/slides/slide16.xml" Id="Rb4ba73cb5bec4850" /><Relationship Type="http://schemas.openxmlformats.org/officeDocument/2006/relationships/slide" Target="/ppt/slides/slide17.xml" Id="Rba567da4bcfd47ef" /><Relationship Type="http://schemas.openxmlformats.org/officeDocument/2006/relationships/slide" Target="/ppt/slides/slide18.xml" Id="Re09fe704717a4adc" /><Relationship Type="http://schemas.openxmlformats.org/officeDocument/2006/relationships/slide" Target="/ppt/slides/slide19.xml" Id="R72907a9bd4304731" /><Relationship Type="http://schemas.openxmlformats.org/officeDocument/2006/relationships/slide" Target="/ppt/slides/slide20.xml" Id="R4aa08557a69542e7" /><Relationship Type="http://schemas.openxmlformats.org/officeDocument/2006/relationships/slide" Target="/ppt/slides/slide21.xml" Id="R60884ba68a6c4739" /><Relationship Type="http://schemas.openxmlformats.org/officeDocument/2006/relationships/slide" Target="/ppt/slides/slide22.xml" Id="Re160d72d8ee34c83" /><Relationship Type="http://schemas.openxmlformats.org/officeDocument/2006/relationships/slide" Target="/ppt/slides/slide23.xml" Id="R244b15df0e5f40c5" /><Relationship Type="http://schemas.openxmlformats.org/officeDocument/2006/relationships/slide" Target="/ppt/slides/slide24.xml" Id="R63f6540a706546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c7bed9454144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65a60b1500415f" /><Relationship Type="http://schemas.openxmlformats.org/officeDocument/2006/relationships/notesMaster" Target="/ppt/notesMasters/notesMaster1.xml" Id="Rc0e8540f4ff1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39d5c4bec14a4d" /><Relationship Type="http://schemas.openxmlformats.org/officeDocument/2006/relationships/notesMaster" Target="/ppt/notesMasters/notesMaster1.xml" Id="Rf4e11455433d49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03be45b9e44491" /><Relationship Type="http://schemas.openxmlformats.org/officeDocument/2006/relationships/notesMaster" Target="/ppt/notesMasters/notesMaster1.xml" Id="R46f2db0601264a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f4c9801aab4b6f" /><Relationship Type="http://schemas.openxmlformats.org/officeDocument/2006/relationships/notesMaster" Target="/ppt/notesMasters/notesMaster1.xml" Id="R35725e68f3b04e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1afa54156b47ef" /><Relationship Type="http://schemas.openxmlformats.org/officeDocument/2006/relationships/notesMaster" Target="/ppt/notesMasters/notesMaster1.xml" Id="R2c17732dbc4748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669232d82b407e" /><Relationship Type="http://schemas.openxmlformats.org/officeDocument/2006/relationships/notesMaster" Target="/ppt/notesMasters/notesMaster1.xml" Id="Ra87d335c02114f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54362f6c324e48" /><Relationship Type="http://schemas.openxmlformats.org/officeDocument/2006/relationships/notesMaster" Target="/ppt/notesMasters/notesMaster1.xml" Id="Rd68e311a87e747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33fc8f3fcd4e4e" /><Relationship Type="http://schemas.openxmlformats.org/officeDocument/2006/relationships/notesMaster" Target="/ppt/notesMasters/notesMaster1.xml" Id="R1c435dcbd2f14e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33652f48fd4527" /><Relationship Type="http://schemas.openxmlformats.org/officeDocument/2006/relationships/notesMaster" Target="/ppt/notesMasters/notesMaster1.xml" Id="R5f1b2e784f264d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84d38f2bc3452c" /><Relationship Type="http://schemas.openxmlformats.org/officeDocument/2006/relationships/notesMaster" Target="/ppt/notesMasters/notesMaster1.xml" Id="Rcc70723b047c49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60be73c3f645f6" /><Relationship Type="http://schemas.openxmlformats.org/officeDocument/2006/relationships/notesMaster" Target="/ppt/notesMasters/notesMaster1.xml" Id="Rd0e6c7e9a6b046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0fbda5cf6c42f0" /><Relationship Type="http://schemas.openxmlformats.org/officeDocument/2006/relationships/notesMaster" Target="/ppt/notesMasters/notesMaster1.xml" Id="R379b9d3b83644a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01d500881f4cfc" /><Relationship Type="http://schemas.openxmlformats.org/officeDocument/2006/relationships/notesMaster" Target="/ppt/notesMasters/notesMaster1.xml" Id="Rb70afe20c9cf41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9cf132ec464623" /><Relationship Type="http://schemas.openxmlformats.org/officeDocument/2006/relationships/notesMaster" Target="/ppt/notesMasters/notesMaster1.xml" Id="Rd6414b28753443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e2fd6590e042b9" /><Relationship Type="http://schemas.openxmlformats.org/officeDocument/2006/relationships/notesMaster" Target="/ppt/notesMasters/notesMaster1.xml" Id="Rd15ee093749847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84c876245542c8" /><Relationship Type="http://schemas.openxmlformats.org/officeDocument/2006/relationships/notesMaster" Target="/ppt/notesMasters/notesMaster1.xml" Id="R76f169b5362d4a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1328c2211540d9" /><Relationship Type="http://schemas.openxmlformats.org/officeDocument/2006/relationships/notesMaster" Target="/ppt/notesMasters/notesMaster1.xml" Id="Rb152ba07f57b43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ca027f0818a4384" /><Relationship Type="http://schemas.openxmlformats.org/officeDocument/2006/relationships/notesMaster" Target="/ppt/notesMasters/notesMaster1.xml" Id="Rfa58ca2671824bf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4578b3ccde4a22" /><Relationship Type="http://schemas.openxmlformats.org/officeDocument/2006/relationships/notesMaster" Target="/ppt/notesMasters/notesMaster1.xml" Id="Re565c26076094d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27ba09b0924638" /><Relationship Type="http://schemas.openxmlformats.org/officeDocument/2006/relationships/notesMaster" Target="/ppt/notesMasters/notesMaster1.xml" Id="Re7582ed3ad634fa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9bf03568dd474b" /><Relationship Type="http://schemas.openxmlformats.org/officeDocument/2006/relationships/notesMaster" Target="/ppt/notesMasters/notesMaster1.xml" Id="R5107cdeaa798453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8fd41ee1c04101" /><Relationship Type="http://schemas.openxmlformats.org/officeDocument/2006/relationships/notesMaster" Target="/ppt/notesMasters/notesMaster1.xml" Id="R8171e6bee8a84fe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cb164fbca2f4ce3" /><Relationship Type="http://schemas.openxmlformats.org/officeDocument/2006/relationships/notesMaster" Target="/ppt/notesMasters/notesMaster1.xml" Id="Rd74ac78c770e41d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6b4f4cf210d4b8f" /><Relationship Type="http://schemas.openxmlformats.org/officeDocument/2006/relationships/notesMaster" Target="/ppt/notesMasters/notesMaster1.xml" Id="Rb6964f6e529e41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1a4f413a841a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6750141d7746d9" /><Relationship Type="http://schemas.openxmlformats.org/officeDocument/2006/relationships/slideLayout" Target="/ppt/slideLayouts/slideLayout1.xml" Id="R1189cf5e58f741e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89cf5e58f741e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183a6acca4f53" /><Relationship Type="http://schemas.openxmlformats.org/officeDocument/2006/relationships/image" Target="/ppt/media/image.png" Id="R4160f009971a45a1" /><Relationship Type="http://schemas.openxmlformats.org/officeDocument/2006/relationships/image" Target="/ppt/media/image2.png" Id="R5f54172328ca42b5" /><Relationship Type="http://schemas.openxmlformats.org/officeDocument/2006/relationships/notesSlide" Target="/ppt/notesSlides/notesSlide1.xml" Id="R9b245f7cf2af43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1582d2b4047b1" /><Relationship Type="http://schemas.openxmlformats.org/officeDocument/2006/relationships/image" Target="/ppt/media/image3.png" Id="Rdc59429503f541c9" /><Relationship Type="http://schemas.openxmlformats.org/officeDocument/2006/relationships/notesSlide" Target="/ppt/notesSlides/notesSlide2.xml" Id="R7de0b3f0fc0e4e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c3af7c327460f" /><Relationship Type="http://schemas.openxmlformats.org/officeDocument/2006/relationships/image" Target="/ppt/media/image4.png" Id="Rb2b336dff4154346" /><Relationship Type="http://schemas.openxmlformats.org/officeDocument/2006/relationships/notesSlide" Target="/ppt/notesSlides/notesSlide3.xml" Id="R4a78cfbc571341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d6e64d7ba477b" /><Relationship Type="http://schemas.openxmlformats.org/officeDocument/2006/relationships/image" Target="/ppt/media/image5.png" Id="R2e00ab1bd6014f30" /><Relationship Type="http://schemas.openxmlformats.org/officeDocument/2006/relationships/notesSlide" Target="/ppt/notesSlides/notesSlide4.xml" Id="R5a94975047534b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67430ff164437" /><Relationship Type="http://schemas.openxmlformats.org/officeDocument/2006/relationships/image" Target="/ppt/media/image6.png" Id="Ra6e62ae5d11740f4" /><Relationship Type="http://schemas.openxmlformats.org/officeDocument/2006/relationships/notesSlide" Target="/ppt/notesSlides/notesSlide5.xml" Id="Ra600a278fe6643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cef3675ce4fbf" /><Relationship Type="http://schemas.openxmlformats.org/officeDocument/2006/relationships/image" Target="/ppt/media/image7.png" Id="R9defe61f39e04ac5" /><Relationship Type="http://schemas.openxmlformats.org/officeDocument/2006/relationships/notesSlide" Target="/ppt/notesSlides/notesSlide6.xml" Id="Rd3541fa1f1784a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8a42b5316483e" /><Relationship Type="http://schemas.openxmlformats.org/officeDocument/2006/relationships/image" Target="/ppt/media/image8.png" Id="Rf3ea8a958fe54fae" /><Relationship Type="http://schemas.openxmlformats.org/officeDocument/2006/relationships/notesSlide" Target="/ppt/notesSlides/notesSlide7.xml" Id="R09478e88fac347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88919aff349ce" /><Relationship Type="http://schemas.openxmlformats.org/officeDocument/2006/relationships/image" Target="/ppt/media/image9.png" Id="Ra819e871e49c4af8" /><Relationship Type="http://schemas.openxmlformats.org/officeDocument/2006/relationships/notesSlide" Target="/ppt/notesSlides/notesSlide8.xml" Id="Rcb184422f7e948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9ae291eff40d9" /><Relationship Type="http://schemas.openxmlformats.org/officeDocument/2006/relationships/image" Target="/ppt/media/image10.png" Id="Re26ca1f97f114623" /><Relationship Type="http://schemas.openxmlformats.org/officeDocument/2006/relationships/notesSlide" Target="/ppt/notesSlides/notesSlide9.xml" Id="Re26c298827ea49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0cec4b54e4ca0" /><Relationship Type="http://schemas.openxmlformats.org/officeDocument/2006/relationships/image" Target="/ppt/media/image11.png" Id="R90e6da7ea8d449c8" /><Relationship Type="http://schemas.openxmlformats.org/officeDocument/2006/relationships/notesSlide" Target="/ppt/notesSlides/notesSlide10.xml" Id="R0839ba24dcf444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e20ccf65c486e" /><Relationship Type="http://schemas.openxmlformats.org/officeDocument/2006/relationships/image" Target="/ppt/media/image12.png" Id="Rd7df8be4a8e84b2e" /><Relationship Type="http://schemas.openxmlformats.org/officeDocument/2006/relationships/notesSlide" Target="/ppt/notesSlides/notesSlide11.xml" Id="Rfc772a1bd34b4f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d3480f9e248a1" /><Relationship Type="http://schemas.openxmlformats.org/officeDocument/2006/relationships/image" Target="/ppt/media/image13.png" Id="R2af4234dac3b4358" /><Relationship Type="http://schemas.openxmlformats.org/officeDocument/2006/relationships/notesSlide" Target="/ppt/notesSlides/notesSlide12.xml" Id="Rf3776626c3c541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d030a6d9c480c" /><Relationship Type="http://schemas.openxmlformats.org/officeDocument/2006/relationships/image" Target="/ppt/media/image14.png" Id="R5091bc6d63a7450a" /><Relationship Type="http://schemas.openxmlformats.org/officeDocument/2006/relationships/notesSlide" Target="/ppt/notesSlides/notesSlide13.xml" Id="Rea7f388b99994a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6981ebf4f4119" /><Relationship Type="http://schemas.openxmlformats.org/officeDocument/2006/relationships/image" Target="/ppt/media/image15.png" Id="R26aadf85475749b0" /><Relationship Type="http://schemas.openxmlformats.org/officeDocument/2006/relationships/notesSlide" Target="/ppt/notesSlides/notesSlide14.xml" Id="R9af7a123e7534e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423dcba4c4795" /><Relationship Type="http://schemas.openxmlformats.org/officeDocument/2006/relationships/image" Target="/ppt/media/image16.png" Id="R256dbcbe491a4ec7" /><Relationship Type="http://schemas.openxmlformats.org/officeDocument/2006/relationships/notesSlide" Target="/ppt/notesSlides/notesSlide15.xml" Id="R0b79f5e4a69145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b40edccf0464b" /><Relationship Type="http://schemas.openxmlformats.org/officeDocument/2006/relationships/image" Target="/ppt/media/image16.png" Id="R2fd29272acb94ca0" /><Relationship Type="http://schemas.openxmlformats.org/officeDocument/2006/relationships/notesSlide" Target="/ppt/notesSlides/notesSlide16.xml" Id="R30cb71b0a5484c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a66f99b7f4fea" /><Relationship Type="http://schemas.openxmlformats.org/officeDocument/2006/relationships/image" Target="/ppt/media/image17.png" Id="R5797a3f0fb064f0f" /><Relationship Type="http://schemas.openxmlformats.org/officeDocument/2006/relationships/notesSlide" Target="/ppt/notesSlides/notesSlide17.xml" Id="Rba4878b4c15a4b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c8206c0a043c0" /><Relationship Type="http://schemas.openxmlformats.org/officeDocument/2006/relationships/image" Target="/ppt/media/image17.png" Id="R3ee8be9a2e264c55" /><Relationship Type="http://schemas.openxmlformats.org/officeDocument/2006/relationships/notesSlide" Target="/ppt/notesSlides/notesSlide18.xml" Id="R8347432d91bc44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d1d1a5c844a86" /><Relationship Type="http://schemas.openxmlformats.org/officeDocument/2006/relationships/image" Target="/ppt/media/image18.png" Id="R6ebd0bc574304e42" /><Relationship Type="http://schemas.openxmlformats.org/officeDocument/2006/relationships/notesSlide" Target="/ppt/notesSlides/notesSlide19.xml" Id="Rbf06bac564984e8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913c9637d4fa4" /><Relationship Type="http://schemas.openxmlformats.org/officeDocument/2006/relationships/image" Target="/ppt/media/image18.png" Id="Rbe42fa6180c743b9" /><Relationship Type="http://schemas.openxmlformats.org/officeDocument/2006/relationships/notesSlide" Target="/ppt/notesSlides/notesSlide20.xml" Id="R5646d8ec8d2f4b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fb64442a646c9" /><Relationship Type="http://schemas.openxmlformats.org/officeDocument/2006/relationships/image" Target="/ppt/media/image19.png" Id="Rc1a22fd50e524716" /><Relationship Type="http://schemas.openxmlformats.org/officeDocument/2006/relationships/notesSlide" Target="/ppt/notesSlides/notesSlide21.xml" Id="R497df07fdd524e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5e1b61b434005" /><Relationship Type="http://schemas.openxmlformats.org/officeDocument/2006/relationships/image" Target="/ppt/media/image20.png" Id="R71be018c507e4334" /><Relationship Type="http://schemas.openxmlformats.org/officeDocument/2006/relationships/notesSlide" Target="/ppt/notesSlides/notesSlide22.xml" Id="R75c057319fd240c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e4de7aeb24321" /><Relationship Type="http://schemas.openxmlformats.org/officeDocument/2006/relationships/image" Target="/ppt/media/image21.png" Id="R76063075d82c44fa" /><Relationship Type="http://schemas.openxmlformats.org/officeDocument/2006/relationships/notesSlide" Target="/ppt/notesSlides/notesSlide23.xml" Id="R6935e9faa5904f3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2225f012e40de" /><Relationship Type="http://schemas.openxmlformats.org/officeDocument/2006/relationships/image" Target="/ppt/media/image22.png" Id="Rc02572e49d404309" /><Relationship Type="http://schemas.openxmlformats.org/officeDocument/2006/relationships/notesSlide" Target="/ppt/notesSlides/notesSlide24.xml" Id="R2e716ed0507744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090DA8E-624D-4A5B-979B-2BD74CD5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0"/>
            <a:ext cx="432511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4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931AB8C-4889-4A2F-AFBC-BDA889A3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601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SÖZCÜKTE YAPI · DERS 4/6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24392E9-2601-4902-96A6-D6AFA10A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69494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Basit / Türemiş Sözcük</a:t>
            </a:r>
            <a:endParaRPr sz="4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D9FBB9-6B05-499C-B8A6-9AF053AD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Sözcükte Yapım Eki Var mı, Yok mu?</a:t>
            </a:r>
            <a:endParaRPr sz="2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8CE0246-F1B6-4A59-9577-52DC373E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247802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A44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7B54D9D-BAF4-4295-8173-94532834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24780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 dk · </a:t>
            </a:r>
            <a:r>
              <a:rPr sz="1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Blokta</a:t>
            </a:r>
            <a:r>
              <a:rPr sz="1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2 föy</a:t>
            </a:r>
            <a:endParaRPr sz="17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3DF09DF-14D6-403B-8612-014C2ABD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3429000"/>
            <a:ext cx="309524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A44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59E5B16-073C-483F-934D-11515465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3429000"/>
            <a:ext cx="30952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Dil Bilgisi · Hafta 3</a:t>
            </a:r>
            <a:endParaRPr sz="17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B331A8-7C0B-4F5C-A57D-80D5D13A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B78"/>
          </a:solidFill>
        </p:spPr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0f009971a45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664" y="4306824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89922F2-3DAE-4308-92A0-658821C2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062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Sedat GÜLER ve Claude Opus 5  ·  TYT Türkçe Ders Anlatım Serisi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77C6874-4A68-4D8C-AE0B-9D1554FD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554480"/>
            <a:ext cx="2743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42A44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B07720C-6F77-4ED2-B7B5-0EC4855C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554480"/>
            <a:ext cx="2743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KALEM</a:t>
            </a:r>
            <a:endParaRPr sz="21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04CEA76-B7C8-4B45-8138-03DA6922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331720"/>
            <a:ext cx="2743200" cy="288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yapım eki yok → BASİT</a:t>
            </a:r>
            <a:endParaRPr sz="16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F6D56CA-A461-45F3-BB86-E5800309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880360"/>
            <a:ext cx="27432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141F6EC-10B6-4DCF-9379-E682947A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880360"/>
            <a:ext cx="2743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kalem + lik</a:t>
            </a:r>
            <a:endParaRPr sz="17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ECC5CCA-4308-412E-B7CE-C07273BB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45643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↓  yapım eki eklendi</a:t>
            </a:r>
            <a:endParaRPr sz="15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31D0839-5324-4500-A7EC-B8D70D1F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40480"/>
            <a:ext cx="329184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2C023D5-1C5B-432B-890B-9D06882A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40480"/>
            <a:ext cx="32918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KALEMLİK</a:t>
            </a:r>
            <a:endParaRPr sz="2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30657AF-9E2A-4DE5-9DB9-9C85D494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663440"/>
            <a:ext cx="3291840" cy="288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yeni sözcük → TÜREMİŞ</a:t>
            </a:r>
            <a:endParaRPr sz="16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DF28910E-8044-4984-8506-275F43BB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212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B78"/>
          </a:solidFill>
        </p:spPr>
      </p:sp>
      <p:pic>
        <p:nvPicPr>
          <p:cNvPr id="4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4172328ca42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7806" y="5397246"/>
            <a:ext cx="452628" cy="4526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87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F3B04D9-5168-4540-A79C-FC6CE4D8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9429503f541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0331225-0826-4666-B815-027A06B5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KAZANIM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20FD7A9-AE06-4ABF-8170-E65A2ACB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Bugün Ne Öğreneceğiz?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0EF5D80-6614-48B2-B54E-332191CD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10881360" cy="104317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E1C61F3-9695-4080-B2E4-7251EEAA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98929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0501F66-7216-445D-9901-BC13CF32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98929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0AD8B97-45B1-4603-A0D7-CECBE354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28800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Basit sözcüğün (hiç yapım eki almamış) ve türemiş sözcüğün (en az bir yapım eki almış) tanımını öğrenecek.</a:t>
            </a:r>
            <a:endParaRPr sz="21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BAFC056-970B-4F09-BCE6-521ABF79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20111"/>
            <a:ext cx="10881360" cy="104317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6F062E6-B216-42F1-8CD9-C831E48A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9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B837B97-C3A2-4CB3-BBFC-1DCE711D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9024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0E6B2B4-59F9-4B04-B1E0-C815982B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0111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 sözcüğü basit mi türemiş mi olduğuna karar verirken izlenecek adım adım yöntemi uygulayacak.</a:t>
            </a:r>
            <a:endParaRPr sz="2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B8A310E-3FBC-4C65-B8AD-5CE61223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11422"/>
            <a:ext cx="10881360" cy="104317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B8C5C51-FE05-4831-8994-57B26274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81551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8001F62-E59B-44B4-B9AE-587DEE92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81551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5B3FF2A-941B-40F8-8D9B-13385A60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11422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"Çok ek almak" ile "türemiş olmak"ın aynı şey olmadığını, ek TÜRÜNÜN (yapım/çekim) belirleyici olduğunu kavrayacak.</a:t>
            </a:r>
            <a:endParaRPr sz="2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A7CBD1-283A-4E73-95A8-F491026F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02732"/>
            <a:ext cx="10881360" cy="104317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AFE5DB3-F63A-46B1-B09D-56AB53D6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72861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06C8290-682F-4E91-9CD6-76448249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72861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20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6809DF3-2730-4165-9B47-4452BB33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02732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TYT tarzı sorularda basit/türemiş ayrımını gerçek ve pekiştirme sorular üzerinde uygulayarak doğru cevaba ulaşabilecek.</a:t>
            </a:r>
            <a:endParaRPr sz="2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A585BEF-4734-4EB4-B6A0-3F9DB068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Kazanım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FD22C64-22F4-4E43-B900-3186ABB1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57269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3AE6AE-78B4-4653-8862-23D53DAE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336dff41543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67504EF-F9D9-45C3-AD09-093B749D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BAĞLANTI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0B741D1-5398-42FD-8373-A28CCDA6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İki Dersin Sentezi: Basit / Türemiş</a:t>
            </a:r>
            <a:endParaRPr sz="27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826EB19-4E13-4D5E-A609-F3F56304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15341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E5718-F00C-4F89-AA1B-028BF08F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1442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Son iki derste iki tür eki öğrendik: </a:t>
            </a: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yapım eki</a:t>
            </a: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(yeni sözcük türetir) ve </a:t>
            </a: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çekim eki</a:t>
            </a: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(işlerlik kazandırır). Bugün bu ikisini bir araya getirip tek bir soruya cevap veriyoruz: bir sözcükte YAPIM EKİ var mı? Varsa türemiş, yoksa basittir — sıradaki derste bu ikisinin üstüne birleşik sözcük ekleyeceğiz.</a:t>
            </a:r>
            <a:endParaRPr sz="20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0612846-5EF9-4EFF-837D-D07F1644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25800"/>
            <a:ext cx="3246120" cy="2315464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81BE7C7-5E57-47ED-94EB-A64A5AF4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54400"/>
            <a:ext cx="27889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Yapım + Çekim Eki (geçen iki ders)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468D0D5-B8F8-4728-A115-7E498759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21480"/>
            <a:ext cx="278892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İki ek türünü ayrı ayrı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tanıdık.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3F999DB-5D63-4981-ACC1-85C603CD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225800"/>
            <a:ext cx="457200" cy="432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→</a:t>
            </a:r>
            <a:endParaRPr sz="24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C299738-DD87-43B3-B0C3-7DF7957D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25800"/>
            <a:ext cx="3246120" cy="2315464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1E2761">
                <a:alpha val="25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636B1D6-7FB1-4AB0-A278-F81C0E2A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54400"/>
            <a:ext cx="27889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Basit / Türemiş (bugün)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419A986-8DFE-45F9-89E2-AF341293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21480"/>
            <a:ext cx="278892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Sözcükte yapım eki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var mı yok mu, ona bakarız.</a:t>
            </a:r>
            <a:endParaRPr sz="2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E43F770-B4FC-4B9D-8698-B906D0E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3225800"/>
            <a:ext cx="457200" cy="432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→</a:t>
            </a:r>
            <a:endParaRPr sz="24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2110C6F-8AD1-44D8-96A7-CDF3B164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225800"/>
            <a:ext cx="3246120" cy="2333498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4054A48-BE8A-47A8-935B-19335B34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454400"/>
            <a:ext cx="278892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Birleşik Sözcük</a:t>
            </a:r>
            <a:endParaRPr sz="21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BC3BE7C-8185-4CB8-9801-FD3A9A56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878834"/>
            <a:ext cx="2788920" cy="1543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Sıradaki konu: iki sözcüğün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birleşip yeni sözcük olması.</a:t>
            </a:r>
            <a:endParaRPr sz="2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78AAD62-2C02-42B6-82F5-F9463E25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Bağlantı</a:t>
            </a:r>
            <a:endParaRPr sz="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78E1E2F-BE40-475E-94D2-41234332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39077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529FF-1EC8-4131-B7DB-BE508E06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0ab1bd6014f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A06A033-123D-4B22-A4E4-3FAF8028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HAZIRLIK SORUSU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22197CD-5E7A-4912-8F45-CCF5A7C0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Hangisi Yeni Sözcük, Hangisi Değil?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B9493BE-6CD9-480A-BC4E-201988E7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881360" cy="1082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Geçen iki derste "öğretmen" (kök + yapım eki) ve "öğretmenler/öğretmenimiz" (+ çekim eki) örneklerini gördük. 2 dakika düşünün: aşağıdaki iki sözcükten hangisinde yapım eki VAR, hangisinde YOK?</a:t>
            </a:r>
            <a:endParaRPr sz="2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CB94F53-6D3D-47D1-9122-0FABB507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865120"/>
            <a:ext cx="310896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5F365E3-4E11-46BF-9A9A-CECF8B01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865120"/>
            <a:ext cx="31089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kalemlerimiz</a:t>
            </a:r>
            <a:endParaRPr sz="2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8AA54A9-6E27-4437-8D4C-6BF2C921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865120"/>
            <a:ext cx="310896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38E9DD4-3031-49B7-9D0F-8E1731B0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865120"/>
            <a:ext cx="31089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öğretmenler</a:t>
            </a:r>
            <a:endParaRPr sz="2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974B60-5EB3-4C46-899B-4BC6C39F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91000"/>
            <a:ext cx="10881360" cy="153416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DC9835-E158-4DE8-BBD8-67EA4B71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0332720" cy="1442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Cevap:  </a:t>
            </a: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"kalemlerimiz" = kalem-ler-imiz — kalem zaten basit bir köktür, eklenenler (çoğul, iyelik) sadece ÇEKİM EKİ; sözcük hâlâ BASİT. "öğretmenler" = öğret-men-ler — "öğret" fiil köküne önce YAPIM EKİ (-men) eklenmiş, sonra çekim eki (-ler); sözcük TÜREMİŞ. İşte bu ayrıma bugün odaklanıyoruz: </a:t>
            </a: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BASİT / TÜREMİŞ SÖZCÜK.</a:t>
            </a:r>
            <a:endParaRPr sz="2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3D24FED-059B-446D-8B02-428303FD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Hazırlık Sorusu</a:t>
            </a:r>
            <a:endParaRPr sz="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FD84D12-BDBE-4097-A385-00D87A39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2016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AB162-FEDF-4D37-ADC6-5D9F34A8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62ae5d117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FE8B530-9BC8-4F4A-AB49-494F49B8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ANLATIM · 1/3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B3D713C-CE3E-4133-903E-A64CD20F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Basit Sözcük Nedir?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E97C87B-C964-4686-86C6-86D96BAA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5E5623A-8D0A-406B-B290-B50A2F1F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332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Tanım:  </a:t>
            </a: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Hiç yapım eki almamış sözcüktür. Basit sözcük çekim eki alabilir — önemli olan yapım ekinin hiç olmamasıdır.</a:t>
            </a:r>
            <a:endParaRPr sz="2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6B81710-45F9-41B4-A070-512BA186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10881360" cy="511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Örnek: "Senin çantanı okulda gördüm." cümlesindeki her sözcük basittir — hiçbiri yapım eki almamıştır, hepsi sadece çekim eki taşır:</a:t>
            </a:r>
            <a:endParaRPr sz="1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CD50EF6-1C93-4DF0-AB1C-A656632B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108813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F8D8E58-8A87-4C2C-B5A2-00C5FB38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66744"/>
            <a:ext cx="2194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2F6D4B1-51DA-4963-9B4A-1514A68E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66744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sen-in</a:t>
            </a:r>
            <a:endParaRPr sz="2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1EBBDD7-2B2B-44A0-A3BB-2E516351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11880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sadece tamlayan eki (çekim)</a:t>
            </a:r>
            <a:endParaRPr sz="2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BB01E52-040C-4775-B62D-01796652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87952"/>
            <a:ext cx="108813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FE90C6B-D116-42BB-BB6A-FAA5A1A5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42816"/>
            <a:ext cx="2194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2F7909F-C85C-4CC9-8771-7F549AD8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42816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çanta-n-ı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0C92018-BE69-4A58-B41B-E8D5D4A0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87952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sadece iyelik + belirtme eki (çekim)</a:t>
            </a:r>
            <a:endParaRPr sz="2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766CB76-1608-4765-A9F1-EE8FBC59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64024"/>
            <a:ext cx="108813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954FAFDF-6688-4F8E-8F55-329294DC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18888"/>
            <a:ext cx="2194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E25BD68-D4E6-4288-89D1-0F2AF548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18888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okul-da</a:t>
            </a:r>
            <a:endParaRPr sz="20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75AD855-D858-42B2-A907-FE37D272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764024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sadece bulunma hâl eki (çekim)</a:t>
            </a:r>
            <a:endParaRPr sz="2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D2B1F6D1-A22F-4606-A158-2D29462C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0096"/>
            <a:ext cx="108813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1EBCB97-17D2-4200-9E3C-73EC9C88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94960"/>
            <a:ext cx="2194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B27547F-9BF5-453B-8C6E-156B202F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94960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gör-dü-m</a:t>
            </a:r>
            <a:endParaRPr sz="2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3B0BD9D-D288-4D2A-90EF-F0147BC6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40096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sadece kip + şahıs eki (çekim)</a:t>
            </a:r>
            <a:endParaRPr sz="21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0A9513CC-B5DE-4343-93F9-25D9D5E9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67B783F-6B2B-4DBA-8A11-E96A7EB2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932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Kısaca: Basit sözcükte kökten sonra gelen her ek ÇEKİM EKİDİR — hiç yapım eki yoktur.</a:t>
            </a:r>
            <a:endParaRPr sz="18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7A82C8F-FAF5-4898-ACB5-8456476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Anlatım — Basit Sözcük Nedir?</a:t>
            </a:r>
            <a:endParaRPr sz="9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AC458F5-53D3-428B-9B48-6397C0C8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63907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22D1666-1DA9-479B-BB56-798A50F2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fe61f39e04a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DD3894C-C271-4666-9A42-237BDE74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ANLATIM · 2/3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64E9BC7-1E76-41EC-9D8E-2EB78526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Türemiş Sözcük Nedir?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487588C-4146-4579-95AE-22A9A431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359D0FB-9C9E-47BB-8FCC-079821DE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332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Tanım:  </a:t>
            </a: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 az bir yapım eki almış sözcüktür. Türemiş sözcük, yapım ekinin yanında çekim eki de alabilir.</a:t>
            </a:r>
            <a:endParaRPr sz="2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99CC826-51D8-4529-9B1B-0B33ED31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10881360" cy="511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Örnek: "Yaşamda zorluklarla karşılaşılır." cümlesindeki her sözcük türemiştir — çünkü her biri en az bir yapım eki taşır:</a:t>
            </a:r>
            <a:endParaRPr sz="1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609C50C-A543-4BD5-8B01-26F40B96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1088136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9E74ABF-5F10-4C1B-A893-DFD4F3A5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85032"/>
            <a:ext cx="2743200" cy="509016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8CDF930-50B7-4375-A2CC-E9D9B22B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85032"/>
            <a:ext cx="2743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yaş-a-m-da</a:t>
            </a:r>
            <a:endParaRPr sz="2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0901F99-8506-4CC3-A208-633A575D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11880"/>
            <a:ext cx="7406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yaş (isim kökü) + -a (isimden fiil) + -m (fiilden isim) + -da (çekim)</a:t>
            </a:r>
            <a:endParaRPr sz="16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938BB4B9-4773-41C6-AF1E-FBF15313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70248"/>
            <a:ext cx="1088136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352321E-566D-422E-852D-08967F74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1792"/>
            <a:ext cx="2743200" cy="509016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0245760-3D35-478D-840D-2C2F3FB1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1792"/>
            <a:ext cx="2743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zor-luk-lar-la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8B0ACEC-2024-4FF4-98F9-05B09194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270248"/>
            <a:ext cx="7406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zor (isim kökü) + -luk (isimden isim) + -lar (çekim) + -la (çekim)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9EFA5474-5AD9-45C4-B48D-9E9D91F4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28616"/>
            <a:ext cx="1088136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F8DDA79-CB24-4DA8-9CD0-AF8AE875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78552"/>
            <a:ext cx="2743200" cy="509016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2097FAB-EBAA-4B51-A16E-14F373FC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78552"/>
            <a:ext cx="2743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karşı-la-ş-ıl-ır</a:t>
            </a:r>
            <a:endParaRPr sz="20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8FF51C2-B0E8-4864-8CDB-9691C48B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28616"/>
            <a:ext cx="7406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karşı (isim kökü) + -la, -ş, -ıl (üç yapım eki) + -ır (çekim)</a:t>
            </a:r>
            <a:endParaRPr sz="16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66E756A-FE77-4ABA-A61B-458E6A34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06440"/>
            <a:ext cx="1088136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5F6CF36-37EF-44CA-9518-8ABA204F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332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Kısaca: Türemiş sözcükte en az BİR yapım eki vardır — kalan ekler çekim eki olabilir ya da hiç olmayabilir.</a:t>
            </a:r>
            <a:endParaRPr sz="17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60A225B-9D85-43F8-8683-F64650BA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Anlatım — Türemiş Sözcük Nedir?</a:t>
            </a:r>
            <a:endParaRPr sz="9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04BD691-52B6-4135-BF42-1AD65B13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11498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506258B-7AF6-41B1-BC44-447ABD36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a8a958fe54f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9702F26-3E7E-4A0A-9711-776A3407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ANLATIM · 3/3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E96E52-7EA1-4129-9314-E8279A6A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Ayırt Etme Yöntemi — Adım Adım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F878521-5D0E-4E64-9A97-786E854B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36BCD61-B77E-410A-9760-59AAE787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ABF21DD-998B-45BF-B085-B2756E9A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FA189D-C87C-43FD-855F-846C979D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7360"/>
            <a:ext cx="9692640" cy="369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Sözcüğü köküne kadar ekle­rine ayır</a:t>
            </a:r>
            <a:endParaRPr sz="2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950EB6D-F3CC-47F9-960E-130AC01F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52777"/>
            <a:ext cx="969264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Sözcüğü en küçük parçalarına (kök + ekler) böl.</a:t>
            </a:r>
            <a:endParaRPr sz="2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B4917D3-19F1-423B-B5D8-D26C491D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5194"/>
            <a:ext cx="10881360" cy="1319657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14E1074-0311-48A5-ADCB-E5FA3780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356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7BAB891-A920-4166-B574-6343D723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3562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6021C70-6147-404E-B3DC-728121FD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6634"/>
            <a:ext cx="9692640" cy="369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Her ekin GÖREVİNE bak</a:t>
            </a:r>
            <a:endParaRPr sz="20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3D0F493-4B0D-4617-837A-3CD9C4A0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2051"/>
            <a:ext cx="969264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Ek yeni bir anlam/sözcük mü katıyor (yapım eki) yoksa sadece dilbilgisel görev mi katıyor (çekim eki)?</a:t>
            </a:r>
            <a:endParaRPr sz="20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65C932B-6FC3-4553-BEF0-5248C1E7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04005"/>
            <a:ext cx="10881360" cy="1319657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A79CEB6-2EDE-495E-BE33-056351ED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1237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16D1AE2-93C5-4B54-AE7B-CF0CCC5A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12374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9A22D17-2D1B-430D-BF53-67A53C95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5445"/>
            <a:ext cx="9692640" cy="369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Karar ver</a:t>
            </a:r>
            <a:endParaRPr sz="20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9593B84-C80D-411F-AD0A-8A326CC0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862"/>
            <a:ext cx="969264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 az bir yapım eki varsa TÜREMİŞ; hiç yoksa (sadece çekim ekleri varsa ya da hiç ek yoksa) BASİT.</a:t>
            </a:r>
            <a:endParaRPr sz="20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E68DEEA-FEE1-45E2-85DD-A7532E9B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01970"/>
            <a:ext cx="10881360" cy="830834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446D8FF-C115-4E8C-932E-1DCE8F06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1970"/>
            <a:ext cx="10332720" cy="7393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Altın kural: Kaç ek aldığı önemli değildir — TEK bir yapım eki bile sözcüğü türemiş yapar; İSTER 5 çekim eki alsın, yapım eki yoksa sözcük yine basittir.</a:t>
            </a:r>
            <a:endParaRPr sz="20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7EC533E-C542-4DA0-9425-CF795CBA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Anlatım — Ayırt Etme Yöntemi</a:t>
            </a:r>
            <a:endParaRPr sz="9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8A4F7A3-AB74-4766-9EAA-2502E22E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279031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8E2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1F1972E-37C0-440D-BCAE-344F04B0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0"/>
            <a:ext cx="40507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B12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F3CDB19-A434-4697-81C1-6A5B064A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1B12"/>
          </a:solidFill>
        </p:spPr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9e871e49c4a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7132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671CE3F-C29E-4284-AA10-CDFA17BC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548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DİKKAT!</a:t>
            </a:r>
            <a:endParaRPr sz="3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1669670-102C-4DD0-BC21-ACDB1C5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515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Çekim Eki Almak, Sözcüğü Türemiş Yapmaz!</a:t>
            </a:r>
            <a:endParaRPr sz="2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C0B06E3-12CF-4661-851C-D5C7F71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53234"/>
            <a:ext cx="10515600" cy="11361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Öğrenciler çok ek gören bir sözcüğü otomatik olarak "türemiş" sanır. Oysa önemli olan ek SAYISI değil, ek TÜRÜDÜR — hiç yapım eki yoksa, kaç çekim eki alırsa alsın sözcük BASİT kalır.</a:t>
            </a:r>
            <a:endParaRPr sz="21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B3E4529-2C0E-4E53-87E8-E7CA3FD2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33394"/>
            <a:ext cx="10515600" cy="8763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E1B12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546B327-47B6-467B-ABCA-62AFE3CE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394"/>
            <a:ext cx="27432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Balıklarda</a:t>
            </a:r>
            <a:endParaRPr sz="2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00F210E-7D89-4581-8B41-4E129C54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533394"/>
            <a:ext cx="72237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balık-lar-da → "-lar" çoğul, "-da" hâl eki: 2 ek, ama İKİSİ DE ÇEKİM. Sözcük yine BASİTTİR.</a:t>
            </a:r>
            <a:endParaRPr sz="2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06B534F-74E2-4FE5-A405-D102EC50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46854"/>
            <a:ext cx="10515600" cy="8763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E1B12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31A0F68-783E-48C9-9BCB-72580F0B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6854"/>
            <a:ext cx="27432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Masamızda</a:t>
            </a:r>
            <a:endParaRPr sz="2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0D4CC8C-D125-48F4-9851-36951E3E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546854"/>
            <a:ext cx="72237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masa-mız-da → "-mız" iyelik, "-da" hâl eki: 2 çekim eki. Hâlâ BASİTTİR.</a:t>
            </a:r>
            <a:endParaRPr sz="2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7538F18-F967-4BB6-B77A-2D389206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60314"/>
            <a:ext cx="10515600" cy="8763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E1B12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80CAFEC-1AEC-4F99-88F5-C1F6BC49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0314"/>
            <a:ext cx="27432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Kitaplarımızdan</a:t>
            </a:r>
            <a:endParaRPr sz="2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5A0D288-069A-4AD6-93E8-1FB976D8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5560314"/>
            <a:ext cx="72237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kitap-lar-ımız-dan → 3 çekim eki üst üste (çoğul+iyelik+hâl) — yine yapım eki YOK, sözcük BASİTTİR.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3349855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8E2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BD263AB-1693-40D8-8434-BAA46E31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0"/>
            <a:ext cx="40507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B12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073DC9-5634-4240-86E4-CF4FADBF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1B12"/>
          </a:solidFill>
        </p:spPr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ca1f97f114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7132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F9DB56E-6825-4879-9245-DCF8C6A2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548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DİKKAT!</a:t>
            </a:r>
            <a:endParaRPr sz="3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4DB04A9-DFBE-40F5-8086-338C1F0A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515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Ters Tuzak: Tek Yapım Eki Bile Türemiş Yapar!</a:t>
            </a:r>
            <a:endParaRPr sz="2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ABB750A-A5D5-4E8C-8510-4D0BC908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772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59C8F4E-5C84-423B-932E-DD7BF42E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7728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8E2318"/>
                </a:solidFill>
                <a:latin typeface="Cambria"/>
                <a:ea typeface="Cambria"/>
                <a:cs typeface="Cambria"/>
              </a:rPr>
              <a:t>1</a:t>
            </a:r>
            <a:endParaRPr sz="2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E692FEB-66B3-4E6D-B328-632B7DBD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53234"/>
            <a:ext cx="969264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"Az ek var, o zaman basittir" yanılgısı.</a:t>
            </a:r>
            <a:endParaRPr sz="2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ED838EC-BEF5-46D9-A5F9-35E4FB9E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95702"/>
            <a:ext cx="9692640" cy="11090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"tatlı" (tat + -lı) sadece TEK bir yapım eki almıştır — ama bu bile sözcüğü TÜREMİŞ yapmaya yeter. Ek sayısının azlığı basit olduğu anlamına gelmez.</a:t>
            </a:r>
            <a:endParaRPr sz="20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8B8F8E0-29F3-4A68-ACD8-5668330B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84879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E2275BB-912E-438B-96AC-4969693E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84879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8E2318"/>
                </a:solidFill>
                <a:latin typeface="Cambria"/>
                <a:ea typeface="Cambria"/>
                <a:cs typeface="Cambria"/>
              </a:rPr>
              <a:t>2</a:t>
            </a:r>
            <a:endParaRPr sz="2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DE34B6E-9387-4936-822D-4D164B0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60825"/>
            <a:ext cx="969264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Türemiş sözcük çekim eki alınca "basitleşmez".</a:t>
            </a:r>
            <a:endParaRPr sz="21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8640B0-926D-41B5-B018-E5FEE0D7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3293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"tatlım" = tatlı (türemiş) + -m (iyelik çekim eki). Çekim eki eklenmesi kökteki yapım ekini yok saymaz — sözcük hâlâ TÜREMİŞTİR.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6161001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9602C46-A15A-49A5-8D5F-10EA79D7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6da7ea8d449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CFEE654-F4F9-41A8-A767-0DA96163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SINIF ETKINLIĞI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A9179D3-44AD-49E8-8F7E-A0CF9900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Basit mi, Türemiş mi? (3 Dakika)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D64B19A-BEEE-4A0B-AD1F-A988E58F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Yanınızdaki arkadaşınızla birlikte aşağıdaki 8 sözcüğün BASİT mi TÜREMİŞ mi olduğunu belirleyin. Süre: 3 dakika.</a:t>
            </a:r>
            <a:endParaRPr sz="2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0B3A589-5919-459A-968B-30CC281C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4906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125A133-788B-4887-BB71-E85C0C9F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4906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kalemlik</a:t>
            </a:r>
            <a:endParaRPr sz="2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6894302-92F3-4E38-A828-814C1009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4906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84A49C6-800C-4BFA-AEED-986D1DF8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4906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defterimiz</a:t>
            </a:r>
            <a:endParaRPr sz="2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C7EEA0B-04AF-43BA-8593-5CF7E0F9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4906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1838234-F7B5-43C6-9DE1-341A66A4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4906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sevgi</a:t>
            </a:r>
            <a:endParaRPr sz="2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B150BA6-A4B7-43EE-8F40-853090C8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4906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B37BDEE-9E27-40AD-8D2E-D4A3D7B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4906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sınavlarda</a:t>
            </a:r>
            <a:endParaRPr sz="2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A781D71-02DA-4E90-BFDB-5436429D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0918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E8E6D41-36E2-4F5F-BD63-9D5120CE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0918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dinlenmek</a:t>
            </a:r>
            <a:endParaRPr sz="2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FBD4480-DA7D-48CA-9EC7-91DBB694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40918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1B2852-859D-4049-87D5-CFE4675F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40918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öğrencilerin</a:t>
            </a:r>
            <a:endParaRPr sz="2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0E8F75A-41CD-4B22-A66C-1671A0E2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18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EF3C37B-B7AE-4815-A6EC-8DF97CAF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18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yazılım</a:t>
            </a:r>
            <a:endParaRPr sz="2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157F3F5-9BFB-4DFE-BBF0-6AFBECEF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40918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84F1948-F128-4C76-8138-51B2819F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40918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kitaplarımızdan</a:t>
            </a:r>
            <a:endParaRPr sz="2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5DD3AA9-6158-40E6-9884-A0192F76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0748"/>
            <a:ext cx="10881360" cy="812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5118B3A-CBDA-466C-9BD5-BC640730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60748"/>
            <a:ext cx="103327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İpucu: Sözcüğü köke kadar soyun; en az bir YAPIM eki bulursanız türemiş, hiç bulamazsanız (sadece çekim ekleri varsa) basittir.</a:t>
            </a:r>
            <a:endParaRPr sz="20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6F8A040-9F60-461A-9ED3-90F6A5F6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Sınıf Etkinliği</a:t>
            </a:r>
            <a:endParaRPr sz="9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D4B4263-B17D-4BB0-83CB-9DAA4AB4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903787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1788197-3AA8-45BE-B55C-BB113122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f8be4a8e84b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C1B0A3B-ECF4-4564-AC1A-D3181607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ETKINLIK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C25C7C7-7AD8-45B5-8855-62CA9527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Cevap Anahtarı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B1E1CED-2232-4A5A-929A-9436E3D9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E7FF39C-FE5C-456B-B5B4-430ACA28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kalemlik</a:t>
            </a:r>
            <a:endParaRPr sz="20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627AA-6A4E-4438-BBD1-41F7A184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9CB12C1-94CD-49FA-9045-D448661C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TÜREMİŞ</a:t>
            </a:r>
            <a:endParaRPr sz="2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D8D3790-21EE-444F-91B2-71BBF069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kalem + -lik</a:t>
            </a:r>
            <a:endParaRPr sz="16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7A98D31-B005-41D3-9015-D2A3C215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828800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54CD325-7B70-42A4-974C-F9234174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65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defterimiz</a:t>
            </a:r>
            <a:endParaRPr sz="20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8307212-EB2F-494E-AFDD-06EA20FE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377440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9B3ACF5-9F6D-480F-A77D-BC5D9549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37744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BASİT</a:t>
            </a:r>
            <a:endParaRPr sz="21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FEA36DF-84E7-4496-828A-8E1D296C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546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defter + -imiz (çekim)</a:t>
            </a:r>
            <a:endParaRPr sz="16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106596A-C5B5-498E-8210-B087679F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7DCC18C-3483-4CDA-8AA8-1451A909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65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sevgi</a:t>
            </a:r>
            <a:endParaRPr sz="20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72217BB-8A66-401E-8B7C-29746808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77440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627E15F-D1C1-410F-A03C-E91A4F37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7744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TÜREMİŞ</a:t>
            </a:r>
            <a:endParaRPr sz="21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DD5F6A7-2410-41F2-80A0-FE26768A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546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sev + -gi</a:t>
            </a:r>
            <a:endParaRPr sz="16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1489DAB-48A4-43F1-8A2E-EE9E67DC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828800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FA90FEF-CA6F-463A-BC45-F5FF1277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965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sınavlarda</a:t>
            </a:r>
            <a:endParaRPr sz="20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1B0B257-B9AD-4779-BDEA-A69F4EFB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77440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130ABAD-C6AD-460D-A5ED-A3DAB387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7744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BASİT</a:t>
            </a:r>
            <a:endParaRPr sz="2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304ED98-E807-44ED-B7F6-3BFB714D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154680"/>
            <a:ext cx="2286000" cy="57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sınav + -lar + -da (çekim)</a:t>
            </a:r>
            <a:endParaRPr sz="16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1D2BA6C-75AA-4F6A-BEAC-48870499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38244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3D1B2D-B265-4085-93C6-D3BDA845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54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dinlenmek</a:t>
            </a:r>
            <a:endParaRPr sz="20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10737E2-CAF6-4108-9EE4-DDDEBFA7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86884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D5C3E419-0521-46A0-82E0-C23FD349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86884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TÜREMİŞ</a:t>
            </a:r>
            <a:endParaRPr sz="21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04E40B4-3F51-40D0-998E-B86DFEE1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6412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dinle + -n + -mek</a:t>
            </a:r>
            <a:endParaRPr sz="16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2012732D-3E11-4E43-9508-DDB71320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238244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5511FF81-5028-48A5-AB45-CC9163B0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3754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öğrencilerin</a:t>
            </a:r>
            <a:endParaRPr sz="2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0A78D87A-BE04-45F9-8A84-679709E1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786884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5807773C-7CD9-48E8-A290-CBECC04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786884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BASİT</a:t>
            </a:r>
            <a:endParaRPr sz="21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02069ADE-7871-4074-A465-37A2AFE4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564124"/>
            <a:ext cx="2286000" cy="57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öğrenci + -ler + -in (çekim)</a:t>
            </a:r>
            <a:endParaRPr sz="16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E171DCC9-36D0-4456-9CBB-48BFCF22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38244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F403EFE8-7D79-4B1D-8F6E-76360E94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54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yazılım</a:t>
            </a:r>
            <a:endParaRPr sz="20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DAEDE5D1-596D-4978-9C9E-FB9B2F1E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786884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31E78B8E-E52A-4FB3-B6B6-6DCA2973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786884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TÜREMİŞ</a:t>
            </a:r>
            <a:endParaRPr sz="21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1A32A694-C88F-4531-A3A5-2D52F2EF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56412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yaz + -ıl + -ım</a:t>
            </a:r>
            <a:endParaRPr sz="160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2B028621-FD0F-4952-AC2D-B5BB655F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238244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B6E5CC2-B032-478F-A687-A63C00FF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3754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kitaplarımızdan</a:t>
            </a:r>
            <a:endParaRPr sz="200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05226576-A5C6-42C7-A667-35903F7B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86884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8D326E96-3748-4584-99FD-4652090A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86884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BASİT</a:t>
            </a:r>
            <a:endParaRPr sz="21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2680E3AB-9AC6-40D5-8EF0-C173FA8C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564124"/>
            <a:ext cx="2286000" cy="57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kitap + -lar+ımız+dan (çekim)</a:t>
            </a:r>
            <a:endParaRPr sz="16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BDEF295D-33B1-46FC-905E-7B23316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Etkinlik Cevapları</a:t>
            </a:r>
            <a:endParaRPr sz="90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B6F859B6-5363-4934-8A14-EE6F739F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37904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58FA5BB-9363-459D-89AB-53A19129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4234dac3b4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2032E60-DF85-47AE-B1C0-DB4AD03C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HIZLI HATIRLATMA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1BA5BF-FF9A-4AC4-A155-DE4FD5AD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Kaldığımız Yer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CCD0F3-1478-4C11-879F-7F0D9952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3337560" cy="192709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0D46B4E-E666-4E9C-B29B-2F87CC04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94560"/>
            <a:ext cx="28803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Basit Sözcük</a:t>
            </a:r>
            <a:endParaRPr sz="2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7361002-DC5B-4F0C-8F69-D50445EE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18994"/>
            <a:ext cx="288036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Hiç yapım eki almamıştır;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çekim eki alabilir.</a:t>
            </a:r>
            <a:endParaRPr sz="2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A3C8518-5950-4F39-81D5-65CE55B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65960"/>
            <a:ext cx="333756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C5F17A4-0293-4BDC-B6A9-379CD085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194560"/>
            <a:ext cx="28803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Türemiş Sözcük</a:t>
            </a:r>
            <a:endParaRPr sz="2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747502F-BACF-457A-83AD-9A610A67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18994"/>
            <a:ext cx="2880360" cy="858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 az bir yapım eki</a:t>
            </a:r>
            <a:endParaRPr sz="2100"/>
          </a:p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almıştır.</a:t>
            </a:r>
            <a:endParaRPr sz="21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0B2D316-34F9-47AB-9397-23766343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5960"/>
            <a:ext cx="3337560" cy="192709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9164859-12F6-4AEE-9ADE-1B018F0D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4560"/>
            <a:ext cx="28803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Ayırt Etme</a:t>
            </a:r>
            <a:endParaRPr sz="21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4E67EFF-ADEF-4CB3-8FB3-2185EA88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8994"/>
            <a:ext cx="288036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Ek sayısı değil,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ek TÜRÜ (yapım/çekim) önemlidir.</a:t>
            </a:r>
            <a:endParaRPr sz="2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0E76A2E-0E60-4117-AF53-312DD4F9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Hızlı Hatırlatma</a:t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7A5EC94-919B-4402-9F6A-1775FA65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702552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212163-F6B3-40F6-892C-D7A2A865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1bc6d63a745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BDC6FA2-DDCF-4207-891F-2E44C647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DERINLEŞME · 1/2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BE4320A-FC8B-4F32-B367-E68B111D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Gövde ve Gövdeden Türemiş Sözcük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3C43C96-9AB1-49B6-BB8D-3027D275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79BDCFC-0F3C-46AC-9A7A-43029FF2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332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Kural:  </a:t>
            </a:r>
            <a:r>
              <a:rPr sz="19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 yapım eki alan sözcüğe GÖVDE, birden çok yapım eki alan sözcüğe ise GÖVDEDEN TÜREMİŞ SÖZCÜK denir. Bütün gövdeler türemiştir — ama her türemiş sözcük gövde değildir.</a:t>
            </a:r>
            <a:endParaRPr sz="1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3309D25-5C7D-4C05-B384-04834AB7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1088136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A4A6471-8380-4E63-AAEA-7DCEA8A1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8960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tatlı</a:t>
            </a:r>
            <a:endParaRPr sz="2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B5F3640-EA38-414F-8376-43B15376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108960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tat + -lı</a:t>
            </a:r>
            <a:endParaRPr sz="2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6662FFE-C27C-4749-8B97-851F1ACE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08960"/>
            <a:ext cx="20116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yapım eki</a:t>
            </a:r>
            <a:endParaRPr sz="21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5958D23-C925-47A6-8548-93ABC86A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163824"/>
            <a:ext cx="329184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3F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FD48BA1-E9B5-40B0-80DE-B15FB522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163824"/>
            <a:ext cx="3291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GÖVDE</a:t>
            </a:r>
            <a:endParaRPr sz="20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8BCBFD3-23CE-42CB-9C3B-FB4498D5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22192"/>
            <a:ext cx="1088136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90A2D18-35A3-464C-BF3A-0C2D5FD0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2219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tatlıcılık</a:t>
            </a:r>
            <a:endParaRPr sz="2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F499DE4-B21E-4CC5-935E-3CA57D08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822192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tat + -lı + -cı + -lık</a:t>
            </a:r>
            <a:endParaRPr sz="2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777B2E2-F379-4C3D-9BA8-CFCDCC25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822192"/>
            <a:ext cx="20116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yapım eki</a:t>
            </a:r>
            <a:endParaRPr sz="2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EDE01ED-2A47-47A5-85C8-D95B1C4C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77056"/>
            <a:ext cx="329184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FCC9E21-1AA5-4814-AD5E-437BF29E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77056"/>
            <a:ext cx="3291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GÖVDEDEN TÜREMİŞ</a:t>
            </a:r>
            <a:endParaRPr sz="20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8520A61-9479-44C9-8534-C2D5B740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35424"/>
            <a:ext cx="1088136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DD943C7-B7FC-4BF7-B263-161B3DA2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35424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gözle-</a:t>
            </a:r>
            <a:endParaRPr sz="2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B32F23A-E4B6-446E-8B5A-134E7BE4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535424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göz + -le</a:t>
            </a:r>
            <a:endParaRPr sz="21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B6547EB-48A5-4961-9DCD-AF91BCD8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535424"/>
            <a:ext cx="20116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yapım eki</a:t>
            </a:r>
            <a:endParaRPr sz="21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77AE1EF-17CE-41E5-80D0-60DE4A0A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590288"/>
            <a:ext cx="329184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3F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23691F5-ADC3-45A5-A00F-D3B7D927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590288"/>
            <a:ext cx="3291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GÖVDE</a:t>
            </a:r>
            <a:endParaRPr sz="2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049DEF0-8E29-465E-9660-E2483CEA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48656"/>
            <a:ext cx="1088136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5412C41-500F-42E4-BD52-B88A0293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48656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gözlem</a:t>
            </a:r>
            <a:endParaRPr sz="21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ADF046B2-6460-4482-9AC1-6E977642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248656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gözle- + -m</a:t>
            </a:r>
            <a:endParaRPr sz="21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ECB4853-CCA6-4738-94DD-D159FACB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248656"/>
            <a:ext cx="20116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yapım eki</a:t>
            </a:r>
            <a:endParaRPr sz="21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86383FD-5E8B-4A38-A45B-F842CEAD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5303520"/>
            <a:ext cx="329184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44E5169-8710-4591-A079-4F164FD5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5303520"/>
            <a:ext cx="3291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GÖVDEDEN TÜREMİŞ</a:t>
            </a:r>
            <a:endParaRPr sz="20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EB3D529-4C9C-4092-BD3F-86F95F45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26480"/>
            <a:ext cx="10881360" cy="41148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0C7A0806-5108-4699-B7F5-94A3EB00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2648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Kaynak: Limit Yayınları TYT Türkçe El Kitabı — "Bütün gövdeler türemiş sözcüktür."</a:t>
            </a:r>
            <a:endParaRPr sz="195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A05B8CB-6EA5-43D2-8776-227FA346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Derinleşme — Gövde ve Gövdeden Türemiş Sözcük</a:t>
            </a:r>
            <a:endParaRPr sz="9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EB1C8FE8-DCB1-4891-98EA-BA45625D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810924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D89A50C-0948-4F13-8048-57E7932C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adf85475749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7B32EF0-96C9-4910-AFEB-A206A10E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DERINLEŞME · 2/2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E9E52A-8C48-459D-8D81-09F90D15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Basit Sanılan Ama Türemiş Sözcükler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4ED6C08-78E2-47BD-9697-61D726A3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607349F-A709-4FDB-A999-771396EC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332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Kural:  </a:t>
            </a:r>
            <a:r>
              <a:rPr sz="19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Günlük dilde "tek parça" gibi hissettiren bazı sözcükler, kökle karşılaştırıldığında aslında bir yapım eki taşır. TYT'de bu tür sözcükler en sık şaşırtan tuzaklardandır.</a:t>
            </a:r>
            <a:endParaRPr sz="1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E80E94C-4680-4B3F-AEF9-24133D93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3E91143-08BB-4001-8C15-6B0E39C8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72968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7458B83-172E-46F8-B82D-315B34CC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72968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ılık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A5E7EBC-9220-46F3-B223-A80C6C85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08960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ılı- + -k</a:t>
            </a:r>
            <a:endParaRPr sz="2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A62276C-68E8-4259-B3DE-C0782B4B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08960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72D248E-9D71-4984-BBF1-B57C9F43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12464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319077D-4D41-4F73-B953-8414D1E1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76472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352C354-5626-4D8B-826C-CB0EBFF0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76472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ışık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33B45F1-725E-48FD-9055-4BFBEF4B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12464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ışı- + -k</a:t>
            </a:r>
            <a:endParaRPr sz="2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D4F940E-E512-4D9C-A729-EB37B53C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712464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A75146C-E62F-4096-B7B9-2C35C792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15968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677E348-B228-4EE9-934B-DC6B34E9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79976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3DBB920-D5CC-45CB-843B-5DA359FE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79976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batı</a:t>
            </a:r>
            <a:endParaRPr sz="20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FFBB687-2B10-4F76-9DEB-21559D5F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15968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bat- + -ı</a:t>
            </a:r>
            <a:endParaRPr sz="2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ED859C0-BF2A-4993-9C0D-0CC007CF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315968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72EE63D-C08E-4215-B01C-3B95B01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19472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7A09A33-BA2F-49D3-928B-6D39839B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81C0D3A-F981-44D0-A28D-66EF49BF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doğu</a:t>
            </a:r>
            <a:endParaRPr sz="2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B58EE2D-F297-4F32-A213-62C66A24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19472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doğ- + -u</a:t>
            </a:r>
            <a:endParaRPr sz="21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0C4D7E5-25C0-4443-872F-6713E7E5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919472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827307C-987B-4149-A455-5D5E85BA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22976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B5928D63-E56A-4AC8-8AEE-C440B756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86984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2FABEF64-CF6F-4ADE-8D4F-81FFCBFE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86984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kıvrım</a:t>
            </a:r>
            <a:endParaRPr sz="20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BBBBF28-43AD-4C85-B6A3-7A495420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522976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kıvır- + -(ı)m</a:t>
            </a:r>
            <a:endParaRPr sz="21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FB8E2AF-A988-4B18-BB0F-4DBF25CF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522976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90F78929-F781-4745-B0C0-2B9C0857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72200"/>
            <a:ext cx="10881360" cy="36576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4FFEC4D-B45E-4344-A5D2-B9019B72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7220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Kaynak: Okyanus TYT Türkçe Konu Anlatımı — bu sözcükler TÜREMİŞTİR, basit değildir. Köke dikkat!</a:t>
            </a:r>
            <a:endParaRPr sz="17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4331B6D-A6B0-4140-8BFA-060CB7C4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Derinleşme — Basit Sanılan Tuzaklar</a:t>
            </a:r>
            <a:endParaRPr sz="9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C0AFBD7E-DCE4-4FB2-AB7C-435A993B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239397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44B6-44FD-49FF-8173-C0CF2356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dbcbe491a4e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B26BEEE-C41B-47BF-88C0-BA1E4ABD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1/3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D6C98A4-1BB3-4AA8-AAE2-6113C09B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Soru Çözümü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79D12FB-9AE4-470A-9840-7E4668A6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FCF9981-DBA1-43CA-ABA5-521E8540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ÖSYM (ÖSS - 2000)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0668170-B87D-4D9C-B2A3-EBFBEBEB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08792" cy="4451523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377ABF4-F2B4-41AB-9A56-E4EA038F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0360152" cy="12172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Sıfatlar, adlarla fiillerin kök ya da gövdelerine yapım ekleri getirilerek oluşturulur. Aşağıdaki atasözlerinin hangisinde bu yolla yapılmış bir sıfat vardır?</a:t>
            </a:r>
            <a:endParaRPr sz="2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EE8EC9B-4A84-4F8D-A53A-A2815BED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3839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Güneş balçıkla sıvanmaz.</a:t>
            </a:r>
            <a:endParaRPr sz="2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CCFEDE6-72E6-487B-8C46-F844E354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840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Korkunun ecele faydası yoktur.</a:t>
            </a:r>
            <a:endParaRPr sz="2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9A89F54-DC36-4699-BA77-B905067E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7841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Her ağacın meyvesi yenmez.</a:t>
            </a:r>
            <a:endParaRPr sz="2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4904E93-31B7-42A1-B4DF-514BF3D7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4841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Mızrak çuvala sığmaz.</a:t>
            </a:r>
            <a:endParaRPr sz="21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DA0EA22-6062-4046-A668-86FD7474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1842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E)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İşleyen demir pas tutmaz.</a:t>
            </a:r>
            <a:endParaRPr sz="21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3DAFDD3-E797-4936-87FF-2B17CE1F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1 — gerçek ÖSYM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7B28478-3A78-46C2-A87B-0122857C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562169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A2BA5D-CA15-4B10-A7BA-C8033F36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29272acb94c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1741395-7691-465B-9AFC-120B03B6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1/3  ·  ÇÖZÜM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E21852-3EBE-4770-9DA7-0AB61D14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Çözüm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A0B2E95-8662-4D89-8C4C-46F073C8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6199791-7C48-4180-98E8-6B2D7C3F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ÖSYM (ÖSS - 2000)</a:t>
            </a:r>
            <a:endParaRPr sz="10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F4EFAFF-3AF8-4A84-90FA-F383C285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908792" cy="443484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1E3A5F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6E3FFCC-38A0-4A30-9173-A45BB69C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103601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ÇÖZÜM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1DAB11B-ED55-4063-AC81-A4F03CD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85D8CEF-A0F1-4ECD-965C-3113AAC1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E</a:t>
            </a:r>
            <a:endParaRPr sz="2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B6D5922-3EC7-40A3-889B-19A58B70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14600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Doğru cevap</a:t>
            </a:r>
            <a:endParaRPr sz="1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E024E5D-D422-4DF1-950C-CD6CE9F7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6160"/>
            <a:ext cx="10360152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E) İşleyen demir pas tutmaz.  </a:t>
            </a:r>
            <a:r>
              <a:rPr sz="1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doğru cevap.
</a:t>
            </a:r>
            <a:r>
              <a:rPr sz="18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"işleyen" = iş (ad kökü) + -le (isimden fiil yapım eki) + -y (kaynaştırma) + -en (sıfat-fiil eki) — yapım ekiyle TÜREMİŞ bir sıfattır. C'deki "her" ise basit bir sıfattır (hiç ek almamıştır), diğer seçeneklerde sıfat yoktur.</a:t>
            </a:r>
            <a:endParaRPr sz="18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A36A72E-EC52-4830-AE79-A3CA7D49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1 — çözüm — gerçek ÖSYM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6D7D843-B036-45C9-A2C0-D4E5698D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519809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FDF2282-610A-4E52-9D6A-87C99BDA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7a3f0fb06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09F2778-4204-4F14-907F-7504B33E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2/3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9C66E52-B68C-4BE5-8D4C-7B43EF31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Soru Çözümü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21A313B-E8F9-4C59-ADF5-13567BBF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7CAF030-DAF9-477C-85A5-C8005CD0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Okyanus (Pekiştirme)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465667A-BD4F-419F-A8FC-01BB3171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08792" cy="443484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6B0A347-45DB-4504-A3D4-C97AE90F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0360152" cy="4147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Aşağıdaki cümlelerin hangisinde türemiş isim kullanılmamıştır?</a:t>
            </a:r>
            <a:endParaRPr sz="2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3A789C9-6C2E-4418-87B0-D74378DE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1326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Yolların kuralını şoförler belirliyor.</a:t>
            </a:r>
            <a:endParaRPr sz="2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A5695CE-E993-4C96-A91B-A462A341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3870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Öğretmenliğe başladığım günleri hatırladım.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C36712B-8D6B-49CD-8F83-97434A1F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6415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Yolda oduncuyla karşılaştım.</a:t>
            </a:r>
            <a:endParaRPr sz="2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319DC90-C04F-46BD-9B45-6A4E8F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8959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Soruların çözümünü internete koymuş.</a:t>
            </a:r>
            <a:endParaRPr sz="2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B94EE08-877B-4CFB-B0A7-B5A55F04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71503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E)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 gürültüye dayanmam çok zordu.</a:t>
            </a:r>
            <a:endParaRPr sz="2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78F0F5A-333B-49DA-B284-A6600CDB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2 — pekiştirme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844403A-A31E-49C4-B675-13E5B34B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813842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9C90045-FBDB-432C-88E2-B80D1DE0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8be9a2e264c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41798C1-8A12-4CFE-86B6-41B6266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2/3  ·  ÇÖZÜM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18E374B-BB58-4490-8C14-C946FA08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Çözüm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31BBC61-0460-4383-A1E2-415DF25F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CF853F1-0687-4D5A-88A7-BE099029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Okyanus (Pekiştirme)</a:t>
            </a:r>
            <a:endParaRPr sz="10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551A9C3-45D6-4942-A284-05F54012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908792" cy="443484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1E3A5F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284EC8F-B661-40D2-BF9E-32C807CB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103601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ÇÖZÜM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D7970D8-E957-4489-B39C-94676419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E946DDD-C93B-4C66-9804-6B55FD1B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A</a:t>
            </a:r>
            <a:endParaRPr sz="2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DE763F-3E7E-4F1F-87FC-C103C63C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14600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Doğru cevap</a:t>
            </a:r>
            <a:endParaRPr sz="1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954552B-8361-4D1C-8477-1E0A8532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6160"/>
            <a:ext cx="10360152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1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doğru cevap.
</a:t>
            </a:r>
            <a:r>
              <a:rPr sz="18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A'daki isimler ("yolların", "kuralını", "şoförler") sadece çekim eki almıştır, hepsi basittir. B) öğretmen-lik, C) odun-cu, D) çöz-üm, E) gürül-tü sözcüklerindeki koyu kısımlar birer yapım ekidir — bu seçeneklerde türemiş isim vardır.</a:t>
            </a:r>
            <a:endParaRPr sz="1850"/>
          </a:p>
          <a:p xmlns:a="http://schemas.openxmlformats.org/drawingml/2006/main">
            <a:pPr marL="0" indent="0">
              <a:buNone/>
            </a:pPr>
            <a:endParaRPr sz="1850"/>
          </a:p>
          <a:p xmlns:a="http://schemas.openxmlformats.org/drawingml/2006/main">
            <a:pPr marL="0" indent="0">
              <a:buNone/>
            </a:pPr>
            <a:r>
              <a:rPr sz="185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Kaynak: Okyanus TYT Türkçe Konu Anlatımı, "Yapısına Göre Sözcükler" pekiştirme testi (ÖSYM'ye ait değildir, yayınevinin kendi hazırladığı TYT formatında bir sorudur).</a:t>
            </a:r>
            <a:endParaRPr sz="18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59DB8B9-4F2A-4C43-A027-9FD958A9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2 — çözüm — pekiştirme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994B1B5-DFCF-47A2-996B-8D06A8D7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506845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75D0B72-9E4C-4D89-BB3A-4AAB5762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d0bc574304e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40FDFEC-D0FE-4289-9291-FA0E15FB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3/3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045817B-D59E-4670-A961-BF5C90DD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Soru Çözümü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650CE8E-8FC7-431C-9BA7-CB0D25CC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BEEEEC5-5341-4317-AF4A-D272F8E4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Okyanus (Pekiştirme)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8D8C753-F923-48E9-B801-60A156C8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08792" cy="443484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1D89BE5-3524-4C28-A93C-EE29266B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0360152" cy="11090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"Geceleri bir çarpıntı duyarsan / Telaş telaş yağmurdan kaçıyorum / Sarayburnu'ndan geçiyorum / Akşamsa eylülse ıslanmamışsam / Benim görsen belki anlayamazsın" Bu dizelerde aşağıdakilerden hangisi yoktur?</a:t>
            </a:r>
            <a:endParaRPr sz="2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9B6B78B-13C7-4A7A-BBA2-3515D0B5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5635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Basit fiil</a:t>
            </a:r>
            <a:endParaRPr sz="2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8DC90D8-7DC5-4EBF-BE18-103E258F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0219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Birleşik fiil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9191C3C-2000-492A-B324-6EE90B7C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4803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Türemiş isim</a:t>
            </a:r>
            <a:endParaRPr sz="2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82EA54C-9829-4A93-8A52-3105963F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9387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Ayrılma durumu eki</a:t>
            </a:r>
            <a:endParaRPr sz="2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71E0A32-5CF8-472F-B65B-153102CA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3971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E)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İsimden fiil yapım eki</a:t>
            </a:r>
            <a:endParaRPr sz="2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C557C8E-3324-475F-A882-744F206C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3 — pekiştirme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AC97432-14F5-4C9F-9234-114AFB66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863205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EEF59C-98DC-4048-8D06-938D8404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2fa6180c743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C1EE298-0C03-4813-A337-FE502873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3/3  ·  ÇÖZÜM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5ECAAF2-2DF8-4DD6-AA6A-FBC01830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Çözüm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E2C66C0-2407-4466-B3AE-2D8AC95A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5AD7D9A-074D-4844-BD0C-1FF32558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Okyanus (Pekiştirme)</a:t>
            </a:r>
            <a:endParaRPr sz="10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37EFA58-1741-4F30-885C-AEF6D028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908792" cy="443484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1E3A5F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F36368D-0987-4EC3-B0BA-FCDCFB64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103601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ÇÖZÜM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1D8A977-6342-46C2-92BE-94080854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435875B-9B2D-4E2B-9CE9-AA3CFE78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E</a:t>
            </a:r>
            <a:endParaRPr sz="2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12186FE-3C4F-44D6-ACB9-2F875B4D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14600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Doğru cevap</a:t>
            </a:r>
            <a:endParaRPr sz="1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755216A-5CD8-434B-9006-96F5B802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6160"/>
            <a:ext cx="10360152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E) İsimden fiil yapım eki  </a:t>
            </a:r>
            <a:r>
              <a:rPr sz="1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doğru cevap (dizelerde bulunmayan).
</a:t>
            </a:r>
            <a:r>
              <a:rPr sz="18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duy-ar-sa-n (basit fiil), yağmur-dan (ayrılma hâli, çekim), Sarayburnu (türemiş özel isim) gibi unsurlar dizelerde vardır; ancak isim kökünden fiil türeten bir yapım eki ("-la/-le" tipi) bu dizelerde geçmemektedir.</a:t>
            </a:r>
            <a:endParaRPr sz="1850"/>
          </a:p>
          <a:p xmlns:a="http://schemas.openxmlformats.org/drawingml/2006/main">
            <a:pPr marL="0" indent="0">
              <a:buNone/>
            </a:pPr>
            <a:endParaRPr sz="1850"/>
          </a:p>
          <a:p xmlns:a="http://schemas.openxmlformats.org/drawingml/2006/main">
            <a:pPr marL="0" indent="0">
              <a:buNone/>
            </a:pPr>
            <a:r>
              <a:rPr sz="185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Kaynak: Okyanus TYT Türkçe Konu Anlatımı, "Yapısına Göre Sözcükler" pekiştirme testi (ÖSYM'ye ait değildir, yayınevinin kendi hazırladığı TYT formatında bir sorudur).</a:t>
            </a:r>
            <a:endParaRPr sz="18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30970BE-67AB-405D-A33D-BFA2C790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3 — çözüm — pekiştirme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6739802-952A-4B36-BC1A-78EBBC06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49074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D69F2C-2B45-4EC8-953C-4C1897BD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22fd50e524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686DCF9-15A0-48A2-B184-86741760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DERS SONU KONTROL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B588586-C80A-40AE-9BA7-C2CB2CD6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Hızlı Kontrol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77FBF8F-6354-4436-AA6E-8B20B68D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Aşağıdaki sözcüklerin basit mi türemiş mi olduğunu birlikte söyleyelim:</a:t>
            </a:r>
            <a:endParaRPr sz="2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E9CE8EE-8718-4999-B1BB-6FD6798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07514"/>
            <a:ext cx="2514600" cy="1456436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1B3C130-0B1B-4EF8-8A13-0726876C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44674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gözlük</a:t>
            </a:r>
            <a:endParaRPr sz="2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65F0EF4-EE39-4624-A816-AD25CEC5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69108"/>
            <a:ext cx="251460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↓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1EEA52E-87F9-4E2B-9563-4C112270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7550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TÜREMİŞ</a:t>
            </a:r>
            <a:endParaRPr sz="2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55FCFF7-11B7-4876-A3A5-841D74E9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07514"/>
            <a:ext cx="2514600" cy="1456436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6F3F540-2C38-49D7-8A3C-B6392986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44674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gözlerimiz</a:t>
            </a:r>
            <a:endParaRPr sz="2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EECD66D-CA00-404F-907F-41C3577F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769108"/>
            <a:ext cx="251460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↓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DCE726B-771E-4BA9-92BA-A5E06441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7550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BASİT</a:t>
            </a:r>
            <a:endParaRPr sz="2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98A06CB-FD37-4C14-8149-BCE09628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7514"/>
            <a:ext cx="2514600" cy="1456436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E06D52F-0BD5-449B-AF07-8CF73B9E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4674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sevimli</a:t>
            </a:r>
            <a:endParaRPr sz="2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004E013-CBC8-4F32-ABF6-7438EA4B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9108"/>
            <a:ext cx="251460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↓</a:t>
            </a:r>
            <a:endParaRPr sz="2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E891552-9A25-46EC-93A7-037314FB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7550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TÜREMİŞ</a:t>
            </a:r>
            <a:endParaRPr sz="2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8965959-553E-442F-A022-3477EA2C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07514"/>
            <a:ext cx="2514600" cy="1456436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17E4AC3-5127-4AA4-A747-1311FD1A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344674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evlerde</a:t>
            </a:r>
            <a:endParaRPr sz="2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17934C2-6E51-41FD-B68E-3DDBFA43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69108"/>
            <a:ext cx="251460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↓</a:t>
            </a:r>
            <a:endParaRPr sz="2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303EF4E-4B82-4A48-8836-B9128827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17550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BASİT</a:t>
            </a:r>
            <a:endParaRPr sz="2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B8F81B7-FB96-4CFE-B28C-AA859B9C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9710"/>
            <a:ext cx="10881360" cy="8128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DE1ABCC-694A-432F-8D4C-350F77DE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710"/>
            <a:ext cx="103327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 dört sözcüğün basit/türemiş kararını doğru verebiliyorsanız, bugünkü hedefe ulaştınız!</a:t>
            </a:r>
            <a:endParaRPr sz="20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7A1CE86-EFD9-430E-B3FF-41D18F9B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Hızlı Kontrol</a:t>
            </a:r>
            <a:endParaRPr sz="9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22363A2-1AB1-40F9-9986-BF242997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994380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CB1D214-FD8F-4F6C-81F8-AA926DAB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062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4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F90C540-1ABF-4CBE-B8E8-8A68CEAF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0584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B78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e018c507e43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8126" y="1191006"/>
            <a:ext cx="452628" cy="452628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6C1EB8A-2EF9-49A9-B0E6-674AC63F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3200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Ders Özeti</a:t>
            </a:r>
            <a:endParaRPr sz="2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CB264A8-8922-45FF-9BE9-1CA99951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320040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Basit / Türemiş Sözcük — Ders 4/6</a:t>
            </a:r>
            <a:endParaRPr sz="2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7D474CF-49E2-4CA5-B53B-8664DF19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7772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BUGÜN ÖĞRENDIKLERIMIZ</a:t>
            </a:r>
            <a:endParaRPr sz="13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1424C04-2359-41CD-A29D-6F0FC2FB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34440"/>
            <a:ext cx="21945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077339E-6953-4D1D-AAC9-3EC07D76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344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Basit Sözcük</a:t>
            </a:r>
            <a:endParaRPr sz="20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C5565C0-2AAE-474E-B838-5A949572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234440"/>
            <a:ext cx="246888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CCC9A73-747E-4A95-BB90-9EBFC112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234440"/>
            <a:ext cx="2468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Türemiş Sözcük</a:t>
            </a:r>
            <a:endParaRPr sz="20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7F4DA8E-4D75-4B29-940F-78A6B5E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28800"/>
            <a:ext cx="301752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927C75A-81E8-44F4-BE5B-6B91F632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2880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Ayırt Etme Yöntemi</a:t>
            </a:r>
            <a:endParaRPr sz="20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F9E4C6C-824E-4EE7-8E99-F68FB9C0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384048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01C2B12-A022-4CF9-8667-5396206B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3840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Gövde / Gövdeden Türemiş</a:t>
            </a:r>
            <a:endParaRPr sz="20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70B70E-35D1-45EB-ACE9-A00286E9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23160"/>
            <a:ext cx="21945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DCB13DD-93B8-4943-8F27-CE2D921E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231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Sık Tuzaklar</a:t>
            </a:r>
            <a:endParaRPr sz="20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1B9BFA8-80DB-4112-9672-E4205790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80360"/>
            <a:ext cx="690372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EA4625D-BE36-4D74-A99C-69D14949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17520"/>
            <a:ext cx="6400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Basit sözcük, </a:t>
            </a: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hiç yapım eki almamış (çekim eki alabilir); </a:t>
            </a:r>
            <a:r>
              <a:rPr sz="15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türemiş sözcük</a:t>
            </a: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ise en az bir yapım eki almıştır. Belirleyici olan ek SAYISI değil, ek TÜRÜDÜR — bir sözcüğü türemiş yapmak için tek bir yapım eki bile yeterlidir.</a:t>
            </a:r>
            <a:endParaRPr sz="15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FE8A035-C2A3-469E-BE0A-BDA70CBB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434840"/>
            <a:ext cx="690372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9A441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8062EDF-4F6F-4158-9203-D39CB639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590288"/>
            <a:ext cx="5943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SIRADAKİ DERS</a:t>
            </a:r>
            <a:endParaRPr sz="16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CFF10A8-C444-43E7-8935-F032224C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864608"/>
            <a:ext cx="5943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42A44"/>
                </a:solidFill>
                <a:latin typeface="Cambria"/>
                <a:ea typeface="Cambria"/>
                <a:cs typeface="Cambria"/>
              </a:rPr>
              <a:t>Birleşik Sözcük (Ders 5/6)  →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5208897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752830C-A5A4-4F03-8B99-9A98A35C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63075d82c44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EEE3FAE-7008-439C-9EDE-B4FAF14A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PEKIŞTIRME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6D45CAF-A5F1-4A9E-8E54-BAA57588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Ödev: Basit / Türemiş Ayırma Alıştırması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368D3D-1F7F-42DF-A273-98268CE0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Sıradaki derse kadar aşağıdaki 10 sözcüğün BASİT mi TÜREMİŞ mi olduğunu, türemişse hangi ekle türediğini defterinize yazın:</a:t>
            </a:r>
            <a:endParaRPr sz="2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B869A7-BC5F-42C5-9455-9D18E5BF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490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E69E615-1A7E-43C0-948D-268D88F1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490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1. kapıcı</a:t>
            </a:r>
            <a:endParaRPr sz="2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2F8D6AA-0523-4ACD-8826-5CC47B85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449068"/>
            <a:ext cx="2011680" cy="81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DC7CEBC-6FE5-4C41-B94E-67C1C7C2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449068"/>
            <a:ext cx="201168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2. kapılarımızdan</a:t>
            </a:r>
            <a:endParaRPr sz="2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0DBEA5-4B8B-43AE-8011-905D70B1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490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6EC59C5-9078-4213-8E24-2262E3E1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490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3. sevinç</a:t>
            </a:r>
            <a:endParaRPr sz="2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99AD596-44AC-4D4F-A271-45DA9895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49068"/>
            <a:ext cx="2011680" cy="81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A4B5374-51B5-40F4-BDAE-0FA2EBD0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49068"/>
            <a:ext cx="201168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4. defterlerimizde</a:t>
            </a:r>
            <a:endParaRPr sz="2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D893EB2-368C-419E-A557-2BA6D3F2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4490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C8BF9BA-5177-49DB-BD2F-0F7F1308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4490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5. gözlük</a:t>
            </a:r>
            <a:endParaRPr sz="2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3DE5FE8-28EF-4621-88B1-CBD454E3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904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045A130-01BD-4017-8550-48622E43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904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6. gözlerimize</a:t>
            </a:r>
            <a:endParaRPr sz="2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1459A05-9D4C-4438-BC1C-754EEC22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4904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B606C34-5F74-4462-871A-8CEEEA41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4904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7. tatlandı</a:t>
            </a:r>
            <a:endParaRPr sz="2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7856C66-1E07-4DCD-ABA3-AEE793AD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904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E4FE941-52EC-4D3B-90F3-45D83E4B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904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8. tatlarımızı</a:t>
            </a:r>
            <a:endParaRPr sz="2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90B93B13-FA07-49C7-90E6-03F5D73B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4904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C592954-9D8C-4CA9-B2DA-7A8F9635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4904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9. yazarlık</a:t>
            </a:r>
            <a:endParaRPr sz="21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0652905-33D4-4834-B354-CF8D20D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490468"/>
            <a:ext cx="2011680" cy="81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C2223BB-163A-40C7-809D-A444D60E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490468"/>
            <a:ext cx="201168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10. kalemlerimizi</a:t>
            </a:r>
            <a:endParaRPr sz="20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0387F49A-F39F-4584-BA79-A0F4BAE2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23308"/>
            <a:ext cx="10881360" cy="812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065F1D8-CE19-421C-A648-D5189854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3308"/>
            <a:ext cx="103327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Not: Bir sözcüğü türemiş yapan şey ek sayısı değil, en az bir yapım eki taşımasıdır — köke kadar sabırla soyun.</a:t>
            </a:r>
            <a:endParaRPr sz="20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57BE69B-8971-437C-8A11-285836A4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Ödev</a:t>
            </a:r>
            <a:endParaRPr sz="9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C46F2BF-D1B2-4465-B7FB-B04212D1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192294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B4CFB15-43CA-4060-BF26-0F3206BE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0"/>
            <a:ext cx="40507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4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84B08E8-A153-426C-842D-6D6B243C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B78"/>
          </a:solidFill>
        </p:spPr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572e49d404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7132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F15996-A9D1-4722-B83F-5C0D1115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94360"/>
            <a:ext cx="6400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Ders Tamamlandı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43B7051-A795-44E1-A5A8-A7F4A9C4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Basit / Türemiş Sözcük — Sözcükte Yapı, Ders 4/6</a:t>
            </a:r>
            <a:endParaRPr sz="14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8E5580F-57E8-4A1D-BB5D-2EE9B96F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70408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FBFF0C7-92DB-4E31-86E3-EC44150C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6492240" cy="14323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Bugün öğrendik:  </a:t>
            </a:r>
            <a:endParaRPr sz="1850"/>
          </a:p>
          <a:p xmlns:a="http://schemas.openxmlformats.org/drawingml/2006/main">
            <a:pPr marL="0" indent="0">
              <a:buNone/>
            </a:pPr>
            <a:r>
              <a:rPr sz="18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Basit ve türemiş sözcük tanımları, ayırt etme yöntemi, gövde/gövdeden türemiş sözcük kavramı ve basit sanılan ama türemiş olan sözcük tuzakları.</a:t>
            </a:r>
            <a:endParaRPr sz="18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C174B74-E68F-4354-B92C-E20AF970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704088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9A441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A686D05-54D7-4CC8-AEF4-B1DD54ED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5968"/>
            <a:ext cx="5943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SIRADAKİ DERS (5/6)</a:t>
            </a:r>
            <a:endParaRPr sz="1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2FE69E3-EE32-49F9-864E-B3813066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0288"/>
            <a:ext cx="5943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42A44"/>
                </a:solidFill>
                <a:latin typeface="Cambria"/>
                <a:ea typeface="Cambria"/>
                <a:cs typeface="Cambria"/>
              </a:rPr>
              <a:t>Birleşik Sözcük  →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4E2E20C-9955-43CF-AB35-474532D9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E8CB0"/>
                </a:solidFill>
                <a:latin typeface="Calibri"/>
                <a:ea typeface="Calibri"/>
                <a:cs typeface="Calibri"/>
              </a:rPr>
              <a:t>TYT Türkçe Ders Anlatım Projesi  ·  Sedat GÜLER ve Claude Opus 5 tarafından üretilmiştir.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686240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2026-09-22T08:02:38.3660000Z</dcterms:created>
  <dcterms:modified xsi:type="dcterms:W3CDTF">2026-09-22T08:02:38.3660000Z</dcterms:modified>
</coreProperties>
</file>