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c9607ea3bb4e6d" /><Relationship Type="http://schemas.openxmlformats.org/officeDocument/2006/relationships/extended-properties" Target="/docProps/app.xml" Id="R43d870c1d5d347a4" /><Relationship Type="http://schemas.openxmlformats.org/officeDocument/2006/relationships/officeDocument" Target="/ppt/presentation.xml" Id="R64c0618b50c4438f" /></Relationships>
</file>

<file path=ppt/presentation.xml><?xml version="1.0" encoding="utf-8"?>
<p:presentation xmlns:p="http://schemas.openxmlformats.org/presentationml/2006/main">
  <p:sldMasterIdLst>
    <p:sldMasterId xmlns:r="http://schemas.openxmlformats.org/officeDocument/2006/relationships" id="2147483648" r:id="R23cec8f074884ce7"/>
  </p:sldMasterIdLst>
  <p:notesMasterIdLst>
    <p:notesMasterId xmlns:r="http://schemas.openxmlformats.org/officeDocument/2006/relationships" r:id="R1d7479850a3e4450"/>
  </p:notesMasterIdLst>
  <p:sldIdLst>
    <p:sldId xmlns:r="http://schemas.openxmlformats.org/officeDocument/2006/relationships" id="256" r:id="R943700025b014ba9"/>
    <p:sldId xmlns:r="http://schemas.openxmlformats.org/officeDocument/2006/relationships" id="257" r:id="R6aa3a16a9e2146c9"/>
    <p:sldId xmlns:r="http://schemas.openxmlformats.org/officeDocument/2006/relationships" id="258" r:id="Rdf6ce43f7b0b4bcc"/>
    <p:sldId xmlns:r="http://schemas.openxmlformats.org/officeDocument/2006/relationships" id="259" r:id="R579c4386b5c04e29"/>
    <p:sldId xmlns:r="http://schemas.openxmlformats.org/officeDocument/2006/relationships" id="260" r:id="R7ee003b22a1e4aea"/>
    <p:sldId xmlns:r="http://schemas.openxmlformats.org/officeDocument/2006/relationships" id="261" r:id="Rd3407eb5829d4dad"/>
    <p:sldId xmlns:r="http://schemas.openxmlformats.org/officeDocument/2006/relationships" id="262" r:id="R61a1603dc446440e"/>
    <p:sldId xmlns:r="http://schemas.openxmlformats.org/officeDocument/2006/relationships" id="263" r:id="R9fc6c568d37b4e23"/>
    <p:sldId xmlns:r="http://schemas.openxmlformats.org/officeDocument/2006/relationships" id="264" r:id="R8459542a6a244a31"/>
    <p:sldId xmlns:r="http://schemas.openxmlformats.org/officeDocument/2006/relationships" id="265" r:id="R4f15fc4c97c0488a"/>
    <p:sldId xmlns:r="http://schemas.openxmlformats.org/officeDocument/2006/relationships" id="266" r:id="Re23d2345ea404f9b"/>
    <p:sldId xmlns:r="http://schemas.openxmlformats.org/officeDocument/2006/relationships" id="267" r:id="Ra200b25bc8e449bd"/>
    <p:sldId xmlns:r="http://schemas.openxmlformats.org/officeDocument/2006/relationships" id="268" r:id="R2ba31173984840a8"/>
    <p:sldId xmlns:r="http://schemas.openxmlformats.org/officeDocument/2006/relationships" id="269" r:id="R2975996370f84d45"/>
    <p:sldId xmlns:r="http://schemas.openxmlformats.org/officeDocument/2006/relationships" id="270" r:id="R09210cc4f8d04357"/>
    <p:sldId xmlns:r="http://schemas.openxmlformats.org/officeDocument/2006/relationships" id="271" r:id="Rd3d4c9749b414598"/>
    <p:sldId xmlns:r="http://schemas.openxmlformats.org/officeDocument/2006/relationships" id="272" r:id="R8fe8e2c409a24aff"/>
    <p:sldId xmlns:r="http://schemas.openxmlformats.org/officeDocument/2006/relationships" id="273" r:id="Rd37aec48cebd41c5"/>
    <p:sldId xmlns:r="http://schemas.openxmlformats.org/officeDocument/2006/relationships" id="274" r:id="Rc32ddfadeba740f4"/>
    <p:sldId xmlns:r="http://schemas.openxmlformats.org/officeDocument/2006/relationships" id="275" r:id="R4379839eb9144104"/>
    <p:sldId xmlns:r="http://schemas.openxmlformats.org/officeDocument/2006/relationships" id="276" r:id="R0060abf3b8a04395"/>
    <p:sldId xmlns:r="http://schemas.openxmlformats.org/officeDocument/2006/relationships" id="277" r:id="R96e4eeb6201a4c11"/>
    <p:sldId xmlns:r="http://schemas.openxmlformats.org/officeDocument/2006/relationships" id="278" r:id="R03c0586c74644e50"/>
    <p:sldId xmlns:r="http://schemas.openxmlformats.org/officeDocument/2006/relationships" id="279" r:id="R9cbd37c182b743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b6351d89b314f78" /><Relationship Type="http://schemas.openxmlformats.org/officeDocument/2006/relationships/slideMaster" Target="/ppt/slideMasters/slideMaster1.xml" Id="R23cec8f074884ce7" /><Relationship Type="http://schemas.openxmlformats.org/officeDocument/2006/relationships/notesMaster" Target="/ppt/notesMasters/notesMaster1.xml" Id="R1d7479850a3e4450" /><Relationship Type="http://schemas.openxmlformats.org/officeDocument/2006/relationships/presProps" Target="/ppt/presProps.xml" Id="R3789dfca60964b9b" /><Relationship Type="http://schemas.openxmlformats.org/officeDocument/2006/relationships/viewProps" Target="/ppt/viewProps.xml" Id="R8a7b47b2375e4c9b" /><Relationship Type="http://schemas.openxmlformats.org/officeDocument/2006/relationships/tableStyles" Target="/ppt/tableStyles.xml" Id="R8eb359ea0ee140f8" /><Relationship Type="http://schemas.openxmlformats.org/officeDocument/2006/relationships/slide" Target="/ppt/slides/slide1.xml" Id="R943700025b014ba9" /><Relationship Type="http://schemas.openxmlformats.org/officeDocument/2006/relationships/slide" Target="/ppt/slides/slide2.xml" Id="R6aa3a16a9e2146c9" /><Relationship Type="http://schemas.openxmlformats.org/officeDocument/2006/relationships/slide" Target="/ppt/slides/slide3.xml" Id="Rdf6ce43f7b0b4bcc" /><Relationship Type="http://schemas.openxmlformats.org/officeDocument/2006/relationships/slide" Target="/ppt/slides/slide4.xml" Id="R579c4386b5c04e29" /><Relationship Type="http://schemas.openxmlformats.org/officeDocument/2006/relationships/slide" Target="/ppt/slides/slide5.xml" Id="R7ee003b22a1e4aea" /><Relationship Type="http://schemas.openxmlformats.org/officeDocument/2006/relationships/slide" Target="/ppt/slides/slide6.xml" Id="Rd3407eb5829d4dad" /><Relationship Type="http://schemas.openxmlformats.org/officeDocument/2006/relationships/slide" Target="/ppt/slides/slide7.xml" Id="R61a1603dc446440e" /><Relationship Type="http://schemas.openxmlformats.org/officeDocument/2006/relationships/slide" Target="/ppt/slides/slide8.xml" Id="R9fc6c568d37b4e23" /><Relationship Type="http://schemas.openxmlformats.org/officeDocument/2006/relationships/slide" Target="/ppt/slides/slide9.xml" Id="R8459542a6a244a31" /><Relationship Type="http://schemas.openxmlformats.org/officeDocument/2006/relationships/slide" Target="/ppt/slides/slide10.xml" Id="R4f15fc4c97c0488a" /><Relationship Type="http://schemas.openxmlformats.org/officeDocument/2006/relationships/slide" Target="/ppt/slides/slide11.xml" Id="Re23d2345ea404f9b" /><Relationship Type="http://schemas.openxmlformats.org/officeDocument/2006/relationships/slide" Target="/ppt/slides/slide12.xml" Id="Ra200b25bc8e449bd" /><Relationship Type="http://schemas.openxmlformats.org/officeDocument/2006/relationships/slide" Target="/ppt/slides/slide13.xml" Id="R2ba31173984840a8" /><Relationship Type="http://schemas.openxmlformats.org/officeDocument/2006/relationships/slide" Target="/ppt/slides/slide14.xml" Id="R2975996370f84d45" /><Relationship Type="http://schemas.openxmlformats.org/officeDocument/2006/relationships/slide" Target="/ppt/slides/slide15.xml" Id="R09210cc4f8d04357" /><Relationship Type="http://schemas.openxmlformats.org/officeDocument/2006/relationships/slide" Target="/ppt/slides/slide16.xml" Id="Rd3d4c9749b414598" /><Relationship Type="http://schemas.openxmlformats.org/officeDocument/2006/relationships/slide" Target="/ppt/slides/slide17.xml" Id="R8fe8e2c409a24aff" /><Relationship Type="http://schemas.openxmlformats.org/officeDocument/2006/relationships/slide" Target="/ppt/slides/slide18.xml" Id="Rd37aec48cebd41c5" /><Relationship Type="http://schemas.openxmlformats.org/officeDocument/2006/relationships/slide" Target="/ppt/slides/slide19.xml" Id="Rc32ddfadeba740f4" /><Relationship Type="http://schemas.openxmlformats.org/officeDocument/2006/relationships/slide" Target="/ppt/slides/slide20.xml" Id="R4379839eb9144104" /><Relationship Type="http://schemas.openxmlformats.org/officeDocument/2006/relationships/slide" Target="/ppt/slides/slide21.xml" Id="R0060abf3b8a04395" /><Relationship Type="http://schemas.openxmlformats.org/officeDocument/2006/relationships/slide" Target="/ppt/slides/slide22.xml" Id="R96e4eeb6201a4c11" /><Relationship Type="http://schemas.openxmlformats.org/officeDocument/2006/relationships/slide" Target="/ppt/slides/slide23.xml" Id="R03c0586c74644e50" /><Relationship Type="http://schemas.openxmlformats.org/officeDocument/2006/relationships/slide" Target="/ppt/slides/slide24.xml" Id="R9cbd37c182b743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d569a9acef47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182904ad14e19" /><Relationship Type="http://schemas.openxmlformats.org/officeDocument/2006/relationships/notesMaster" Target="/ppt/notesMasters/notesMaster1.xml" Id="R0830118af75e4e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e7bbc2e3094a05" /><Relationship Type="http://schemas.openxmlformats.org/officeDocument/2006/relationships/notesMaster" Target="/ppt/notesMasters/notesMaster1.xml" Id="Rf6908eaff62d45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d3a025dd864c1e" /><Relationship Type="http://schemas.openxmlformats.org/officeDocument/2006/relationships/notesMaster" Target="/ppt/notesMasters/notesMaster1.xml" Id="R848ac762ffeb48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f8b344e5d34ff4" /><Relationship Type="http://schemas.openxmlformats.org/officeDocument/2006/relationships/notesMaster" Target="/ppt/notesMasters/notesMaster1.xml" Id="R9f35bafdcc1641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c092409a6e40bb" /><Relationship Type="http://schemas.openxmlformats.org/officeDocument/2006/relationships/notesMaster" Target="/ppt/notesMasters/notesMaster1.xml" Id="Rad00a9fbdc6d40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b8a4254daf4fab" /><Relationship Type="http://schemas.openxmlformats.org/officeDocument/2006/relationships/notesMaster" Target="/ppt/notesMasters/notesMaster1.xml" Id="R0eac456689d743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011cac78274e29" /><Relationship Type="http://schemas.openxmlformats.org/officeDocument/2006/relationships/notesMaster" Target="/ppt/notesMasters/notesMaster1.xml" Id="R1c7c72e6cbf24d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02ccc41b334777" /><Relationship Type="http://schemas.openxmlformats.org/officeDocument/2006/relationships/notesMaster" Target="/ppt/notesMasters/notesMaster1.xml" Id="Rb425626dd2ef4d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f740fd55c74219" /><Relationship Type="http://schemas.openxmlformats.org/officeDocument/2006/relationships/notesMaster" Target="/ppt/notesMasters/notesMaster1.xml" Id="Re9a7eb80986e42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0966daf8064c64" /><Relationship Type="http://schemas.openxmlformats.org/officeDocument/2006/relationships/notesMaster" Target="/ppt/notesMasters/notesMaster1.xml" Id="R4ba5c0c5202144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949d4c7992420e" /><Relationship Type="http://schemas.openxmlformats.org/officeDocument/2006/relationships/notesMaster" Target="/ppt/notesMasters/notesMaster1.xml" Id="R71c6c0f31df046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2c251dfdab4daf" /><Relationship Type="http://schemas.openxmlformats.org/officeDocument/2006/relationships/notesMaster" Target="/ppt/notesMasters/notesMaster1.xml" Id="R1627215224c24d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4c65ff18ce489b" /><Relationship Type="http://schemas.openxmlformats.org/officeDocument/2006/relationships/notesMaster" Target="/ppt/notesMasters/notesMaster1.xml" Id="Radd64fa201d543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1ae24a0a424c91" /><Relationship Type="http://schemas.openxmlformats.org/officeDocument/2006/relationships/notesMaster" Target="/ppt/notesMasters/notesMaster1.xml" Id="R5139633e362241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5f55ab709743e4" /><Relationship Type="http://schemas.openxmlformats.org/officeDocument/2006/relationships/notesMaster" Target="/ppt/notesMasters/notesMaster1.xml" Id="Rd63fb3261b5846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571abb0d064d5f" /><Relationship Type="http://schemas.openxmlformats.org/officeDocument/2006/relationships/notesMaster" Target="/ppt/notesMasters/notesMaster1.xml" Id="R34db48882ae74f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6d61d6661d40ed" /><Relationship Type="http://schemas.openxmlformats.org/officeDocument/2006/relationships/notesMaster" Target="/ppt/notesMasters/notesMaster1.xml" Id="Ra39254c5089e4e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2f4c3a978d40b2" /><Relationship Type="http://schemas.openxmlformats.org/officeDocument/2006/relationships/notesMaster" Target="/ppt/notesMasters/notesMaster1.xml" Id="Rb0e9ddd573f14c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038eca0883436b" /><Relationship Type="http://schemas.openxmlformats.org/officeDocument/2006/relationships/notesMaster" Target="/ppt/notesMasters/notesMaster1.xml" Id="R64d3e66e410e4b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6fbd5caac64120" /><Relationship Type="http://schemas.openxmlformats.org/officeDocument/2006/relationships/notesMaster" Target="/ppt/notesMasters/notesMaster1.xml" Id="R930d9fc4a9934d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1e91af7c76498f" /><Relationship Type="http://schemas.openxmlformats.org/officeDocument/2006/relationships/notesMaster" Target="/ppt/notesMasters/notesMaster1.xml" Id="R05c6a2dc84d7401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2a779f86764fb6" /><Relationship Type="http://schemas.openxmlformats.org/officeDocument/2006/relationships/notesMaster" Target="/ppt/notesMasters/notesMaster1.xml" Id="Rdf392522ff43473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7463901d0f48b3" /><Relationship Type="http://schemas.openxmlformats.org/officeDocument/2006/relationships/notesMaster" Target="/ppt/notesMasters/notesMaster1.xml" Id="R2d6848414c124d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859cf29affb4aea" /><Relationship Type="http://schemas.openxmlformats.org/officeDocument/2006/relationships/notesMaster" Target="/ppt/notesMasters/notesMaster1.xml" Id="R6f49d6b630a34a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3f2696c79547c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01f0a9fa2b4b51" /><Relationship Type="http://schemas.openxmlformats.org/officeDocument/2006/relationships/slideLayout" Target="/ppt/slideLayouts/slideLayout1.xml" Id="Rce22570856a148d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22570856a148d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35bf223ef5468c" /><Relationship Type="http://schemas.openxmlformats.org/officeDocument/2006/relationships/image" Target="/ppt/media/image.png" Id="R17be47bb69d04a80" /><Relationship Type="http://schemas.openxmlformats.org/officeDocument/2006/relationships/image" Target="/ppt/media/image2.png" Id="Rcfe65be1a047424b" /><Relationship Type="http://schemas.openxmlformats.org/officeDocument/2006/relationships/notesSlide" Target="/ppt/notesSlides/notesSlide1.xml" Id="Rb803c0caa0cd44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1d484b0f8641d7" /><Relationship Type="http://schemas.openxmlformats.org/officeDocument/2006/relationships/image" Target="/ppt/media/image3.png" Id="R6c8a8d6a27a94482" /><Relationship Type="http://schemas.openxmlformats.org/officeDocument/2006/relationships/notesSlide" Target="/ppt/notesSlides/notesSlide2.xml" Id="R0e038df271424c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aeab1cdd034514" /><Relationship Type="http://schemas.openxmlformats.org/officeDocument/2006/relationships/image" Target="/ppt/media/image4.png" Id="Rc79c0434302e4d71" /><Relationship Type="http://schemas.openxmlformats.org/officeDocument/2006/relationships/notesSlide" Target="/ppt/notesSlides/notesSlide3.xml" Id="Rd700c59fc26246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b5ce38e3c14356" /><Relationship Type="http://schemas.openxmlformats.org/officeDocument/2006/relationships/image" Target="/ppt/media/image5.png" Id="R3e3b2043031b48c5" /><Relationship Type="http://schemas.openxmlformats.org/officeDocument/2006/relationships/notesSlide" Target="/ppt/notesSlides/notesSlide4.xml" Id="R76dc07a9d148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49d57c97fd4e2b" /><Relationship Type="http://schemas.openxmlformats.org/officeDocument/2006/relationships/image" Target="/ppt/media/image6.png" Id="R0a3e384046134e13" /><Relationship Type="http://schemas.openxmlformats.org/officeDocument/2006/relationships/notesSlide" Target="/ppt/notesSlides/notesSlide5.xml" Id="R3d16b2754d47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efc71c83c64cab" /><Relationship Type="http://schemas.openxmlformats.org/officeDocument/2006/relationships/image" Target="/ppt/media/image7.png" Id="Rbb0474b4adf046d7" /><Relationship Type="http://schemas.openxmlformats.org/officeDocument/2006/relationships/notesSlide" Target="/ppt/notesSlides/notesSlide6.xml" Id="R465d17313e4648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49716c72e24b33" /><Relationship Type="http://schemas.openxmlformats.org/officeDocument/2006/relationships/image" Target="/ppt/media/image8.png" Id="R333d30b5854b4c5f" /><Relationship Type="http://schemas.openxmlformats.org/officeDocument/2006/relationships/notesSlide" Target="/ppt/notesSlides/notesSlide7.xml" Id="R820f70f77143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2fe1c85e144a88" /><Relationship Type="http://schemas.openxmlformats.org/officeDocument/2006/relationships/image" Target="/ppt/media/image9.png" Id="Rc6db091cdb504135" /><Relationship Type="http://schemas.openxmlformats.org/officeDocument/2006/relationships/notesSlide" Target="/ppt/notesSlides/notesSlide8.xml" Id="R58a11a7905744d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baa698bda14a84" /><Relationship Type="http://schemas.openxmlformats.org/officeDocument/2006/relationships/image" Target="/ppt/media/image10.png" Id="R3c16ad97e4ea48a9" /><Relationship Type="http://schemas.openxmlformats.org/officeDocument/2006/relationships/notesSlide" Target="/ppt/notesSlides/notesSlide9.xml" Id="Rc201adf2c9fb43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bed12157cd4f76" /><Relationship Type="http://schemas.openxmlformats.org/officeDocument/2006/relationships/image" Target="/ppt/media/image11.png" Id="Rd970ab76e3374e4f" /><Relationship Type="http://schemas.openxmlformats.org/officeDocument/2006/relationships/notesSlide" Target="/ppt/notesSlides/notesSlide10.xml" Id="R05ce03589f364b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f1f8d5491a4f11" /><Relationship Type="http://schemas.openxmlformats.org/officeDocument/2006/relationships/image" Target="/ppt/media/image12.png" Id="R1a041e4ff5b043ee" /><Relationship Type="http://schemas.openxmlformats.org/officeDocument/2006/relationships/notesSlide" Target="/ppt/notesSlides/notesSlide11.xml" Id="R88f64e0ee0ed41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afe9cd46c94c5f" /><Relationship Type="http://schemas.openxmlformats.org/officeDocument/2006/relationships/image" Target="/ppt/media/image13.png" Id="R91cf9b13a2104bf5" /><Relationship Type="http://schemas.openxmlformats.org/officeDocument/2006/relationships/notesSlide" Target="/ppt/notesSlides/notesSlide12.xml" Id="Ra87e9598b0c543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9d5dec2d7a40f1" /><Relationship Type="http://schemas.openxmlformats.org/officeDocument/2006/relationships/image" Target="/ppt/media/image14.png" Id="R5e681a572f0444eb" /><Relationship Type="http://schemas.openxmlformats.org/officeDocument/2006/relationships/notesSlide" Target="/ppt/notesSlides/notesSlide13.xml" Id="Rbd6db7d52e4d46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9cfa24610c4874" /><Relationship Type="http://schemas.openxmlformats.org/officeDocument/2006/relationships/image" Target="/ppt/media/image15.png" Id="Re4bcb930ac934344" /><Relationship Type="http://schemas.openxmlformats.org/officeDocument/2006/relationships/notesSlide" Target="/ppt/notesSlides/notesSlide14.xml" Id="R52ee80178d3c47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0697a4af704065" /><Relationship Type="http://schemas.openxmlformats.org/officeDocument/2006/relationships/image" Target="/ppt/media/image16.png" Id="R23bdb9ac26fb4433" /><Relationship Type="http://schemas.openxmlformats.org/officeDocument/2006/relationships/notesSlide" Target="/ppt/notesSlides/notesSlide15.xml" Id="R538da6c7238144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e641b4177094338" /><Relationship Type="http://schemas.openxmlformats.org/officeDocument/2006/relationships/image" Target="/ppt/media/image16.png" Id="R667eba809a634c66" /><Relationship Type="http://schemas.openxmlformats.org/officeDocument/2006/relationships/notesSlide" Target="/ppt/notesSlides/notesSlide16.xml" Id="Rf38ac63688424c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8b958539344aa4" /><Relationship Type="http://schemas.openxmlformats.org/officeDocument/2006/relationships/image" Target="/ppt/media/image17.png" Id="Ra70d9d8868a84525" /><Relationship Type="http://schemas.openxmlformats.org/officeDocument/2006/relationships/notesSlide" Target="/ppt/notesSlides/notesSlide17.xml" Id="R53d63f25e34c4f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19c033f53c46eb" /><Relationship Type="http://schemas.openxmlformats.org/officeDocument/2006/relationships/image" Target="/ppt/media/image17.png" Id="R870565f366b2425c" /><Relationship Type="http://schemas.openxmlformats.org/officeDocument/2006/relationships/notesSlide" Target="/ppt/notesSlides/notesSlide18.xml" Id="Re4c99aa6830d4b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1af4ad470f454c" /><Relationship Type="http://schemas.openxmlformats.org/officeDocument/2006/relationships/image" Target="/ppt/media/image18.png" Id="R2dad7d4f9f6c49d4" /><Relationship Type="http://schemas.openxmlformats.org/officeDocument/2006/relationships/notesSlide" Target="/ppt/notesSlides/notesSlide19.xml" Id="R6d8301fb7e5149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2a4d3593984128" /><Relationship Type="http://schemas.openxmlformats.org/officeDocument/2006/relationships/image" Target="/ppt/media/image18.png" Id="Rf89bad2893a84437" /><Relationship Type="http://schemas.openxmlformats.org/officeDocument/2006/relationships/notesSlide" Target="/ppt/notesSlides/notesSlide20.xml" Id="Reb14399f4ab044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cae44a4abc436d" /><Relationship Type="http://schemas.openxmlformats.org/officeDocument/2006/relationships/image" Target="/ppt/media/image19.png" Id="R6d46e41001c04ca1" /><Relationship Type="http://schemas.openxmlformats.org/officeDocument/2006/relationships/notesSlide" Target="/ppt/notesSlides/notesSlide21.xml" Id="Rf2139e58784c49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2c78841d6ed4dc3" /><Relationship Type="http://schemas.openxmlformats.org/officeDocument/2006/relationships/image" Target="/ppt/media/image20.png" Id="R35e3237a8d25474d" /><Relationship Type="http://schemas.openxmlformats.org/officeDocument/2006/relationships/notesSlide" Target="/ppt/notesSlides/notesSlide22.xml" Id="R418b9805a3ef4bf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c148aa10ca44bfb" /><Relationship Type="http://schemas.openxmlformats.org/officeDocument/2006/relationships/image" Target="/ppt/media/image21.png" Id="R697062a8cc624dc5" /><Relationship Type="http://schemas.openxmlformats.org/officeDocument/2006/relationships/notesSlide" Target="/ppt/notesSlides/notesSlide23.xml" Id="R30fc6e42bfae4a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ed6dc1402674240" /><Relationship Type="http://schemas.openxmlformats.org/officeDocument/2006/relationships/image" Target="/ppt/media/image22.png" Id="R4a5a757a48664668" /><Relationship Type="http://schemas.openxmlformats.org/officeDocument/2006/relationships/notesSlide" Target="/ppt/notesSlides/notesSlide24.xml" Id="Rd674ff5922b4415b" /></Relationships>
</file>

<file path=ppt/slides/slide1.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6FD29BC-069C-4311-A4DF-BE2300B47C62}"/>
              </a:ext>
            </a:extLst>
          </p:cNvPr>
          <p:cNvSpPr>
            <a:spLocks xmlns:a="http://schemas.openxmlformats.org/drawingml/2006/main" noGrp="1"/>
          </p:cNvSpPr>
          <p:nvPr/>
        </p:nvSpPr>
        <p:spPr>
          <a:xfrm xmlns:a="http://schemas.openxmlformats.org/drawingml/2006/main">
            <a:off x="7863840" y="0"/>
            <a:ext cx="4325112" cy="6858000"/>
          </a:xfrm>
          <a:prstGeom xmlns:a="http://schemas.openxmlformats.org/drawingml/2006/main" prst="rect">
            <a:avLst/>
          </a:prstGeom>
          <a:solidFill xmlns:a="http://schemas.openxmlformats.org/drawingml/2006/main">
            <a:srgbClr val="142A44"/>
          </a:solidFill>
        </p:spPr>
      </p:sp>
      <p:sp>
        <p:nvSpPr>
          <p:cNvPr id="3" name="Text 1">
            <a:extLst xmlns:a="http://schemas.openxmlformats.org/drawingml/2006/main">
              <a:ext uri="{FF2B5EF4-FFF2-40B4-BE49-F238E27FC236}">
                <a16:creationId xmlns:a16="http://schemas.microsoft.com/office/drawing/2014/main" id="{08C2C730-343E-41C6-BB6E-C9B42A61BD27}"/>
              </a:ext>
            </a:extLst>
          </p:cNvPr>
          <p:cNvSpPr>
            <a:spLocks xmlns:a="http://schemas.openxmlformats.org/drawingml/2006/main" noGrp="1"/>
          </p:cNvSpPr>
          <p:nvPr/>
        </p:nvSpPr>
        <p:spPr>
          <a:xfrm xmlns:a="http://schemas.openxmlformats.org/drawingml/2006/main">
            <a:off x="640080" y="96012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SÖZCÜKTE ANLAM · DERS 3/3</a:t>
            </a:r>
            <a:endParaRPr sz="1300"/>
          </a:p>
        </p:txBody>
      </p:sp>
      <p:sp>
        <p:nvSpPr>
          <p:cNvPr id="4" name="Text 2">
            <a:extLst xmlns:a="http://schemas.openxmlformats.org/drawingml/2006/main">
              <a:ext uri="{FF2B5EF4-FFF2-40B4-BE49-F238E27FC236}">
                <a16:creationId xmlns:a16="http://schemas.microsoft.com/office/drawing/2014/main" id="{E4E40AFD-799A-4A4B-815F-823EAC3E3A11}"/>
              </a:ext>
            </a:extLst>
          </p:cNvPr>
          <p:cNvSpPr>
            <a:spLocks xmlns:a="http://schemas.openxmlformats.org/drawingml/2006/main" noGrp="1"/>
          </p:cNvSpPr>
          <p:nvPr/>
        </p:nvSpPr>
        <p:spPr>
          <a:xfrm xmlns:a="http://schemas.openxmlformats.org/drawingml/2006/main">
            <a:off x="594360" y="1234440"/>
            <a:ext cx="694944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800" b="1">
                <a:solidFill>
                  <a:srgbClr val="FFFFFF"/>
                </a:solidFill>
                <a:latin typeface="Cambria"/>
                <a:ea typeface="Cambria"/>
                <a:cs typeface="Cambria"/>
              </a:rPr>
              <a:t>Bağlamsal Anlam</a:t>
            </a:r>
            <a:endParaRPr sz="3800"/>
          </a:p>
          <a:p xmlns:a="http://schemas.openxmlformats.org/drawingml/2006/main">
            <a:pPr marL="0" indent="0">
              <a:buNone/>
            </a:pPr>
            <a:r>
              <a:rPr sz="3800" b="1">
                <a:solidFill>
                  <a:srgbClr val="FFFFFF"/>
                </a:solidFill>
                <a:latin typeface="Cambria"/>
                <a:ea typeface="Cambria"/>
                <a:cs typeface="Cambria"/>
              </a:rPr>
              <a:t>Yorumlama ve Deyimler</a:t>
            </a:r>
            <a:endParaRPr sz="3800"/>
          </a:p>
        </p:txBody>
      </p:sp>
      <p:sp>
        <p:nvSpPr>
          <p:cNvPr id="5" name="Text 3">
            <a:extLst xmlns:a="http://schemas.openxmlformats.org/drawingml/2006/main">
              <a:ext uri="{FF2B5EF4-FFF2-40B4-BE49-F238E27FC236}">
                <a16:creationId xmlns:a16="http://schemas.microsoft.com/office/drawing/2014/main" id="{60781682-3D79-4076-8B45-CA1FBCE43550}"/>
              </a:ext>
            </a:extLst>
          </p:cNvPr>
          <p:cNvSpPr>
            <a:spLocks xmlns:a="http://schemas.openxmlformats.org/drawingml/2006/main" noGrp="1"/>
          </p:cNvSpPr>
          <p:nvPr/>
        </p:nvSpPr>
        <p:spPr>
          <a:xfrm xmlns:a="http://schemas.openxmlformats.org/drawingml/2006/main">
            <a:off x="640080" y="2788920"/>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50" i="1">
                <a:solidFill>
                  <a:srgbClr val="CADCFC"/>
                </a:solidFill>
                <a:latin typeface="Calibri"/>
                <a:ea typeface="Calibri"/>
                <a:cs typeface="Calibri"/>
              </a:rPr>
              <a:t>Bir Söz Ne Anlatmak İstiyor? Deyim Doğru mu Açıklanmış?</a:t>
            </a:r>
            <a:endParaRPr sz="1950"/>
          </a:p>
        </p:txBody>
      </p:sp>
      <p:sp>
        <p:nvSpPr>
          <p:cNvPr id="6" name="Shape 4">
            <a:extLst xmlns:a="http://schemas.openxmlformats.org/drawingml/2006/main">
              <a:ext uri="{FF2B5EF4-FFF2-40B4-BE49-F238E27FC236}">
                <a16:creationId xmlns:a16="http://schemas.microsoft.com/office/drawing/2014/main" id="{B36CCB36-09BF-4B69-8695-4E4DEB18D3A7}"/>
              </a:ext>
            </a:extLst>
          </p:cNvPr>
          <p:cNvSpPr>
            <a:spLocks xmlns:a="http://schemas.openxmlformats.org/drawingml/2006/main" noGrp="1"/>
          </p:cNvSpPr>
          <p:nvPr/>
        </p:nvSpPr>
        <p:spPr>
          <a:xfrm xmlns:a="http://schemas.openxmlformats.org/drawingml/2006/main">
            <a:off x="640080" y="3520440"/>
            <a:ext cx="2478024" cy="384048"/>
          </a:xfrm>
          <a:prstGeom xmlns:a="http://schemas.openxmlformats.org/drawingml/2006/main" prst="roundRect">
            <a:avLst>
              <a:gd name="adj" fmla="val 50000"/>
            </a:avLst>
          </a:prstGeom>
          <a:solidFill xmlns:a="http://schemas.openxmlformats.org/drawingml/2006/main">
            <a:srgbClr val="142A44"/>
          </a:solidFill>
          <a:ln xmlns:a="http://schemas.openxmlformats.org/drawingml/2006/main" w="12700">
            <a:solidFill>
              <a:srgbClr val="D9A441"/>
            </a:solidFill>
            <a:prstDash val="solid"/>
          </a:ln>
        </p:spPr>
      </p:sp>
      <p:sp>
        <p:nvSpPr>
          <p:cNvPr id="7" name="Text 5">
            <a:extLst xmlns:a="http://schemas.openxmlformats.org/drawingml/2006/main">
              <a:ext uri="{FF2B5EF4-FFF2-40B4-BE49-F238E27FC236}">
                <a16:creationId xmlns:a16="http://schemas.microsoft.com/office/drawing/2014/main" id="{EE2A4890-C4E6-4665-9C41-E99690F6013A}"/>
              </a:ext>
            </a:extLst>
          </p:cNvPr>
          <p:cNvSpPr>
            <a:spLocks xmlns:a="http://schemas.openxmlformats.org/drawingml/2006/main" noGrp="1"/>
          </p:cNvSpPr>
          <p:nvPr/>
        </p:nvSpPr>
        <p:spPr>
          <a:xfrm xmlns:a="http://schemas.openxmlformats.org/drawingml/2006/main">
            <a:off x="640080" y="3520440"/>
            <a:ext cx="24780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FFFFFF"/>
                </a:solidFill>
                <a:latin typeface="Calibri"/>
                <a:ea typeface="Calibri"/>
                <a:cs typeface="Calibri"/>
              </a:rPr>
              <a:t>40 dk · </a:t>
            </a:r>
            <a:r>
              <a:rPr sz="1750">
                <a:solidFill>
                  <a:srgbClr val="FFFFFF"/>
                </a:solidFill>
                <a:latin typeface="Calibri"/>
                <a:ea typeface="Calibri"/>
                <a:cs typeface="Calibri"/>
              </a:rPr>
              <a:t>Blokta</a:t>
            </a:r>
            <a:r>
              <a:rPr sz="1750">
                <a:solidFill>
                  <a:srgbClr val="FFFFFF"/>
                </a:solidFill>
                <a:latin typeface="Calibri"/>
                <a:ea typeface="Calibri"/>
                <a:cs typeface="Calibri"/>
              </a:rPr>
              <a:t> 2 föy</a:t>
            </a:r>
            <a:endParaRPr sz="1750"/>
          </a:p>
        </p:txBody>
      </p:sp>
      <p:sp>
        <p:nvSpPr>
          <p:cNvPr id="8" name="Shape 6">
            <a:extLst xmlns:a="http://schemas.openxmlformats.org/drawingml/2006/main">
              <a:ext uri="{FF2B5EF4-FFF2-40B4-BE49-F238E27FC236}">
                <a16:creationId xmlns:a16="http://schemas.microsoft.com/office/drawing/2014/main" id="{7EF3E6D5-D48E-4B65-A7EF-911207A440AF}"/>
              </a:ext>
            </a:extLst>
          </p:cNvPr>
          <p:cNvSpPr>
            <a:spLocks xmlns:a="http://schemas.openxmlformats.org/drawingml/2006/main" noGrp="1"/>
          </p:cNvSpPr>
          <p:nvPr/>
        </p:nvSpPr>
        <p:spPr>
          <a:xfrm xmlns:a="http://schemas.openxmlformats.org/drawingml/2006/main">
            <a:off x="3300984" y="3520440"/>
            <a:ext cx="3342132" cy="384048"/>
          </a:xfrm>
          <a:prstGeom xmlns:a="http://schemas.openxmlformats.org/drawingml/2006/main" prst="roundRect">
            <a:avLst>
              <a:gd name="adj" fmla="val 50000"/>
            </a:avLst>
          </a:prstGeom>
          <a:solidFill xmlns:a="http://schemas.openxmlformats.org/drawingml/2006/main">
            <a:srgbClr val="142A44"/>
          </a:solidFill>
          <a:ln xmlns:a="http://schemas.openxmlformats.org/drawingml/2006/main" w="12700">
            <a:solidFill>
              <a:srgbClr val="D9A441"/>
            </a:solidFill>
            <a:prstDash val="solid"/>
          </a:ln>
        </p:spPr>
      </p:sp>
      <p:sp>
        <p:nvSpPr>
          <p:cNvPr id="9" name="Text 7">
            <a:extLst xmlns:a="http://schemas.openxmlformats.org/drawingml/2006/main">
              <a:ext uri="{FF2B5EF4-FFF2-40B4-BE49-F238E27FC236}">
                <a16:creationId xmlns:a16="http://schemas.microsoft.com/office/drawing/2014/main" id="{904EFDC8-2C90-48EC-881B-DAACA9DFCC43}"/>
              </a:ext>
            </a:extLst>
          </p:cNvPr>
          <p:cNvSpPr>
            <a:spLocks xmlns:a="http://schemas.openxmlformats.org/drawingml/2006/main" noGrp="1"/>
          </p:cNvSpPr>
          <p:nvPr/>
        </p:nvSpPr>
        <p:spPr>
          <a:xfrm xmlns:a="http://schemas.openxmlformats.org/drawingml/2006/main">
            <a:off x="3300984" y="3520440"/>
            <a:ext cx="33421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FFFFFF"/>
                </a:solidFill>
                <a:latin typeface="Calibri"/>
                <a:ea typeface="Calibri"/>
                <a:cs typeface="Calibri"/>
              </a:rPr>
              <a:t>Anlam Bilgisi · Hafta 3</a:t>
            </a:r>
            <a:endParaRPr sz="1750"/>
          </a:p>
        </p:txBody>
      </p:sp>
      <p:sp>
        <p:nvSpPr>
          <p:cNvPr id="10" name="Shape 8">
            <a:extLst xmlns:a="http://schemas.openxmlformats.org/drawingml/2006/main">
              <a:ext uri="{FF2B5EF4-FFF2-40B4-BE49-F238E27FC236}">
                <a16:creationId xmlns:a16="http://schemas.microsoft.com/office/drawing/2014/main" id="{3859FBFA-5103-4781-BFBE-EF2D68294F87}"/>
              </a:ext>
            </a:extLst>
          </p:cNvPr>
          <p:cNvSpPr>
            <a:spLocks xmlns:a="http://schemas.openxmlformats.org/drawingml/2006/main" noGrp="1"/>
          </p:cNvSpPr>
          <p:nvPr/>
        </p:nvSpPr>
        <p:spPr>
          <a:xfrm xmlns:a="http://schemas.openxmlformats.org/drawingml/2006/main">
            <a:off x="640080" y="4297680"/>
            <a:ext cx="502920" cy="502920"/>
          </a:xfrm>
          <a:prstGeom xmlns:a="http://schemas.openxmlformats.org/drawingml/2006/main" prst="ellipse">
            <a:avLst/>
          </a:prstGeom>
          <a:solidFill xmlns:a="http://schemas.openxmlformats.org/drawingml/2006/main">
            <a:srgbClr val="254B78"/>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7be47bb69d04a80"/>
          <a:stretch xmlns:a="http://schemas.openxmlformats.org/drawingml/2006/main">
            <a:fillRect l="0" t="0" r="0" b="0"/>
          </a:stretch>
        </p:blipFill>
        <p:spPr>
          <a:xfrm xmlns:a="http://schemas.openxmlformats.org/drawingml/2006/main">
            <a:off x="740664" y="4398264"/>
            <a:ext cx="301752" cy="301752"/>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51066E63-8737-4401-B1B0-66775409A7CB}"/>
              </a:ext>
            </a:extLst>
          </p:cNvPr>
          <p:cNvSpPr>
            <a:spLocks xmlns:a="http://schemas.openxmlformats.org/drawingml/2006/main" noGrp="1"/>
          </p:cNvSpPr>
          <p:nvPr/>
        </p:nvSpPr>
        <p:spPr>
          <a:xfrm xmlns:a="http://schemas.openxmlformats.org/drawingml/2006/main">
            <a:off x="1280160" y="4297680"/>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FB8D6"/>
                </a:solidFill>
                <a:latin typeface="Calibri"/>
                <a:ea typeface="Calibri"/>
                <a:cs typeface="Calibri"/>
              </a:rPr>
              <a:t>Sedat GÜLER ve Claude Opus 5  ·  TYT Türkçe Ders Anlatım Serisi</a:t>
            </a:r>
            <a:endParaRPr sz="1200"/>
          </a:p>
        </p:txBody>
      </p:sp>
      <p:sp>
        <p:nvSpPr>
          <p:cNvPr id="13" name="Shape 10">
            <a:extLst xmlns:a="http://schemas.openxmlformats.org/drawingml/2006/main">
              <a:ext uri="{FF2B5EF4-FFF2-40B4-BE49-F238E27FC236}">
                <a16:creationId xmlns:a16="http://schemas.microsoft.com/office/drawing/2014/main" id="{2FF9093A-27C3-45C3-88DD-87E1A1300892}"/>
              </a:ext>
            </a:extLst>
          </p:cNvPr>
          <p:cNvSpPr>
            <a:spLocks xmlns:a="http://schemas.openxmlformats.org/drawingml/2006/main" noGrp="1"/>
          </p:cNvSpPr>
          <p:nvPr/>
        </p:nvSpPr>
        <p:spPr>
          <a:xfrm xmlns:a="http://schemas.openxmlformats.org/drawingml/2006/main">
            <a:off x="8321040" y="1554480"/>
            <a:ext cx="3291840" cy="822960"/>
          </a:xfrm>
          <a:prstGeom xmlns:a="http://schemas.openxmlformats.org/drawingml/2006/main" prst="roundRect">
            <a:avLst>
              <a:gd name="adj" fmla="val 8889"/>
            </a:avLst>
          </a:prstGeom>
          <a:solidFill xmlns:a="http://schemas.openxmlformats.org/drawingml/2006/main">
            <a:srgbClr val="142A44"/>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20E9178C-460D-46CA-B6F8-1C0868560928}"/>
              </a:ext>
            </a:extLst>
          </p:cNvPr>
          <p:cNvSpPr>
            <a:spLocks xmlns:a="http://schemas.openxmlformats.org/drawingml/2006/main" noGrp="1"/>
          </p:cNvSpPr>
          <p:nvPr/>
        </p:nvSpPr>
        <p:spPr>
          <a:xfrm xmlns:a="http://schemas.openxmlformats.org/drawingml/2006/main">
            <a:off x="8321040" y="1554480"/>
            <a:ext cx="32918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Calibri"/>
                <a:ea typeface="Calibri"/>
                <a:cs typeface="Calibri"/>
              </a:rPr>
              <a:t>"Devlerin omuzlarında</a:t>
            </a:r>
            <a:endParaRPr sz="2000"/>
          </a:p>
          <a:p xmlns:a="http://schemas.openxmlformats.org/drawingml/2006/main">
            <a:pPr marL="0" indent="0" algn="ctr">
              <a:buNone/>
            </a:pPr>
            <a:r>
              <a:rPr sz="2000" b="1">
                <a:solidFill>
                  <a:srgbClr val="FFFFFF"/>
                </a:solidFill>
                <a:latin typeface="Calibri"/>
                <a:ea typeface="Calibri"/>
                <a:cs typeface="Calibri"/>
              </a:rPr>
              <a:t>durduğumuz içindir."</a:t>
            </a:r>
            <a:endParaRPr sz="2000"/>
          </a:p>
        </p:txBody>
      </p:sp>
      <p:sp>
        <p:nvSpPr>
          <p:cNvPr id="15" name="Text 12">
            <a:extLst xmlns:a="http://schemas.openxmlformats.org/drawingml/2006/main">
              <a:ext uri="{FF2B5EF4-FFF2-40B4-BE49-F238E27FC236}">
                <a16:creationId xmlns:a16="http://schemas.microsoft.com/office/drawing/2014/main" id="{06DCD0A1-C606-414F-B3C9-44275CF61B85}"/>
              </a:ext>
            </a:extLst>
          </p:cNvPr>
          <p:cNvSpPr>
            <a:spLocks xmlns:a="http://schemas.openxmlformats.org/drawingml/2006/main" noGrp="1"/>
          </p:cNvSpPr>
          <p:nvPr/>
        </p:nvSpPr>
        <p:spPr>
          <a:xfrm xmlns:a="http://schemas.openxmlformats.org/drawingml/2006/main">
            <a:off x="8321040" y="246888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i="1">
                <a:solidFill>
                  <a:srgbClr val="9FB8D6"/>
                </a:solidFill>
                <a:latin typeface="Calibri"/>
                <a:ea typeface="Calibri"/>
                <a:cs typeface="Calibri"/>
              </a:rPr>
              <a:t>Bu sözle asıl anlatılmak istenen ne?</a:t>
            </a:r>
            <a:endParaRPr sz="1400"/>
          </a:p>
        </p:txBody>
      </p:sp>
      <p:sp>
        <p:nvSpPr>
          <p:cNvPr id="16" name="Shape 13">
            <a:extLst xmlns:a="http://schemas.openxmlformats.org/drawingml/2006/main">
              <a:ext uri="{FF2B5EF4-FFF2-40B4-BE49-F238E27FC236}">
                <a16:creationId xmlns:a16="http://schemas.microsoft.com/office/drawing/2014/main" id="{CD326EE8-C5BB-498B-9899-B66D3E96FC50}"/>
              </a:ext>
            </a:extLst>
          </p:cNvPr>
          <p:cNvSpPr>
            <a:spLocks xmlns:a="http://schemas.openxmlformats.org/drawingml/2006/main" noGrp="1"/>
          </p:cNvSpPr>
          <p:nvPr/>
        </p:nvSpPr>
        <p:spPr>
          <a:xfrm xmlns:a="http://schemas.openxmlformats.org/drawingml/2006/main">
            <a:off x="8321040" y="2834640"/>
            <a:ext cx="3291840" cy="548640"/>
          </a:xfrm>
          <a:prstGeom xmlns:a="http://schemas.openxmlformats.org/drawingml/2006/main" prst="roundRect">
            <a:avLst>
              <a:gd name="adj" fmla="val 13333"/>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7" name="Text 14">
            <a:extLst xmlns:a="http://schemas.openxmlformats.org/drawingml/2006/main">
              <a:ext uri="{FF2B5EF4-FFF2-40B4-BE49-F238E27FC236}">
                <a16:creationId xmlns:a16="http://schemas.microsoft.com/office/drawing/2014/main" id="{91D38376-F16D-4901-8162-12B3ECE56E2A}"/>
              </a:ext>
            </a:extLst>
          </p:cNvPr>
          <p:cNvSpPr>
            <a:spLocks xmlns:a="http://schemas.openxmlformats.org/drawingml/2006/main" noGrp="1"/>
          </p:cNvSpPr>
          <p:nvPr/>
        </p:nvSpPr>
        <p:spPr>
          <a:xfrm xmlns:a="http://schemas.openxmlformats.org/drawingml/2006/main">
            <a:off x="8321040" y="2834640"/>
            <a:ext cx="3291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42A44"/>
                </a:solidFill>
                <a:latin typeface="Calibri"/>
                <a:ea typeface="Calibri"/>
                <a:cs typeface="Calibri"/>
              </a:rPr>
              <a:t>Birikimden yararlanmak</a:t>
            </a:r>
            <a:endParaRPr sz="1750"/>
          </a:p>
        </p:txBody>
      </p:sp>
      <p:sp>
        <p:nvSpPr>
          <p:cNvPr id="18" name="Text 15">
            <a:extLst xmlns:a="http://schemas.openxmlformats.org/drawingml/2006/main">
              <a:ext uri="{FF2B5EF4-FFF2-40B4-BE49-F238E27FC236}">
                <a16:creationId xmlns:a16="http://schemas.microsoft.com/office/drawing/2014/main" id="{D1CE9091-8B47-4F86-B781-E4544224BF6B}"/>
              </a:ext>
            </a:extLst>
          </p:cNvPr>
          <p:cNvSpPr>
            <a:spLocks xmlns:a="http://schemas.openxmlformats.org/drawingml/2006/main" noGrp="1"/>
          </p:cNvSpPr>
          <p:nvPr/>
        </p:nvSpPr>
        <p:spPr>
          <a:xfrm xmlns:a="http://schemas.openxmlformats.org/drawingml/2006/main">
            <a:off x="8321040" y="3520440"/>
            <a:ext cx="3291840" cy="65783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i="1">
                <a:solidFill>
                  <a:srgbClr val="CADCFC"/>
                </a:solidFill>
                <a:latin typeface="Calibri"/>
                <a:ea typeface="Calibri"/>
                <a:cs typeface="Calibri"/>
              </a:rPr>
              <a:t>Sözlük anlamı değil, YAZARIN NE</a:t>
            </a:r>
            <a:endParaRPr sz="1550"/>
          </a:p>
          <a:p xmlns:a="http://schemas.openxmlformats.org/drawingml/2006/main">
            <a:pPr marL="0" indent="0" algn="ctr">
              <a:buNone/>
            </a:pPr>
            <a:r>
              <a:rPr sz="1550" i="1">
                <a:solidFill>
                  <a:srgbClr val="CADCFC"/>
                </a:solidFill>
                <a:latin typeface="Calibri"/>
                <a:ea typeface="Calibri"/>
                <a:cs typeface="Calibri"/>
              </a:rPr>
              <a:t>KASTETTİĞİ aranır.</a:t>
            </a:r>
            <a:endParaRPr sz="1550"/>
          </a:p>
        </p:txBody>
      </p:sp>
      <p:sp>
        <p:nvSpPr>
          <p:cNvPr id="19" name="Shape 16">
            <a:extLst xmlns:a="http://schemas.openxmlformats.org/drawingml/2006/main">
              <a:ext uri="{FF2B5EF4-FFF2-40B4-BE49-F238E27FC236}">
                <a16:creationId xmlns:a16="http://schemas.microsoft.com/office/drawing/2014/main" id="{F6AED8A2-7F88-406F-B1BA-28AC8933EF8E}"/>
              </a:ext>
            </a:extLst>
          </p:cNvPr>
          <p:cNvSpPr>
            <a:spLocks xmlns:a="http://schemas.openxmlformats.org/drawingml/2006/main" noGrp="1"/>
          </p:cNvSpPr>
          <p:nvPr/>
        </p:nvSpPr>
        <p:spPr>
          <a:xfrm xmlns:a="http://schemas.openxmlformats.org/drawingml/2006/main">
            <a:off x="8321040" y="4297680"/>
            <a:ext cx="3291840" cy="685800"/>
          </a:xfrm>
          <a:prstGeom xmlns:a="http://schemas.openxmlformats.org/drawingml/2006/main" prst="roundRect">
            <a:avLst>
              <a:gd name="adj" fmla="val 10667"/>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20" name="Text 17">
            <a:extLst xmlns:a="http://schemas.openxmlformats.org/drawingml/2006/main">
              <a:ext uri="{FF2B5EF4-FFF2-40B4-BE49-F238E27FC236}">
                <a16:creationId xmlns:a16="http://schemas.microsoft.com/office/drawing/2014/main" id="{82794227-1C24-4062-978A-B2517CDCC535}"/>
              </a:ext>
            </a:extLst>
          </p:cNvPr>
          <p:cNvSpPr>
            <a:spLocks xmlns:a="http://schemas.openxmlformats.org/drawingml/2006/main" noGrp="1"/>
          </p:cNvSpPr>
          <p:nvPr/>
        </p:nvSpPr>
        <p:spPr>
          <a:xfrm xmlns:a="http://schemas.openxmlformats.org/drawingml/2006/main">
            <a:off x="8321040" y="4297680"/>
            <a:ext cx="3291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42A44"/>
                </a:solidFill>
                <a:latin typeface="Calibri"/>
                <a:ea typeface="Calibri"/>
                <a:cs typeface="Calibri"/>
              </a:rPr>
              <a:t>YORUMLAMA VE DEYİM</a:t>
            </a:r>
            <a:endParaRPr sz="2100"/>
          </a:p>
        </p:txBody>
      </p:sp>
      <p:sp>
        <p:nvSpPr>
          <p:cNvPr id="21" name="Shape 18">
            <a:extLst xmlns:a="http://schemas.openxmlformats.org/drawingml/2006/main">
              <a:ext uri="{FF2B5EF4-FFF2-40B4-BE49-F238E27FC236}">
                <a16:creationId xmlns:a16="http://schemas.microsoft.com/office/drawing/2014/main" id="{D311E2AD-880B-4EC1-BCFA-43F735F821BD}"/>
              </a:ext>
            </a:extLst>
          </p:cNvPr>
          <p:cNvSpPr>
            <a:spLocks xmlns:a="http://schemas.openxmlformats.org/drawingml/2006/main" noGrp="1"/>
          </p:cNvSpPr>
          <p:nvPr/>
        </p:nvSpPr>
        <p:spPr>
          <a:xfrm xmlns:a="http://schemas.openxmlformats.org/drawingml/2006/main">
            <a:off x="9692640" y="5166360"/>
            <a:ext cx="777240" cy="777240"/>
          </a:xfrm>
          <a:prstGeom xmlns:a="http://schemas.openxmlformats.org/drawingml/2006/main" prst="ellipse">
            <a:avLst/>
          </a:prstGeom>
          <a:solidFill xmlns:a="http://schemas.openxmlformats.org/drawingml/2006/main">
            <a:srgbClr val="254B78"/>
          </a:solidFill>
        </p:spPr>
      </p:sp>
      <p:pic>
        <p:nvPicPr>
          <p:cNvPr id="44" name="Image 1"/>
          <p:cNvPicPr>
            <a:picLocks xmlns:a="http://schemas.openxmlformats.org/drawingml/2006/main" noChangeAspect="1"/>
          </p:cNvPicPr>
          <p:nvPr/>
        </p:nvPicPr>
        <p:blipFill>
          <a:blip xmlns:r="http://schemas.openxmlformats.org/officeDocument/2006/relationships" xmlns:a="http://schemas.openxmlformats.org/drawingml/2006/main" r:embed="Rcfe65be1a047424b"/>
          <a:stretch xmlns:a="http://schemas.openxmlformats.org/drawingml/2006/main">
            <a:fillRect l="0" t="0" r="0" b="0"/>
          </a:stretch>
        </p:blipFill>
        <p:spPr>
          <a:xfrm xmlns:a="http://schemas.openxmlformats.org/drawingml/2006/main">
            <a:off x="9867519" y="5341239"/>
            <a:ext cx="427482" cy="427482"/>
          </a:xfrm>
          <a:prstGeom xmlns:a="http://schemas.openxmlformats.org/drawingml/2006/main" prst="rect">
            <a:avLst/>
          </a:prstGeom>
        </p:spPr>
      </p:pic>
    </p:spTree>
    <p:extLst>
      <p:ext uri="{BB962C8B-B14F-4D97-AF65-F5344CB8AC3E}">
        <p14:creationId xmlns:p14="http://schemas.microsoft.com/office/powerpoint/2010/main" val="18466993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62EF313-D45C-4B30-999B-085BAACEE916}"/>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6c8a8d6a27a94482"/>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9EF9421-3CBD-45D5-BEE9-AAB0F6ECDA2A}"/>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KAZANIM</a:t>
            </a:r>
            <a:endParaRPr sz="1300"/>
          </a:p>
        </p:txBody>
      </p:sp>
      <p:sp>
        <p:nvSpPr>
          <p:cNvPr id="5" name="Text 2">
            <a:extLst xmlns:a="http://schemas.openxmlformats.org/drawingml/2006/main">
              <a:ext uri="{FF2B5EF4-FFF2-40B4-BE49-F238E27FC236}">
                <a16:creationId xmlns:a16="http://schemas.microsoft.com/office/drawing/2014/main" id="{B3B6E2D4-AF75-4B75-925D-2C5C958AB880}"/>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Bugün Ne Öğreneceğiz?</a:t>
            </a:r>
            <a:endParaRPr sz="2800"/>
          </a:p>
        </p:txBody>
      </p:sp>
      <p:sp>
        <p:nvSpPr>
          <p:cNvPr id="6" name="Shape 3">
            <a:extLst xmlns:a="http://schemas.openxmlformats.org/drawingml/2006/main">
              <a:ext uri="{FF2B5EF4-FFF2-40B4-BE49-F238E27FC236}">
                <a16:creationId xmlns:a16="http://schemas.microsoft.com/office/drawing/2014/main" id="{4E245FF7-E899-4AFB-86FE-F283B2C41D6B}"/>
              </a:ext>
            </a:extLst>
          </p:cNvPr>
          <p:cNvSpPr>
            <a:spLocks xmlns:a="http://schemas.openxmlformats.org/drawingml/2006/main" noGrp="1"/>
          </p:cNvSpPr>
          <p:nvPr/>
        </p:nvSpPr>
        <p:spPr>
          <a:xfrm xmlns:a="http://schemas.openxmlformats.org/drawingml/2006/main">
            <a:off x="640080" y="1828800"/>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7" name="Shape 4">
            <a:extLst xmlns:a="http://schemas.openxmlformats.org/drawingml/2006/main">
              <a:ext uri="{FF2B5EF4-FFF2-40B4-BE49-F238E27FC236}">
                <a16:creationId xmlns:a16="http://schemas.microsoft.com/office/drawing/2014/main" id="{B5ACAED9-11AE-4852-B5B8-480F3A6CE910}"/>
              </a:ext>
            </a:extLst>
          </p:cNvPr>
          <p:cNvSpPr>
            <a:spLocks xmlns:a="http://schemas.openxmlformats.org/drawingml/2006/main" noGrp="1"/>
          </p:cNvSpPr>
          <p:nvPr/>
        </p:nvSpPr>
        <p:spPr>
          <a:xfrm xmlns:a="http://schemas.openxmlformats.org/drawingml/2006/main">
            <a:off x="868680" y="2098929"/>
            <a:ext cx="502920" cy="502920"/>
          </a:xfrm>
          <a:prstGeom xmlns:a="http://schemas.openxmlformats.org/drawingml/2006/main" prst="ellipse">
            <a:avLst/>
          </a:prstGeom>
          <a:solidFill xmlns:a="http://schemas.openxmlformats.org/drawingml/2006/main">
            <a:srgbClr val="1E3A5F"/>
          </a:solidFill>
        </p:spPr>
      </p:sp>
      <p:sp>
        <p:nvSpPr>
          <p:cNvPr id="8" name="Text 5">
            <a:extLst xmlns:a="http://schemas.openxmlformats.org/drawingml/2006/main">
              <a:ext uri="{FF2B5EF4-FFF2-40B4-BE49-F238E27FC236}">
                <a16:creationId xmlns:a16="http://schemas.microsoft.com/office/drawing/2014/main" id="{5CF0A3EE-414B-497D-A3C1-FF712DC94244}"/>
              </a:ext>
            </a:extLst>
          </p:cNvPr>
          <p:cNvSpPr>
            <a:spLocks xmlns:a="http://schemas.openxmlformats.org/drawingml/2006/main" noGrp="1"/>
          </p:cNvSpPr>
          <p:nvPr/>
        </p:nvSpPr>
        <p:spPr>
          <a:xfrm xmlns:a="http://schemas.openxmlformats.org/drawingml/2006/main">
            <a:off x="868680" y="2098929"/>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9" name="Text 6">
            <a:extLst xmlns:a="http://schemas.openxmlformats.org/drawingml/2006/main">
              <a:ext uri="{FF2B5EF4-FFF2-40B4-BE49-F238E27FC236}">
                <a16:creationId xmlns:a16="http://schemas.microsoft.com/office/drawing/2014/main" id="{ECAD415B-B583-428B-A3AC-EFF1D4FB3032}"/>
              </a:ext>
            </a:extLst>
          </p:cNvPr>
          <p:cNvSpPr>
            <a:spLocks xmlns:a="http://schemas.openxmlformats.org/drawingml/2006/main" noGrp="1"/>
          </p:cNvSpPr>
          <p:nvPr/>
        </p:nvSpPr>
        <p:spPr>
          <a:xfrm xmlns:a="http://schemas.openxmlformats.org/drawingml/2006/main">
            <a:off x="1600200" y="1828800"/>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Parçadaki altı çizili bir sözü anlamca karşılayabilecek başka bir kullanımı (bağlamsal eş anlam) bulabilecek.</a:t>
            </a:r>
            <a:endParaRPr sz="2100"/>
          </a:p>
        </p:txBody>
      </p:sp>
      <p:sp>
        <p:nvSpPr>
          <p:cNvPr id="10" name="Shape 7">
            <a:extLst xmlns:a="http://schemas.openxmlformats.org/drawingml/2006/main">
              <a:ext uri="{FF2B5EF4-FFF2-40B4-BE49-F238E27FC236}">
                <a16:creationId xmlns:a16="http://schemas.microsoft.com/office/drawing/2014/main" id="{CD6C1924-F156-4838-9BAD-0068B33335F3}"/>
              </a:ext>
            </a:extLst>
          </p:cNvPr>
          <p:cNvSpPr>
            <a:spLocks xmlns:a="http://schemas.openxmlformats.org/drawingml/2006/main" noGrp="1"/>
          </p:cNvSpPr>
          <p:nvPr/>
        </p:nvSpPr>
        <p:spPr>
          <a:xfrm xmlns:a="http://schemas.openxmlformats.org/drawingml/2006/main">
            <a:off x="640080" y="3020111"/>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11" name="Shape 8">
            <a:extLst xmlns:a="http://schemas.openxmlformats.org/drawingml/2006/main">
              <a:ext uri="{FF2B5EF4-FFF2-40B4-BE49-F238E27FC236}">
                <a16:creationId xmlns:a16="http://schemas.microsoft.com/office/drawing/2014/main" id="{F1E035E8-0103-485B-B466-73E9EE4ACCBD}"/>
              </a:ext>
            </a:extLst>
          </p:cNvPr>
          <p:cNvSpPr>
            <a:spLocks xmlns:a="http://schemas.openxmlformats.org/drawingml/2006/main" noGrp="1"/>
          </p:cNvSpPr>
          <p:nvPr/>
        </p:nvSpPr>
        <p:spPr>
          <a:xfrm xmlns:a="http://schemas.openxmlformats.org/drawingml/2006/main">
            <a:off x="868680" y="3290240"/>
            <a:ext cx="502920" cy="502920"/>
          </a:xfrm>
          <a:prstGeom xmlns:a="http://schemas.openxmlformats.org/drawingml/2006/main" prst="ellipse">
            <a:avLst/>
          </a:prstGeom>
          <a:solidFill xmlns:a="http://schemas.openxmlformats.org/drawingml/2006/main">
            <a:srgbClr val="1E3A5F"/>
          </a:solidFill>
        </p:spPr>
      </p:sp>
      <p:sp>
        <p:nvSpPr>
          <p:cNvPr id="12" name="Text 9">
            <a:extLst xmlns:a="http://schemas.openxmlformats.org/drawingml/2006/main">
              <a:ext uri="{FF2B5EF4-FFF2-40B4-BE49-F238E27FC236}">
                <a16:creationId xmlns:a16="http://schemas.microsoft.com/office/drawing/2014/main" id="{72A5D168-85B2-4D7E-BD8E-2371629EAD2E}"/>
              </a:ext>
            </a:extLst>
          </p:cNvPr>
          <p:cNvSpPr>
            <a:spLocks xmlns:a="http://schemas.openxmlformats.org/drawingml/2006/main" noGrp="1"/>
          </p:cNvSpPr>
          <p:nvPr/>
        </p:nvSpPr>
        <p:spPr>
          <a:xfrm xmlns:a="http://schemas.openxmlformats.org/drawingml/2006/main">
            <a:off x="868680" y="3290240"/>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3" name="Text 10">
            <a:extLst xmlns:a="http://schemas.openxmlformats.org/drawingml/2006/main">
              <a:ext uri="{FF2B5EF4-FFF2-40B4-BE49-F238E27FC236}">
                <a16:creationId xmlns:a16="http://schemas.microsoft.com/office/drawing/2014/main" id="{F019FF47-74D5-4670-9A2D-5961C5C3BCDF}"/>
              </a:ext>
            </a:extLst>
          </p:cNvPr>
          <p:cNvSpPr>
            <a:spLocks xmlns:a="http://schemas.openxmlformats.org/drawingml/2006/main" noGrp="1"/>
          </p:cNvSpPr>
          <p:nvPr/>
        </p:nvSpPr>
        <p:spPr>
          <a:xfrm xmlns:a="http://schemas.openxmlformats.org/drawingml/2006/main">
            <a:off x="1600200" y="3020111"/>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Altı çizili bir sözle asıl anlatılmak istenenin ne olduğunu — sözlük anlamı değil, yazarın KASTETTİĞİ fikri — yorumlayabilecek.</a:t>
            </a:r>
            <a:endParaRPr sz="2100"/>
          </a:p>
        </p:txBody>
      </p:sp>
      <p:sp>
        <p:nvSpPr>
          <p:cNvPr id="14" name="Shape 11">
            <a:extLst xmlns:a="http://schemas.openxmlformats.org/drawingml/2006/main">
              <a:ext uri="{FF2B5EF4-FFF2-40B4-BE49-F238E27FC236}">
                <a16:creationId xmlns:a16="http://schemas.microsoft.com/office/drawing/2014/main" id="{4CDAB1B3-E9C1-4823-A740-23E31CD636A1}"/>
              </a:ext>
            </a:extLst>
          </p:cNvPr>
          <p:cNvSpPr>
            <a:spLocks xmlns:a="http://schemas.openxmlformats.org/drawingml/2006/main" noGrp="1"/>
          </p:cNvSpPr>
          <p:nvPr/>
        </p:nvSpPr>
        <p:spPr>
          <a:xfrm xmlns:a="http://schemas.openxmlformats.org/drawingml/2006/main">
            <a:off x="640080" y="4211422"/>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15" name="Shape 12">
            <a:extLst xmlns:a="http://schemas.openxmlformats.org/drawingml/2006/main">
              <a:ext uri="{FF2B5EF4-FFF2-40B4-BE49-F238E27FC236}">
                <a16:creationId xmlns:a16="http://schemas.microsoft.com/office/drawing/2014/main" id="{5B7DC665-3F71-4632-B625-941D0C14DFE7}"/>
              </a:ext>
            </a:extLst>
          </p:cNvPr>
          <p:cNvSpPr>
            <a:spLocks xmlns:a="http://schemas.openxmlformats.org/drawingml/2006/main" noGrp="1"/>
          </p:cNvSpPr>
          <p:nvPr/>
        </p:nvSpPr>
        <p:spPr>
          <a:xfrm xmlns:a="http://schemas.openxmlformats.org/drawingml/2006/main">
            <a:off x="868680" y="4481551"/>
            <a:ext cx="502920" cy="502920"/>
          </a:xfrm>
          <a:prstGeom xmlns:a="http://schemas.openxmlformats.org/drawingml/2006/main" prst="ellipse">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0C37DC4E-1BD6-4FB4-A0CD-791EC468E3CB}"/>
              </a:ext>
            </a:extLst>
          </p:cNvPr>
          <p:cNvSpPr>
            <a:spLocks xmlns:a="http://schemas.openxmlformats.org/drawingml/2006/main" noGrp="1"/>
          </p:cNvSpPr>
          <p:nvPr/>
        </p:nvSpPr>
        <p:spPr>
          <a:xfrm xmlns:a="http://schemas.openxmlformats.org/drawingml/2006/main">
            <a:off x="868680" y="4481551"/>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3</a:t>
            </a:r>
            <a:endParaRPr sz="2000"/>
          </a:p>
        </p:txBody>
      </p:sp>
      <p:sp>
        <p:nvSpPr>
          <p:cNvPr id="17" name="Text 14">
            <a:extLst xmlns:a="http://schemas.openxmlformats.org/drawingml/2006/main">
              <a:ext uri="{FF2B5EF4-FFF2-40B4-BE49-F238E27FC236}">
                <a16:creationId xmlns:a16="http://schemas.microsoft.com/office/drawing/2014/main" id="{72DB31CB-6E55-469D-B313-61298AE419AC}"/>
              </a:ext>
            </a:extLst>
          </p:cNvPr>
          <p:cNvSpPr>
            <a:spLocks xmlns:a="http://schemas.openxmlformats.org/drawingml/2006/main" noGrp="1"/>
          </p:cNvSpPr>
          <p:nvPr/>
        </p:nvSpPr>
        <p:spPr>
          <a:xfrm xmlns:a="http://schemas.openxmlformats.org/drawingml/2006/main">
            <a:off x="1600200" y="4211422"/>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Numaralanmış deyimlerden hangisinin açıklamasının GERÇEK deyim anlamıyla uyuşmadığını belirleyebilecek.</a:t>
            </a:r>
            <a:endParaRPr sz="2100"/>
          </a:p>
        </p:txBody>
      </p:sp>
      <p:sp>
        <p:nvSpPr>
          <p:cNvPr id="18" name="Shape 15">
            <a:extLst xmlns:a="http://schemas.openxmlformats.org/drawingml/2006/main">
              <a:ext uri="{FF2B5EF4-FFF2-40B4-BE49-F238E27FC236}">
                <a16:creationId xmlns:a16="http://schemas.microsoft.com/office/drawing/2014/main" id="{1A8BE41B-CEE4-4910-9613-6A143FEED337}"/>
              </a:ext>
            </a:extLst>
          </p:cNvPr>
          <p:cNvSpPr>
            <a:spLocks xmlns:a="http://schemas.openxmlformats.org/drawingml/2006/main" noGrp="1"/>
          </p:cNvSpPr>
          <p:nvPr/>
        </p:nvSpPr>
        <p:spPr>
          <a:xfrm xmlns:a="http://schemas.openxmlformats.org/drawingml/2006/main">
            <a:off x="640080" y="5402732"/>
            <a:ext cx="10881360" cy="1043178"/>
          </a:xfrm>
          <a:prstGeom xmlns:a="http://schemas.openxmlformats.org/drawingml/2006/main" prst="roundRect">
            <a:avLst>
              <a:gd name="adj" fmla="val 10000"/>
            </a:avLst>
          </a:prstGeom>
          <a:solidFill xmlns:a="http://schemas.openxmlformats.org/drawingml/2006/main">
            <a:srgbClr val="EEF3F8"/>
          </a:solidFill>
        </p:spPr>
      </p:sp>
      <p:sp>
        <p:nvSpPr>
          <p:cNvPr id="19" name="Shape 16">
            <a:extLst xmlns:a="http://schemas.openxmlformats.org/drawingml/2006/main">
              <a:ext uri="{FF2B5EF4-FFF2-40B4-BE49-F238E27FC236}">
                <a16:creationId xmlns:a16="http://schemas.microsoft.com/office/drawing/2014/main" id="{846C5FA0-83A6-4B52-B29B-A339D7967AA3}"/>
              </a:ext>
            </a:extLst>
          </p:cNvPr>
          <p:cNvSpPr>
            <a:spLocks xmlns:a="http://schemas.openxmlformats.org/drawingml/2006/main" noGrp="1"/>
          </p:cNvSpPr>
          <p:nvPr/>
        </p:nvSpPr>
        <p:spPr>
          <a:xfrm xmlns:a="http://schemas.openxmlformats.org/drawingml/2006/main">
            <a:off x="868680" y="5672861"/>
            <a:ext cx="502920" cy="502920"/>
          </a:xfrm>
          <a:prstGeom xmlns:a="http://schemas.openxmlformats.org/drawingml/2006/main" prst="ellipse">
            <a:avLst/>
          </a:prstGeom>
          <a:solidFill xmlns:a="http://schemas.openxmlformats.org/drawingml/2006/main">
            <a:srgbClr val="1E3A5F"/>
          </a:solidFill>
        </p:spPr>
      </p:sp>
      <p:sp>
        <p:nvSpPr>
          <p:cNvPr id="20" name="Text 17">
            <a:extLst xmlns:a="http://schemas.openxmlformats.org/drawingml/2006/main">
              <a:ext uri="{FF2B5EF4-FFF2-40B4-BE49-F238E27FC236}">
                <a16:creationId xmlns:a16="http://schemas.microsoft.com/office/drawing/2014/main" id="{9576BED5-7A46-4738-ADD3-FCA0CA2E767C}"/>
              </a:ext>
            </a:extLst>
          </p:cNvPr>
          <p:cNvSpPr>
            <a:spLocks xmlns:a="http://schemas.openxmlformats.org/drawingml/2006/main" noGrp="1"/>
          </p:cNvSpPr>
          <p:nvPr/>
        </p:nvSpPr>
        <p:spPr>
          <a:xfrm xmlns:a="http://schemas.openxmlformats.org/drawingml/2006/main">
            <a:off x="868680" y="5672861"/>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4</a:t>
            </a:r>
            <a:endParaRPr sz="2000"/>
          </a:p>
        </p:txBody>
      </p:sp>
      <p:sp>
        <p:nvSpPr>
          <p:cNvPr id="21" name="Text 18">
            <a:extLst xmlns:a="http://schemas.openxmlformats.org/drawingml/2006/main">
              <a:ext uri="{FF2B5EF4-FFF2-40B4-BE49-F238E27FC236}">
                <a16:creationId xmlns:a16="http://schemas.microsoft.com/office/drawing/2014/main" id="{35BFED95-528D-42EA-AB8C-87BFFC1A6B95}"/>
              </a:ext>
            </a:extLst>
          </p:cNvPr>
          <p:cNvSpPr>
            <a:spLocks xmlns:a="http://schemas.openxmlformats.org/drawingml/2006/main" noGrp="1"/>
          </p:cNvSpPr>
          <p:nvPr/>
        </p:nvSpPr>
        <p:spPr>
          <a:xfrm xmlns:a="http://schemas.openxmlformats.org/drawingml/2006/main">
            <a:off x="1600200" y="5402732"/>
            <a:ext cx="969264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Gerçek ÖSYM sorularında bu üç tipi hızlı ve doğru çözebilecek — Sözcükte Anlam konusunu TAMAMLAYACAK.</a:t>
            </a:r>
            <a:endParaRPr sz="2100"/>
          </a:p>
        </p:txBody>
      </p:sp>
      <p:sp>
        <p:nvSpPr>
          <p:cNvPr id="22" name="Text 19">
            <a:extLst xmlns:a="http://schemas.openxmlformats.org/drawingml/2006/main">
              <a:ext uri="{FF2B5EF4-FFF2-40B4-BE49-F238E27FC236}">
                <a16:creationId xmlns:a16="http://schemas.microsoft.com/office/drawing/2014/main" id="{9D3C6A1F-4CF2-453A-894D-CD030CEE7BC9}"/>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Kazanım</a:t>
            </a:r>
            <a:endParaRPr sz="900"/>
          </a:p>
        </p:txBody>
      </p:sp>
      <p:sp>
        <p:nvSpPr>
          <p:cNvPr id="23" name="Text 20">
            <a:extLst xmlns:a="http://schemas.openxmlformats.org/drawingml/2006/main">
              <a:ext uri="{FF2B5EF4-FFF2-40B4-BE49-F238E27FC236}">
                <a16:creationId xmlns:a16="http://schemas.microsoft.com/office/drawing/2014/main" id="{6721128A-DE66-446A-BF14-203CE44170BB}"/>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1103347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5A0DDF1-6CB5-45B7-BAF9-5B673E62390F}"/>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c79c0434302e4d71"/>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EBF07110-166B-4CD9-8421-126F6C537F37}"/>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BAĞLANTI</a:t>
            </a:r>
            <a:endParaRPr sz="1300"/>
          </a:p>
        </p:txBody>
      </p:sp>
      <p:sp>
        <p:nvSpPr>
          <p:cNvPr id="5" name="Text 2">
            <a:extLst xmlns:a="http://schemas.openxmlformats.org/drawingml/2006/main">
              <a:ext uri="{FF2B5EF4-FFF2-40B4-BE49-F238E27FC236}">
                <a16:creationId xmlns:a16="http://schemas.microsoft.com/office/drawing/2014/main" id="{1B0822C4-4839-42E8-B810-F3C6A10A656B}"/>
              </a:ext>
            </a:extLst>
          </p:cNvPr>
          <p:cNvSpPr>
            <a:spLocks xmlns:a="http://schemas.openxmlformats.org/drawingml/2006/main" noGrp="1"/>
          </p:cNvSpPr>
          <p:nvPr/>
        </p:nvSpPr>
        <p:spPr>
          <a:xfrm xmlns:a="http://schemas.openxmlformats.org/drawingml/2006/main">
            <a:off x="1463040" y="841248"/>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1E3A5F"/>
                </a:solidFill>
                <a:latin typeface="Cambria"/>
                <a:ea typeface="Cambria"/>
                <a:cs typeface="Cambria"/>
              </a:rPr>
              <a:t>Sözcükte Anlam'ın Son Dersi</a:t>
            </a:r>
            <a:endParaRPr sz="2500"/>
          </a:p>
        </p:txBody>
      </p:sp>
      <p:sp>
        <p:nvSpPr>
          <p:cNvPr id="6" name="Shape 3">
            <a:extLst xmlns:a="http://schemas.openxmlformats.org/drawingml/2006/main">
              <a:ext uri="{FF2B5EF4-FFF2-40B4-BE49-F238E27FC236}">
                <a16:creationId xmlns:a16="http://schemas.microsoft.com/office/drawing/2014/main" id="{7B9E4FC9-7D01-4018-BBC6-2C24AEE10279}"/>
              </a:ext>
            </a:extLst>
          </p:cNvPr>
          <p:cNvSpPr>
            <a:spLocks xmlns:a="http://schemas.openxmlformats.org/drawingml/2006/main" noGrp="1"/>
          </p:cNvSpPr>
          <p:nvPr/>
        </p:nvSpPr>
        <p:spPr>
          <a:xfrm xmlns:a="http://schemas.openxmlformats.org/drawingml/2006/main">
            <a:off x="640080" y="1645920"/>
            <a:ext cx="10881360" cy="1534160"/>
          </a:xfrm>
          <a:prstGeom xmlns:a="http://schemas.openxmlformats.org/drawingml/2006/main" prst="roundRect">
            <a:avLst>
              <a:gd name="adj" fmla="val 8696"/>
            </a:avLst>
          </a:prstGeom>
          <a:solidFill xmlns:a="http://schemas.openxmlformats.org/drawingml/2006/main">
            <a:srgbClr val="FBF3E3"/>
          </a:solidFill>
        </p:spPr>
      </p:sp>
      <p:sp>
        <p:nvSpPr>
          <p:cNvPr id="7" name="Text 4">
            <a:extLst xmlns:a="http://schemas.openxmlformats.org/drawingml/2006/main">
              <a:ext uri="{FF2B5EF4-FFF2-40B4-BE49-F238E27FC236}">
                <a16:creationId xmlns:a16="http://schemas.microsoft.com/office/drawing/2014/main" id="{978D6CE8-A584-41EC-B225-D3E761A696EC}"/>
              </a:ext>
            </a:extLst>
          </p:cNvPr>
          <p:cNvSpPr>
            <a:spLocks xmlns:a="http://schemas.openxmlformats.org/drawingml/2006/main" noGrp="1"/>
          </p:cNvSpPr>
          <p:nvPr/>
        </p:nvSpPr>
        <p:spPr>
          <a:xfrm xmlns:a="http://schemas.openxmlformats.org/drawingml/2006/main">
            <a:off x="914400" y="1645920"/>
            <a:ext cx="10332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Geçen ders (2/3) boşluk doldurma ve numaralanmış sözleri gördük. Bugün (3/3) son 3 tipi işleyip Sözcükte Anlam konusunu </a:t>
            </a:r>
            <a:r>
              <a:rPr sz="2000" b="1">
                <a:solidFill>
                  <a:srgbClr val="1E3A5F"/>
                </a:solidFill>
                <a:latin typeface="Calibri"/>
                <a:ea typeface="Calibri"/>
                <a:cs typeface="Calibri"/>
              </a:rPr>
              <a:t>TAMAMLAYACAĞIZ</a:t>
            </a:r>
            <a:r>
              <a:rPr sz="2000">
                <a:solidFill>
                  <a:srgbClr val="1E2761"/>
                </a:solidFill>
                <a:latin typeface="Calibri"/>
                <a:ea typeface="Calibri"/>
                <a:cs typeface="Calibri"/>
              </a:rPr>
              <a:t>: bağlamsal eş anlam bulma (4/7 yıl), sözü yorumlama (4/7 yıl) ve deyim anlamını doğrulama (2/7 yıl). Bu dersten sonra sıradaki konu </a:t>
            </a:r>
            <a:r>
              <a:rPr sz="2000" b="1">
                <a:solidFill>
                  <a:srgbClr val="1E3A5F"/>
                </a:solidFill>
                <a:latin typeface="Calibri"/>
                <a:ea typeface="Calibri"/>
                <a:cs typeface="Calibri"/>
              </a:rPr>
              <a:t>Cümlede Anlam</a:t>
            </a:r>
            <a:r>
              <a:rPr sz="2000">
                <a:solidFill>
                  <a:srgbClr val="1E2761"/>
                </a:solidFill>
                <a:latin typeface="Calibri"/>
                <a:ea typeface="Calibri"/>
                <a:cs typeface="Calibri"/>
              </a:rPr>
              <a:t> olacak.</a:t>
            </a:r>
            <a:endParaRPr sz="2000"/>
          </a:p>
        </p:txBody>
      </p:sp>
      <p:sp>
        <p:nvSpPr>
          <p:cNvPr id="8" name="Shape 5">
            <a:extLst xmlns:a="http://schemas.openxmlformats.org/drawingml/2006/main">
              <a:ext uri="{FF2B5EF4-FFF2-40B4-BE49-F238E27FC236}">
                <a16:creationId xmlns:a16="http://schemas.microsoft.com/office/drawing/2014/main" id="{280CE22F-880F-4E55-A6D1-AA17AC922DAE}"/>
              </a:ext>
            </a:extLst>
          </p:cNvPr>
          <p:cNvSpPr>
            <a:spLocks xmlns:a="http://schemas.openxmlformats.org/drawingml/2006/main" noGrp="1"/>
          </p:cNvSpPr>
          <p:nvPr/>
        </p:nvSpPr>
        <p:spPr>
          <a:xfrm xmlns:a="http://schemas.openxmlformats.org/drawingml/2006/main">
            <a:off x="822960" y="3225800"/>
            <a:ext cx="3246120" cy="2324481"/>
          </a:xfrm>
          <a:prstGeom xmlns:a="http://schemas.openxmlformats.org/drawingml/2006/main" prst="roundRect">
            <a:avLst>
              <a:gd name="adj" fmla="val 5106"/>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260730E2-5638-4B07-B1A6-4C43A61D6C90}"/>
              </a:ext>
            </a:extLst>
          </p:cNvPr>
          <p:cNvSpPr>
            <a:spLocks xmlns:a="http://schemas.openxmlformats.org/drawingml/2006/main" noGrp="1"/>
          </p:cNvSpPr>
          <p:nvPr/>
        </p:nvSpPr>
        <p:spPr>
          <a:xfrm xmlns:a="http://schemas.openxmlformats.org/drawingml/2006/main">
            <a:off x="1051560" y="3454400"/>
            <a:ext cx="2788920" cy="3696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mbria"/>
                <a:ea typeface="Cambria"/>
                <a:cs typeface="Cambria"/>
              </a:rPr>
              <a:t>Ders 2/3 (geçen ders)</a:t>
            </a:r>
            <a:endParaRPr sz="2050"/>
          </a:p>
        </p:txBody>
      </p:sp>
      <p:sp>
        <p:nvSpPr>
          <p:cNvPr id="10" name="Text 7">
            <a:extLst xmlns:a="http://schemas.openxmlformats.org/drawingml/2006/main">
              <a:ext uri="{FF2B5EF4-FFF2-40B4-BE49-F238E27FC236}">
                <a16:creationId xmlns:a16="http://schemas.microsoft.com/office/drawing/2014/main" id="{8A39909C-7E79-49BA-BDAD-F4C762A5D295}"/>
              </a:ext>
            </a:extLst>
          </p:cNvPr>
          <p:cNvSpPr>
            <a:spLocks xmlns:a="http://schemas.openxmlformats.org/drawingml/2006/main" noGrp="1"/>
          </p:cNvSpPr>
          <p:nvPr/>
        </p:nvSpPr>
        <p:spPr>
          <a:xfrm xmlns:a="http://schemas.openxmlformats.org/drawingml/2006/main">
            <a:off x="1051560" y="3869817"/>
            <a:ext cx="2788920" cy="1543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a:solidFill>
                  <a:srgbClr val="6B7280"/>
                </a:solidFill>
                <a:latin typeface="Calibri"/>
                <a:ea typeface="Calibri"/>
                <a:cs typeface="Calibri"/>
              </a:rPr>
              <a:t>Çok Anlamlılık ve Bağlama</a:t>
            </a:r>
            <a:endParaRPr sz="2000"/>
          </a:p>
          <a:p xmlns:a="http://schemas.openxmlformats.org/drawingml/2006/main">
            <a:pPr marL="0" indent="0">
              <a:buNone/>
            </a:pPr>
            <a:r>
              <a:rPr sz="2000">
                <a:solidFill>
                  <a:srgbClr val="6B7280"/>
                </a:solidFill>
                <a:latin typeface="Calibri"/>
                <a:ea typeface="Calibri"/>
                <a:cs typeface="Calibri"/>
              </a:rPr>
              <a:t>Uygun Sözcük tamamlandı.</a:t>
            </a:r>
            <a:endParaRPr sz="2000"/>
          </a:p>
        </p:txBody>
      </p:sp>
      <p:sp>
        <p:nvSpPr>
          <p:cNvPr id="11" name="Shape 8">
            <a:extLst xmlns:a="http://schemas.openxmlformats.org/drawingml/2006/main">
              <a:ext uri="{FF2B5EF4-FFF2-40B4-BE49-F238E27FC236}">
                <a16:creationId xmlns:a16="http://schemas.microsoft.com/office/drawing/2014/main" id="{A9867431-7D3B-424A-9538-0912CEE163BB}"/>
              </a:ext>
            </a:extLst>
          </p:cNvPr>
          <p:cNvSpPr>
            <a:spLocks xmlns:a="http://schemas.openxmlformats.org/drawingml/2006/main" noGrp="1"/>
          </p:cNvSpPr>
          <p:nvPr/>
        </p:nvSpPr>
        <p:spPr>
          <a:xfrm xmlns:a="http://schemas.openxmlformats.org/drawingml/2006/main">
            <a:off x="4526280" y="3225800"/>
            <a:ext cx="3246120" cy="2148840"/>
          </a:xfrm>
          <a:prstGeom xmlns:a="http://schemas.openxmlformats.org/drawingml/2006/main" prst="roundRect">
            <a:avLst>
              <a:gd name="adj" fmla="val 5106"/>
            </a:avLst>
          </a:prstGeom>
          <a:solidFill xmlns:a="http://schemas.openxmlformats.org/drawingml/2006/main">
            <a:srgbClr val="1E3A5F"/>
          </a:solidFill>
          <a:effectLst xmlns:a="http://schemas.openxmlformats.org/drawingml/2006/main">
            <a:outerShdw blurRad="101600" dist="38100" dir="5400000" sx="100000" sy="100000" kx="0" ky="0" algn="bl" rotWithShape="0">
              <a:srgbClr val="1E2761">
                <a:alpha val="25000"/>
              </a:srgbClr>
            </a:outerShdw>
          </a:effectLst>
        </p:spPr>
      </p:sp>
      <p:sp>
        <p:nvSpPr>
          <p:cNvPr id="12" name="Text 9">
            <a:extLst xmlns:a="http://schemas.openxmlformats.org/drawingml/2006/main">
              <a:ext uri="{FF2B5EF4-FFF2-40B4-BE49-F238E27FC236}">
                <a16:creationId xmlns:a16="http://schemas.microsoft.com/office/drawing/2014/main" id="{429DA613-AD2E-47AA-9766-46598562EAC6}"/>
              </a:ext>
            </a:extLst>
          </p:cNvPr>
          <p:cNvSpPr>
            <a:spLocks xmlns:a="http://schemas.openxmlformats.org/drawingml/2006/main" noGrp="1"/>
          </p:cNvSpPr>
          <p:nvPr/>
        </p:nvSpPr>
        <p:spPr>
          <a:xfrm xmlns:a="http://schemas.openxmlformats.org/drawingml/2006/main">
            <a:off x="4754880" y="3454400"/>
            <a:ext cx="278892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mbria"/>
                <a:ea typeface="Cambria"/>
                <a:cs typeface="Cambria"/>
              </a:rPr>
              <a:t>Ders 3/3 (bugün)</a:t>
            </a:r>
            <a:endParaRPr sz="2100"/>
          </a:p>
        </p:txBody>
      </p:sp>
      <p:sp>
        <p:nvSpPr>
          <p:cNvPr id="13" name="Text 10">
            <a:extLst xmlns:a="http://schemas.openxmlformats.org/drawingml/2006/main">
              <a:ext uri="{FF2B5EF4-FFF2-40B4-BE49-F238E27FC236}">
                <a16:creationId xmlns:a16="http://schemas.microsoft.com/office/drawing/2014/main" id="{6AF906FA-6A01-4673-85AD-5E9C631ED7AD}"/>
              </a:ext>
            </a:extLst>
          </p:cNvPr>
          <p:cNvSpPr>
            <a:spLocks xmlns:a="http://schemas.openxmlformats.org/drawingml/2006/main" noGrp="1"/>
          </p:cNvSpPr>
          <p:nvPr/>
        </p:nvSpPr>
        <p:spPr>
          <a:xfrm xmlns:a="http://schemas.openxmlformats.org/drawingml/2006/main">
            <a:off x="4754880" y="3878834"/>
            <a:ext cx="2788920" cy="1182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a:solidFill>
                  <a:srgbClr val="CADCFC"/>
                </a:solidFill>
                <a:latin typeface="Calibri"/>
                <a:ea typeface="Calibri"/>
                <a:cs typeface="Calibri"/>
              </a:rPr>
              <a:t>Bağlamsal Anlam Yorumlama</a:t>
            </a:r>
            <a:endParaRPr sz="2000"/>
          </a:p>
          <a:p xmlns:a="http://schemas.openxmlformats.org/drawingml/2006/main">
            <a:pPr marL="0" indent="0">
              <a:buNone/>
            </a:pPr>
            <a:r>
              <a:rPr sz="2000">
                <a:solidFill>
                  <a:srgbClr val="CADCFC"/>
                </a:solidFill>
                <a:latin typeface="Calibri"/>
                <a:ea typeface="Calibri"/>
                <a:cs typeface="Calibri"/>
              </a:rPr>
              <a:t>ve Deyimler.</a:t>
            </a:r>
            <a:endParaRPr sz="2000"/>
          </a:p>
        </p:txBody>
      </p:sp>
      <p:sp>
        <p:nvSpPr>
          <p:cNvPr id="14" name="Shape 11">
            <a:extLst xmlns:a="http://schemas.openxmlformats.org/drawingml/2006/main">
              <a:ext uri="{FF2B5EF4-FFF2-40B4-BE49-F238E27FC236}">
                <a16:creationId xmlns:a16="http://schemas.microsoft.com/office/drawing/2014/main" id="{E2F95AD8-E553-4D66-84F7-7B07790217DE}"/>
              </a:ext>
            </a:extLst>
          </p:cNvPr>
          <p:cNvSpPr>
            <a:spLocks xmlns:a="http://schemas.openxmlformats.org/drawingml/2006/main" noGrp="1"/>
          </p:cNvSpPr>
          <p:nvPr/>
        </p:nvSpPr>
        <p:spPr>
          <a:xfrm xmlns:a="http://schemas.openxmlformats.org/drawingml/2006/main">
            <a:off x="8229600" y="3225800"/>
            <a:ext cx="3246120" cy="2148840"/>
          </a:xfrm>
          <a:prstGeom xmlns:a="http://schemas.openxmlformats.org/drawingml/2006/main" prst="roundRect">
            <a:avLst>
              <a:gd name="adj" fmla="val 5106"/>
            </a:avLst>
          </a:prstGeom>
          <a:solidFill xmlns:a="http://schemas.openxmlformats.org/drawingml/2006/main">
            <a:srgbClr val="EEF3F8"/>
          </a:solidFill>
        </p:spPr>
      </p:sp>
      <p:sp>
        <p:nvSpPr>
          <p:cNvPr id="15" name="Text 12">
            <a:extLst xmlns:a="http://schemas.openxmlformats.org/drawingml/2006/main">
              <a:ext uri="{FF2B5EF4-FFF2-40B4-BE49-F238E27FC236}">
                <a16:creationId xmlns:a16="http://schemas.microsoft.com/office/drawing/2014/main" id="{8EC85D36-49B1-463C-8C22-88A28E81F426}"/>
              </a:ext>
            </a:extLst>
          </p:cNvPr>
          <p:cNvSpPr>
            <a:spLocks xmlns:a="http://schemas.openxmlformats.org/drawingml/2006/main" noGrp="1"/>
          </p:cNvSpPr>
          <p:nvPr/>
        </p:nvSpPr>
        <p:spPr>
          <a:xfrm xmlns:a="http://schemas.openxmlformats.org/drawingml/2006/main">
            <a:off x="8458200" y="3454400"/>
            <a:ext cx="278892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Sıradaki Konu</a:t>
            </a:r>
            <a:endParaRPr sz="2100"/>
          </a:p>
        </p:txBody>
      </p:sp>
      <p:sp>
        <p:nvSpPr>
          <p:cNvPr id="16" name="Text 13">
            <a:extLst xmlns:a="http://schemas.openxmlformats.org/drawingml/2006/main">
              <a:ext uri="{FF2B5EF4-FFF2-40B4-BE49-F238E27FC236}">
                <a16:creationId xmlns:a16="http://schemas.microsoft.com/office/drawing/2014/main" id="{0967F736-0479-47CA-B94A-15A405430353}"/>
              </a:ext>
            </a:extLst>
          </p:cNvPr>
          <p:cNvSpPr>
            <a:spLocks xmlns:a="http://schemas.openxmlformats.org/drawingml/2006/main" noGrp="1"/>
          </p:cNvSpPr>
          <p:nvPr/>
        </p:nvSpPr>
        <p:spPr>
          <a:xfrm xmlns:a="http://schemas.openxmlformats.org/drawingml/2006/main">
            <a:off x="8458200" y="3878834"/>
            <a:ext cx="2788920" cy="8580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6B7280"/>
                </a:solidFill>
                <a:latin typeface="Calibri"/>
                <a:ea typeface="Calibri"/>
                <a:cs typeface="Calibri"/>
              </a:rPr>
              <a:t>Cümlede Anlam</a:t>
            </a:r>
            <a:endParaRPr sz="2100"/>
          </a:p>
          <a:p xmlns:a="http://schemas.openxmlformats.org/drawingml/2006/main">
            <a:pPr marL="0" indent="0">
              <a:buNone/>
            </a:pPr>
            <a:r>
              <a:rPr sz="2100">
                <a:solidFill>
                  <a:srgbClr val="6B7280"/>
                </a:solidFill>
                <a:latin typeface="Calibri"/>
                <a:ea typeface="Calibri"/>
                <a:cs typeface="Calibri"/>
              </a:rPr>
              <a:t>(4 ders)</a:t>
            </a:r>
            <a:endParaRPr sz="2100"/>
          </a:p>
        </p:txBody>
      </p:sp>
      <p:sp>
        <p:nvSpPr>
          <p:cNvPr id="17" name="Text 14">
            <a:extLst xmlns:a="http://schemas.openxmlformats.org/drawingml/2006/main">
              <a:ext uri="{FF2B5EF4-FFF2-40B4-BE49-F238E27FC236}">
                <a16:creationId xmlns:a16="http://schemas.microsoft.com/office/drawing/2014/main" id="{1D3F36D4-C948-43E6-964D-40F9324BB716}"/>
              </a:ext>
            </a:extLst>
          </p:cNvPr>
          <p:cNvSpPr>
            <a:spLocks xmlns:a="http://schemas.openxmlformats.org/drawingml/2006/main" noGrp="1"/>
          </p:cNvSpPr>
          <p:nvPr/>
        </p:nvSpPr>
        <p:spPr>
          <a:xfrm xmlns:a="http://schemas.openxmlformats.org/drawingml/2006/main">
            <a:off x="4114800" y="3225800"/>
            <a:ext cx="365760" cy="432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D9A441"/>
                </a:solidFill>
                <a:latin typeface="Calibri"/>
                <a:ea typeface="Calibri"/>
                <a:cs typeface="Calibri"/>
              </a:rPr>
              <a:t>→</a:t>
            </a:r>
            <a:endParaRPr sz="2400"/>
          </a:p>
        </p:txBody>
      </p:sp>
      <p:sp>
        <p:nvSpPr>
          <p:cNvPr id="18" name="Text 15">
            <a:extLst xmlns:a="http://schemas.openxmlformats.org/drawingml/2006/main">
              <a:ext uri="{FF2B5EF4-FFF2-40B4-BE49-F238E27FC236}">
                <a16:creationId xmlns:a16="http://schemas.microsoft.com/office/drawing/2014/main" id="{5D87200A-8AF8-496E-9F29-6DC7C9244BBE}"/>
              </a:ext>
            </a:extLst>
          </p:cNvPr>
          <p:cNvSpPr>
            <a:spLocks xmlns:a="http://schemas.openxmlformats.org/drawingml/2006/main" noGrp="1"/>
          </p:cNvSpPr>
          <p:nvPr/>
        </p:nvSpPr>
        <p:spPr>
          <a:xfrm xmlns:a="http://schemas.openxmlformats.org/drawingml/2006/main">
            <a:off x="7863840" y="3225800"/>
            <a:ext cx="365760" cy="432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D9A441"/>
                </a:solidFill>
                <a:latin typeface="Calibri"/>
                <a:ea typeface="Calibri"/>
                <a:cs typeface="Calibri"/>
              </a:rPr>
              <a:t>→</a:t>
            </a:r>
            <a:endParaRPr sz="2400"/>
          </a:p>
        </p:txBody>
      </p:sp>
      <p:sp>
        <p:nvSpPr>
          <p:cNvPr id="19" name="Text 16">
            <a:extLst xmlns:a="http://schemas.openxmlformats.org/drawingml/2006/main">
              <a:ext uri="{FF2B5EF4-FFF2-40B4-BE49-F238E27FC236}">
                <a16:creationId xmlns:a16="http://schemas.microsoft.com/office/drawing/2014/main" id="{51AA4F32-C71F-4A68-AAE3-28DB6744EAB2}"/>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Bağlantı</a:t>
            </a:r>
            <a:endParaRPr sz="900"/>
          </a:p>
        </p:txBody>
      </p:sp>
      <p:sp>
        <p:nvSpPr>
          <p:cNvPr id="20" name="Text 17">
            <a:extLst xmlns:a="http://schemas.openxmlformats.org/drawingml/2006/main">
              <a:ext uri="{FF2B5EF4-FFF2-40B4-BE49-F238E27FC236}">
                <a16:creationId xmlns:a16="http://schemas.microsoft.com/office/drawing/2014/main" id="{7F9CF2CB-0927-4EC8-925D-523EF549F41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1526125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50BFF2D-F167-4416-A209-4BAD15E6A430}"/>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3e3b2043031b48c5"/>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1406773-3A27-4A83-B9D0-2523822BA25F}"/>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HAZIRLIK SORUSU</a:t>
            </a:r>
            <a:endParaRPr sz="1300"/>
          </a:p>
        </p:txBody>
      </p:sp>
      <p:sp>
        <p:nvSpPr>
          <p:cNvPr id="5" name="Text 2">
            <a:extLst xmlns:a="http://schemas.openxmlformats.org/drawingml/2006/main">
              <a:ext uri="{FF2B5EF4-FFF2-40B4-BE49-F238E27FC236}">
                <a16:creationId xmlns:a16="http://schemas.microsoft.com/office/drawing/2014/main" id="{5C7CCF7A-8ED1-4A54-A849-83A1142D10DE}"/>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"Dizleri Titredi" Derken Ne Anlatılmak İsteniyor?</a:t>
            </a:r>
            <a:endParaRPr sz="2800"/>
          </a:p>
        </p:txBody>
      </p:sp>
      <p:sp>
        <p:nvSpPr>
          <p:cNvPr id="6" name="Text 3">
            <a:extLst xmlns:a="http://schemas.openxmlformats.org/drawingml/2006/main">
              <a:ext uri="{FF2B5EF4-FFF2-40B4-BE49-F238E27FC236}">
                <a16:creationId xmlns:a16="http://schemas.microsoft.com/office/drawing/2014/main" id="{07FC78C6-D51F-463B-92C6-F1E305302B29}"/>
              </a:ext>
            </a:extLst>
          </p:cNvPr>
          <p:cNvSpPr>
            <a:spLocks xmlns:a="http://schemas.openxmlformats.org/drawingml/2006/main" noGrp="1"/>
          </p:cNvSpPr>
          <p:nvPr/>
        </p:nvSpPr>
        <p:spPr>
          <a:xfrm xmlns:a="http://schemas.openxmlformats.org/drawingml/2006/main">
            <a:off x="640080" y="1691640"/>
            <a:ext cx="1088136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Aşağıdaki cümleyi okuyun ve 2 dakika düşünün: "Sahneye çıkacağını öğrenince dizlerinin titrediğini hissetti." Bu sözle yazar bize gerçekten dizlerin fiziksel olarak titrediğini mi anlatmak istiyor?</a:t>
            </a:r>
            <a:endParaRPr sz="2000"/>
          </a:p>
        </p:txBody>
      </p:sp>
      <p:sp>
        <p:nvSpPr>
          <p:cNvPr id="7" name="Shape 4">
            <a:extLst xmlns:a="http://schemas.openxmlformats.org/drawingml/2006/main">
              <a:ext uri="{FF2B5EF4-FFF2-40B4-BE49-F238E27FC236}">
                <a16:creationId xmlns:a16="http://schemas.microsoft.com/office/drawing/2014/main" id="{909B0F41-8561-4018-A5CD-3D338E926BE2}"/>
              </a:ext>
            </a:extLst>
          </p:cNvPr>
          <p:cNvSpPr>
            <a:spLocks xmlns:a="http://schemas.openxmlformats.org/drawingml/2006/main" noGrp="1"/>
          </p:cNvSpPr>
          <p:nvPr/>
        </p:nvSpPr>
        <p:spPr>
          <a:xfrm xmlns:a="http://schemas.openxmlformats.org/drawingml/2006/main">
            <a:off x="4480560" y="2865120"/>
            <a:ext cx="3200400" cy="822960"/>
          </a:xfrm>
          <a:prstGeom xmlns:a="http://schemas.openxmlformats.org/drawingml/2006/main" prst="roundRect">
            <a:avLst>
              <a:gd name="adj" fmla="val 8889"/>
            </a:avLst>
          </a:prstGeom>
          <a:solidFill xmlns:a="http://schemas.openxmlformats.org/drawingml/2006/main">
            <a:srgbClr val="254B78"/>
          </a:solidFill>
          <a:effectLst xmlns:a="http://schemas.openxmlformats.org/drawingml/2006/main">
            <a:outerShdw blurRad="76200" dist="25400" dir="5400000" sx="100000" sy="100000" kx="0" ky="0" algn="bl" rotWithShape="0">
              <a:srgbClr val="1E2761">
                <a:alpha val="18000"/>
              </a:srgbClr>
            </a:outerShdw>
          </a:effectLst>
        </p:spPr>
      </p:sp>
      <p:sp>
        <p:nvSpPr>
          <p:cNvPr id="8" name="Text 5">
            <a:extLst xmlns:a="http://schemas.openxmlformats.org/drawingml/2006/main">
              <a:ext uri="{FF2B5EF4-FFF2-40B4-BE49-F238E27FC236}">
                <a16:creationId xmlns:a16="http://schemas.microsoft.com/office/drawing/2014/main" id="{BE0FD0C4-A39F-486C-B43E-F32CEA016EAD}"/>
              </a:ext>
            </a:extLst>
          </p:cNvPr>
          <p:cNvSpPr>
            <a:spLocks xmlns:a="http://schemas.openxmlformats.org/drawingml/2006/main" noGrp="1"/>
          </p:cNvSpPr>
          <p:nvPr/>
        </p:nvSpPr>
        <p:spPr>
          <a:xfrm xmlns:a="http://schemas.openxmlformats.org/drawingml/2006/main">
            <a:off x="4480560" y="2865120"/>
            <a:ext cx="32004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"dizleri titredi"</a:t>
            </a:r>
            <a:endParaRPr sz="2100"/>
          </a:p>
        </p:txBody>
      </p:sp>
      <p:sp>
        <p:nvSpPr>
          <p:cNvPr id="9" name="Shape 6">
            <a:extLst xmlns:a="http://schemas.openxmlformats.org/drawingml/2006/main">
              <a:ext uri="{FF2B5EF4-FFF2-40B4-BE49-F238E27FC236}">
                <a16:creationId xmlns:a16="http://schemas.microsoft.com/office/drawing/2014/main" id="{FBE6D8D6-BD47-4E26-81BD-ED6A25AE53BD}"/>
              </a:ext>
            </a:extLst>
          </p:cNvPr>
          <p:cNvSpPr>
            <a:spLocks xmlns:a="http://schemas.openxmlformats.org/drawingml/2006/main" noGrp="1"/>
          </p:cNvSpPr>
          <p:nvPr/>
        </p:nvSpPr>
        <p:spPr>
          <a:xfrm xmlns:a="http://schemas.openxmlformats.org/drawingml/2006/main">
            <a:off x="640080" y="3962400"/>
            <a:ext cx="10881360" cy="1534160"/>
          </a:xfrm>
          <a:prstGeom xmlns:a="http://schemas.openxmlformats.org/drawingml/2006/main" prst="roundRect">
            <a:avLst>
              <a:gd name="adj" fmla="val 6667"/>
            </a:avLst>
          </a:prstGeom>
          <a:solidFill xmlns:a="http://schemas.openxmlformats.org/drawingml/2006/main">
            <a:srgbClr val="FBF3E3"/>
          </a:solidFill>
        </p:spPr>
      </p:sp>
      <p:sp>
        <p:nvSpPr>
          <p:cNvPr id="10" name="Text 7">
            <a:extLst xmlns:a="http://schemas.openxmlformats.org/drawingml/2006/main">
              <a:ext uri="{FF2B5EF4-FFF2-40B4-BE49-F238E27FC236}">
                <a16:creationId xmlns:a16="http://schemas.microsoft.com/office/drawing/2014/main" id="{3575C2F3-A0EB-40B3-BC0C-7C8C6ED0E76C}"/>
              </a:ext>
            </a:extLst>
          </p:cNvPr>
          <p:cNvSpPr>
            <a:spLocks xmlns:a="http://schemas.openxmlformats.org/drawingml/2006/main" noGrp="1"/>
          </p:cNvSpPr>
          <p:nvPr/>
        </p:nvSpPr>
        <p:spPr>
          <a:xfrm xmlns:a="http://schemas.openxmlformats.org/drawingml/2006/main">
            <a:off x="914400" y="3962400"/>
            <a:ext cx="10332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Cevap:  </a:t>
            </a:r>
            <a:r>
              <a:rPr sz="2000">
                <a:solidFill>
                  <a:srgbClr val="1E2761"/>
                </a:solidFill>
                <a:latin typeface="Calibri"/>
                <a:ea typeface="Calibri"/>
                <a:cs typeface="Calibri"/>
              </a:rPr>
              <a:t>Hayır. "Dizleri titremek" burada "çok korktu / çok heyecanlandı" anlamında kullanılmış — sözün YÜZEYSEL/sözlük anlamı değil, yazarın ASIL KASTETTİĞİ duygu durumu önemlidir. İşte bugün tam olarak bunu öğreneceğiz: bir söz </a:t>
            </a:r>
            <a:r>
              <a:rPr sz="2000" b="1">
                <a:solidFill>
                  <a:srgbClr val="1E3A5F"/>
                </a:solidFill>
                <a:latin typeface="Calibri"/>
                <a:ea typeface="Calibri"/>
                <a:cs typeface="Calibri"/>
              </a:rPr>
              <a:t>GERÇEKTE NE ANLATMAK İSTİYOR</a:t>
            </a:r>
            <a:r>
              <a:rPr sz="2000">
                <a:solidFill>
                  <a:srgbClr val="1E2761"/>
                </a:solidFill>
                <a:latin typeface="Calibri"/>
                <a:ea typeface="Calibri"/>
                <a:cs typeface="Calibri"/>
              </a:rPr>
              <a:t>, nasıl doğru yorumlarız?</a:t>
            </a:r>
            <a:endParaRPr sz="2000"/>
          </a:p>
        </p:txBody>
      </p:sp>
      <p:sp>
        <p:nvSpPr>
          <p:cNvPr id="11" name="Text 8">
            <a:extLst xmlns:a="http://schemas.openxmlformats.org/drawingml/2006/main">
              <a:ext uri="{FF2B5EF4-FFF2-40B4-BE49-F238E27FC236}">
                <a16:creationId xmlns:a16="http://schemas.microsoft.com/office/drawing/2014/main" id="{33A42D1B-CE4A-4767-A318-1BAA733F0AD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Hazırlık Sorusu</a:t>
            </a:r>
            <a:endParaRPr sz="900"/>
          </a:p>
        </p:txBody>
      </p:sp>
      <p:sp>
        <p:nvSpPr>
          <p:cNvPr id="12" name="Text 9">
            <a:extLst xmlns:a="http://schemas.openxmlformats.org/drawingml/2006/main">
              <a:ext uri="{FF2B5EF4-FFF2-40B4-BE49-F238E27FC236}">
                <a16:creationId xmlns:a16="http://schemas.microsoft.com/office/drawing/2014/main" id="{408C1F07-6B9E-4E8C-92D6-8BD4295D93E4}"/>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53605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ED60E67-8A08-4A2A-BFC5-6AA555727CE8}"/>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0a3e384046134e13"/>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EFA7BC3-3E61-4C1D-ACFB-77E6EA61A239}"/>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1/3</a:t>
            </a:r>
            <a:endParaRPr sz="1300"/>
          </a:p>
        </p:txBody>
      </p:sp>
      <p:sp>
        <p:nvSpPr>
          <p:cNvPr id="5" name="Text 2">
            <a:extLst xmlns:a="http://schemas.openxmlformats.org/drawingml/2006/main">
              <a:ext uri="{FF2B5EF4-FFF2-40B4-BE49-F238E27FC236}">
                <a16:creationId xmlns:a16="http://schemas.microsoft.com/office/drawing/2014/main" id="{B9ACC7AD-A144-485B-8747-D196DD239E8F}"/>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Tip 3 — Bağlamsal Eş Anlam Bulma</a:t>
            </a:r>
            <a:endParaRPr sz="2800"/>
          </a:p>
        </p:txBody>
      </p:sp>
      <p:sp>
        <p:nvSpPr>
          <p:cNvPr id="6" name="Shape 3">
            <a:extLst xmlns:a="http://schemas.openxmlformats.org/drawingml/2006/main">
              <a:ext uri="{FF2B5EF4-FFF2-40B4-BE49-F238E27FC236}">
                <a16:creationId xmlns:a16="http://schemas.microsoft.com/office/drawing/2014/main" id="{6AED670A-3B07-4255-A410-5CC0B0BC718C}"/>
              </a:ext>
            </a:extLst>
          </p:cNvPr>
          <p:cNvSpPr>
            <a:spLocks xmlns:a="http://schemas.openxmlformats.org/drawingml/2006/main" noGrp="1"/>
          </p:cNvSpPr>
          <p:nvPr/>
        </p:nvSpPr>
        <p:spPr>
          <a:xfrm xmlns:a="http://schemas.openxmlformats.org/drawingml/2006/main">
            <a:off x="640080" y="1783080"/>
            <a:ext cx="10881360" cy="960120"/>
          </a:xfrm>
          <a:prstGeom xmlns:a="http://schemas.openxmlformats.org/drawingml/2006/main" prst="roundRect">
            <a:avLst>
              <a:gd name="adj" fmla="val 9524"/>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E85869C2-6475-4586-8100-B1ABA5ADB80F}"/>
              </a:ext>
            </a:extLst>
          </p:cNvPr>
          <p:cNvSpPr>
            <a:spLocks xmlns:a="http://schemas.openxmlformats.org/drawingml/2006/main" noGrp="1"/>
          </p:cNvSpPr>
          <p:nvPr/>
        </p:nvSpPr>
        <p:spPr>
          <a:xfrm xmlns:a="http://schemas.openxmlformats.org/drawingml/2006/main">
            <a:off x="914400" y="1783080"/>
            <a:ext cx="103327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E3A5F"/>
                </a:solidFill>
                <a:latin typeface="Calibri"/>
                <a:ea typeface="Calibri"/>
                <a:cs typeface="Calibri"/>
              </a:rPr>
              <a:t>Tanım:  </a:t>
            </a:r>
            <a:r>
              <a:rPr sz="1750">
                <a:solidFill>
                  <a:srgbClr val="1E2761"/>
                </a:solidFill>
                <a:latin typeface="Calibri"/>
                <a:ea typeface="Calibri"/>
                <a:cs typeface="Calibri"/>
              </a:rPr>
              <a:t>Parçada bir sözcük/söz altı çizilerek verilir; bu sözü ANLAMCA karşılayabilecek (aynı anlamı taşıyan) bir kullanımı seçeneklerde bulmamız istenir. 2020-2026 taramasında 4/7 yıl çıkmıştır.</a:t>
            </a:r>
            <a:endParaRPr sz="1750"/>
          </a:p>
        </p:txBody>
      </p:sp>
      <p:sp>
        <p:nvSpPr>
          <p:cNvPr id="8" name="Text 5">
            <a:extLst xmlns:a="http://schemas.openxmlformats.org/drawingml/2006/main">
              <a:ext uri="{FF2B5EF4-FFF2-40B4-BE49-F238E27FC236}">
                <a16:creationId xmlns:a16="http://schemas.microsoft.com/office/drawing/2014/main" id="{4CA366F7-6149-4C28-87E2-51F7127FEF5D}"/>
              </a:ext>
            </a:extLst>
          </p:cNvPr>
          <p:cNvSpPr>
            <a:spLocks xmlns:a="http://schemas.openxmlformats.org/drawingml/2006/main" noGrp="1"/>
          </p:cNvSpPr>
          <p:nvPr/>
        </p:nvSpPr>
        <p:spPr>
          <a:xfrm xmlns:a="http://schemas.openxmlformats.org/drawingml/2006/main">
            <a:off x="640080" y="2880360"/>
            <a:ext cx="10881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libri"/>
                <a:ea typeface="Calibri"/>
                <a:cs typeface="Calibri"/>
              </a:rPr>
              <a:t>Çözüm stratejisi:</a:t>
            </a:r>
            <a:endParaRPr sz="2100"/>
          </a:p>
        </p:txBody>
      </p:sp>
      <p:sp>
        <p:nvSpPr>
          <p:cNvPr id="9" name="Shape 6">
            <a:extLst xmlns:a="http://schemas.openxmlformats.org/drawingml/2006/main">
              <a:ext uri="{FF2B5EF4-FFF2-40B4-BE49-F238E27FC236}">
                <a16:creationId xmlns:a16="http://schemas.microsoft.com/office/drawing/2014/main" id="{B5911E56-2807-47CB-A175-B7473D3D951D}"/>
              </a:ext>
            </a:extLst>
          </p:cNvPr>
          <p:cNvSpPr>
            <a:spLocks xmlns:a="http://schemas.openxmlformats.org/drawingml/2006/main" noGrp="1"/>
          </p:cNvSpPr>
          <p:nvPr/>
        </p:nvSpPr>
        <p:spPr>
          <a:xfrm xmlns:a="http://schemas.openxmlformats.org/drawingml/2006/main">
            <a:off x="640080" y="33375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10" name="Shape 7">
            <a:extLst xmlns:a="http://schemas.openxmlformats.org/drawingml/2006/main">
              <a:ext uri="{FF2B5EF4-FFF2-40B4-BE49-F238E27FC236}">
                <a16:creationId xmlns:a16="http://schemas.microsoft.com/office/drawing/2014/main" id="{6D3EF1F2-273D-4684-AB23-D5158CD5831D}"/>
              </a:ext>
            </a:extLst>
          </p:cNvPr>
          <p:cNvSpPr>
            <a:spLocks xmlns:a="http://schemas.openxmlformats.org/drawingml/2006/main" noGrp="1"/>
          </p:cNvSpPr>
          <p:nvPr/>
        </p:nvSpPr>
        <p:spPr>
          <a:xfrm xmlns:a="http://schemas.openxmlformats.org/drawingml/2006/main">
            <a:off x="868680" y="3560064"/>
            <a:ext cx="502920" cy="502920"/>
          </a:xfrm>
          <a:prstGeom xmlns:a="http://schemas.openxmlformats.org/drawingml/2006/main" prst="ellipse">
            <a:avLst/>
          </a:prstGeom>
          <a:solidFill xmlns:a="http://schemas.openxmlformats.org/drawingml/2006/main">
            <a:srgbClr val="1E3A5F"/>
          </a:solidFill>
        </p:spPr>
      </p:sp>
      <p:sp>
        <p:nvSpPr>
          <p:cNvPr id="11" name="Text 8">
            <a:extLst xmlns:a="http://schemas.openxmlformats.org/drawingml/2006/main">
              <a:ext uri="{FF2B5EF4-FFF2-40B4-BE49-F238E27FC236}">
                <a16:creationId xmlns:a16="http://schemas.microsoft.com/office/drawing/2014/main" id="{AEFC4C33-F529-4BD1-A6AE-BDC4FE72A8B1}"/>
              </a:ext>
            </a:extLst>
          </p:cNvPr>
          <p:cNvSpPr>
            <a:spLocks xmlns:a="http://schemas.openxmlformats.org/drawingml/2006/main" noGrp="1"/>
          </p:cNvSpPr>
          <p:nvPr/>
        </p:nvSpPr>
        <p:spPr>
          <a:xfrm xmlns:a="http://schemas.openxmlformats.org/drawingml/2006/main">
            <a:off x="868680" y="35600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12" name="Text 9">
            <a:extLst xmlns:a="http://schemas.openxmlformats.org/drawingml/2006/main">
              <a:ext uri="{FF2B5EF4-FFF2-40B4-BE49-F238E27FC236}">
                <a16:creationId xmlns:a16="http://schemas.microsoft.com/office/drawing/2014/main" id="{2EF8736B-E51E-4A7C-B578-59DB4CEA973B}"/>
              </a:ext>
            </a:extLst>
          </p:cNvPr>
          <p:cNvSpPr>
            <a:spLocks xmlns:a="http://schemas.openxmlformats.org/drawingml/2006/main" noGrp="1"/>
          </p:cNvSpPr>
          <p:nvPr/>
        </p:nvSpPr>
        <p:spPr>
          <a:xfrm xmlns:a="http://schemas.openxmlformats.org/drawingml/2006/main">
            <a:off x="1600200" y="34290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Altı çizili sözün KESİN anlamını belirleyin</a:t>
            </a:r>
            <a:endParaRPr sz="2050"/>
          </a:p>
        </p:txBody>
      </p:sp>
      <p:sp>
        <p:nvSpPr>
          <p:cNvPr id="13" name="Text 10">
            <a:extLst xmlns:a="http://schemas.openxmlformats.org/drawingml/2006/main">
              <a:ext uri="{FF2B5EF4-FFF2-40B4-BE49-F238E27FC236}">
                <a16:creationId xmlns:a16="http://schemas.microsoft.com/office/drawing/2014/main" id="{272F4DF4-89D3-4A32-B866-76BD05FCBE0E}"/>
              </a:ext>
            </a:extLst>
          </p:cNvPr>
          <p:cNvSpPr>
            <a:spLocks xmlns:a="http://schemas.openxmlformats.org/drawingml/2006/main" noGrp="1"/>
          </p:cNvSpPr>
          <p:nvPr/>
        </p:nvSpPr>
        <p:spPr>
          <a:xfrm xmlns:a="http://schemas.openxmlformats.org/drawingml/2006/main">
            <a:off x="1600200" y="37947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Bazen mecaz, bazen deyimsel bir anlam taşır — önce bu sözün parçadaki tam anlamını netleştirin.</a:t>
            </a:r>
            <a:endParaRPr sz="1200"/>
          </a:p>
        </p:txBody>
      </p:sp>
      <p:sp>
        <p:nvSpPr>
          <p:cNvPr id="14" name="Shape 11">
            <a:extLst xmlns:a="http://schemas.openxmlformats.org/drawingml/2006/main">
              <a:ext uri="{FF2B5EF4-FFF2-40B4-BE49-F238E27FC236}">
                <a16:creationId xmlns:a16="http://schemas.microsoft.com/office/drawing/2014/main" id="{9EE61885-060D-4DBD-AA43-13C07D1901D2}"/>
              </a:ext>
            </a:extLst>
          </p:cNvPr>
          <p:cNvSpPr>
            <a:spLocks xmlns:a="http://schemas.openxmlformats.org/drawingml/2006/main" noGrp="1"/>
          </p:cNvSpPr>
          <p:nvPr/>
        </p:nvSpPr>
        <p:spPr>
          <a:xfrm xmlns:a="http://schemas.openxmlformats.org/drawingml/2006/main">
            <a:off x="640080" y="44043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15" name="Shape 12">
            <a:extLst xmlns:a="http://schemas.openxmlformats.org/drawingml/2006/main">
              <a:ext uri="{FF2B5EF4-FFF2-40B4-BE49-F238E27FC236}">
                <a16:creationId xmlns:a16="http://schemas.microsoft.com/office/drawing/2014/main" id="{61604591-5AF8-411E-99C2-CCB525F6F636}"/>
              </a:ext>
            </a:extLst>
          </p:cNvPr>
          <p:cNvSpPr>
            <a:spLocks xmlns:a="http://schemas.openxmlformats.org/drawingml/2006/main" noGrp="1"/>
          </p:cNvSpPr>
          <p:nvPr/>
        </p:nvSpPr>
        <p:spPr>
          <a:xfrm xmlns:a="http://schemas.openxmlformats.org/drawingml/2006/main">
            <a:off x="868680" y="4626864"/>
            <a:ext cx="502920" cy="502920"/>
          </a:xfrm>
          <a:prstGeom xmlns:a="http://schemas.openxmlformats.org/drawingml/2006/main" prst="ellipse">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C68BC05C-2C69-438A-A2A8-CF726B99D48A}"/>
              </a:ext>
            </a:extLst>
          </p:cNvPr>
          <p:cNvSpPr>
            <a:spLocks xmlns:a="http://schemas.openxmlformats.org/drawingml/2006/main" noGrp="1"/>
          </p:cNvSpPr>
          <p:nvPr/>
        </p:nvSpPr>
        <p:spPr>
          <a:xfrm xmlns:a="http://schemas.openxmlformats.org/drawingml/2006/main">
            <a:off x="868680" y="46268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7" name="Text 14">
            <a:extLst xmlns:a="http://schemas.openxmlformats.org/drawingml/2006/main">
              <a:ext uri="{FF2B5EF4-FFF2-40B4-BE49-F238E27FC236}">
                <a16:creationId xmlns:a16="http://schemas.microsoft.com/office/drawing/2014/main" id="{5E8E59B8-193F-466D-A435-789527B1CAAC}"/>
              </a:ext>
            </a:extLst>
          </p:cNvPr>
          <p:cNvSpPr>
            <a:spLocks xmlns:a="http://schemas.openxmlformats.org/drawingml/2006/main" noGrp="1"/>
          </p:cNvSpPr>
          <p:nvPr/>
        </p:nvSpPr>
        <p:spPr>
          <a:xfrm xmlns:a="http://schemas.openxmlformats.org/drawingml/2006/main">
            <a:off x="1600200" y="44958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AYNI ANLAMI arayın, aynı kelimeyi değil</a:t>
            </a:r>
            <a:endParaRPr sz="2050"/>
          </a:p>
        </p:txBody>
      </p:sp>
      <p:sp>
        <p:nvSpPr>
          <p:cNvPr id="18" name="Text 15">
            <a:extLst xmlns:a="http://schemas.openxmlformats.org/drawingml/2006/main">
              <a:ext uri="{FF2B5EF4-FFF2-40B4-BE49-F238E27FC236}">
                <a16:creationId xmlns:a16="http://schemas.microsoft.com/office/drawing/2014/main" id="{34E1E8F8-4563-4DE4-96D5-B78FC3318ADA}"/>
              </a:ext>
            </a:extLst>
          </p:cNvPr>
          <p:cNvSpPr>
            <a:spLocks xmlns:a="http://schemas.openxmlformats.org/drawingml/2006/main" noGrp="1"/>
          </p:cNvSpPr>
          <p:nvPr/>
        </p:nvSpPr>
        <p:spPr>
          <a:xfrm xmlns:a="http://schemas.openxmlformats.org/drawingml/2006/main">
            <a:off x="1600200" y="48615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Doğru seçenek genelde altı çizili kelimeyi tekrar etmez — FARKLI kelimelerle AYNI FİKRİ ifade eder.</a:t>
            </a:r>
            <a:endParaRPr sz="1200"/>
          </a:p>
        </p:txBody>
      </p:sp>
      <p:sp>
        <p:nvSpPr>
          <p:cNvPr id="19" name="Shape 16">
            <a:extLst xmlns:a="http://schemas.openxmlformats.org/drawingml/2006/main">
              <a:ext uri="{FF2B5EF4-FFF2-40B4-BE49-F238E27FC236}">
                <a16:creationId xmlns:a16="http://schemas.microsoft.com/office/drawing/2014/main" id="{85A4732B-EFDB-46B6-B861-B9931C330E1A}"/>
              </a:ext>
            </a:extLst>
          </p:cNvPr>
          <p:cNvSpPr>
            <a:spLocks xmlns:a="http://schemas.openxmlformats.org/drawingml/2006/main" noGrp="1"/>
          </p:cNvSpPr>
          <p:nvPr/>
        </p:nvSpPr>
        <p:spPr>
          <a:xfrm xmlns:a="http://schemas.openxmlformats.org/drawingml/2006/main">
            <a:off x="640080" y="54711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20" name="Shape 17">
            <a:extLst xmlns:a="http://schemas.openxmlformats.org/drawingml/2006/main">
              <a:ext uri="{FF2B5EF4-FFF2-40B4-BE49-F238E27FC236}">
                <a16:creationId xmlns:a16="http://schemas.microsoft.com/office/drawing/2014/main" id="{01AECB99-B6F6-4D42-B0E1-7A75A0F2D2E0}"/>
              </a:ext>
            </a:extLst>
          </p:cNvPr>
          <p:cNvSpPr>
            <a:spLocks xmlns:a="http://schemas.openxmlformats.org/drawingml/2006/main" noGrp="1"/>
          </p:cNvSpPr>
          <p:nvPr/>
        </p:nvSpPr>
        <p:spPr>
          <a:xfrm xmlns:a="http://schemas.openxmlformats.org/drawingml/2006/main">
            <a:off x="868680" y="5693664"/>
            <a:ext cx="502920" cy="502920"/>
          </a:xfrm>
          <a:prstGeom xmlns:a="http://schemas.openxmlformats.org/drawingml/2006/main" prst="ellipse">
            <a:avLst/>
          </a:prstGeom>
          <a:solidFill xmlns:a="http://schemas.openxmlformats.org/drawingml/2006/main">
            <a:srgbClr val="1E3A5F"/>
          </a:solidFill>
        </p:spPr>
      </p:sp>
      <p:sp>
        <p:nvSpPr>
          <p:cNvPr id="21" name="Text 18">
            <a:extLst xmlns:a="http://schemas.openxmlformats.org/drawingml/2006/main">
              <a:ext uri="{FF2B5EF4-FFF2-40B4-BE49-F238E27FC236}">
                <a16:creationId xmlns:a16="http://schemas.microsoft.com/office/drawing/2014/main" id="{C0136945-C7D0-406B-82BA-91D7A579229B}"/>
              </a:ext>
            </a:extLst>
          </p:cNvPr>
          <p:cNvSpPr>
            <a:spLocks xmlns:a="http://schemas.openxmlformats.org/drawingml/2006/main" noGrp="1"/>
          </p:cNvSpPr>
          <p:nvPr/>
        </p:nvSpPr>
        <p:spPr>
          <a:xfrm xmlns:a="http://schemas.openxmlformats.org/drawingml/2006/main">
            <a:off x="868680" y="56936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3</a:t>
            </a:r>
            <a:endParaRPr sz="2000"/>
          </a:p>
        </p:txBody>
      </p:sp>
      <p:sp>
        <p:nvSpPr>
          <p:cNvPr id="22" name="Text 19">
            <a:extLst xmlns:a="http://schemas.openxmlformats.org/drawingml/2006/main">
              <a:ext uri="{FF2B5EF4-FFF2-40B4-BE49-F238E27FC236}">
                <a16:creationId xmlns:a16="http://schemas.microsoft.com/office/drawing/2014/main" id="{978D496E-CC68-42BC-8171-AC3067C731C7}"/>
              </a:ext>
            </a:extLst>
          </p:cNvPr>
          <p:cNvSpPr>
            <a:spLocks xmlns:a="http://schemas.openxmlformats.org/drawingml/2006/main" noGrp="1"/>
          </p:cNvSpPr>
          <p:nvPr/>
        </p:nvSpPr>
        <p:spPr>
          <a:xfrm xmlns:a="http://schemas.openxmlformats.org/drawingml/2006/main">
            <a:off x="1600200" y="55626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Her seçeneği ayrı bir bağlamda test edin</a:t>
            </a:r>
            <a:endParaRPr sz="2050"/>
          </a:p>
        </p:txBody>
      </p:sp>
      <p:sp>
        <p:nvSpPr>
          <p:cNvPr id="23" name="Text 20">
            <a:extLst xmlns:a="http://schemas.openxmlformats.org/drawingml/2006/main">
              <a:ext uri="{FF2B5EF4-FFF2-40B4-BE49-F238E27FC236}">
                <a16:creationId xmlns:a16="http://schemas.microsoft.com/office/drawing/2014/main" id="{00B21F8F-90A0-4275-A164-81CBC79F5A0A}"/>
              </a:ext>
            </a:extLst>
          </p:cNvPr>
          <p:cNvSpPr>
            <a:spLocks xmlns:a="http://schemas.openxmlformats.org/drawingml/2006/main" noGrp="1"/>
          </p:cNvSpPr>
          <p:nvPr/>
        </p:nvSpPr>
        <p:spPr>
          <a:xfrm xmlns:a="http://schemas.openxmlformats.org/drawingml/2006/main">
            <a:off x="1600200" y="59283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Seçenekteki cümle, altı çizili sözün taşıdığı anlamı taşıyabiliyor mu, tek tek kontrol edin.</a:t>
            </a:r>
            <a:endParaRPr sz="1200"/>
          </a:p>
        </p:txBody>
      </p:sp>
      <p:sp>
        <p:nvSpPr>
          <p:cNvPr id="24" name="Text 21">
            <a:extLst xmlns:a="http://schemas.openxmlformats.org/drawingml/2006/main">
              <a:ext uri="{FF2B5EF4-FFF2-40B4-BE49-F238E27FC236}">
                <a16:creationId xmlns:a16="http://schemas.microsoft.com/office/drawing/2014/main" id="{D4BB0445-FFAE-4F3E-AF25-AC5995C751E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Anlatım — Bağlamsal Eş Anlam</a:t>
            </a:r>
            <a:endParaRPr sz="900"/>
          </a:p>
        </p:txBody>
      </p:sp>
      <p:sp>
        <p:nvSpPr>
          <p:cNvPr id="25" name="Text 22">
            <a:extLst xmlns:a="http://schemas.openxmlformats.org/drawingml/2006/main">
              <a:ext uri="{FF2B5EF4-FFF2-40B4-BE49-F238E27FC236}">
                <a16:creationId xmlns:a16="http://schemas.microsoft.com/office/drawing/2014/main" id="{1445888E-1089-4D47-AE1F-127477B95952}"/>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2198555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DD44405-53B6-47C8-AE50-976588440E91}"/>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bb0474b4adf046d7"/>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93AFFD1-328B-419A-8A19-3505C5A9F45A}"/>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2/3</a:t>
            </a:r>
            <a:endParaRPr sz="1300"/>
          </a:p>
        </p:txBody>
      </p:sp>
      <p:sp>
        <p:nvSpPr>
          <p:cNvPr id="5" name="Text 2">
            <a:extLst xmlns:a="http://schemas.openxmlformats.org/drawingml/2006/main">
              <a:ext uri="{FF2B5EF4-FFF2-40B4-BE49-F238E27FC236}">
                <a16:creationId xmlns:a16="http://schemas.microsoft.com/office/drawing/2014/main" id="{4AFFBB9A-DB9F-4FFE-B43D-EE566314EC84}"/>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Tip 4 — Sözü Yorumlama</a:t>
            </a:r>
            <a:endParaRPr sz="2800"/>
          </a:p>
        </p:txBody>
      </p:sp>
      <p:sp>
        <p:nvSpPr>
          <p:cNvPr id="6" name="Shape 3">
            <a:extLst xmlns:a="http://schemas.openxmlformats.org/drawingml/2006/main">
              <a:ext uri="{FF2B5EF4-FFF2-40B4-BE49-F238E27FC236}">
                <a16:creationId xmlns:a16="http://schemas.microsoft.com/office/drawing/2014/main" id="{13228A56-C3FE-4988-991D-EAFC598F699F}"/>
              </a:ext>
            </a:extLst>
          </p:cNvPr>
          <p:cNvSpPr>
            <a:spLocks xmlns:a="http://schemas.openxmlformats.org/drawingml/2006/main" noGrp="1"/>
          </p:cNvSpPr>
          <p:nvPr/>
        </p:nvSpPr>
        <p:spPr>
          <a:xfrm xmlns:a="http://schemas.openxmlformats.org/drawingml/2006/main">
            <a:off x="640080" y="1783080"/>
            <a:ext cx="10881360" cy="960120"/>
          </a:xfrm>
          <a:prstGeom xmlns:a="http://schemas.openxmlformats.org/drawingml/2006/main" prst="roundRect">
            <a:avLst>
              <a:gd name="adj" fmla="val 9524"/>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1F600C39-ECB8-4E80-A59C-F5751A2D0F05}"/>
              </a:ext>
            </a:extLst>
          </p:cNvPr>
          <p:cNvSpPr>
            <a:spLocks xmlns:a="http://schemas.openxmlformats.org/drawingml/2006/main" noGrp="1"/>
          </p:cNvSpPr>
          <p:nvPr/>
        </p:nvSpPr>
        <p:spPr>
          <a:xfrm xmlns:a="http://schemas.openxmlformats.org/drawingml/2006/main">
            <a:off x="914400" y="1783080"/>
            <a:ext cx="103327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E3A5F"/>
                </a:solidFill>
                <a:latin typeface="Calibri"/>
                <a:ea typeface="Calibri"/>
                <a:cs typeface="Calibri"/>
              </a:rPr>
              <a:t>Tanım:  </a:t>
            </a:r>
            <a:r>
              <a:rPr sz="1750">
                <a:solidFill>
                  <a:srgbClr val="1E2761"/>
                </a:solidFill>
                <a:latin typeface="Calibri"/>
                <a:ea typeface="Calibri"/>
                <a:cs typeface="Calibri"/>
              </a:rPr>
              <a:t>Altı çizili bir söz/cümle verilir; "bu sözle asıl anlatılmak istenen nedir?" sorulur. Sözün YÜZEYSEL/sözlük anlamı değil, yazarın NE KASTETTİĞİ (çıkarım) aranır. 4/7 yıl çıkmıştır.</a:t>
            </a:r>
            <a:endParaRPr sz="1750"/>
          </a:p>
        </p:txBody>
      </p:sp>
      <p:sp>
        <p:nvSpPr>
          <p:cNvPr id="8" name="Text 5">
            <a:extLst xmlns:a="http://schemas.openxmlformats.org/drawingml/2006/main">
              <a:ext uri="{FF2B5EF4-FFF2-40B4-BE49-F238E27FC236}">
                <a16:creationId xmlns:a16="http://schemas.microsoft.com/office/drawing/2014/main" id="{75FF3F27-4537-4931-8CB1-CC9B03AC422F}"/>
              </a:ext>
            </a:extLst>
          </p:cNvPr>
          <p:cNvSpPr>
            <a:spLocks xmlns:a="http://schemas.openxmlformats.org/drawingml/2006/main" noGrp="1"/>
          </p:cNvSpPr>
          <p:nvPr/>
        </p:nvSpPr>
        <p:spPr>
          <a:xfrm xmlns:a="http://schemas.openxmlformats.org/drawingml/2006/main">
            <a:off x="640080" y="2880360"/>
            <a:ext cx="10881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libri"/>
                <a:ea typeface="Calibri"/>
                <a:cs typeface="Calibri"/>
              </a:rPr>
              <a:t>Çözüm stratejisi:</a:t>
            </a:r>
            <a:endParaRPr sz="2100"/>
          </a:p>
        </p:txBody>
      </p:sp>
      <p:sp>
        <p:nvSpPr>
          <p:cNvPr id="9" name="Shape 6">
            <a:extLst xmlns:a="http://schemas.openxmlformats.org/drawingml/2006/main">
              <a:ext uri="{FF2B5EF4-FFF2-40B4-BE49-F238E27FC236}">
                <a16:creationId xmlns:a16="http://schemas.microsoft.com/office/drawing/2014/main" id="{2AC530A4-822F-4DAD-9BBB-E6EBC709D8D7}"/>
              </a:ext>
            </a:extLst>
          </p:cNvPr>
          <p:cNvSpPr>
            <a:spLocks xmlns:a="http://schemas.openxmlformats.org/drawingml/2006/main" noGrp="1"/>
          </p:cNvSpPr>
          <p:nvPr/>
        </p:nvSpPr>
        <p:spPr>
          <a:xfrm xmlns:a="http://schemas.openxmlformats.org/drawingml/2006/main">
            <a:off x="640080" y="33375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10" name="Shape 7">
            <a:extLst xmlns:a="http://schemas.openxmlformats.org/drawingml/2006/main">
              <a:ext uri="{FF2B5EF4-FFF2-40B4-BE49-F238E27FC236}">
                <a16:creationId xmlns:a16="http://schemas.microsoft.com/office/drawing/2014/main" id="{F7489C48-2D38-47C9-8145-7D580B35E30B}"/>
              </a:ext>
            </a:extLst>
          </p:cNvPr>
          <p:cNvSpPr>
            <a:spLocks xmlns:a="http://schemas.openxmlformats.org/drawingml/2006/main" noGrp="1"/>
          </p:cNvSpPr>
          <p:nvPr/>
        </p:nvSpPr>
        <p:spPr>
          <a:xfrm xmlns:a="http://schemas.openxmlformats.org/drawingml/2006/main">
            <a:off x="868680" y="3560064"/>
            <a:ext cx="502920" cy="502920"/>
          </a:xfrm>
          <a:prstGeom xmlns:a="http://schemas.openxmlformats.org/drawingml/2006/main" prst="ellipse">
            <a:avLst/>
          </a:prstGeom>
          <a:solidFill xmlns:a="http://schemas.openxmlformats.org/drawingml/2006/main">
            <a:srgbClr val="1E3A5F"/>
          </a:solidFill>
        </p:spPr>
      </p:sp>
      <p:sp>
        <p:nvSpPr>
          <p:cNvPr id="11" name="Text 8">
            <a:extLst xmlns:a="http://schemas.openxmlformats.org/drawingml/2006/main">
              <a:ext uri="{FF2B5EF4-FFF2-40B4-BE49-F238E27FC236}">
                <a16:creationId xmlns:a16="http://schemas.microsoft.com/office/drawing/2014/main" id="{4A3AB475-6F2A-4E4B-AE64-E1629F1B6ACE}"/>
              </a:ext>
            </a:extLst>
          </p:cNvPr>
          <p:cNvSpPr>
            <a:spLocks xmlns:a="http://schemas.openxmlformats.org/drawingml/2006/main" noGrp="1"/>
          </p:cNvSpPr>
          <p:nvPr/>
        </p:nvSpPr>
        <p:spPr>
          <a:xfrm xmlns:a="http://schemas.openxmlformats.org/drawingml/2006/main">
            <a:off x="868680" y="35600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12" name="Text 9">
            <a:extLst xmlns:a="http://schemas.openxmlformats.org/drawingml/2006/main">
              <a:ext uri="{FF2B5EF4-FFF2-40B4-BE49-F238E27FC236}">
                <a16:creationId xmlns:a16="http://schemas.microsoft.com/office/drawing/2014/main" id="{CC131879-1855-48A0-90AC-028AEFC2C030}"/>
              </a:ext>
            </a:extLst>
          </p:cNvPr>
          <p:cNvSpPr>
            <a:spLocks xmlns:a="http://schemas.openxmlformats.org/drawingml/2006/main" noGrp="1"/>
          </p:cNvSpPr>
          <p:nvPr/>
        </p:nvSpPr>
        <p:spPr>
          <a:xfrm xmlns:a="http://schemas.openxmlformats.org/drawingml/2006/main">
            <a:off x="1600200" y="34290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Sözü bağlamından koparmayın</a:t>
            </a:r>
            <a:endParaRPr sz="2050"/>
          </a:p>
        </p:txBody>
      </p:sp>
      <p:sp>
        <p:nvSpPr>
          <p:cNvPr id="13" name="Text 10">
            <a:extLst xmlns:a="http://schemas.openxmlformats.org/drawingml/2006/main">
              <a:ext uri="{FF2B5EF4-FFF2-40B4-BE49-F238E27FC236}">
                <a16:creationId xmlns:a16="http://schemas.microsoft.com/office/drawing/2014/main" id="{F7081D53-6B74-42FC-8A3E-8974BE09A9A2}"/>
              </a:ext>
            </a:extLst>
          </p:cNvPr>
          <p:cNvSpPr>
            <a:spLocks xmlns:a="http://schemas.openxmlformats.org/drawingml/2006/main" noGrp="1"/>
          </p:cNvSpPr>
          <p:nvPr/>
        </p:nvSpPr>
        <p:spPr>
          <a:xfrm xmlns:a="http://schemas.openxmlformats.org/drawingml/2006/main">
            <a:off x="1600200" y="37947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Öncesi ve sonrasındaki cümlelerle birlikte okuyun — metnin geri kalanı asıl anlamı netleştirir.</a:t>
            </a:r>
            <a:endParaRPr sz="1200"/>
          </a:p>
        </p:txBody>
      </p:sp>
      <p:sp>
        <p:nvSpPr>
          <p:cNvPr id="14" name="Shape 11">
            <a:extLst xmlns:a="http://schemas.openxmlformats.org/drawingml/2006/main">
              <a:ext uri="{FF2B5EF4-FFF2-40B4-BE49-F238E27FC236}">
                <a16:creationId xmlns:a16="http://schemas.microsoft.com/office/drawing/2014/main" id="{6F4DC105-92EF-46CA-97DD-DFA097A1D77A}"/>
              </a:ext>
            </a:extLst>
          </p:cNvPr>
          <p:cNvSpPr>
            <a:spLocks xmlns:a="http://schemas.openxmlformats.org/drawingml/2006/main" noGrp="1"/>
          </p:cNvSpPr>
          <p:nvPr/>
        </p:nvSpPr>
        <p:spPr>
          <a:xfrm xmlns:a="http://schemas.openxmlformats.org/drawingml/2006/main">
            <a:off x="640080" y="44043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15" name="Shape 12">
            <a:extLst xmlns:a="http://schemas.openxmlformats.org/drawingml/2006/main">
              <a:ext uri="{FF2B5EF4-FFF2-40B4-BE49-F238E27FC236}">
                <a16:creationId xmlns:a16="http://schemas.microsoft.com/office/drawing/2014/main" id="{9AE890EF-614F-469F-A735-933E4AE7F730}"/>
              </a:ext>
            </a:extLst>
          </p:cNvPr>
          <p:cNvSpPr>
            <a:spLocks xmlns:a="http://schemas.openxmlformats.org/drawingml/2006/main" noGrp="1"/>
          </p:cNvSpPr>
          <p:nvPr/>
        </p:nvSpPr>
        <p:spPr>
          <a:xfrm xmlns:a="http://schemas.openxmlformats.org/drawingml/2006/main">
            <a:off x="868680" y="4626864"/>
            <a:ext cx="502920" cy="502920"/>
          </a:xfrm>
          <a:prstGeom xmlns:a="http://schemas.openxmlformats.org/drawingml/2006/main" prst="ellipse">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F9B97E04-BE30-43AB-B7D4-47362D1405FC}"/>
              </a:ext>
            </a:extLst>
          </p:cNvPr>
          <p:cNvSpPr>
            <a:spLocks xmlns:a="http://schemas.openxmlformats.org/drawingml/2006/main" noGrp="1"/>
          </p:cNvSpPr>
          <p:nvPr/>
        </p:nvSpPr>
        <p:spPr>
          <a:xfrm xmlns:a="http://schemas.openxmlformats.org/drawingml/2006/main">
            <a:off x="868680" y="46268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7" name="Text 14">
            <a:extLst xmlns:a="http://schemas.openxmlformats.org/drawingml/2006/main">
              <a:ext uri="{FF2B5EF4-FFF2-40B4-BE49-F238E27FC236}">
                <a16:creationId xmlns:a16="http://schemas.microsoft.com/office/drawing/2014/main" id="{145B7A48-EEB4-4CFB-9C2D-A9FE3BE900D3}"/>
              </a:ext>
            </a:extLst>
          </p:cNvPr>
          <p:cNvSpPr>
            <a:spLocks xmlns:a="http://schemas.openxmlformats.org/drawingml/2006/main" noGrp="1"/>
          </p:cNvSpPr>
          <p:nvPr/>
        </p:nvSpPr>
        <p:spPr>
          <a:xfrm xmlns:a="http://schemas.openxmlformats.org/drawingml/2006/main">
            <a:off x="1600200" y="44958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Genel fikre odaklanın</a:t>
            </a:r>
            <a:endParaRPr sz="2050"/>
          </a:p>
        </p:txBody>
      </p:sp>
      <p:sp>
        <p:nvSpPr>
          <p:cNvPr id="18" name="Text 15">
            <a:extLst xmlns:a="http://schemas.openxmlformats.org/drawingml/2006/main">
              <a:ext uri="{FF2B5EF4-FFF2-40B4-BE49-F238E27FC236}">
                <a16:creationId xmlns:a16="http://schemas.microsoft.com/office/drawing/2014/main" id="{63F5DAA6-25D3-43B4-8FCF-1AC2310312F3}"/>
              </a:ext>
            </a:extLst>
          </p:cNvPr>
          <p:cNvSpPr>
            <a:spLocks xmlns:a="http://schemas.openxmlformats.org/drawingml/2006/main" noGrp="1"/>
          </p:cNvSpPr>
          <p:nvPr/>
        </p:nvSpPr>
        <p:spPr>
          <a:xfrm xmlns:a="http://schemas.openxmlformats.org/drawingml/2006/main">
            <a:off x="1600200" y="48615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Yazarın asıl vurgulamak istediği düşünceyi bulun; mecazi/deyimsel söylemi genel bir yargıya çevirin.</a:t>
            </a:r>
            <a:endParaRPr sz="1200"/>
          </a:p>
        </p:txBody>
      </p:sp>
      <p:sp>
        <p:nvSpPr>
          <p:cNvPr id="19" name="Shape 16">
            <a:extLst xmlns:a="http://schemas.openxmlformats.org/drawingml/2006/main">
              <a:ext uri="{FF2B5EF4-FFF2-40B4-BE49-F238E27FC236}">
                <a16:creationId xmlns:a16="http://schemas.microsoft.com/office/drawing/2014/main" id="{6BFB0EE2-D8FD-4E88-9983-7D303FDE3EA8}"/>
              </a:ext>
            </a:extLst>
          </p:cNvPr>
          <p:cNvSpPr>
            <a:spLocks xmlns:a="http://schemas.openxmlformats.org/drawingml/2006/main" noGrp="1"/>
          </p:cNvSpPr>
          <p:nvPr/>
        </p:nvSpPr>
        <p:spPr>
          <a:xfrm xmlns:a="http://schemas.openxmlformats.org/drawingml/2006/main">
            <a:off x="640080" y="5471160"/>
            <a:ext cx="10881360" cy="947928"/>
          </a:xfrm>
          <a:prstGeom xmlns:a="http://schemas.openxmlformats.org/drawingml/2006/main" prst="roundRect">
            <a:avLst>
              <a:gd name="adj" fmla="val 11765"/>
            </a:avLst>
          </a:prstGeom>
          <a:solidFill xmlns:a="http://schemas.openxmlformats.org/drawingml/2006/main">
            <a:srgbClr val="EEF3F8"/>
          </a:solidFill>
        </p:spPr>
      </p:sp>
      <p:sp>
        <p:nvSpPr>
          <p:cNvPr id="20" name="Shape 17">
            <a:extLst xmlns:a="http://schemas.openxmlformats.org/drawingml/2006/main">
              <a:ext uri="{FF2B5EF4-FFF2-40B4-BE49-F238E27FC236}">
                <a16:creationId xmlns:a16="http://schemas.microsoft.com/office/drawing/2014/main" id="{380DE0F0-A41F-4F80-9C99-474966D8556D}"/>
              </a:ext>
            </a:extLst>
          </p:cNvPr>
          <p:cNvSpPr>
            <a:spLocks xmlns:a="http://schemas.openxmlformats.org/drawingml/2006/main" noGrp="1"/>
          </p:cNvSpPr>
          <p:nvPr/>
        </p:nvSpPr>
        <p:spPr>
          <a:xfrm xmlns:a="http://schemas.openxmlformats.org/drawingml/2006/main">
            <a:off x="868680" y="5693664"/>
            <a:ext cx="502920" cy="502920"/>
          </a:xfrm>
          <a:prstGeom xmlns:a="http://schemas.openxmlformats.org/drawingml/2006/main" prst="ellipse">
            <a:avLst/>
          </a:prstGeom>
          <a:solidFill xmlns:a="http://schemas.openxmlformats.org/drawingml/2006/main">
            <a:srgbClr val="1E3A5F"/>
          </a:solidFill>
        </p:spPr>
      </p:sp>
      <p:sp>
        <p:nvSpPr>
          <p:cNvPr id="21" name="Text 18">
            <a:extLst xmlns:a="http://schemas.openxmlformats.org/drawingml/2006/main">
              <a:ext uri="{FF2B5EF4-FFF2-40B4-BE49-F238E27FC236}">
                <a16:creationId xmlns:a16="http://schemas.microsoft.com/office/drawing/2014/main" id="{E0C8CE08-DB3B-4A4E-BBEA-B06FD7FAA5D3}"/>
              </a:ext>
            </a:extLst>
          </p:cNvPr>
          <p:cNvSpPr>
            <a:spLocks xmlns:a="http://schemas.openxmlformats.org/drawingml/2006/main" noGrp="1"/>
          </p:cNvSpPr>
          <p:nvPr/>
        </p:nvSpPr>
        <p:spPr>
          <a:xfrm xmlns:a="http://schemas.openxmlformats.org/drawingml/2006/main">
            <a:off x="868680" y="5693664"/>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3</a:t>
            </a:r>
            <a:endParaRPr sz="2000"/>
          </a:p>
        </p:txBody>
      </p:sp>
      <p:sp>
        <p:nvSpPr>
          <p:cNvPr id="22" name="Text 19">
            <a:extLst xmlns:a="http://schemas.openxmlformats.org/drawingml/2006/main">
              <a:ext uri="{FF2B5EF4-FFF2-40B4-BE49-F238E27FC236}">
                <a16:creationId xmlns:a16="http://schemas.microsoft.com/office/drawing/2014/main" id="{24AE36D3-EEC3-468F-AE75-9BDBFA79C551}"/>
              </a:ext>
            </a:extLst>
          </p:cNvPr>
          <p:cNvSpPr>
            <a:spLocks xmlns:a="http://schemas.openxmlformats.org/drawingml/2006/main" noGrp="1"/>
          </p:cNvSpPr>
          <p:nvPr/>
        </p:nvSpPr>
        <p:spPr>
          <a:xfrm xmlns:a="http://schemas.openxmlformats.org/drawingml/2006/main">
            <a:off x="1600200" y="5562600"/>
            <a:ext cx="6035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"Doğru ama alakasız" seçeneklere dikkat</a:t>
            </a:r>
            <a:endParaRPr sz="2050"/>
          </a:p>
        </p:txBody>
      </p:sp>
      <p:sp>
        <p:nvSpPr>
          <p:cNvPr id="23" name="Text 20">
            <a:extLst xmlns:a="http://schemas.openxmlformats.org/drawingml/2006/main">
              <a:ext uri="{FF2B5EF4-FFF2-40B4-BE49-F238E27FC236}">
                <a16:creationId xmlns:a16="http://schemas.microsoft.com/office/drawing/2014/main" id="{2A6740BD-2110-40C5-A1F9-82CDD5E4F5FB}"/>
              </a:ext>
            </a:extLst>
          </p:cNvPr>
          <p:cNvSpPr>
            <a:spLocks xmlns:a="http://schemas.openxmlformats.org/drawingml/2006/main" noGrp="1"/>
          </p:cNvSpPr>
          <p:nvPr/>
        </p:nvSpPr>
        <p:spPr>
          <a:xfrm xmlns:a="http://schemas.openxmlformats.org/drawingml/2006/main">
            <a:off x="1600200" y="592836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E2761"/>
                </a:solidFill>
                <a:latin typeface="Calibri"/>
                <a:ea typeface="Calibri"/>
                <a:cs typeface="Calibri"/>
              </a:rPr>
              <a:t>Bazı seçenekler doğru bir GENEL fikir olabilir ama METİNDEKİ ÖZEL bağlama uymayabilir — bunları eleyin.</a:t>
            </a:r>
            <a:endParaRPr sz="1200"/>
          </a:p>
        </p:txBody>
      </p:sp>
      <p:sp>
        <p:nvSpPr>
          <p:cNvPr id="24" name="Text 21">
            <a:extLst xmlns:a="http://schemas.openxmlformats.org/drawingml/2006/main">
              <a:ext uri="{FF2B5EF4-FFF2-40B4-BE49-F238E27FC236}">
                <a16:creationId xmlns:a16="http://schemas.microsoft.com/office/drawing/2014/main" id="{CB1FF068-7ECB-4EE7-AAC1-788995C6F95C}"/>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Anlatım — Sözü Yorumlama</a:t>
            </a:r>
            <a:endParaRPr sz="900"/>
          </a:p>
        </p:txBody>
      </p:sp>
      <p:sp>
        <p:nvSpPr>
          <p:cNvPr id="25" name="Text 22">
            <a:extLst xmlns:a="http://schemas.openxmlformats.org/drawingml/2006/main">
              <a:ext uri="{FF2B5EF4-FFF2-40B4-BE49-F238E27FC236}">
                <a16:creationId xmlns:a16="http://schemas.microsoft.com/office/drawing/2014/main" id="{31980782-8964-407F-8095-BD1B9EECBA3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5302468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18F5F03-A3D9-4F91-864B-E2F3F832766B}"/>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33d30b5854b4c5f"/>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713F72A-7AB7-48D2-A8BA-0D2F253C602E}"/>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ANLATIM · 3/3</a:t>
            </a:r>
            <a:endParaRPr sz="1300"/>
          </a:p>
        </p:txBody>
      </p:sp>
      <p:sp>
        <p:nvSpPr>
          <p:cNvPr id="5" name="Text 2">
            <a:extLst xmlns:a="http://schemas.openxmlformats.org/drawingml/2006/main">
              <a:ext uri="{FF2B5EF4-FFF2-40B4-BE49-F238E27FC236}">
                <a16:creationId xmlns:a16="http://schemas.microsoft.com/office/drawing/2014/main" id="{A03B0968-8A94-4A17-93AB-23990EADAE36}"/>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Tip 6 — Deyim Anlamını Doğrulama</a:t>
            </a:r>
            <a:endParaRPr sz="2800"/>
          </a:p>
        </p:txBody>
      </p:sp>
      <p:sp>
        <p:nvSpPr>
          <p:cNvPr id="6" name="Shape 3">
            <a:extLst xmlns:a="http://schemas.openxmlformats.org/drawingml/2006/main">
              <a:ext uri="{FF2B5EF4-FFF2-40B4-BE49-F238E27FC236}">
                <a16:creationId xmlns:a16="http://schemas.microsoft.com/office/drawing/2014/main" id="{A2D56E2A-7E1B-4E2E-B32C-A0B49050A783}"/>
              </a:ext>
            </a:extLst>
          </p:cNvPr>
          <p:cNvSpPr>
            <a:spLocks xmlns:a="http://schemas.openxmlformats.org/drawingml/2006/main" noGrp="1"/>
          </p:cNvSpPr>
          <p:nvPr/>
        </p:nvSpPr>
        <p:spPr>
          <a:xfrm xmlns:a="http://schemas.openxmlformats.org/drawingml/2006/main">
            <a:off x="640080" y="1645920"/>
            <a:ext cx="10881360" cy="1173480"/>
          </a:xfrm>
          <a:prstGeom xmlns:a="http://schemas.openxmlformats.org/drawingml/2006/main" prst="roundRect">
            <a:avLst>
              <a:gd name="adj" fmla="val 8696"/>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B6D993D6-1DAB-4962-AE60-6E0734E267A2}"/>
              </a:ext>
            </a:extLst>
          </p:cNvPr>
          <p:cNvSpPr>
            <a:spLocks xmlns:a="http://schemas.openxmlformats.org/drawingml/2006/main" noGrp="1"/>
          </p:cNvSpPr>
          <p:nvPr/>
        </p:nvSpPr>
        <p:spPr>
          <a:xfrm xmlns:a="http://schemas.openxmlformats.org/drawingml/2006/main">
            <a:off x="914400" y="1645920"/>
            <a:ext cx="1033272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E3A5F"/>
                </a:solidFill>
                <a:latin typeface="Calibri"/>
                <a:ea typeface="Calibri"/>
                <a:cs typeface="Calibri"/>
              </a:rPr>
              <a:t>Tanım:  </a:t>
            </a:r>
            <a:r>
              <a:rPr sz="2000">
                <a:solidFill>
                  <a:srgbClr val="1E2761"/>
                </a:solidFill>
                <a:latin typeface="Calibri"/>
                <a:ea typeface="Calibri"/>
                <a:cs typeface="Calibri"/>
              </a:rPr>
              <a:t>Parçada numaralanmış birkaç deyim geçer; her birinin yanında bir açıklama verilir (Tip 2'ye benzer, ama sözcük değil DEYİM üzerinden). Hangi açıklamanın deyimin GERÇEK anlamıyla uyuşmadığı sorulur. 2/7 yıl çıkmıştır.</a:t>
            </a:r>
            <a:endParaRPr sz="2000"/>
          </a:p>
        </p:txBody>
      </p:sp>
      <p:sp>
        <p:nvSpPr>
          <p:cNvPr id="8" name="Text 5">
            <a:extLst xmlns:a="http://schemas.openxmlformats.org/drawingml/2006/main">
              <a:ext uri="{FF2B5EF4-FFF2-40B4-BE49-F238E27FC236}">
                <a16:creationId xmlns:a16="http://schemas.microsoft.com/office/drawing/2014/main" id="{D3022628-025F-443D-A6B2-C9C703CAE156}"/>
              </a:ext>
            </a:extLst>
          </p:cNvPr>
          <p:cNvSpPr>
            <a:spLocks xmlns:a="http://schemas.openxmlformats.org/drawingml/2006/main" noGrp="1"/>
          </p:cNvSpPr>
          <p:nvPr/>
        </p:nvSpPr>
        <p:spPr>
          <a:xfrm xmlns:a="http://schemas.openxmlformats.org/drawingml/2006/main">
            <a:off x="640080" y="2865120"/>
            <a:ext cx="10881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libri"/>
                <a:ea typeface="Calibri"/>
                <a:cs typeface="Calibri"/>
              </a:rPr>
              <a:t>Çözüm stratejisi:</a:t>
            </a:r>
            <a:endParaRPr sz="2100"/>
          </a:p>
        </p:txBody>
      </p:sp>
      <p:sp>
        <p:nvSpPr>
          <p:cNvPr id="9" name="Shape 6">
            <a:extLst xmlns:a="http://schemas.openxmlformats.org/drawingml/2006/main">
              <a:ext uri="{FF2B5EF4-FFF2-40B4-BE49-F238E27FC236}">
                <a16:creationId xmlns:a16="http://schemas.microsoft.com/office/drawing/2014/main" id="{91171714-C925-4AC5-AFFF-3FE46DE99068}"/>
              </a:ext>
            </a:extLst>
          </p:cNvPr>
          <p:cNvSpPr>
            <a:spLocks xmlns:a="http://schemas.openxmlformats.org/drawingml/2006/main" noGrp="1"/>
          </p:cNvSpPr>
          <p:nvPr/>
        </p:nvSpPr>
        <p:spPr>
          <a:xfrm xmlns:a="http://schemas.openxmlformats.org/drawingml/2006/main">
            <a:off x="640080" y="3252978"/>
            <a:ext cx="10881360" cy="1556182"/>
          </a:xfrm>
          <a:prstGeom xmlns:a="http://schemas.openxmlformats.org/drawingml/2006/main" prst="roundRect">
            <a:avLst>
              <a:gd name="adj" fmla="val 11765"/>
            </a:avLst>
          </a:prstGeom>
          <a:solidFill xmlns:a="http://schemas.openxmlformats.org/drawingml/2006/main">
            <a:srgbClr val="EEF3F8"/>
          </a:solidFill>
        </p:spPr>
      </p:sp>
      <p:sp>
        <p:nvSpPr>
          <p:cNvPr id="10" name="Shape 7">
            <a:extLst xmlns:a="http://schemas.openxmlformats.org/drawingml/2006/main">
              <a:ext uri="{FF2B5EF4-FFF2-40B4-BE49-F238E27FC236}">
                <a16:creationId xmlns:a16="http://schemas.microsoft.com/office/drawing/2014/main" id="{A4BD8D48-BC17-43D7-A958-43F8291F2363}"/>
              </a:ext>
            </a:extLst>
          </p:cNvPr>
          <p:cNvSpPr>
            <a:spLocks xmlns:a="http://schemas.openxmlformats.org/drawingml/2006/main" noGrp="1"/>
          </p:cNvSpPr>
          <p:nvPr/>
        </p:nvSpPr>
        <p:spPr>
          <a:xfrm xmlns:a="http://schemas.openxmlformats.org/drawingml/2006/main">
            <a:off x="868680" y="3779609"/>
            <a:ext cx="502920" cy="502920"/>
          </a:xfrm>
          <a:prstGeom xmlns:a="http://schemas.openxmlformats.org/drawingml/2006/main" prst="ellipse">
            <a:avLst/>
          </a:prstGeom>
          <a:solidFill xmlns:a="http://schemas.openxmlformats.org/drawingml/2006/main">
            <a:srgbClr val="1E3A5F"/>
          </a:solidFill>
        </p:spPr>
      </p:sp>
      <p:sp>
        <p:nvSpPr>
          <p:cNvPr id="11" name="Text 8">
            <a:extLst xmlns:a="http://schemas.openxmlformats.org/drawingml/2006/main">
              <a:ext uri="{FF2B5EF4-FFF2-40B4-BE49-F238E27FC236}">
                <a16:creationId xmlns:a16="http://schemas.microsoft.com/office/drawing/2014/main" id="{1BC75275-36B0-4D95-A77C-51A643798647}"/>
              </a:ext>
            </a:extLst>
          </p:cNvPr>
          <p:cNvSpPr>
            <a:spLocks xmlns:a="http://schemas.openxmlformats.org/drawingml/2006/main" noGrp="1"/>
          </p:cNvSpPr>
          <p:nvPr/>
        </p:nvSpPr>
        <p:spPr>
          <a:xfrm xmlns:a="http://schemas.openxmlformats.org/drawingml/2006/main">
            <a:off x="868680" y="3779609"/>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1</a:t>
            </a:r>
            <a:endParaRPr sz="2000"/>
          </a:p>
        </p:txBody>
      </p:sp>
      <p:sp>
        <p:nvSpPr>
          <p:cNvPr id="12" name="Text 9">
            <a:extLst xmlns:a="http://schemas.openxmlformats.org/drawingml/2006/main">
              <a:ext uri="{FF2B5EF4-FFF2-40B4-BE49-F238E27FC236}">
                <a16:creationId xmlns:a16="http://schemas.microsoft.com/office/drawing/2014/main" id="{1F091D49-0CDF-40F5-852B-37B44AF35C27}"/>
              </a:ext>
            </a:extLst>
          </p:cNvPr>
          <p:cNvSpPr>
            <a:spLocks xmlns:a="http://schemas.openxmlformats.org/drawingml/2006/main" noGrp="1"/>
          </p:cNvSpPr>
          <p:nvPr/>
        </p:nvSpPr>
        <p:spPr>
          <a:xfrm xmlns:a="http://schemas.openxmlformats.org/drawingml/2006/main">
            <a:off x="1600200" y="3344418"/>
            <a:ext cx="9692640" cy="3696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Yerleşik anlamı hatırlayın</a:t>
            </a:r>
            <a:endParaRPr sz="2050"/>
          </a:p>
        </p:txBody>
      </p:sp>
      <p:sp>
        <p:nvSpPr>
          <p:cNvPr id="13" name="Text 10">
            <a:extLst xmlns:a="http://schemas.openxmlformats.org/drawingml/2006/main">
              <a:ext uri="{FF2B5EF4-FFF2-40B4-BE49-F238E27FC236}">
                <a16:creationId xmlns:a16="http://schemas.microsoft.com/office/drawing/2014/main" id="{E3D164B5-3BD0-4A9F-9297-F0360E7E6F91}"/>
              </a:ext>
            </a:extLst>
          </p:cNvPr>
          <p:cNvSpPr>
            <a:spLocks xmlns:a="http://schemas.openxmlformats.org/drawingml/2006/main" noGrp="1"/>
          </p:cNvSpPr>
          <p:nvPr/>
        </p:nvSpPr>
        <p:spPr>
          <a:xfrm xmlns:a="http://schemas.openxmlformats.org/drawingml/2006/main">
            <a:off x="1600200" y="3759835"/>
            <a:ext cx="9692640"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Deyimin GÜNLÜK KONUŞMADAKİ yerleşik anlamını düşünün — parçadaki açıklama bu yerleşik anlamla TAM örtüşmeli.</a:t>
            </a:r>
            <a:endParaRPr sz="2000"/>
          </a:p>
        </p:txBody>
      </p:sp>
      <p:sp>
        <p:nvSpPr>
          <p:cNvPr id="14" name="Shape 11">
            <a:extLst xmlns:a="http://schemas.openxmlformats.org/drawingml/2006/main">
              <a:ext uri="{FF2B5EF4-FFF2-40B4-BE49-F238E27FC236}">
                <a16:creationId xmlns:a16="http://schemas.microsoft.com/office/drawing/2014/main" id="{B18392D7-B406-4E49-AC7D-63D132546A56}"/>
              </a:ext>
            </a:extLst>
          </p:cNvPr>
          <p:cNvSpPr>
            <a:spLocks xmlns:a="http://schemas.openxmlformats.org/drawingml/2006/main" noGrp="1"/>
          </p:cNvSpPr>
          <p:nvPr/>
        </p:nvSpPr>
        <p:spPr>
          <a:xfrm xmlns:a="http://schemas.openxmlformats.org/drawingml/2006/main">
            <a:off x="640080" y="4832934"/>
            <a:ext cx="10881360" cy="1621104"/>
          </a:xfrm>
          <a:prstGeom xmlns:a="http://schemas.openxmlformats.org/drawingml/2006/main" prst="roundRect">
            <a:avLst>
              <a:gd name="adj" fmla="val 11765"/>
            </a:avLst>
          </a:prstGeom>
          <a:solidFill xmlns:a="http://schemas.openxmlformats.org/drawingml/2006/main">
            <a:srgbClr val="EEF3F8"/>
          </a:solidFill>
        </p:spPr>
      </p:sp>
      <p:sp>
        <p:nvSpPr>
          <p:cNvPr id="15" name="Shape 12">
            <a:extLst xmlns:a="http://schemas.openxmlformats.org/drawingml/2006/main">
              <a:ext uri="{FF2B5EF4-FFF2-40B4-BE49-F238E27FC236}">
                <a16:creationId xmlns:a16="http://schemas.microsoft.com/office/drawing/2014/main" id="{CA6334F3-7750-447F-801C-0C7A10E4AFC8}"/>
              </a:ext>
            </a:extLst>
          </p:cNvPr>
          <p:cNvSpPr>
            <a:spLocks xmlns:a="http://schemas.openxmlformats.org/drawingml/2006/main" noGrp="1"/>
          </p:cNvSpPr>
          <p:nvPr/>
        </p:nvSpPr>
        <p:spPr>
          <a:xfrm xmlns:a="http://schemas.openxmlformats.org/drawingml/2006/main">
            <a:off x="868680" y="5392026"/>
            <a:ext cx="502920" cy="502920"/>
          </a:xfrm>
          <a:prstGeom xmlns:a="http://schemas.openxmlformats.org/drawingml/2006/main" prst="ellipse">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8AF8330D-FB3F-41CE-B346-9D02801F3275}"/>
              </a:ext>
            </a:extLst>
          </p:cNvPr>
          <p:cNvSpPr>
            <a:spLocks xmlns:a="http://schemas.openxmlformats.org/drawingml/2006/main" noGrp="1"/>
          </p:cNvSpPr>
          <p:nvPr/>
        </p:nvSpPr>
        <p:spPr>
          <a:xfrm xmlns:a="http://schemas.openxmlformats.org/drawingml/2006/main">
            <a:off x="868680" y="5392026"/>
            <a:ext cx="502920" cy="50292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000" b="1">
                <a:solidFill>
                  <a:srgbClr val="FFFFFF"/>
                </a:solidFill>
                <a:latin typeface="Cambria"/>
                <a:ea typeface="Cambria"/>
                <a:cs typeface="Cambria"/>
              </a:rPr>
              <a:t>2</a:t>
            </a:r>
            <a:endParaRPr sz="2000"/>
          </a:p>
        </p:txBody>
      </p:sp>
      <p:sp>
        <p:nvSpPr>
          <p:cNvPr id="17" name="Text 14">
            <a:extLst xmlns:a="http://schemas.openxmlformats.org/drawingml/2006/main">
              <a:ext uri="{FF2B5EF4-FFF2-40B4-BE49-F238E27FC236}">
                <a16:creationId xmlns:a16="http://schemas.microsoft.com/office/drawing/2014/main" id="{3AE9727E-A246-4DA7-8466-8D9ECE8BBCB6}"/>
              </a:ext>
            </a:extLst>
          </p:cNvPr>
          <p:cNvSpPr>
            <a:spLocks xmlns:a="http://schemas.openxmlformats.org/drawingml/2006/main" noGrp="1"/>
          </p:cNvSpPr>
          <p:nvPr/>
        </p:nvSpPr>
        <p:spPr>
          <a:xfrm xmlns:a="http://schemas.openxmlformats.org/drawingml/2006/main">
            <a:off x="1600200" y="4924374"/>
            <a:ext cx="9692640" cy="36969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50" b="1">
                <a:solidFill>
                  <a:srgbClr val="1E3A5F"/>
                </a:solidFill>
                <a:latin typeface="Calibri"/>
                <a:ea typeface="Calibri"/>
                <a:cs typeface="Calibri"/>
              </a:rPr>
              <a:t>Benzer deyimlerle karıştırmayın</a:t>
            </a:r>
            <a:endParaRPr sz="2050"/>
          </a:p>
        </p:txBody>
      </p:sp>
      <p:sp>
        <p:nvSpPr>
          <p:cNvPr id="18" name="Text 15">
            <a:extLst xmlns:a="http://schemas.openxmlformats.org/drawingml/2006/main">
              <a:ext uri="{FF2B5EF4-FFF2-40B4-BE49-F238E27FC236}">
                <a16:creationId xmlns:a16="http://schemas.microsoft.com/office/drawing/2014/main" id="{107D6CD2-87C5-4BD6-8119-C36D0F9DE2D4}"/>
              </a:ext>
            </a:extLst>
          </p:cNvPr>
          <p:cNvSpPr>
            <a:spLocks xmlns:a="http://schemas.openxmlformats.org/drawingml/2006/main" noGrp="1"/>
          </p:cNvSpPr>
          <p:nvPr/>
        </p:nvSpPr>
        <p:spPr>
          <a:xfrm xmlns:a="http://schemas.openxmlformats.org/drawingml/2006/main">
            <a:off x="1600200" y="5339791"/>
            <a:ext cx="9692640"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Yanlış olan seçenek, çoğu zaman deyimi BAŞKA BENZER bir deyimle karıştırır (ör. "gözden düşmek" ile "gözden kaçırmak").</a:t>
            </a:r>
            <a:endParaRPr sz="2000"/>
          </a:p>
        </p:txBody>
      </p:sp>
      <p:sp>
        <p:nvSpPr>
          <p:cNvPr id="19" name="Text 16">
            <a:extLst xmlns:a="http://schemas.openxmlformats.org/drawingml/2006/main">
              <a:ext uri="{FF2B5EF4-FFF2-40B4-BE49-F238E27FC236}">
                <a16:creationId xmlns:a16="http://schemas.microsoft.com/office/drawing/2014/main" id="{94B951DC-B6E6-4FDF-B9D6-BFAC36053480}"/>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Anlatım — Deyim Anlamını Doğrulama</a:t>
            </a:r>
            <a:endParaRPr sz="900"/>
          </a:p>
        </p:txBody>
      </p:sp>
      <p:sp>
        <p:nvSpPr>
          <p:cNvPr id="20" name="Text 17">
            <a:extLst xmlns:a="http://schemas.openxmlformats.org/drawingml/2006/main">
              <a:ext uri="{FF2B5EF4-FFF2-40B4-BE49-F238E27FC236}">
                <a16:creationId xmlns:a16="http://schemas.microsoft.com/office/drawing/2014/main" id="{E4AD94D9-59A6-4FEE-BEC7-3119CB6798BA}"/>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010267347"/>
      </p:ext>
    </p:extLst>
  </p:cSld>
</p:sld>
</file>

<file path=ppt/slides/slide8.xml><?xml version="1.0" encoding="utf-8"?>
<p:sld xmlns:p="http://schemas.openxmlformats.org/presentationml/2006/main">
  <p:cSld>
    <p:bg>
      <p:bgPr>
        <a:solidFill xmlns:a="http://schemas.openxmlformats.org/drawingml/2006/main">
          <a:srgbClr val="8E231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601257-938E-47B1-BA10-542BF53DCBC6}"/>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6E1B12"/>
          </a:solidFill>
        </p:spPr>
      </p:sp>
      <p:sp>
        <p:nvSpPr>
          <p:cNvPr id="3" name="Shape 1">
            <a:extLst xmlns:a="http://schemas.openxmlformats.org/drawingml/2006/main">
              <a:ext uri="{FF2B5EF4-FFF2-40B4-BE49-F238E27FC236}">
                <a16:creationId xmlns:a16="http://schemas.microsoft.com/office/drawing/2014/main" id="{053A2EF1-4592-4B4C-A52F-886B137280E7}"/>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6E1B12"/>
          </a:solidFill>
        </p:spPr>
      </p:sp>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c6db091cdb504135"/>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315E46B-D2D6-412C-81B3-3BBBB3D337CB}"/>
              </a:ext>
            </a:extLst>
          </p:cNvPr>
          <p:cNvSpPr>
            <a:spLocks xmlns:a="http://schemas.openxmlformats.org/drawingml/2006/main" noGrp="1"/>
          </p:cNvSpPr>
          <p:nvPr/>
        </p:nvSpPr>
        <p:spPr>
          <a:xfrm xmlns:a="http://schemas.openxmlformats.org/drawingml/2006/main">
            <a:off x="1508760" y="566928"/>
            <a:ext cx="5486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DİKKAT!</a:t>
            </a:r>
            <a:endParaRPr sz="3200"/>
          </a:p>
        </p:txBody>
      </p:sp>
      <p:sp>
        <p:nvSpPr>
          <p:cNvPr id="6" name="Text 3">
            <a:extLst xmlns:a="http://schemas.openxmlformats.org/drawingml/2006/main">
              <a:ext uri="{FF2B5EF4-FFF2-40B4-BE49-F238E27FC236}">
                <a16:creationId xmlns:a16="http://schemas.microsoft.com/office/drawing/2014/main" id="{E0E2A928-9624-47AF-9D49-A40E1C1AEA1B}"/>
              </a:ext>
            </a:extLst>
          </p:cNvPr>
          <p:cNvSpPr>
            <a:spLocks xmlns:a="http://schemas.openxmlformats.org/drawingml/2006/main" noGrp="1"/>
          </p:cNvSpPr>
          <p:nvPr/>
        </p:nvSpPr>
        <p:spPr>
          <a:xfrm xmlns:a="http://schemas.openxmlformats.org/drawingml/2006/main">
            <a:off x="640080" y="1645920"/>
            <a:ext cx="105156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F5D6D0"/>
                </a:solidFill>
                <a:latin typeface="Calibri"/>
                <a:ea typeface="Calibri"/>
                <a:cs typeface="Calibri"/>
              </a:rPr>
              <a:t>Sözü Yorumlarken Sık Yapılan Hatalar!</a:t>
            </a:r>
            <a:endParaRPr sz="2100"/>
          </a:p>
        </p:txBody>
      </p:sp>
      <p:sp>
        <p:nvSpPr>
          <p:cNvPr id="7" name="Text 4">
            <a:extLst xmlns:a="http://schemas.openxmlformats.org/drawingml/2006/main">
              <a:ext uri="{FF2B5EF4-FFF2-40B4-BE49-F238E27FC236}">
                <a16:creationId xmlns:a16="http://schemas.microsoft.com/office/drawing/2014/main" id="{02BD75DC-65D8-4675-8874-3E3B260C6AC1}"/>
              </a:ext>
            </a:extLst>
          </p:cNvPr>
          <p:cNvSpPr>
            <a:spLocks xmlns:a="http://schemas.openxmlformats.org/drawingml/2006/main" noGrp="1"/>
          </p:cNvSpPr>
          <p:nvPr/>
        </p:nvSpPr>
        <p:spPr>
          <a:xfrm xmlns:a="http://schemas.openxmlformats.org/drawingml/2006/main">
            <a:off x="640080" y="2070354"/>
            <a:ext cx="1051560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FFFFFF"/>
                </a:solidFill>
                <a:latin typeface="Calibri"/>
                <a:ea typeface="Calibri"/>
                <a:cs typeface="Calibri"/>
              </a:rPr>
              <a:t>Yorumlama sorularında öğrencilerin en sık düştüğü tuzaklar, sözü bağlamdan koparmak veya seçenekleri yeterince metinle karşılaştırmamaktan kaynaklanır.</a:t>
            </a:r>
            <a:endParaRPr sz="2100"/>
          </a:p>
        </p:txBody>
      </p:sp>
      <p:sp>
        <p:nvSpPr>
          <p:cNvPr id="8" name="Shape 5">
            <a:extLst xmlns:a="http://schemas.openxmlformats.org/drawingml/2006/main">
              <a:ext uri="{FF2B5EF4-FFF2-40B4-BE49-F238E27FC236}">
                <a16:creationId xmlns:a16="http://schemas.microsoft.com/office/drawing/2014/main" id="{DE150A46-A130-43F1-A7B4-2E45DFC0700D}"/>
              </a:ext>
            </a:extLst>
          </p:cNvPr>
          <p:cNvSpPr>
            <a:spLocks xmlns:a="http://schemas.openxmlformats.org/drawingml/2006/main" noGrp="1"/>
          </p:cNvSpPr>
          <p:nvPr/>
        </p:nvSpPr>
        <p:spPr>
          <a:xfrm xmlns:a="http://schemas.openxmlformats.org/drawingml/2006/main">
            <a:off x="640080" y="2947035"/>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9" name="Text 6">
            <a:extLst xmlns:a="http://schemas.openxmlformats.org/drawingml/2006/main">
              <a:ext uri="{FF2B5EF4-FFF2-40B4-BE49-F238E27FC236}">
                <a16:creationId xmlns:a16="http://schemas.microsoft.com/office/drawing/2014/main" id="{3D6C64E6-9FF1-4592-A28E-CE2086F6852F}"/>
              </a:ext>
            </a:extLst>
          </p:cNvPr>
          <p:cNvSpPr>
            <a:spLocks xmlns:a="http://schemas.openxmlformats.org/drawingml/2006/main" noGrp="1"/>
          </p:cNvSpPr>
          <p:nvPr/>
        </p:nvSpPr>
        <p:spPr>
          <a:xfrm xmlns:a="http://schemas.openxmlformats.org/drawingml/2006/main">
            <a:off x="914400" y="2947035"/>
            <a:ext cx="32918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D9A441"/>
                </a:solidFill>
                <a:latin typeface="Calibri"/>
                <a:ea typeface="Calibri"/>
                <a:cs typeface="Calibri"/>
              </a:rPr>
              <a:t>Bağlamdan koparma tuzağı</a:t>
            </a:r>
            <a:endParaRPr sz="2100"/>
          </a:p>
        </p:txBody>
      </p:sp>
      <p:sp>
        <p:nvSpPr>
          <p:cNvPr id="10" name="Text 7">
            <a:extLst xmlns:a="http://schemas.openxmlformats.org/drawingml/2006/main">
              <a:ext uri="{FF2B5EF4-FFF2-40B4-BE49-F238E27FC236}">
                <a16:creationId xmlns:a16="http://schemas.microsoft.com/office/drawing/2014/main" id="{C77A3E78-B358-4406-A35D-2D38713F7F02}"/>
              </a:ext>
            </a:extLst>
          </p:cNvPr>
          <p:cNvSpPr>
            <a:spLocks xmlns:a="http://schemas.openxmlformats.org/drawingml/2006/main" noGrp="1"/>
          </p:cNvSpPr>
          <p:nvPr/>
        </p:nvSpPr>
        <p:spPr>
          <a:xfrm xmlns:a="http://schemas.openxmlformats.org/drawingml/2006/main">
            <a:off x="4297680" y="2947035"/>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Altı çizili sözü TEK BAŞINA yorumlamak — çoğu zaman metnin geri kalanı, sözün asıl neyi anlattığını netleştirir.</a:t>
            </a:r>
            <a:endParaRPr sz="1900"/>
          </a:p>
        </p:txBody>
      </p:sp>
      <p:sp>
        <p:nvSpPr>
          <p:cNvPr id="11" name="Shape 8">
            <a:extLst xmlns:a="http://schemas.openxmlformats.org/drawingml/2006/main">
              <a:ext uri="{FF2B5EF4-FFF2-40B4-BE49-F238E27FC236}">
                <a16:creationId xmlns:a16="http://schemas.microsoft.com/office/drawing/2014/main" id="{61E6FD30-4D76-4CDF-89A6-F7FA100BBBAF}"/>
              </a:ext>
            </a:extLst>
          </p:cNvPr>
          <p:cNvSpPr>
            <a:spLocks xmlns:a="http://schemas.openxmlformats.org/drawingml/2006/main" noGrp="1"/>
          </p:cNvSpPr>
          <p:nvPr/>
        </p:nvSpPr>
        <p:spPr>
          <a:xfrm xmlns:a="http://schemas.openxmlformats.org/drawingml/2006/main">
            <a:off x="640080" y="4123563"/>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12" name="Text 9">
            <a:extLst xmlns:a="http://schemas.openxmlformats.org/drawingml/2006/main">
              <a:ext uri="{FF2B5EF4-FFF2-40B4-BE49-F238E27FC236}">
                <a16:creationId xmlns:a16="http://schemas.microsoft.com/office/drawing/2014/main" id="{F6ABDC80-DCEA-4A8E-A2E2-A9940AC35DA8}"/>
              </a:ext>
            </a:extLst>
          </p:cNvPr>
          <p:cNvSpPr>
            <a:spLocks xmlns:a="http://schemas.openxmlformats.org/drawingml/2006/main" noGrp="1"/>
          </p:cNvSpPr>
          <p:nvPr/>
        </p:nvSpPr>
        <p:spPr>
          <a:xfrm xmlns:a="http://schemas.openxmlformats.org/drawingml/2006/main">
            <a:off x="914400" y="4123563"/>
            <a:ext cx="3291840" cy="34264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D9A441"/>
                </a:solidFill>
                <a:latin typeface="Calibri"/>
                <a:ea typeface="Calibri"/>
                <a:cs typeface="Calibri"/>
              </a:rPr>
              <a:t>"Doğru ama alakasız" tuzağı</a:t>
            </a:r>
            <a:endParaRPr sz="1900"/>
          </a:p>
        </p:txBody>
      </p:sp>
      <p:sp>
        <p:nvSpPr>
          <p:cNvPr id="13" name="Text 10">
            <a:extLst xmlns:a="http://schemas.openxmlformats.org/drawingml/2006/main">
              <a:ext uri="{FF2B5EF4-FFF2-40B4-BE49-F238E27FC236}">
                <a16:creationId xmlns:a16="http://schemas.microsoft.com/office/drawing/2014/main" id="{48ABDF0D-C6C0-4CB1-B54A-AB36BB6984C3}"/>
              </a:ext>
            </a:extLst>
          </p:cNvPr>
          <p:cNvSpPr>
            <a:spLocks xmlns:a="http://schemas.openxmlformats.org/drawingml/2006/main" noGrp="1"/>
          </p:cNvSpPr>
          <p:nvPr/>
        </p:nvSpPr>
        <p:spPr>
          <a:xfrm xmlns:a="http://schemas.openxmlformats.org/drawingml/2006/main">
            <a:off x="4297680" y="4123563"/>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En "güzel" veya en "genel geçer" görünen seçeneği işaretlemek — seçenek doğru bir GENEL fikir olabilir ama METİNDEKİ ÖZEL bağlama uymayabilir.</a:t>
            </a:r>
            <a:endParaRPr sz="1900"/>
          </a:p>
        </p:txBody>
      </p:sp>
      <p:sp>
        <p:nvSpPr>
          <p:cNvPr id="14" name="Shape 11">
            <a:extLst xmlns:a="http://schemas.openxmlformats.org/drawingml/2006/main">
              <a:ext uri="{FF2B5EF4-FFF2-40B4-BE49-F238E27FC236}">
                <a16:creationId xmlns:a16="http://schemas.microsoft.com/office/drawing/2014/main" id="{AD19953B-3D0D-42FD-86F6-27E3B6299A37}"/>
              </a:ext>
            </a:extLst>
          </p:cNvPr>
          <p:cNvSpPr>
            <a:spLocks xmlns:a="http://schemas.openxmlformats.org/drawingml/2006/main" noGrp="1"/>
          </p:cNvSpPr>
          <p:nvPr/>
        </p:nvSpPr>
        <p:spPr>
          <a:xfrm xmlns:a="http://schemas.openxmlformats.org/drawingml/2006/main">
            <a:off x="640080" y="5300091"/>
            <a:ext cx="10515600" cy="1146810"/>
          </a:xfrm>
          <a:prstGeom xmlns:a="http://schemas.openxmlformats.org/drawingml/2006/main" prst="roundRect">
            <a:avLst>
              <a:gd name="adj" fmla="val 10000"/>
            </a:avLst>
          </a:prstGeom>
          <a:solidFill xmlns:a="http://schemas.openxmlformats.org/drawingml/2006/main">
            <a:srgbClr val="6E1B12"/>
          </a:solidFill>
        </p:spPr>
      </p:sp>
      <p:sp>
        <p:nvSpPr>
          <p:cNvPr id="15" name="Text 12">
            <a:extLst xmlns:a="http://schemas.openxmlformats.org/drawingml/2006/main">
              <a:ext uri="{FF2B5EF4-FFF2-40B4-BE49-F238E27FC236}">
                <a16:creationId xmlns:a16="http://schemas.microsoft.com/office/drawing/2014/main" id="{E72B74BC-21A6-43DD-A8C0-318D284095C2}"/>
              </a:ext>
            </a:extLst>
          </p:cNvPr>
          <p:cNvSpPr>
            <a:spLocks xmlns:a="http://schemas.openxmlformats.org/drawingml/2006/main" noGrp="1"/>
          </p:cNvSpPr>
          <p:nvPr/>
        </p:nvSpPr>
        <p:spPr>
          <a:xfrm xmlns:a="http://schemas.openxmlformats.org/drawingml/2006/main">
            <a:off x="914400" y="5300091"/>
            <a:ext cx="3291840" cy="35166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50" b="1">
                <a:solidFill>
                  <a:srgbClr val="D9A441"/>
                </a:solidFill>
                <a:latin typeface="Calibri"/>
                <a:ea typeface="Calibri"/>
                <a:cs typeface="Calibri"/>
              </a:rPr>
              <a:t>Sınavda ayırt etme yöntemi</a:t>
            </a:r>
            <a:endParaRPr sz="1950"/>
          </a:p>
        </p:txBody>
      </p:sp>
      <p:sp>
        <p:nvSpPr>
          <p:cNvPr id="16" name="Text 13">
            <a:extLst xmlns:a="http://schemas.openxmlformats.org/drawingml/2006/main">
              <a:ext uri="{FF2B5EF4-FFF2-40B4-BE49-F238E27FC236}">
                <a16:creationId xmlns:a16="http://schemas.microsoft.com/office/drawing/2014/main" id="{BB59C2DB-0E09-4DDB-B734-923FAFFE383C}"/>
              </a:ext>
            </a:extLst>
          </p:cNvPr>
          <p:cNvSpPr>
            <a:spLocks xmlns:a="http://schemas.openxmlformats.org/drawingml/2006/main" noGrp="1"/>
          </p:cNvSpPr>
          <p:nvPr/>
        </p:nvSpPr>
        <p:spPr>
          <a:xfrm xmlns:a="http://schemas.openxmlformats.org/drawingml/2006/main">
            <a:off x="4297680" y="5300091"/>
            <a:ext cx="6675120" cy="102793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F5D6D0"/>
                </a:solidFill>
                <a:latin typeface="Calibri"/>
                <a:ea typeface="Calibri"/>
                <a:cs typeface="Calibri"/>
              </a:rPr>
              <a:t>Seçeneği metnin YALNIZCA o cümlesiyle değil, PARÇANIN TAMAMIYLA karşılaştırın — asıl fikir genelde birkaç cümlede birlikte kurulur.</a:t>
            </a:r>
            <a:endParaRPr sz="1900"/>
          </a:p>
        </p:txBody>
      </p:sp>
    </p:spTree>
    <p:extLst>
      <p:ext uri="{BB962C8B-B14F-4D97-AF65-F5344CB8AC3E}">
        <p14:creationId xmlns:p14="http://schemas.microsoft.com/office/powerpoint/2010/main" val="957938107"/>
      </p:ext>
    </p:extLst>
  </p:cSld>
</p:sld>
</file>

<file path=ppt/slides/slide9.xml><?xml version="1.0" encoding="utf-8"?>
<p:sld xmlns:p="http://schemas.openxmlformats.org/presentationml/2006/main">
  <p:cSld>
    <p:bg>
      <p:bgPr>
        <a:solidFill xmlns:a="http://schemas.openxmlformats.org/drawingml/2006/main">
          <a:srgbClr val="8E231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6A802AC-4033-478D-857F-F613C933E7F6}"/>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6E1B12"/>
          </a:solidFill>
        </p:spPr>
      </p:sp>
      <p:sp>
        <p:nvSpPr>
          <p:cNvPr id="3" name="Shape 1">
            <a:extLst xmlns:a="http://schemas.openxmlformats.org/drawingml/2006/main">
              <a:ext uri="{FF2B5EF4-FFF2-40B4-BE49-F238E27FC236}">
                <a16:creationId xmlns:a16="http://schemas.microsoft.com/office/drawing/2014/main" id="{0229D5F8-5CA5-4860-9F73-37D6CE8AC9D8}"/>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6E1B12"/>
          </a:solidFill>
        </p:spPr>
      </p:sp>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3c16ad97e4ea48a9"/>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352E3449-8F7F-4356-BE45-7536D1DDA31F}"/>
              </a:ext>
            </a:extLst>
          </p:cNvPr>
          <p:cNvSpPr>
            <a:spLocks xmlns:a="http://schemas.openxmlformats.org/drawingml/2006/main" noGrp="1"/>
          </p:cNvSpPr>
          <p:nvPr/>
        </p:nvSpPr>
        <p:spPr>
          <a:xfrm xmlns:a="http://schemas.openxmlformats.org/drawingml/2006/main">
            <a:off x="1508760" y="566928"/>
            <a:ext cx="5486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FFFFFF"/>
                </a:solidFill>
                <a:latin typeface="Cambria"/>
                <a:ea typeface="Cambria"/>
                <a:cs typeface="Cambria"/>
              </a:rPr>
              <a:t>DİKKAT!</a:t>
            </a:r>
            <a:endParaRPr sz="3200"/>
          </a:p>
        </p:txBody>
      </p:sp>
      <p:sp>
        <p:nvSpPr>
          <p:cNvPr id="6" name="Text 3">
            <a:extLst xmlns:a="http://schemas.openxmlformats.org/drawingml/2006/main">
              <a:ext uri="{FF2B5EF4-FFF2-40B4-BE49-F238E27FC236}">
                <a16:creationId xmlns:a16="http://schemas.microsoft.com/office/drawing/2014/main" id="{F8CB0EA3-15A0-411A-BD91-21CEAB3F3E02}"/>
              </a:ext>
            </a:extLst>
          </p:cNvPr>
          <p:cNvSpPr>
            <a:spLocks xmlns:a="http://schemas.openxmlformats.org/drawingml/2006/main" noGrp="1"/>
          </p:cNvSpPr>
          <p:nvPr/>
        </p:nvSpPr>
        <p:spPr>
          <a:xfrm xmlns:a="http://schemas.openxmlformats.org/drawingml/2006/main">
            <a:off x="640080" y="1645920"/>
            <a:ext cx="105156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i="1">
                <a:solidFill>
                  <a:srgbClr val="F5D6D0"/>
                </a:solidFill>
                <a:latin typeface="Calibri"/>
                <a:ea typeface="Calibri"/>
                <a:cs typeface="Calibri"/>
              </a:rPr>
              <a:t>Deyimler Birbirine Karıştırılmasın!</a:t>
            </a:r>
            <a:endParaRPr sz="2100"/>
          </a:p>
        </p:txBody>
      </p:sp>
      <p:sp>
        <p:nvSpPr>
          <p:cNvPr id="7" name="Shape 4">
            <a:extLst xmlns:a="http://schemas.openxmlformats.org/drawingml/2006/main">
              <a:ext uri="{FF2B5EF4-FFF2-40B4-BE49-F238E27FC236}">
                <a16:creationId xmlns:a16="http://schemas.microsoft.com/office/drawing/2014/main" id="{5604D27B-98C5-4896-BAEA-A661D632C4CE}"/>
              </a:ext>
            </a:extLst>
          </p:cNvPr>
          <p:cNvSpPr>
            <a:spLocks xmlns:a="http://schemas.openxmlformats.org/drawingml/2006/main" noGrp="1"/>
          </p:cNvSpPr>
          <p:nvPr/>
        </p:nvSpPr>
        <p:spPr>
          <a:xfrm xmlns:a="http://schemas.openxmlformats.org/drawingml/2006/main">
            <a:off x="640080" y="2177288"/>
            <a:ext cx="548640" cy="548640"/>
          </a:xfrm>
          <a:prstGeom xmlns:a="http://schemas.openxmlformats.org/drawingml/2006/main" prst="ellipse">
            <a:avLst/>
          </a:prstGeom>
          <a:solidFill xmlns:a="http://schemas.openxmlformats.org/drawingml/2006/main">
            <a:srgbClr val="FFFFFF"/>
          </a:solidFill>
        </p:spPr>
      </p:sp>
      <p:sp>
        <p:nvSpPr>
          <p:cNvPr id="8" name="Text 5">
            <a:extLst xmlns:a="http://schemas.openxmlformats.org/drawingml/2006/main">
              <a:ext uri="{FF2B5EF4-FFF2-40B4-BE49-F238E27FC236}">
                <a16:creationId xmlns:a16="http://schemas.microsoft.com/office/drawing/2014/main" id="{66EB61B9-CE1F-42FB-8810-6CDCA3DA99EB}"/>
              </a:ext>
            </a:extLst>
          </p:cNvPr>
          <p:cNvSpPr>
            <a:spLocks xmlns:a="http://schemas.openxmlformats.org/drawingml/2006/main" noGrp="1"/>
          </p:cNvSpPr>
          <p:nvPr/>
        </p:nvSpPr>
        <p:spPr>
          <a:xfrm xmlns:a="http://schemas.openxmlformats.org/drawingml/2006/main">
            <a:off x="640080" y="2177288"/>
            <a:ext cx="548640" cy="54864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200" b="1">
                <a:solidFill>
                  <a:srgbClr val="8E2318"/>
                </a:solidFill>
                <a:latin typeface="Cambria"/>
                <a:ea typeface="Cambria"/>
                <a:cs typeface="Cambria"/>
              </a:rPr>
              <a:t>1</a:t>
            </a:r>
            <a:endParaRPr sz="2200"/>
          </a:p>
        </p:txBody>
      </p:sp>
      <p:sp>
        <p:nvSpPr>
          <p:cNvPr id="9" name="Text 6">
            <a:extLst xmlns:a="http://schemas.openxmlformats.org/drawingml/2006/main">
              <a:ext uri="{FF2B5EF4-FFF2-40B4-BE49-F238E27FC236}">
                <a16:creationId xmlns:a16="http://schemas.microsoft.com/office/drawing/2014/main" id="{0888C687-0452-4775-96E0-9882AC25D04B}"/>
              </a:ext>
            </a:extLst>
          </p:cNvPr>
          <p:cNvSpPr>
            <a:spLocks xmlns:a="http://schemas.openxmlformats.org/drawingml/2006/main" noGrp="1"/>
          </p:cNvSpPr>
          <p:nvPr/>
        </p:nvSpPr>
        <p:spPr>
          <a:xfrm xmlns:a="http://schemas.openxmlformats.org/drawingml/2006/main">
            <a:off x="1371600" y="2253234"/>
            <a:ext cx="96926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libri"/>
                <a:ea typeface="Calibri"/>
                <a:cs typeface="Calibri"/>
              </a:rPr>
              <a:t>Aynı organ/kavramla kurulan deyimleri birbirine benzetmek.</a:t>
            </a:r>
            <a:endParaRPr sz="2100"/>
          </a:p>
        </p:txBody>
      </p:sp>
      <p:sp>
        <p:nvSpPr>
          <p:cNvPr id="10" name="Text 7">
            <a:extLst xmlns:a="http://schemas.openxmlformats.org/drawingml/2006/main">
              <a:ext uri="{FF2B5EF4-FFF2-40B4-BE49-F238E27FC236}">
                <a16:creationId xmlns:a16="http://schemas.microsoft.com/office/drawing/2014/main" id="{3D7761E2-E634-436B-8E8F-8C79C9BCCC0D}"/>
              </a:ext>
            </a:extLst>
          </p:cNvPr>
          <p:cNvSpPr>
            <a:spLocks xmlns:a="http://schemas.openxmlformats.org/drawingml/2006/main" noGrp="1"/>
          </p:cNvSpPr>
          <p:nvPr/>
        </p:nvSpPr>
        <p:spPr>
          <a:xfrm xmlns:a="http://schemas.openxmlformats.org/drawingml/2006/main">
            <a:off x="1371600" y="2695702"/>
            <a:ext cx="9692640" cy="11361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F5D6D0"/>
                </a:solidFill>
                <a:latin typeface="Calibri"/>
                <a:ea typeface="Calibri"/>
                <a:cs typeface="Calibri"/>
              </a:rPr>
              <a:t>Türkçede göz, el, kalp, dil gibi kavramlarla kurulan birçok deyim vardır — benzer görünseler de anlamları TAMAMEN farklı olabilir ("gözü kesmek" ile "gözden düşmek" gibi).</a:t>
            </a:r>
            <a:endParaRPr sz="2100"/>
          </a:p>
        </p:txBody>
      </p:sp>
      <p:sp>
        <p:nvSpPr>
          <p:cNvPr id="11" name="Shape 8">
            <a:extLst xmlns:a="http://schemas.openxmlformats.org/drawingml/2006/main">
              <a:ext uri="{FF2B5EF4-FFF2-40B4-BE49-F238E27FC236}">
                <a16:creationId xmlns:a16="http://schemas.microsoft.com/office/drawing/2014/main" id="{7D1C30FB-6DFC-490F-B1DA-16B18E488F23}"/>
              </a:ext>
            </a:extLst>
          </p:cNvPr>
          <p:cNvSpPr>
            <a:spLocks xmlns:a="http://schemas.openxmlformats.org/drawingml/2006/main" noGrp="1"/>
          </p:cNvSpPr>
          <p:nvPr/>
        </p:nvSpPr>
        <p:spPr>
          <a:xfrm xmlns:a="http://schemas.openxmlformats.org/drawingml/2006/main">
            <a:off x="640080" y="3966210"/>
            <a:ext cx="548640" cy="548640"/>
          </a:xfrm>
          <a:prstGeom xmlns:a="http://schemas.openxmlformats.org/drawingml/2006/main" prst="ellipse">
            <a:avLst/>
          </a:prstGeom>
          <a:solidFill xmlns:a="http://schemas.openxmlformats.org/drawingml/2006/main">
            <a:srgbClr val="FFFFFF"/>
          </a:solidFill>
        </p:spPr>
      </p:sp>
      <p:sp>
        <p:nvSpPr>
          <p:cNvPr id="12" name="Text 9">
            <a:extLst xmlns:a="http://schemas.openxmlformats.org/drawingml/2006/main">
              <a:ext uri="{FF2B5EF4-FFF2-40B4-BE49-F238E27FC236}">
                <a16:creationId xmlns:a16="http://schemas.microsoft.com/office/drawing/2014/main" id="{9AD08C89-B788-48D6-A7F8-C8049A6ED8EE}"/>
              </a:ext>
            </a:extLst>
          </p:cNvPr>
          <p:cNvSpPr>
            <a:spLocks xmlns:a="http://schemas.openxmlformats.org/drawingml/2006/main" noGrp="1"/>
          </p:cNvSpPr>
          <p:nvPr/>
        </p:nvSpPr>
        <p:spPr>
          <a:xfrm xmlns:a="http://schemas.openxmlformats.org/drawingml/2006/main">
            <a:off x="640080" y="3966210"/>
            <a:ext cx="548640" cy="54864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2200" b="1">
                <a:solidFill>
                  <a:srgbClr val="8E2318"/>
                </a:solidFill>
                <a:latin typeface="Cambria"/>
                <a:ea typeface="Cambria"/>
                <a:cs typeface="Cambria"/>
              </a:rPr>
              <a:t>2</a:t>
            </a:r>
            <a:endParaRPr sz="2200"/>
          </a:p>
        </p:txBody>
      </p:sp>
      <p:sp>
        <p:nvSpPr>
          <p:cNvPr id="13" name="Text 10">
            <a:extLst xmlns:a="http://schemas.openxmlformats.org/drawingml/2006/main">
              <a:ext uri="{FF2B5EF4-FFF2-40B4-BE49-F238E27FC236}">
                <a16:creationId xmlns:a16="http://schemas.microsoft.com/office/drawing/2014/main" id="{DEF0413B-0717-4693-830D-E581D206034D}"/>
              </a:ext>
            </a:extLst>
          </p:cNvPr>
          <p:cNvSpPr>
            <a:spLocks xmlns:a="http://schemas.openxmlformats.org/drawingml/2006/main" noGrp="1"/>
          </p:cNvSpPr>
          <p:nvPr/>
        </p:nvSpPr>
        <p:spPr>
          <a:xfrm xmlns:a="http://schemas.openxmlformats.org/drawingml/2006/main">
            <a:off x="1371600" y="4042156"/>
            <a:ext cx="969264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FFFFFF"/>
                </a:solidFill>
                <a:latin typeface="Calibri"/>
                <a:ea typeface="Calibri"/>
                <a:cs typeface="Calibri"/>
              </a:rPr>
              <a:t>Açıklamanın BAŞKA bir deyimin tanımı olabileceğini düşünmemek.</a:t>
            </a:r>
            <a:endParaRPr sz="2100"/>
          </a:p>
        </p:txBody>
      </p:sp>
      <p:sp>
        <p:nvSpPr>
          <p:cNvPr id="14" name="Text 11">
            <a:extLst xmlns:a="http://schemas.openxmlformats.org/drawingml/2006/main">
              <a:ext uri="{FF2B5EF4-FFF2-40B4-BE49-F238E27FC236}">
                <a16:creationId xmlns:a16="http://schemas.microsoft.com/office/drawing/2014/main" id="{A32AED6E-6195-46E5-8F78-54EE26CF26F6}"/>
              </a:ext>
            </a:extLst>
          </p:cNvPr>
          <p:cNvSpPr>
            <a:spLocks xmlns:a="http://schemas.openxmlformats.org/drawingml/2006/main" noGrp="1"/>
          </p:cNvSpPr>
          <p:nvPr/>
        </p:nvSpPr>
        <p:spPr>
          <a:xfrm xmlns:a="http://schemas.openxmlformats.org/drawingml/2006/main">
            <a:off x="1371600" y="4484624"/>
            <a:ext cx="9692640" cy="15148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F5D6D0"/>
                </a:solidFill>
                <a:latin typeface="Calibri"/>
                <a:ea typeface="Calibri"/>
                <a:cs typeface="Calibri"/>
              </a:rPr>
              <a:t>ÖSYM sık sık bu karışıklığı kullanır: bir deyime, aslında BAŞKA bir deyime ait olan açıklamayı yakıştırır (ör. "gözden düşmek" ≠ "gözden kaçırmak"). Açıklamayı okurken "bu, gerçekten BU deyimin mi anlamı?" diye sorun.</a:t>
            </a:r>
            <a:endParaRPr sz="2100"/>
          </a:p>
        </p:txBody>
      </p:sp>
    </p:spTree>
    <p:extLst>
      <p:ext uri="{BB962C8B-B14F-4D97-AF65-F5344CB8AC3E}">
        <p14:creationId xmlns:p14="http://schemas.microsoft.com/office/powerpoint/2010/main" val="1056581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99924E-4404-4855-9FF6-651A63893C9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d970ab76e3374e4f"/>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AEA7862E-D2EA-433D-9F99-697E8997D742}"/>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SINIF ETKINLIĞI</a:t>
            </a:r>
            <a:endParaRPr sz="1300"/>
          </a:p>
        </p:txBody>
      </p:sp>
      <p:sp>
        <p:nvSpPr>
          <p:cNvPr id="5" name="Text 2">
            <a:extLst xmlns:a="http://schemas.openxmlformats.org/drawingml/2006/main">
              <a:ext uri="{FF2B5EF4-FFF2-40B4-BE49-F238E27FC236}">
                <a16:creationId xmlns:a16="http://schemas.microsoft.com/office/drawing/2014/main" id="{5C16EABA-0785-4F56-94FF-7159E82816BF}"/>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Yorumu ve Deyimi Kontrol Edin (3 Dakika)</a:t>
            </a:r>
            <a:endParaRPr sz="2800"/>
          </a:p>
        </p:txBody>
      </p:sp>
      <p:sp>
        <p:nvSpPr>
          <p:cNvPr id="6" name="Text 3">
            <a:extLst xmlns:a="http://schemas.openxmlformats.org/drawingml/2006/main">
              <a:ext uri="{FF2B5EF4-FFF2-40B4-BE49-F238E27FC236}">
                <a16:creationId xmlns:a16="http://schemas.microsoft.com/office/drawing/2014/main" id="{C5FC3D01-8A4D-4A36-A0BC-67F0A3984F42}"/>
              </a:ext>
            </a:extLst>
          </p:cNvPr>
          <p:cNvSpPr>
            <a:spLocks xmlns:a="http://schemas.openxmlformats.org/drawingml/2006/main" noGrp="1"/>
          </p:cNvSpPr>
          <p:nvPr/>
        </p:nvSpPr>
        <p:spPr>
          <a:xfrm xmlns:a="http://schemas.openxmlformats.org/drawingml/2006/main">
            <a:off x="640080" y="1645920"/>
            <a:ext cx="1088136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E2761"/>
                </a:solidFill>
                <a:latin typeface="Calibri"/>
                <a:ea typeface="Calibri"/>
                <a:cs typeface="Calibri"/>
              </a:rPr>
              <a:t>1-4: verilen yorumun altı çizili sözle uyup uymadığını belirleyin. 5-8: deyimin açıklamasının DOĞRU mu YANLIŞ mı olduğunu belirleyin. Süre: 3 dakika.</a:t>
            </a:r>
            <a:endParaRPr sz="1800"/>
          </a:p>
        </p:txBody>
      </p:sp>
      <p:sp>
        <p:nvSpPr>
          <p:cNvPr id="7" name="Shape 4">
            <a:extLst xmlns:a="http://schemas.openxmlformats.org/drawingml/2006/main">
              <a:ext uri="{FF2B5EF4-FFF2-40B4-BE49-F238E27FC236}">
                <a16:creationId xmlns:a16="http://schemas.microsoft.com/office/drawing/2014/main" id="{DB17E795-9411-4A71-B47F-C356D746A20E}"/>
              </a:ext>
            </a:extLst>
          </p:cNvPr>
          <p:cNvSpPr>
            <a:spLocks xmlns:a="http://schemas.openxmlformats.org/drawingml/2006/main" noGrp="1"/>
          </p:cNvSpPr>
          <p:nvPr/>
        </p:nvSpPr>
        <p:spPr>
          <a:xfrm xmlns:a="http://schemas.openxmlformats.org/drawingml/2006/main">
            <a:off x="640080" y="2350557"/>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8" name="Text 5">
            <a:extLst xmlns:a="http://schemas.openxmlformats.org/drawingml/2006/main">
              <a:ext uri="{FF2B5EF4-FFF2-40B4-BE49-F238E27FC236}">
                <a16:creationId xmlns:a16="http://schemas.microsoft.com/office/drawing/2014/main" id="{67C5CDBB-B7AA-4639-B213-F2193B6E3156}"/>
              </a:ext>
            </a:extLst>
          </p:cNvPr>
          <p:cNvSpPr>
            <a:spLocks xmlns:a="http://schemas.openxmlformats.org/drawingml/2006/main" noGrp="1"/>
          </p:cNvSpPr>
          <p:nvPr/>
        </p:nvSpPr>
        <p:spPr>
          <a:xfrm xmlns:a="http://schemas.openxmlformats.org/drawingml/2006/main">
            <a:off x="822960" y="2350557"/>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1.  </a:t>
            </a:r>
            <a:r>
              <a:rPr sz="1800">
                <a:solidFill>
                  <a:srgbClr val="142A44"/>
                </a:solidFill>
                <a:latin typeface="Calibri"/>
                <a:ea typeface="Calibri"/>
                <a:cs typeface="Calibri"/>
              </a:rPr>
              <a:t>"</a:t>
            </a:r>
            <a:r>
              <a:rPr sz="1800">
                <a:solidFill>
                  <a:srgbClr val="142A44"/>
                </a:solidFill>
                <a:latin typeface="Calibri"/>
                <a:ea typeface="Calibri"/>
                <a:cs typeface="Calibri"/>
              </a:rPr>
              <a:t>Baltayı taşa vurdu.</a:t>
            </a:r>
            <a:r>
              <a:rPr sz="1800">
                <a:solidFill>
                  <a:srgbClr val="142A44"/>
                </a:solidFill>
                <a:latin typeface="Calibri"/>
                <a:ea typeface="Calibri"/>
                <a:cs typeface="Calibri"/>
              </a:rPr>
              <a:t>" → "</a:t>
            </a:r>
            <a:r>
              <a:rPr sz="1800">
                <a:solidFill>
                  <a:srgbClr val="142A44"/>
                </a:solidFill>
                <a:latin typeface="Calibri"/>
                <a:ea typeface="Calibri"/>
                <a:cs typeface="Calibri"/>
              </a:rPr>
              <a:t>İstemeden yersiz bir söz söyledi</a:t>
            </a:r>
            <a:r>
              <a:rPr sz="1800">
                <a:solidFill>
                  <a:srgbClr val="142A44"/>
                </a:solidFill>
                <a:latin typeface="Calibri"/>
                <a:ea typeface="Calibri"/>
                <a:cs typeface="Calibri"/>
              </a:rPr>
              <a:t>" yorumu doğru mu?</a:t>
            </a:r>
            <a:endParaRPr sz="1800"/>
          </a:p>
        </p:txBody>
      </p:sp>
      <p:sp>
        <p:nvSpPr>
          <p:cNvPr id="9" name="Shape 6">
            <a:extLst xmlns:a="http://schemas.openxmlformats.org/drawingml/2006/main">
              <a:ext uri="{FF2B5EF4-FFF2-40B4-BE49-F238E27FC236}">
                <a16:creationId xmlns:a16="http://schemas.microsoft.com/office/drawing/2014/main" id="{72913F98-B4FF-4DC2-B234-825C617AC962}"/>
              </a:ext>
            </a:extLst>
          </p:cNvPr>
          <p:cNvSpPr>
            <a:spLocks xmlns:a="http://schemas.openxmlformats.org/drawingml/2006/main" noGrp="1"/>
          </p:cNvSpPr>
          <p:nvPr/>
        </p:nvSpPr>
        <p:spPr>
          <a:xfrm xmlns:a="http://schemas.openxmlformats.org/drawingml/2006/main">
            <a:off x="6172200" y="2350557"/>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0" name="Text 7">
            <a:extLst xmlns:a="http://schemas.openxmlformats.org/drawingml/2006/main">
              <a:ext uri="{FF2B5EF4-FFF2-40B4-BE49-F238E27FC236}">
                <a16:creationId xmlns:a16="http://schemas.microsoft.com/office/drawing/2014/main" id="{ABC62BA5-8A35-4837-8268-70636E329B98}"/>
              </a:ext>
            </a:extLst>
          </p:cNvPr>
          <p:cNvSpPr>
            <a:spLocks xmlns:a="http://schemas.openxmlformats.org/drawingml/2006/main" noGrp="1"/>
          </p:cNvSpPr>
          <p:nvPr/>
        </p:nvSpPr>
        <p:spPr>
          <a:xfrm xmlns:a="http://schemas.openxmlformats.org/drawingml/2006/main">
            <a:off x="6355080" y="2350557"/>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2.  </a:t>
            </a:r>
            <a:r>
              <a:rPr sz="1800">
                <a:solidFill>
                  <a:srgbClr val="142A44"/>
                </a:solidFill>
                <a:latin typeface="Calibri"/>
                <a:ea typeface="Calibri"/>
                <a:cs typeface="Calibri"/>
              </a:rPr>
              <a:t>"Dört gözle bekliyordu." → "Çok istekli, sabırsızca bekliyordu" yorumu doğru mu?</a:t>
            </a:r>
            <a:endParaRPr sz="1800"/>
          </a:p>
        </p:txBody>
      </p:sp>
      <p:sp>
        <p:nvSpPr>
          <p:cNvPr id="11" name="Shape 8">
            <a:extLst xmlns:a="http://schemas.openxmlformats.org/drawingml/2006/main">
              <a:ext uri="{FF2B5EF4-FFF2-40B4-BE49-F238E27FC236}">
                <a16:creationId xmlns:a16="http://schemas.microsoft.com/office/drawing/2014/main" id="{60D3E699-FACC-4B57-BEFB-DAE54404E2C4}"/>
              </a:ext>
            </a:extLst>
          </p:cNvPr>
          <p:cNvSpPr>
            <a:spLocks xmlns:a="http://schemas.openxmlformats.org/drawingml/2006/main" noGrp="1"/>
          </p:cNvSpPr>
          <p:nvPr/>
        </p:nvSpPr>
        <p:spPr>
          <a:xfrm xmlns:a="http://schemas.openxmlformats.org/drawingml/2006/main">
            <a:off x="640080" y="3310677"/>
            <a:ext cx="5349240" cy="1207008"/>
          </a:xfrm>
          <a:prstGeom xmlns:a="http://schemas.openxmlformats.org/drawingml/2006/main" prst="roundRect">
            <a:avLst>
              <a:gd name="adj" fmla="val 10667"/>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512745E2-2019-4882-99B7-42421F55C1C2}"/>
              </a:ext>
            </a:extLst>
          </p:cNvPr>
          <p:cNvSpPr>
            <a:spLocks xmlns:a="http://schemas.openxmlformats.org/drawingml/2006/main" noGrp="1"/>
          </p:cNvSpPr>
          <p:nvPr/>
        </p:nvSpPr>
        <p:spPr>
          <a:xfrm xmlns:a="http://schemas.openxmlformats.org/drawingml/2006/main">
            <a:off x="822960" y="3310677"/>
            <a:ext cx="5029200" cy="9738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3.  </a:t>
            </a:r>
            <a:r>
              <a:rPr sz="1800">
                <a:solidFill>
                  <a:srgbClr val="142A44"/>
                </a:solidFill>
                <a:latin typeface="Calibri"/>
                <a:ea typeface="Calibri"/>
                <a:cs typeface="Calibri"/>
              </a:rPr>
              <a:t>"Bulanık suda balık avlıyordu." → "Karmaşadan kendi çıkarına yararlanıyordu" yorumu doğru mu?</a:t>
            </a:r>
            <a:endParaRPr sz="1800"/>
          </a:p>
        </p:txBody>
      </p:sp>
      <p:sp>
        <p:nvSpPr>
          <p:cNvPr id="13" name="Shape 10">
            <a:extLst xmlns:a="http://schemas.openxmlformats.org/drawingml/2006/main">
              <a:ext uri="{FF2B5EF4-FFF2-40B4-BE49-F238E27FC236}">
                <a16:creationId xmlns:a16="http://schemas.microsoft.com/office/drawing/2014/main" id="{F28BE040-3A10-45F7-B120-F957A986E77A}"/>
              </a:ext>
            </a:extLst>
          </p:cNvPr>
          <p:cNvSpPr>
            <a:spLocks xmlns:a="http://schemas.openxmlformats.org/drawingml/2006/main" noGrp="1"/>
          </p:cNvSpPr>
          <p:nvPr/>
        </p:nvSpPr>
        <p:spPr>
          <a:xfrm xmlns:a="http://schemas.openxmlformats.org/drawingml/2006/main">
            <a:off x="6172200" y="3310677"/>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4" name="Text 11">
            <a:extLst xmlns:a="http://schemas.openxmlformats.org/drawingml/2006/main">
              <a:ext uri="{FF2B5EF4-FFF2-40B4-BE49-F238E27FC236}">
                <a16:creationId xmlns:a16="http://schemas.microsoft.com/office/drawing/2014/main" id="{186D7B50-E7F8-4C4A-8F1A-C83A30F36138}"/>
              </a:ext>
            </a:extLst>
          </p:cNvPr>
          <p:cNvSpPr>
            <a:spLocks xmlns:a="http://schemas.openxmlformats.org/drawingml/2006/main" noGrp="1"/>
          </p:cNvSpPr>
          <p:nvPr/>
        </p:nvSpPr>
        <p:spPr>
          <a:xfrm xmlns:a="http://schemas.openxmlformats.org/drawingml/2006/main">
            <a:off x="6355080" y="3310677"/>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4.  </a:t>
            </a:r>
            <a:r>
              <a:rPr sz="1800">
                <a:solidFill>
                  <a:srgbClr val="142A44"/>
                </a:solidFill>
                <a:latin typeface="Calibri"/>
                <a:ea typeface="Calibri"/>
                <a:cs typeface="Calibri"/>
              </a:rPr>
              <a:t>"Ateşle oynuyordu." → "Çok eğleniyordu" yorumu doğru mu?</a:t>
            </a:r>
            <a:endParaRPr sz="1800"/>
          </a:p>
        </p:txBody>
      </p:sp>
      <p:sp>
        <p:nvSpPr>
          <p:cNvPr id="15" name="Shape 12">
            <a:extLst xmlns:a="http://schemas.openxmlformats.org/drawingml/2006/main">
              <a:ext uri="{FF2B5EF4-FFF2-40B4-BE49-F238E27FC236}">
                <a16:creationId xmlns:a16="http://schemas.microsoft.com/office/drawing/2014/main" id="{E1FFC4BB-3F80-4DCA-9278-1D20B774FFDC}"/>
              </a:ext>
            </a:extLst>
          </p:cNvPr>
          <p:cNvSpPr>
            <a:spLocks xmlns:a="http://schemas.openxmlformats.org/drawingml/2006/main" noGrp="1"/>
          </p:cNvSpPr>
          <p:nvPr/>
        </p:nvSpPr>
        <p:spPr>
          <a:xfrm xmlns:a="http://schemas.openxmlformats.org/drawingml/2006/main">
            <a:off x="640080" y="455883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61712DA1-CABE-4CF3-A12B-59669E82B79F}"/>
              </a:ext>
            </a:extLst>
          </p:cNvPr>
          <p:cNvSpPr>
            <a:spLocks xmlns:a="http://schemas.openxmlformats.org/drawingml/2006/main" noGrp="1"/>
          </p:cNvSpPr>
          <p:nvPr/>
        </p:nvSpPr>
        <p:spPr>
          <a:xfrm xmlns:a="http://schemas.openxmlformats.org/drawingml/2006/main">
            <a:off x="822960" y="4558833"/>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5.  </a:t>
            </a:r>
            <a:r>
              <a:rPr sz="1800">
                <a:solidFill>
                  <a:srgbClr val="142A44"/>
                </a:solidFill>
                <a:latin typeface="Calibri"/>
                <a:ea typeface="Calibri"/>
                <a:cs typeface="Calibri"/>
              </a:rPr>
              <a:t>"Kulağı delik" → "Her şeyden haberi olan" — doğru mu?</a:t>
            </a:r>
            <a:endParaRPr sz="1800"/>
          </a:p>
        </p:txBody>
      </p:sp>
      <p:sp>
        <p:nvSpPr>
          <p:cNvPr id="17" name="Shape 14">
            <a:extLst xmlns:a="http://schemas.openxmlformats.org/drawingml/2006/main">
              <a:ext uri="{FF2B5EF4-FFF2-40B4-BE49-F238E27FC236}">
                <a16:creationId xmlns:a16="http://schemas.microsoft.com/office/drawing/2014/main" id="{19D05F5A-1F11-442A-8CD0-B03FEF94B308}"/>
              </a:ext>
            </a:extLst>
          </p:cNvPr>
          <p:cNvSpPr>
            <a:spLocks xmlns:a="http://schemas.openxmlformats.org/drawingml/2006/main" noGrp="1"/>
          </p:cNvSpPr>
          <p:nvPr/>
        </p:nvSpPr>
        <p:spPr>
          <a:xfrm xmlns:a="http://schemas.openxmlformats.org/drawingml/2006/main">
            <a:off x="6172200" y="455883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18" name="Text 15">
            <a:extLst xmlns:a="http://schemas.openxmlformats.org/drawingml/2006/main">
              <a:ext uri="{FF2B5EF4-FFF2-40B4-BE49-F238E27FC236}">
                <a16:creationId xmlns:a16="http://schemas.microsoft.com/office/drawing/2014/main" id="{574D16C9-35DE-4794-B40F-6A6B6EFCE523}"/>
              </a:ext>
            </a:extLst>
          </p:cNvPr>
          <p:cNvSpPr>
            <a:spLocks xmlns:a="http://schemas.openxmlformats.org/drawingml/2006/main" noGrp="1"/>
          </p:cNvSpPr>
          <p:nvPr/>
        </p:nvSpPr>
        <p:spPr>
          <a:xfrm xmlns:a="http://schemas.openxmlformats.org/drawingml/2006/main">
            <a:off x="6355080" y="4558833"/>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6.  </a:t>
            </a:r>
            <a:r>
              <a:rPr sz="1800">
                <a:solidFill>
                  <a:srgbClr val="142A44"/>
                </a:solidFill>
                <a:latin typeface="Calibri"/>
                <a:ea typeface="Calibri"/>
                <a:cs typeface="Calibri"/>
              </a:rPr>
              <a:t>"Ağzı kulaklarına varmak" → "Çok üzülmek" — doğru mu?</a:t>
            </a:r>
            <a:endParaRPr sz="1800"/>
          </a:p>
        </p:txBody>
      </p:sp>
      <p:sp>
        <p:nvSpPr>
          <p:cNvPr id="19" name="Shape 16">
            <a:extLst xmlns:a="http://schemas.openxmlformats.org/drawingml/2006/main">
              <a:ext uri="{FF2B5EF4-FFF2-40B4-BE49-F238E27FC236}">
                <a16:creationId xmlns:a16="http://schemas.microsoft.com/office/drawing/2014/main" id="{152DC55B-FCF6-45F8-98CC-BB4F826D5010}"/>
              </a:ext>
            </a:extLst>
          </p:cNvPr>
          <p:cNvSpPr>
            <a:spLocks xmlns:a="http://schemas.openxmlformats.org/drawingml/2006/main" noGrp="1"/>
          </p:cNvSpPr>
          <p:nvPr/>
        </p:nvSpPr>
        <p:spPr>
          <a:xfrm xmlns:a="http://schemas.openxmlformats.org/drawingml/2006/main">
            <a:off x="640080" y="551895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20" name="Text 17">
            <a:extLst xmlns:a="http://schemas.openxmlformats.org/drawingml/2006/main">
              <a:ext uri="{FF2B5EF4-FFF2-40B4-BE49-F238E27FC236}">
                <a16:creationId xmlns:a16="http://schemas.microsoft.com/office/drawing/2014/main" id="{4E9ACF3F-2896-4B49-B5DF-C5645C8AE5A1}"/>
              </a:ext>
            </a:extLst>
          </p:cNvPr>
          <p:cNvSpPr>
            <a:spLocks xmlns:a="http://schemas.openxmlformats.org/drawingml/2006/main" noGrp="1"/>
          </p:cNvSpPr>
          <p:nvPr/>
        </p:nvSpPr>
        <p:spPr>
          <a:xfrm xmlns:a="http://schemas.openxmlformats.org/drawingml/2006/main">
            <a:off x="822960" y="5518953"/>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7.  </a:t>
            </a:r>
            <a:r>
              <a:rPr sz="1800">
                <a:solidFill>
                  <a:srgbClr val="142A44"/>
                </a:solidFill>
                <a:latin typeface="Calibri"/>
                <a:ea typeface="Calibri"/>
                <a:cs typeface="Calibri"/>
              </a:rPr>
              <a:t>"Eli ayağı dolaşmak" → "Şaşırıp ne yapacağını bilememek" — doğru mu?</a:t>
            </a:r>
            <a:endParaRPr sz="1800"/>
          </a:p>
        </p:txBody>
      </p:sp>
      <p:sp>
        <p:nvSpPr>
          <p:cNvPr id="21" name="Shape 18">
            <a:extLst xmlns:a="http://schemas.openxmlformats.org/drawingml/2006/main">
              <a:ext uri="{FF2B5EF4-FFF2-40B4-BE49-F238E27FC236}">
                <a16:creationId xmlns:a16="http://schemas.microsoft.com/office/drawing/2014/main" id="{535A65A3-13B5-45A4-981C-DC98044386B8}"/>
              </a:ext>
            </a:extLst>
          </p:cNvPr>
          <p:cNvSpPr>
            <a:spLocks xmlns:a="http://schemas.openxmlformats.org/drawingml/2006/main" noGrp="1"/>
          </p:cNvSpPr>
          <p:nvPr/>
        </p:nvSpPr>
        <p:spPr>
          <a:xfrm xmlns:a="http://schemas.openxmlformats.org/drawingml/2006/main">
            <a:off x="6172200" y="5518953"/>
            <a:ext cx="5349240" cy="918972"/>
          </a:xfrm>
          <a:prstGeom xmlns:a="http://schemas.openxmlformats.org/drawingml/2006/main" prst="roundRect">
            <a:avLst>
              <a:gd name="adj" fmla="val 10667"/>
            </a:avLst>
          </a:prstGeom>
          <a:solidFill xmlns:a="http://schemas.openxmlformats.org/drawingml/2006/main">
            <a:srgbClr val="EEF3F8"/>
          </a:solidFill>
        </p:spPr>
      </p:sp>
      <p:sp>
        <p:nvSpPr>
          <p:cNvPr id="22" name="Text 19">
            <a:extLst xmlns:a="http://schemas.openxmlformats.org/drawingml/2006/main">
              <a:ext uri="{FF2B5EF4-FFF2-40B4-BE49-F238E27FC236}">
                <a16:creationId xmlns:a16="http://schemas.microsoft.com/office/drawing/2014/main" id="{44499A2B-84A5-479B-92C4-9BA92696E635}"/>
              </a:ext>
            </a:extLst>
          </p:cNvPr>
          <p:cNvSpPr>
            <a:spLocks xmlns:a="http://schemas.openxmlformats.org/drawingml/2006/main" noGrp="1"/>
          </p:cNvSpPr>
          <p:nvPr/>
        </p:nvSpPr>
        <p:spPr>
          <a:xfrm xmlns:a="http://schemas.openxmlformats.org/drawingml/2006/main">
            <a:off x="6355080" y="5518953"/>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8.  </a:t>
            </a:r>
            <a:r>
              <a:rPr sz="1800">
                <a:solidFill>
                  <a:srgbClr val="142A44"/>
                </a:solidFill>
                <a:latin typeface="Calibri"/>
                <a:ea typeface="Calibri"/>
                <a:cs typeface="Calibri"/>
              </a:rPr>
              <a:t>"Burnu büyümek" → "Alçakgönüllü davranmak" — doğru mu?</a:t>
            </a:r>
            <a:endParaRPr sz="1800"/>
          </a:p>
        </p:txBody>
      </p:sp>
      <p:sp>
        <p:nvSpPr>
          <p:cNvPr id="23" name="Text 20">
            <a:extLst xmlns:a="http://schemas.openxmlformats.org/drawingml/2006/main">
              <a:ext uri="{FF2B5EF4-FFF2-40B4-BE49-F238E27FC236}">
                <a16:creationId xmlns:a16="http://schemas.microsoft.com/office/drawing/2014/main" id="{182B7D99-74FC-44A5-A40E-1EAEDA6FA5BA}"/>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Sınıf Etkinliği</a:t>
            </a:r>
            <a:endParaRPr sz="900"/>
          </a:p>
        </p:txBody>
      </p:sp>
      <p:sp>
        <p:nvSpPr>
          <p:cNvPr id="24" name="Text 21">
            <a:extLst xmlns:a="http://schemas.openxmlformats.org/drawingml/2006/main">
              <a:ext uri="{FF2B5EF4-FFF2-40B4-BE49-F238E27FC236}">
                <a16:creationId xmlns:a16="http://schemas.microsoft.com/office/drawing/2014/main" id="{05B8D247-1DD6-4304-841F-01B1D80A9BDD}"/>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9560972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533F737-ACC8-484E-8A3C-0CD34B8F53D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1a041e4ff5b043ee"/>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863BBD2-2E00-49A0-AA1D-9B1A9978BC70}"/>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ETKINLIK</a:t>
            </a:r>
            <a:endParaRPr sz="1300"/>
          </a:p>
        </p:txBody>
      </p:sp>
      <p:sp>
        <p:nvSpPr>
          <p:cNvPr id="5" name="Text 2">
            <a:extLst xmlns:a="http://schemas.openxmlformats.org/drawingml/2006/main">
              <a:ext uri="{FF2B5EF4-FFF2-40B4-BE49-F238E27FC236}">
                <a16:creationId xmlns:a16="http://schemas.microsoft.com/office/drawing/2014/main" id="{9084270E-C72B-49BD-ABC2-064F8E19A94D}"/>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Cevap Anahtarı</a:t>
            </a:r>
            <a:endParaRPr sz="2800"/>
          </a:p>
        </p:txBody>
      </p:sp>
      <p:sp>
        <p:nvSpPr>
          <p:cNvPr id="6" name="Shape 3">
            <a:extLst xmlns:a="http://schemas.openxmlformats.org/drawingml/2006/main">
              <a:ext uri="{FF2B5EF4-FFF2-40B4-BE49-F238E27FC236}">
                <a16:creationId xmlns:a16="http://schemas.microsoft.com/office/drawing/2014/main" id="{2724EB8C-A56D-42DB-882B-5E28F100B027}"/>
              </a:ext>
            </a:extLst>
          </p:cNvPr>
          <p:cNvSpPr>
            <a:spLocks xmlns:a="http://schemas.openxmlformats.org/drawingml/2006/main" noGrp="1"/>
          </p:cNvSpPr>
          <p:nvPr/>
        </p:nvSpPr>
        <p:spPr>
          <a:xfrm xmlns:a="http://schemas.openxmlformats.org/drawingml/2006/main">
            <a:off x="6400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8BCA158A-4DBD-4C76-9531-8DE0720157E4}"/>
              </a:ext>
            </a:extLst>
          </p:cNvPr>
          <p:cNvSpPr>
            <a:spLocks xmlns:a="http://schemas.openxmlformats.org/drawingml/2006/main" noGrp="1"/>
          </p:cNvSpPr>
          <p:nvPr/>
        </p:nvSpPr>
        <p:spPr>
          <a:xfrm xmlns:a="http://schemas.openxmlformats.org/drawingml/2006/main">
            <a:off x="7772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1. yorum</a:t>
            </a:r>
            <a:endParaRPr sz="2000"/>
          </a:p>
        </p:txBody>
      </p:sp>
      <p:sp>
        <p:nvSpPr>
          <p:cNvPr id="8" name="Shape 5">
            <a:extLst xmlns:a="http://schemas.openxmlformats.org/drawingml/2006/main">
              <a:ext uri="{FF2B5EF4-FFF2-40B4-BE49-F238E27FC236}">
                <a16:creationId xmlns:a16="http://schemas.microsoft.com/office/drawing/2014/main" id="{8F64AFA7-3017-4448-9D84-728F21F2A99A}"/>
              </a:ext>
            </a:extLst>
          </p:cNvPr>
          <p:cNvSpPr>
            <a:spLocks xmlns:a="http://schemas.openxmlformats.org/drawingml/2006/main" noGrp="1"/>
          </p:cNvSpPr>
          <p:nvPr/>
        </p:nvSpPr>
        <p:spPr>
          <a:xfrm xmlns:a="http://schemas.openxmlformats.org/drawingml/2006/main">
            <a:off x="7772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9" name="Text 6">
            <a:extLst xmlns:a="http://schemas.openxmlformats.org/drawingml/2006/main">
              <a:ext uri="{FF2B5EF4-FFF2-40B4-BE49-F238E27FC236}">
                <a16:creationId xmlns:a16="http://schemas.microsoft.com/office/drawing/2014/main" id="{C2A0C3C9-519D-4973-A50E-B0D8519C28D9}"/>
              </a:ext>
            </a:extLst>
          </p:cNvPr>
          <p:cNvSpPr>
            <a:spLocks xmlns:a="http://schemas.openxmlformats.org/drawingml/2006/main" noGrp="1"/>
          </p:cNvSpPr>
          <p:nvPr/>
        </p:nvSpPr>
        <p:spPr>
          <a:xfrm xmlns:a="http://schemas.openxmlformats.org/drawingml/2006/main">
            <a:off x="7772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DOĞRU</a:t>
            </a:r>
            <a:endParaRPr sz="2100"/>
          </a:p>
        </p:txBody>
      </p:sp>
      <p:sp>
        <p:nvSpPr>
          <p:cNvPr id="10" name="Text 7">
            <a:extLst xmlns:a="http://schemas.openxmlformats.org/drawingml/2006/main">
              <a:ext uri="{FF2B5EF4-FFF2-40B4-BE49-F238E27FC236}">
                <a16:creationId xmlns:a16="http://schemas.microsoft.com/office/drawing/2014/main" id="{442D565F-E695-4293-8391-93289B2EF900}"/>
              </a:ext>
            </a:extLst>
          </p:cNvPr>
          <p:cNvSpPr>
            <a:spLocks xmlns:a="http://schemas.openxmlformats.org/drawingml/2006/main" noGrp="1"/>
          </p:cNvSpPr>
          <p:nvPr/>
        </p:nvSpPr>
        <p:spPr>
          <a:xfrm xmlns:a="http://schemas.openxmlformats.org/drawingml/2006/main">
            <a:off x="7772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a:t>
            </a:r>
            <a:r>
              <a:rPr sz="950" i="1">
                <a:solidFill>
                  <a:srgbClr val="6B7280"/>
                </a:solidFill>
                <a:latin typeface="Calibri"/>
                <a:ea typeface="Calibri"/>
                <a:cs typeface="Calibri"/>
              </a:rPr>
              <a:t>baltayı taşa vurmak</a:t>
            </a:r>
            <a:r>
              <a:rPr sz="950" i="1">
                <a:solidFill>
                  <a:srgbClr val="6B7280"/>
                </a:solidFill>
                <a:latin typeface="Calibri"/>
                <a:ea typeface="Calibri"/>
                <a:cs typeface="Calibri"/>
              </a:rPr>
              <a:t>" = </a:t>
            </a:r>
            <a:r>
              <a:rPr sz="950" i="1">
                <a:solidFill>
                  <a:srgbClr val="6B7280"/>
                </a:solidFill>
                <a:latin typeface="Calibri"/>
                <a:ea typeface="Calibri"/>
                <a:cs typeface="Calibri"/>
              </a:rPr>
              <a:t>yersiz söz söylemek</a:t>
            </a:r>
            <a:endParaRPr sz="950"/>
          </a:p>
        </p:txBody>
      </p:sp>
      <p:sp>
        <p:nvSpPr>
          <p:cNvPr id="11" name="Shape 8">
            <a:extLst xmlns:a="http://schemas.openxmlformats.org/drawingml/2006/main">
              <a:ext uri="{FF2B5EF4-FFF2-40B4-BE49-F238E27FC236}">
                <a16:creationId xmlns:a16="http://schemas.microsoft.com/office/drawing/2014/main" id="{B69F59EF-4905-4AFE-8AB5-607D8B3055E2}"/>
              </a:ext>
            </a:extLst>
          </p:cNvPr>
          <p:cNvSpPr>
            <a:spLocks xmlns:a="http://schemas.openxmlformats.org/drawingml/2006/main" noGrp="1"/>
          </p:cNvSpPr>
          <p:nvPr/>
        </p:nvSpPr>
        <p:spPr>
          <a:xfrm xmlns:a="http://schemas.openxmlformats.org/drawingml/2006/main">
            <a:off x="33832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BB3BA2CB-6705-4884-AFF6-37F19CACB948}"/>
              </a:ext>
            </a:extLst>
          </p:cNvPr>
          <p:cNvSpPr>
            <a:spLocks xmlns:a="http://schemas.openxmlformats.org/drawingml/2006/main" noGrp="1"/>
          </p:cNvSpPr>
          <p:nvPr/>
        </p:nvSpPr>
        <p:spPr>
          <a:xfrm xmlns:a="http://schemas.openxmlformats.org/drawingml/2006/main">
            <a:off x="35204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2. yorum</a:t>
            </a:r>
            <a:endParaRPr sz="2000"/>
          </a:p>
        </p:txBody>
      </p:sp>
      <p:sp>
        <p:nvSpPr>
          <p:cNvPr id="13" name="Shape 10">
            <a:extLst xmlns:a="http://schemas.openxmlformats.org/drawingml/2006/main">
              <a:ext uri="{FF2B5EF4-FFF2-40B4-BE49-F238E27FC236}">
                <a16:creationId xmlns:a16="http://schemas.microsoft.com/office/drawing/2014/main" id="{EE9B75EC-2510-4772-B1E1-08316C7FC9E3}"/>
              </a:ext>
            </a:extLst>
          </p:cNvPr>
          <p:cNvSpPr>
            <a:spLocks xmlns:a="http://schemas.openxmlformats.org/drawingml/2006/main" noGrp="1"/>
          </p:cNvSpPr>
          <p:nvPr/>
        </p:nvSpPr>
        <p:spPr>
          <a:xfrm xmlns:a="http://schemas.openxmlformats.org/drawingml/2006/main">
            <a:off x="35204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E7D6C4C7-3358-427C-9AC9-12DD01335FBA}"/>
              </a:ext>
            </a:extLst>
          </p:cNvPr>
          <p:cNvSpPr>
            <a:spLocks xmlns:a="http://schemas.openxmlformats.org/drawingml/2006/main" noGrp="1"/>
          </p:cNvSpPr>
          <p:nvPr/>
        </p:nvSpPr>
        <p:spPr>
          <a:xfrm xmlns:a="http://schemas.openxmlformats.org/drawingml/2006/main">
            <a:off x="35204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DOĞRU</a:t>
            </a:r>
            <a:endParaRPr sz="2100"/>
          </a:p>
        </p:txBody>
      </p:sp>
      <p:sp>
        <p:nvSpPr>
          <p:cNvPr id="15" name="Text 12">
            <a:extLst xmlns:a="http://schemas.openxmlformats.org/drawingml/2006/main">
              <a:ext uri="{FF2B5EF4-FFF2-40B4-BE49-F238E27FC236}">
                <a16:creationId xmlns:a16="http://schemas.microsoft.com/office/drawing/2014/main" id="{5587F3D8-036F-4AF7-B2DE-C52B9D8187F9}"/>
              </a:ext>
            </a:extLst>
          </p:cNvPr>
          <p:cNvSpPr>
            <a:spLocks xmlns:a="http://schemas.openxmlformats.org/drawingml/2006/main" noGrp="1"/>
          </p:cNvSpPr>
          <p:nvPr/>
        </p:nvSpPr>
        <p:spPr>
          <a:xfrm xmlns:a="http://schemas.openxmlformats.org/drawingml/2006/main">
            <a:off x="35204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"dört gözle beklemek" = sabırsızca istemek</a:t>
            </a:r>
            <a:endParaRPr sz="950"/>
          </a:p>
        </p:txBody>
      </p:sp>
      <p:sp>
        <p:nvSpPr>
          <p:cNvPr id="16" name="Shape 13">
            <a:extLst xmlns:a="http://schemas.openxmlformats.org/drawingml/2006/main">
              <a:ext uri="{FF2B5EF4-FFF2-40B4-BE49-F238E27FC236}">
                <a16:creationId xmlns:a16="http://schemas.microsoft.com/office/drawing/2014/main" id="{6D921625-5D18-4A2E-BE8D-22C833EBEAE1}"/>
              </a:ext>
            </a:extLst>
          </p:cNvPr>
          <p:cNvSpPr>
            <a:spLocks xmlns:a="http://schemas.openxmlformats.org/drawingml/2006/main" noGrp="1"/>
          </p:cNvSpPr>
          <p:nvPr/>
        </p:nvSpPr>
        <p:spPr>
          <a:xfrm xmlns:a="http://schemas.openxmlformats.org/drawingml/2006/main">
            <a:off x="61264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17" name="Text 14">
            <a:extLst xmlns:a="http://schemas.openxmlformats.org/drawingml/2006/main">
              <a:ext uri="{FF2B5EF4-FFF2-40B4-BE49-F238E27FC236}">
                <a16:creationId xmlns:a16="http://schemas.microsoft.com/office/drawing/2014/main" id="{EC2E360B-4399-4A06-8B21-FEE02540B3EB}"/>
              </a:ext>
            </a:extLst>
          </p:cNvPr>
          <p:cNvSpPr>
            <a:spLocks xmlns:a="http://schemas.openxmlformats.org/drawingml/2006/main" noGrp="1"/>
          </p:cNvSpPr>
          <p:nvPr/>
        </p:nvSpPr>
        <p:spPr>
          <a:xfrm xmlns:a="http://schemas.openxmlformats.org/drawingml/2006/main">
            <a:off x="62636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3. yorum</a:t>
            </a:r>
            <a:endParaRPr sz="2000"/>
          </a:p>
        </p:txBody>
      </p:sp>
      <p:sp>
        <p:nvSpPr>
          <p:cNvPr id="18" name="Shape 15">
            <a:extLst xmlns:a="http://schemas.openxmlformats.org/drawingml/2006/main">
              <a:ext uri="{FF2B5EF4-FFF2-40B4-BE49-F238E27FC236}">
                <a16:creationId xmlns:a16="http://schemas.microsoft.com/office/drawing/2014/main" id="{1B2814C4-8D81-4B8E-B7E8-1E715CC64BD3}"/>
              </a:ext>
            </a:extLst>
          </p:cNvPr>
          <p:cNvSpPr>
            <a:spLocks xmlns:a="http://schemas.openxmlformats.org/drawingml/2006/main" noGrp="1"/>
          </p:cNvSpPr>
          <p:nvPr/>
        </p:nvSpPr>
        <p:spPr>
          <a:xfrm xmlns:a="http://schemas.openxmlformats.org/drawingml/2006/main">
            <a:off x="6263640" y="2377440"/>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9" name="Text 16">
            <a:extLst xmlns:a="http://schemas.openxmlformats.org/drawingml/2006/main">
              <a:ext uri="{FF2B5EF4-FFF2-40B4-BE49-F238E27FC236}">
                <a16:creationId xmlns:a16="http://schemas.microsoft.com/office/drawing/2014/main" id="{4DAEDE93-7EFE-4E7F-9D2E-6F6B1CC226BE}"/>
              </a:ext>
            </a:extLst>
          </p:cNvPr>
          <p:cNvSpPr>
            <a:spLocks xmlns:a="http://schemas.openxmlformats.org/drawingml/2006/main" noGrp="1"/>
          </p:cNvSpPr>
          <p:nvPr/>
        </p:nvSpPr>
        <p:spPr>
          <a:xfrm xmlns:a="http://schemas.openxmlformats.org/drawingml/2006/main">
            <a:off x="62636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DOĞRU</a:t>
            </a:r>
            <a:endParaRPr sz="2100"/>
          </a:p>
        </p:txBody>
      </p:sp>
      <p:sp>
        <p:nvSpPr>
          <p:cNvPr id="20" name="Text 17">
            <a:extLst xmlns:a="http://schemas.openxmlformats.org/drawingml/2006/main">
              <a:ext uri="{FF2B5EF4-FFF2-40B4-BE49-F238E27FC236}">
                <a16:creationId xmlns:a16="http://schemas.microsoft.com/office/drawing/2014/main" id="{8733498C-5720-47F8-B8E5-3E598281FCF1}"/>
              </a:ext>
            </a:extLst>
          </p:cNvPr>
          <p:cNvSpPr>
            <a:spLocks xmlns:a="http://schemas.openxmlformats.org/drawingml/2006/main" noGrp="1"/>
          </p:cNvSpPr>
          <p:nvPr/>
        </p:nvSpPr>
        <p:spPr>
          <a:xfrm xmlns:a="http://schemas.openxmlformats.org/drawingml/2006/main">
            <a:off x="62636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"bulanık suda balık avlamak" = karmaşadan yararlanmak</a:t>
            </a:r>
            <a:endParaRPr sz="950"/>
          </a:p>
        </p:txBody>
      </p:sp>
      <p:sp>
        <p:nvSpPr>
          <p:cNvPr id="21" name="Shape 18">
            <a:extLst xmlns:a="http://schemas.openxmlformats.org/drawingml/2006/main">
              <a:ext uri="{FF2B5EF4-FFF2-40B4-BE49-F238E27FC236}">
                <a16:creationId xmlns:a16="http://schemas.microsoft.com/office/drawing/2014/main" id="{EB47FDE6-8AD8-467D-B9E1-0162E34C9BE0}"/>
              </a:ext>
            </a:extLst>
          </p:cNvPr>
          <p:cNvSpPr>
            <a:spLocks xmlns:a="http://schemas.openxmlformats.org/drawingml/2006/main" noGrp="1"/>
          </p:cNvSpPr>
          <p:nvPr/>
        </p:nvSpPr>
        <p:spPr>
          <a:xfrm xmlns:a="http://schemas.openxmlformats.org/drawingml/2006/main">
            <a:off x="8869680" y="1828800"/>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22" name="Text 19">
            <a:extLst xmlns:a="http://schemas.openxmlformats.org/drawingml/2006/main">
              <a:ext uri="{FF2B5EF4-FFF2-40B4-BE49-F238E27FC236}">
                <a16:creationId xmlns:a16="http://schemas.microsoft.com/office/drawing/2014/main" id="{ED923382-9F31-4C7F-B457-C4EE6FF96317}"/>
              </a:ext>
            </a:extLst>
          </p:cNvPr>
          <p:cNvSpPr>
            <a:spLocks xmlns:a="http://schemas.openxmlformats.org/drawingml/2006/main" noGrp="1"/>
          </p:cNvSpPr>
          <p:nvPr/>
        </p:nvSpPr>
        <p:spPr>
          <a:xfrm xmlns:a="http://schemas.openxmlformats.org/drawingml/2006/main">
            <a:off x="9006840" y="196596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4. yorum</a:t>
            </a:r>
            <a:endParaRPr sz="2000"/>
          </a:p>
        </p:txBody>
      </p:sp>
      <p:sp>
        <p:nvSpPr>
          <p:cNvPr id="23" name="Shape 20">
            <a:extLst xmlns:a="http://schemas.openxmlformats.org/drawingml/2006/main">
              <a:ext uri="{FF2B5EF4-FFF2-40B4-BE49-F238E27FC236}">
                <a16:creationId xmlns:a16="http://schemas.microsoft.com/office/drawing/2014/main" id="{CD89179F-F64D-4940-AFC3-A1562F9491C8}"/>
              </a:ext>
            </a:extLst>
          </p:cNvPr>
          <p:cNvSpPr>
            <a:spLocks xmlns:a="http://schemas.openxmlformats.org/drawingml/2006/main" noGrp="1"/>
          </p:cNvSpPr>
          <p:nvPr/>
        </p:nvSpPr>
        <p:spPr>
          <a:xfrm xmlns:a="http://schemas.openxmlformats.org/drawingml/2006/main">
            <a:off x="9006840" y="2377440"/>
            <a:ext cx="2286000" cy="685800"/>
          </a:xfrm>
          <a:prstGeom xmlns:a="http://schemas.openxmlformats.org/drawingml/2006/main" prst="roundRect">
            <a:avLst>
              <a:gd name="adj" fmla="val 10667"/>
            </a:avLst>
          </a:prstGeom>
          <a:solidFill xmlns:a="http://schemas.openxmlformats.org/drawingml/2006/main">
            <a:srgbClr val="8E2318"/>
          </a:solidFill>
          <a:effectLst xmlns:a="http://schemas.openxmlformats.org/drawingml/2006/main">
            <a:outerShdw blurRad="76200" dist="25400" dir="5400000" sx="100000" sy="100000" kx="0" ky="0" algn="bl" rotWithShape="0">
              <a:srgbClr val="1E2761">
                <a:alpha val="18000"/>
              </a:srgbClr>
            </a:outerShdw>
          </a:effectLst>
        </p:spPr>
      </p:sp>
      <p:sp>
        <p:nvSpPr>
          <p:cNvPr id="24" name="Text 21">
            <a:extLst xmlns:a="http://schemas.openxmlformats.org/drawingml/2006/main">
              <a:ext uri="{FF2B5EF4-FFF2-40B4-BE49-F238E27FC236}">
                <a16:creationId xmlns:a16="http://schemas.microsoft.com/office/drawing/2014/main" id="{EB0FCDAF-DACA-49C5-A619-9B143730F61B}"/>
              </a:ext>
            </a:extLst>
          </p:cNvPr>
          <p:cNvSpPr>
            <a:spLocks xmlns:a="http://schemas.openxmlformats.org/drawingml/2006/main" noGrp="1"/>
          </p:cNvSpPr>
          <p:nvPr/>
        </p:nvSpPr>
        <p:spPr>
          <a:xfrm xmlns:a="http://schemas.openxmlformats.org/drawingml/2006/main">
            <a:off x="9006840" y="2377440"/>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YANLIŞ</a:t>
            </a:r>
            <a:endParaRPr sz="2100"/>
          </a:p>
        </p:txBody>
      </p:sp>
      <p:sp>
        <p:nvSpPr>
          <p:cNvPr id="25" name="Text 22">
            <a:extLst xmlns:a="http://schemas.openxmlformats.org/drawingml/2006/main">
              <a:ext uri="{FF2B5EF4-FFF2-40B4-BE49-F238E27FC236}">
                <a16:creationId xmlns:a16="http://schemas.microsoft.com/office/drawing/2014/main" id="{5A47D450-D5C4-41B9-BA87-8FC2B22A6208}"/>
              </a:ext>
            </a:extLst>
          </p:cNvPr>
          <p:cNvSpPr>
            <a:spLocks xmlns:a="http://schemas.openxmlformats.org/drawingml/2006/main" noGrp="1"/>
          </p:cNvSpPr>
          <p:nvPr/>
        </p:nvSpPr>
        <p:spPr>
          <a:xfrm xmlns:a="http://schemas.openxmlformats.org/drawingml/2006/main">
            <a:off x="9006840" y="315468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"ateşle oynamak" = tehlikeli bir işe girişmek</a:t>
            </a:r>
            <a:endParaRPr sz="950"/>
          </a:p>
        </p:txBody>
      </p:sp>
      <p:sp>
        <p:nvSpPr>
          <p:cNvPr id="26" name="Shape 23">
            <a:extLst xmlns:a="http://schemas.openxmlformats.org/drawingml/2006/main">
              <a:ext uri="{FF2B5EF4-FFF2-40B4-BE49-F238E27FC236}">
                <a16:creationId xmlns:a16="http://schemas.microsoft.com/office/drawing/2014/main" id="{86E3E03E-324B-4AA3-A170-78DA7E992140}"/>
              </a:ext>
            </a:extLst>
          </p:cNvPr>
          <p:cNvSpPr>
            <a:spLocks xmlns:a="http://schemas.openxmlformats.org/drawingml/2006/main" noGrp="1"/>
          </p:cNvSpPr>
          <p:nvPr/>
        </p:nvSpPr>
        <p:spPr>
          <a:xfrm xmlns:a="http://schemas.openxmlformats.org/drawingml/2006/main">
            <a:off x="6400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27" name="Text 24">
            <a:extLst xmlns:a="http://schemas.openxmlformats.org/drawingml/2006/main">
              <a:ext uri="{FF2B5EF4-FFF2-40B4-BE49-F238E27FC236}">
                <a16:creationId xmlns:a16="http://schemas.microsoft.com/office/drawing/2014/main" id="{61FF79AE-8984-4EF1-95FD-2B136E1AABD2}"/>
              </a:ext>
            </a:extLst>
          </p:cNvPr>
          <p:cNvSpPr>
            <a:spLocks xmlns:a="http://schemas.openxmlformats.org/drawingml/2006/main" noGrp="1"/>
          </p:cNvSpPr>
          <p:nvPr/>
        </p:nvSpPr>
        <p:spPr>
          <a:xfrm xmlns:a="http://schemas.openxmlformats.org/drawingml/2006/main">
            <a:off x="7772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5. deyim</a:t>
            </a:r>
            <a:endParaRPr sz="2000"/>
          </a:p>
        </p:txBody>
      </p:sp>
      <p:sp>
        <p:nvSpPr>
          <p:cNvPr id="28" name="Shape 25">
            <a:extLst xmlns:a="http://schemas.openxmlformats.org/drawingml/2006/main">
              <a:ext uri="{FF2B5EF4-FFF2-40B4-BE49-F238E27FC236}">
                <a16:creationId xmlns:a16="http://schemas.microsoft.com/office/drawing/2014/main" id="{D13F3BF0-DBBA-4D76-BE72-F9BDAC2CF057}"/>
              </a:ext>
            </a:extLst>
          </p:cNvPr>
          <p:cNvSpPr>
            <a:spLocks xmlns:a="http://schemas.openxmlformats.org/drawingml/2006/main" noGrp="1"/>
          </p:cNvSpPr>
          <p:nvPr/>
        </p:nvSpPr>
        <p:spPr>
          <a:xfrm xmlns:a="http://schemas.openxmlformats.org/drawingml/2006/main">
            <a:off x="7772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29" name="Text 26">
            <a:extLst xmlns:a="http://schemas.openxmlformats.org/drawingml/2006/main">
              <a:ext uri="{FF2B5EF4-FFF2-40B4-BE49-F238E27FC236}">
                <a16:creationId xmlns:a16="http://schemas.microsoft.com/office/drawing/2014/main" id="{99E705AC-9097-4A41-899F-ACF6B4C26A53}"/>
              </a:ext>
            </a:extLst>
          </p:cNvPr>
          <p:cNvSpPr>
            <a:spLocks xmlns:a="http://schemas.openxmlformats.org/drawingml/2006/main" noGrp="1"/>
          </p:cNvSpPr>
          <p:nvPr/>
        </p:nvSpPr>
        <p:spPr>
          <a:xfrm xmlns:a="http://schemas.openxmlformats.org/drawingml/2006/main">
            <a:off x="7772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DOĞRU</a:t>
            </a:r>
            <a:endParaRPr sz="2100"/>
          </a:p>
        </p:txBody>
      </p:sp>
      <p:sp>
        <p:nvSpPr>
          <p:cNvPr id="30" name="Text 27">
            <a:extLst xmlns:a="http://schemas.openxmlformats.org/drawingml/2006/main">
              <a:ext uri="{FF2B5EF4-FFF2-40B4-BE49-F238E27FC236}">
                <a16:creationId xmlns:a16="http://schemas.microsoft.com/office/drawing/2014/main" id="{ACBE4EE8-207F-49C7-83E2-DC5E0A7654BC}"/>
              </a:ext>
            </a:extLst>
          </p:cNvPr>
          <p:cNvSpPr>
            <a:spLocks xmlns:a="http://schemas.openxmlformats.org/drawingml/2006/main" noGrp="1"/>
          </p:cNvSpPr>
          <p:nvPr/>
        </p:nvSpPr>
        <p:spPr>
          <a:xfrm xmlns:a="http://schemas.openxmlformats.org/drawingml/2006/main">
            <a:off x="7772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"kulağı delik" gerçekten her şeyden haberdar demek</a:t>
            </a:r>
            <a:endParaRPr sz="950"/>
          </a:p>
        </p:txBody>
      </p:sp>
      <p:sp>
        <p:nvSpPr>
          <p:cNvPr id="31" name="Shape 28">
            <a:extLst xmlns:a="http://schemas.openxmlformats.org/drawingml/2006/main">
              <a:ext uri="{FF2B5EF4-FFF2-40B4-BE49-F238E27FC236}">
                <a16:creationId xmlns:a16="http://schemas.microsoft.com/office/drawing/2014/main" id="{8681DBC8-75F0-4F16-BCCE-79A6A740130F}"/>
              </a:ext>
            </a:extLst>
          </p:cNvPr>
          <p:cNvSpPr>
            <a:spLocks xmlns:a="http://schemas.openxmlformats.org/drawingml/2006/main" noGrp="1"/>
          </p:cNvSpPr>
          <p:nvPr/>
        </p:nvSpPr>
        <p:spPr>
          <a:xfrm xmlns:a="http://schemas.openxmlformats.org/drawingml/2006/main">
            <a:off x="33832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32" name="Text 29">
            <a:extLst xmlns:a="http://schemas.openxmlformats.org/drawingml/2006/main">
              <a:ext uri="{FF2B5EF4-FFF2-40B4-BE49-F238E27FC236}">
                <a16:creationId xmlns:a16="http://schemas.microsoft.com/office/drawing/2014/main" id="{3F168472-F59D-4373-B82A-BFF19AAEA597}"/>
              </a:ext>
            </a:extLst>
          </p:cNvPr>
          <p:cNvSpPr>
            <a:spLocks xmlns:a="http://schemas.openxmlformats.org/drawingml/2006/main" noGrp="1"/>
          </p:cNvSpPr>
          <p:nvPr/>
        </p:nvSpPr>
        <p:spPr>
          <a:xfrm xmlns:a="http://schemas.openxmlformats.org/drawingml/2006/main">
            <a:off x="35204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6. deyim</a:t>
            </a:r>
            <a:endParaRPr sz="2000"/>
          </a:p>
        </p:txBody>
      </p:sp>
      <p:sp>
        <p:nvSpPr>
          <p:cNvPr id="33" name="Shape 30">
            <a:extLst xmlns:a="http://schemas.openxmlformats.org/drawingml/2006/main">
              <a:ext uri="{FF2B5EF4-FFF2-40B4-BE49-F238E27FC236}">
                <a16:creationId xmlns:a16="http://schemas.microsoft.com/office/drawing/2014/main" id="{C7013428-F25D-4A4E-BF47-E6F12294BFEE}"/>
              </a:ext>
            </a:extLst>
          </p:cNvPr>
          <p:cNvSpPr>
            <a:spLocks xmlns:a="http://schemas.openxmlformats.org/drawingml/2006/main" noGrp="1"/>
          </p:cNvSpPr>
          <p:nvPr/>
        </p:nvSpPr>
        <p:spPr>
          <a:xfrm xmlns:a="http://schemas.openxmlformats.org/drawingml/2006/main">
            <a:off x="3520440" y="4786884"/>
            <a:ext cx="2286000" cy="685800"/>
          </a:xfrm>
          <a:prstGeom xmlns:a="http://schemas.openxmlformats.org/drawingml/2006/main" prst="roundRect">
            <a:avLst>
              <a:gd name="adj" fmla="val 10667"/>
            </a:avLst>
          </a:prstGeom>
          <a:solidFill xmlns:a="http://schemas.openxmlformats.org/drawingml/2006/main">
            <a:srgbClr val="8E2318"/>
          </a:solidFill>
          <a:effectLst xmlns:a="http://schemas.openxmlformats.org/drawingml/2006/main">
            <a:outerShdw blurRad="76200" dist="25400" dir="5400000" sx="100000" sy="100000" kx="0" ky="0" algn="bl" rotWithShape="0">
              <a:srgbClr val="1E2761">
                <a:alpha val="18000"/>
              </a:srgbClr>
            </a:outerShdw>
          </a:effectLst>
        </p:spPr>
      </p:sp>
      <p:sp>
        <p:nvSpPr>
          <p:cNvPr id="34" name="Text 31">
            <a:extLst xmlns:a="http://schemas.openxmlformats.org/drawingml/2006/main">
              <a:ext uri="{FF2B5EF4-FFF2-40B4-BE49-F238E27FC236}">
                <a16:creationId xmlns:a16="http://schemas.microsoft.com/office/drawing/2014/main" id="{6D7E7813-AE29-46B0-92DF-1985FBC43C29}"/>
              </a:ext>
            </a:extLst>
          </p:cNvPr>
          <p:cNvSpPr>
            <a:spLocks xmlns:a="http://schemas.openxmlformats.org/drawingml/2006/main" noGrp="1"/>
          </p:cNvSpPr>
          <p:nvPr/>
        </p:nvSpPr>
        <p:spPr>
          <a:xfrm xmlns:a="http://schemas.openxmlformats.org/drawingml/2006/main">
            <a:off x="35204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YANLIŞ</a:t>
            </a:r>
            <a:endParaRPr sz="2100"/>
          </a:p>
        </p:txBody>
      </p:sp>
      <p:sp>
        <p:nvSpPr>
          <p:cNvPr id="35" name="Text 32">
            <a:extLst xmlns:a="http://schemas.openxmlformats.org/drawingml/2006/main">
              <a:ext uri="{FF2B5EF4-FFF2-40B4-BE49-F238E27FC236}">
                <a16:creationId xmlns:a16="http://schemas.microsoft.com/office/drawing/2014/main" id="{3AC3EDFB-60B8-42D9-B914-8095AF03E327}"/>
              </a:ext>
            </a:extLst>
          </p:cNvPr>
          <p:cNvSpPr>
            <a:spLocks xmlns:a="http://schemas.openxmlformats.org/drawingml/2006/main" noGrp="1"/>
          </p:cNvSpPr>
          <p:nvPr/>
        </p:nvSpPr>
        <p:spPr>
          <a:xfrm xmlns:a="http://schemas.openxmlformats.org/drawingml/2006/main">
            <a:off x="35204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"ağzı kulaklarına varmak" = çok SEVİNMEK, üzülmek değil</a:t>
            </a:r>
            <a:endParaRPr sz="950"/>
          </a:p>
        </p:txBody>
      </p:sp>
      <p:sp>
        <p:nvSpPr>
          <p:cNvPr id="36" name="Shape 33">
            <a:extLst xmlns:a="http://schemas.openxmlformats.org/drawingml/2006/main">
              <a:ext uri="{FF2B5EF4-FFF2-40B4-BE49-F238E27FC236}">
                <a16:creationId xmlns:a16="http://schemas.microsoft.com/office/drawing/2014/main" id="{F4A701D0-FAE0-4EBC-8280-166126E56F3F}"/>
              </a:ext>
            </a:extLst>
          </p:cNvPr>
          <p:cNvSpPr>
            <a:spLocks xmlns:a="http://schemas.openxmlformats.org/drawingml/2006/main" noGrp="1"/>
          </p:cNvSpPr>
          <p:nvPr/>
        </p:nvSpPr>
        <p:spPr>
          <a:xfrm xmlns:a="http://schemas.openxmlformats.org/drawingml/2006/main">
            <a:off x="61264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37" name="Text 34">
            <a:extLst xmlns:a="http://schemas.openxmlformats.org/drawingml/2006/main">
              <a:ext uri="{FF2B5EF4-FFF2-40B4-BE49-F238E27FC236}">
                <a16:creationId xmlns:a16="http://schemas.microsoft.com/office/drawing/2014/main" id="{CA00041A-D689-48F4-85FB-A9F547A9E6A2}"/>
              </a:ext>
            </a:extLst>
          </p:cNvPr>
          <p:cNvSpPr>
            <a:spLocks xmlns:a="http://schemas.openxmlformats.org/drawingml/2006/main" noGrp="1"/>
          </p:cNvSpPr>
          <p:nvPr/>
        </p:nvSpPr>
        <p:spPr>
          <a:xfrm xmlns:a="http://schemas.openxmlformats.org/drawingml/2006/main">
            <a:off x="62636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7. deyim</a:t>
            </a:r>
            <a:endParaRPr sz="2000"/>
          </a:p>
        </p:txBody>
      </p:sp>
      <p:sp>
        <p:nvSpPr>
          <p:cNvPr id="38" name="Shape 35">
            <a:extLst xmlns:a="http://schemas.openxmlformats.org/drawingml/2006/main">
              <a:ext uri="{FF2B5EF4-FFF2-40B4-BE49-F238E27FC236}">
                <a16:creationId xmlns:a16="http://schemas.microsoft.com/office/drawing/2014/main" id="{4E962AE2-CE1D-4779-8B40-12E6DDCE8C15}"/>
              </a:ext>
            </a:extLst>
          </p:cNvPr>
          <p:cNvSpPr>
            <a:spLocks xmlns:a="http://schemas.openxmlformats.org/drawingml/2006/main" noGrp="1"/>
          </p:cNvSpPr>
          <p:nvPr/>
        </p:nvSpPr>
        <p:spPr>
          <a:xfrm xmlns:a="http://schemas.openxmlformats.org/drawingml/2006/main">
            <a:off x="6263640" y="4786884"/>
            <a:ext cx="2286000" cy="685800"/>
          </a:xfrm>
          <a:prstGeom xmlns:a="http://schemas.openxmlformats.org/drawingml/2006/main" prst="roundRect">
            <a:avLst>
              <a:gd name="adj" fmla="val 10667"/>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39" name="Text 36">
            <a:extLst xmlns:a="http://schemas.openxmlformats.org/drawingml/2006/main">
              <a:ext uri="{FF2B5EF4-FFF2-40B4-BE49-F238E27FC236}">
                <a16:creationId xmlns:a16="http://schemas.microsoft.com/office/drawing/2014/main" id="{453D7EA4-84C6-4C4D-AF3F-74E7BC602B9F}"/>
              </a:ext>
            </a:extLst>
          </p:cNvPr>
          <p:cNvSpPr>
            <a:spLocks xmlns:a="http://schemas.openxmlformats.org/drawingml/2006/main" noGrp="1"/>
          </p:cNvSpPr>
          <p:nvPr/>
        </p:nvSpPr>
        <p:spPr>
          <a:xfrm xmlns:a="http://schemas.openxmlformats.org/drawingml/2006/main">
            <a:off x="62636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DOĞRU</a:t>
            </a:r>
            <a:endParaRPr sz="2100"/>
          </a:p>
        </p:txBody>
      </p:sp>
      <p:sp>
        <p:nvSpPr>
          <p:cNvPr id="40" name="Text 37">
            <a:extLst xmlns:a="http://schemas.openxmlformats.org/drawingml/2006/main">
              <a:ext uri="{FF2B5EF4-FFF2-40B4-BE49-F238E27FC236}">
                <a16:creationId xmlns:a16="http://schemas.microsoft.com/office/drawing/2014/main" id="{2905C6E0-25B9-4E77-94E0-1A17893D97BA}"/>
              </a:ext>
            </a:extLst>
          </p:cNvPr>
          <p:cNvSpPr>
            <a:spLocks xmlns:a="http://schemas.openxmlformats.org/drawingml/2006/main" noGrp="1"/>
          </p:cNvSpPr>
          <p:nvPr/>
        </p:nvSpPr>
        <p:spPr>
          <a:xfrm xmlns:a="http://schemas.openxmlformats.org/drawingml/2006/main">
            <a:off x="62636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"eli ayağı dolaşmak" gerçekten şaşkınlık demek</a:t>
            </a:r>
            <a:endParaRPr sz="950"/>
          </a:p>
        </p:txBody>
      </p:sp>
      <p:sp>
        <p:nvSpPr>
          <p:cNvPr id="41" name="Shape 38">
            <a:extLst xmlns:a="http://schemas.openxmlformats.org/drawingml/2006/main">
              <a:ext uri="{FF2B5EF4-FFF2-40B4-BE49-F238E27FC236}">
                <a16:creationId xmlns:a16="http://schemas.microsoft.com/office/drawing/2014/main" id="{590A4170-DE66-4C48-9DF3-61A9B202BE1B}"/>
              </a:ext>
            </a:extLst>
          </p:cNvPr>
          <p:cNvSpPr>
            <a:spLocks xmlns:a="http://schemas.openxmlformats.org/drawingml/2006/main" noGrp="1"/>
          </p:cNvSpPr>
          <p:nvPr/>
        </p:nvSpPr>
        <p:spPr>
          <a:xfrm xmlns:a="http://schemas.openxmlformats.org/drawingml/2006/main">
            <a:off x="8869680" y="4238244"/>
            <a:ext cx="2560320" cy="2180844"/>
          </a:xfrm>
          <a:prstGeom xmlns:a="http://schemas.openxmlformats.org/drawingml/2006/main" prst="roundRect">
            <a:avLst>
              <a:gd name="adj" fmla="val 4762"/>
            </a:avLst>
          </a:prstGeom>
          <a:solidFill xmlns:a="http://schemas.openxmlformats.org/drawingml/2006/main">
            <a:srgbClr val="EEF3F8"/>
          </a:solidFill>
        </p:spPr>
      </p:sp>
      <p:sp>
        <p:nvSpPr>
          <p:cNvPr id="42" name="Text 39">
            <a:extLst xmlns:a="http://schemas.openxmlformats.org/drawingml/2006/main">
              <a:ext uri="{FF2B5EF4-FFF2-40B4-BE49-F238E27FC236}">
                <a16:creationId xmlns:a16="http://schemas.microsoft.com/office/drawing/2014/main" id="{C0FD7DDA-4068-4923-8B10-8436FC94F830}"/>
              </a:ext>
            </a:extLst>
          </p:cNvPr>
          <p:cNvSpPr>
            <a:spLocks xmlns:a="http://schemas.openxmlformats.org/drawingml/2006/main" noGrp="1"/>
          </p:cNvSpPr>
          <p:nvPr/>
        </p:nvSpPr>
        <p:spPr>
          <a:xfrm xmlns:a="http://schemas.openxmlformats.org/drawingml/2006/main">
            <a:off x="9006840" y="4375404"/>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i="1">
                <a:solidFill>
                  <a:srgbClr val="6B7280"/>
                </a:solidFill>
                <a:latin typeface="Calibri"/>
                <a:ea typeface="Calibri"/>
                <a:cs typeface="Calibri"/>
              </a:rPr>
              <a:t>8. deyim</a:t>
            </a:r>
            <a:endParaRPr sz="2000"/>
          </a:p>
        </p:txBody>
      </p:sp>
      <p:sp>
        <p:nvSpPr>
          <p:cNvPr id="43" name="Shape 40">
            <a:extLst xmlns:a="http://schemas.openxmlformats.org/drawingml/2006/main">
              <a:ext uri="{FF2B5EF4-FFF2-40B4-BE49-F238E27FC236}">
                <a16:creationId xmlns:a16="http://schemas.microsoft.com/office/drawing/2014/main" id="{A4652C51-B7B2-42B2-AA54-73706CB8CA1B}"/>
              </a:ext>
            </a:extLst>
          </p:cNvPr>
          <p:cNvSpPr>
            <a:spLocks xmlns:a="http://schemas.openxmlformats.org/drawingml/2006/main" noGrp="1"/>
          </p:cNvSpPr>
          <p:nvPr/>
        </p:nvSpPr>
        <p:spPr>
          <a:xfrm xmlns:a="http://schemas.openxmlformats.org/drawingml/2006/main">
            <a:off x="9006840" y="4786884"/>
            <a:ext cx="2286000" cy="685800"/>
          </a:xfrm>
          <a:prstGeom xmlns:a="http://schemas.openxmlformats.org/drawingml/2006/main" prst="roundRect">
            <a:avLst>
              <a:gd name="adj" fmla="val 10667"/>
            </a:avLst>
          </a:prstGeom>
          <a:solidFill xmlns:a="http://schemas.openxmlformats.org/drawingml/2006/main">
            <a:srgbClr val="8E2318"/>
          </a:solidFill>
          <a:effectLst xmlns:a="http://schemas.openxmlformats.org/drawingml/2006/main">
            <a:outerShdw blurRad="76200" dist="25400" dir="5400000" sx="100000" sy="100000" kx="0" ky="0" algn="bl" rotWithShape="0">
              <a:srgbClr val="1E2761">
                <a:alpha val="18000"/>
              </a:srgbClr>
            </a:outerShdw>
          </a:effectLst>
        </p:spPr>
      </p:sp>
      <p:sp>
        <p:nvSpPr>
          <p:cNvPr id="44" name="Text 41">
            <a:extLst xmlns:a="http://schemas.openxmlformats.org/drawingml/2006/main">
              <a:ext uri="{FF2B5EF4-FFF2-40B4-BE49-F238E27FC236}">
                <a16:creationId xmlns:a16="http://schemas.microsoft.com/office/drawing/2014/main" id="{867FEBF8-C7BB-449B-8779-7FD68C3995CF}"/>
              </a:ext>
            </a:extLst>
          </p:cNvPr>
          <p:cNvSpPr>
            <a:spLocks xmlns:a="http://schemas.openxmlformats.org/drawingml/2006/main" noGrp="1"/>
          </p:cNvSpPr>
          <p:nvPr/>
        </p:nvSpPr>
        <p:spPr>
          <a:xfrm xmlns:a="http://schemas.openxmlformats.org/drawingml/2006/main">
            <a:off x="9006840" y="4786884"/>
            <a:ext cx="22860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FFFFF"/>
                </a:solidFill>
                <a:latin typeface="Calibri"/>
                <a:ea typeface="Calibri"/>
                <a:cs typeface="Calibri"/>
              </a:rPr>
              <a:t>YANLIŞ</a:t>
            </a:r>
            <a:endParaRPr sz="2100"/>
          </a:p>
        </p:txBody>
      </p:sp>
      <p:sp>
        <p:nvSpPr>
          <p:cNvPr id="45" name="Text 42">
            <a:extLst xmlns:a="http://schemas.openxmlformats.org/drawingml/2006/main">
              <a:ext uri="{FF2B5EF4-FFF2-40B4-BE49-F238E27FC236}">
                <a16:creationId xmlns:a16="http://schemas.microsoft.com/office/drawing/2014/main" id="{FB3D7017-3570-4F38-811B-1F078028EAEB}"/>
              </a:ext>
            </a:extLst>
          </p:cNvPr>
          <p:cNvSpPr>
            <a:spLocks xmlns:a="http://schemas.openxmlformats.org/drawingml/2006/main" noGrp="1"/>
          </p:cNvSpPr>
          <p:nvPr/>
        </p:nvSpPr>
        <p:spPr>
          <a:xfrm xmlns:a="http://schemas.openxmlformats.org/drawingml/2006/main">
            <a:off x="9006840" y="5564124"/>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i="1">
                <a:solidFill>
                  <a:srgbClr val="6B7280"/>
                </a:solidFill>
                <a:latin typeface="Calibri"/>
                <a:ea typeface="Calibri"/>
                <a:cs typeface="Calibri"/>
              </a:rPr>
              <a:t>"burnu büyümek" = KİBİRLENMEK, alçakgönüllülük değil</a:t>
            </a:r>
            <a:endParaRPr sz="950"/>
          </a:p>
        </p:txBody>
      </p:sp>
      <p:sp>
        <p:nvSpPr>
          <p:cNvPr id="46" name="Text 43">
            <a:extLst xmlns:a="http://schemas.openxmlformats.org/drawingml/2006/main">
              <a:ext uri="{FF2B5EF4-FFF2-40B4-BE49-F238E27FC236}">
                <a16:creationId xmlns:a16="http://schemas.microsoft.com/office/drawing/2014/main" id="{48515344-1AB3-4162-BE6B-A8819DD1CCAB}"/>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Etkinlik Cevapları</a:t>
            </a:r>
            <a:endParaRPr sz="900"/>
          </a:p>
        </p:txBody>
      </p:sp>
      <p:sp>
        <p:nvSpPr>
          <p:cNvPr id="47" name="Text 44">
            <a:extLst xmlns:a="http://schemas.openxmlformats.org/drawingml/2006/main">
              <a:ext uri="{FF2B5EF4-FFF2-40B4-BE49-F238E27FC236}">
                <a16:creationId xmlns:a16="http://schemas.microsoft.com/office/drawing/2014/main" id="{5E9B035E-5C67-4440-B22A-4A9412975B83}"/>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7485547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9B05917-B6BC-452F-BC5A-1194346A4E4E}"/>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91cf9b13a2104bf5"/>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36D38BE-46AA-40FA-9284-7F78FAAD8492}"/>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HIZLI HATIRLATMA</a:t>
            </a:r>
            <a:endParaRPr sz="1300"/>
          </a:p>
        </p:txBody>
      </p:sp>
      <p:sp>
        <p:nvSpPr>
          <p:cNvPr id="5" name="Text 2">
            <a:extLst xmlns:a="http://schemas.openxmlformats.org/drawingml/2006/main">
              <a:ext uri="{FF2B5EF4-FFF2-40B4-BE49-F238E27FC236}">
                <a16:creationId xmlns:a16="http://schemas.microsoft.com/office/drawing/2014/main" id="{C42E8826-85DE-4D45-AC0D-FA152B8A62B7}"/>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Kaldığımız Yer</a:t>
            </a:r>
            <a:endParaRPr sz="2800"/>
          </a:p>
        </p:txBody>
      </p:sp>
      <p:sp>
        <p:nvSpPr>
          <p:cNvPr id="6" name="Shape 3">
            <a:extLst xmlns:a="http://schemas.openxmlformats.org/drawingml/2006/main">
              <a:ext uri="{FF2B5EF4-FFF2-40B4-BE49-F238E27FC236}">
                <a16:creationId xmlns:a16="http://schemas.microsoft.com/office/drawing/2014/main" id="{0B13F7CB-F2CB-4BE8-B29C-E9D67E36BD8B}"/>
              </a:ext>
            </a:extLst>
          </p:cNvPr>
          <p:cNvSpPr>
            <a:spLocks xmlns:a="http://schemas.openxmlformats.org/drawingml/2006/main" noGrp="1"/>
          </p:cNvSpPr>
          <p:nvPr/>
        </p:nvSpPr>
        <p:spPr>
          <a:xfrm xmlns:a="http://schemas.openxmlformats.org/drawingml/2006/main">
            <a:off x="822960" y="1965960"/>
            <a:ext cx="3337560" cy="2286000"/>
          </a:xfrm>
          <a:prstGeom xmlns:a="http://schemas.openxmlformats.org/drawingml/2006/main" prst="roundRect">
            <a:avLst>
              <a:gd name="adj" fmla="val 4800"/>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D097C8F2-C769-494D-BF16-C11E24C3B06D}"/>
              </a:ext>
            </a:extLst>
          </p:cNvPr>
          <p:cNvSpPr>
            <a:spLocks xmlns:a="http://schemas.openxmlformats.org/drawingml/2006/main" noGrp="1"/>
          </p:cNvSpPr>
          <p:nvPr/>
        </p:nvSpPr>
        <p:spPr>
          <a:xfrm xmlns:a="http://schemas.openxmlformats.org/drawingml/2006/main">
            <a:off x="1051560" y="2194560"/>
            <a:ext cx="2880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Tip 3</a:t>
            </a:r>
            <a:endParaRPr sz="2100"/>
          </a:p>
        </p:txBody>
      </p:sp>
      <p:sp>
        <p:nvSpPr>
          <p:cNvPr id="8" name="Text 5">
            <a:extLst xmlns:a="http://schemas.openxmlformats.org/drawingml/2006/main">
              <a:ext uri="{FF2B5EF4-FFF2-40B4-BE49-F238E27FC236}">
                <a16:creationId xmlns:a16="http://schemas.microsoft.com/office/drawing/2014/main" id="{F5E5969B-EB7D-47EC-8994-B28708B82D39}"/>
              </a:ext>
            </a:extLst>
          </p:cNvPr>
          <p:cNvSpPr>
            <a:spLocks xmlns:a="http://schemas.openxmlformats.org/drawingml/2006/main" noGrp="1"/>
          </p:cNvSpPr>
          <p:nvPr/>
        </p:nvSpPr>
        <p:spPr>
          <a:xfrm xmlns:a="http://schemas.openxmlformats.org/drawingml/2006/main">
            <a:off x="1051560" y="2618994"/>
            <a:ext cx="2880360" cy="1283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Bağlamsal eş anlam —</a:t>
            </a:r>
            <a:endParaRPr sz="2000"/>
          </a:p>
          <a:p xmlns:a="http://schemas.openxmlformats.org/drawingml/2006/main">
            <a:pPr marL="0" indent="0">
              <a:buNone/>
            </a:pPr>
            <a:r>
              <a:rPr sz="2000">
                <a:solidFill>
                  <a:srgbClr val="1E2761"/>
                </a:solidFill>
                <a:latin typeface="Calibri"/>
                <a:ea typeface="Calibri"/>
                <a:cs typeface="Calibri"/>
              </a:rPr>
              <a:t>aynı ANLAMI, farklı</a:t>
            </a:r>
            <a:endParaRPr sz="2000"/>
          </a:p>
          <a:p xmlns:a="http://schemas.openxmlformats.org/drawingml/2006/main">
            <a:pPr marL="0" indent="0">
              <a:buNone/>
            </a:pPr>
            <a:r>
              <a:rPr sz="2000">
                <a:solidFill>
                  <a:srgbClr val="1E2761"/>
                </a:solidFill>
                <a:latin typeface="Calibri"/>
                <a:ea typeface="Calibri"/>
                <a:cs typeface="Calibri"/>
              </a:rPr>
              <a:t>kelimelerle arayın.</a:t>
            </a:r>
            <a:endParaRPr sz="2000"/>
          </a:p>
        </p:txBody>
      </p:sp>
      <p:sp>
        <p:nvSpPr>
          <p:cNvPr id="9" name="Shape 6">
            <a:extLst xmlns:a="http://schemas.openxmlformats.org/drawingml/2006/main">
              <a:ext uri="{FF2B5EF4-FFF2-40B4-BE49-F238E27FC236}">
                <a16:creationId xmlns:a16="http://schemas.microsoft.com/office/drawing/2014/main" id="{7644DBA6-BEE4-46D0-9FB1-D1668D09B8A0}"/>
              </a:ext>
            </a:extLst>
          </p:cNvPr>
          <p:cNvSpPr>
            <a:spLocks xmlns:a="http://schemas.openxmlformats.org/drawingml/2006/main" noGrp="1"/>
          </p:cNvSpPr>
          <p:nvPr/>
        </p:nvSpPr>
        <p:spPr>
          <a:xfrm xmlns:a="http://schemas.openxmlformats.org/drawingml/2006/main">
            <a:off x="4526280" y="1965960"/>
            <a:ext cx="3337560" cy="2434082"/>
          </a:xfrm>
          <a:prstGeom xmlns:a="http://schemas.openxmlformats.org/drawingml/2006/main" prst="roundRect">
            <a:avLst>
              <a:gd name="adj" fmla="val 4800"/>
            </a:avLst>
          </a:prstGeom>
          <a:solidFill xmlns:a="http://schemas.openxmlformats.org/drawingml/2006/main">
            <a:srgbClr val="EEF3F8"/>
          </a:solidFill>
        </p:spPr>
      </p:sp>
      <p:sp>
        <p:nvSpPr>
          <p:cNvPr id="10" name="Text 7">
            <a:extLst xmlns:a="http://schemas.openxmlformats.org/drawingml/2006/main">
              <a:ext uri="{FF2B5EF4-FFF2-40B4-BE49-F238E27FC236}">
                <a16:creationId xmlns:a16="http://schemas.microsoft.com/office/drawing/2014/main" id="{AB67FA91-EE5B-4451-A962-9ABFDCBE0F55}"/>
              </a:ext>
            </a:extLst>
          </p:cNvPr>
          <p:cNvSpPr>
            <a:spLocks xmlns:a="http://schemas.openxmlformats.org/drawingml/2006/main" noGrp="1"/>
          </p:cNvSpPr>
          <p:nvPr/>
        </p:nvSpPr>
        <p:spPr>
          <a:xfrm xmlns:a="http://schemas.openxmlformats.org/drawingml/2006/main">
            <a:off x="4754880" y="2194560"/>
            <a:ext cx="2880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Tip 4</a:t>
            </a:r>
            <a:endParaRPr sz="2100"/>
          </a:p>
        </p:txBody>
      </p:sp>
      <p:sp>
        <p:nvSpPr>
          <p:cNvPr id="11" name="Text 8">
            <a:extLst xmlns:a="http://schemas.openxmlformats.org/drawingml/2006/main">
              <a:ext uri="{FF2B5EF4-FFF2-40B4-BE49-F238E27FC236}">
                <a16:creationId xmlns:a16="http://schemas.microsoft.com/office/drawing/2014/main" id="{06558272-D8F0-480D-BEAE-FC1BED5688D3}"/>
              </a:ext>
            </a:extLst>
          </p:cNvPr>
          <p:cNvSpPr>
            <a:spLocks xmlns:a="http://schemas.openxmlformats.org/drawingml/2006/main" noGrp="1"/>
          </p:cNvSpPr>
          <p:nvPr/>
        </p:nvSpPr>
        <p:spPr>
          <a:xfrm xmlns:a="http://schemas.openxmlformats.org/drawingml/2006/main">
            <a:off x="4754880" y="2618994"/>
            <a:ext cx="2880360" cy="1643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Sözü yorumlama —</a:t>
            </a:r>
            <a:endParaRPr sz="2000"/>
          </a:p>
          <a:p xmlns:a="http://schemas.openxmlformats.org/drawingml/2006/main">
            <a:pPr marL="0" indent="0">
              <a:buNone/>
            </a:pPr>
            <a:r>
              <a:rPr sz="2000">
                <a:solidFill>
                  <a:srgbClr val="1E2761"/>
                </a:solidFill>
                <a:latin typeface="Calibri"/>
                <a:ea typeface="Calibri"/>
                <a:cs typeface="Calibri"/>
              </a:rPr>
              <a:t>yazarın NE KASTETTİĞİNİ</a:t>
            </a:r>
            <a:endParaRPr sz="2000"/>
          </a:p>
          <a:p xmlns:a="http://schemas.openxmlformats.org/drawingml/2006/main">
            <a:pPr marL="0" indent="0">
              <a:buNone/>
            </a:pPr>
            <a:r>
              <a:rPr sz="2000">
                <a:solidFill>
                  <a:srgbClr val="1E2761"/>
                </a:solidFill>
                <a:latin typeface="Calibri"/>
                <a:ea typeface="Calibri"/>
                <a:cs typeface="Calibri"/>
              </a:rPr>
              <a:t>bağlamdan çıkarın.</a:t>
            </a:r>
            <a:endParaRPr sz="2000"/>
          </a:p>
        </p:txBody>
      </p:sp>
      <p:sp>
        <p:nvSpPr>
          <p:cNvPr id="12" name="Shape 9">
            <a:extLst xmlns:a="http://schemas.openxmlformats.org/drawingml/2006/main">
              <a:ext uri="{FF2B5EF4-FFF2-40B4-BE49-F238E27FC236}">
                <a16:creationId xmlns:a16="http://schemas.microsoft.com/office/drawing/2014/main" id="{7BB667C1-D64B-4C81-B035-8D1DB1F2B466}"/>
              </a:ext>
            </a:extLst>
          </p:cNvPr>
          <p:cNvSpPr>
            <a:spLocks xmlns:a="http://schemas.openxmlformats.org/drawingml/2006/main" noGrp="1"/>
          </p:cNvSpPr>
          <p:nvPr/>
        </p:nvSpPr>
        <p:spPr>
          <a:xfrm xmlns:a="http://schemas.openxmlformats.org/drawingml/2006/main">
            <a:off x="8229600" y="1965960"/>
            <a:ext cx="3337560" cy="2286000"/>
          </a:xfrm>
          <a:prstGeom xmlns:a="http://schemas.openxmlformats.org/drawingml/2006/main" prst="roundRect">
            <a:avLst>
              <a:gd name="adj" fmla="val 4800"/>
            </a:avLst>
          </a:prstGeom>
          <a:solidFill xmlns:a="http://schemas.openxmlformats.org/drawingml/2006/main">
            <a:srgbClr val="EEF3F8"/>
          </a:solidFill>
        </p:spPr>
      </p:sp>
      <p:sp>
        <p:nvSpPr>
          <p:cNvPr id="13" name="Text 10">
            <a:extLst xmlns:a="http://schemas.openxmlformats.org/drawingml/2006/main">
              <a:ext uri="{FF2B5EF4-FFF2-40B4-BE49-F238E27FC236}">
                <a16:creationId xmlns:a16="http://schemas.microsoft.com/office/drawing/2014/main" id="{D14E3817-F0A6-431F-9859-251048632139}"/>
              </a:ext>
            </a:extLst>
          </p:cNvPr>
          <p:cNvSpPr>
            <a:spLocks xmlns:a="http://schemas.openxmlformats.org/drawingml/2006/main" noGrp="1"/>
          </p:cNvSpPr>
          <p:nvPr/>
        </p:nvSpPr>
        <p:spPr>
          <a:xfrm xmlns:a="http://schemas.openxmlformats.org/drawingml/2006/main">
            <a:off x="8458200" y="2194560"/>
            <a:ext cx="2880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E3A5F"/>
                </a:solidFill>
                <a:latin typeface="Cambria"/>
                <a:ea typeface="Cambria"/>
                <a:cs typeface="Cambria"/>
              </a:rPr>
              <a:t>Tip 6</a:t>
            </a:r>
            <a:endParaRPr sz="2100"/>
          </a:p>
        </p:txBody>
      </p:sp>
      <p:sp>
        <p:nvSpPr>
          <p:cNvPr id="14" name="Text 11">
            <a:extLst xmlns:a="http://schemas.openxmlformats.org/drawingml/2006/main">
              <a:ext uri="{FF2B5EF4-FFF2-40B4-BE49-F238E27FC236}">
                <a16:creationId xmlns:a16="http://schemas.microsoft.com/office/drawing/2014/main" id="{1DBE1267-03E0-4BAB-806A-D85FDE857DC8}"/>
              </a:ext>
            </a:extLst>
          </p:cNvPr>
          <p:cNvSpPr>
            <a:spLocks xmlns:a="http://schemas.openxmlformats.org/drawingml/2006/main" noGrp="1"/>
          </p:cNvSpPr>
          <p:nvPr/>
        </p:nvSpPr>
        <p:spPr>
          <a:xfrm xmlns:a="http://schemas.openxmlformats.org/drawingml/2006/main">
            <a:off x="8458200" y="2618994"/>
            <a:ext cx="2880360" cy="1283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Deyim doğrulama —</a:t>
            </a:r>
            <a:endParaRPr sz="2000"/>
          </a:p>
          <a:p xmlns:a="http://schemas.openxmlformats.org/drawingml/2006/main">
            <a:pPr marL="0" indent="0">
              <a:buNone/>
            </a:pPr>
            <a:r>
              <a:rPr sz="2000">
                <a:solidFill>
                  <a:srgbClr val="1E2761"/>
                </a:solidFill>
                <a:latin typeface="Calibri"/>
                <a:ea typeface="Calibri"/>
                <a:cs typeface="Calibri"/>
              </a:rPr>
              <a:t>benzer deyimlerle</a:t>
            </a:r>
            <a:endParaRPr sz="2000"/>
          </a:p>
          <a:p xmlns:a="http://schemas.openxmlformats.org/drawingml/2006/main">
            <a:pPr marL="0" indent="0">
              <a:buNone/>
            </a:pPr>
            <a:r>
              <a:rPr sz="2000">
                <a:solidFill>
                  <a:srgbClr val="1E2761"/>
                </a:solidFill>
                <a:latin typeface="Calibri"/>
                <a:ea typeface="Calibri"/>
                <a:cs typeface="Calibri"/>
              </a:rPr>
              <a:t>karıştırmayın.</a:t>
            </a:r>
            <a:endParaRPr sz="2000"/>
          </a:p>
        </p:txBody>
      </p:sp>
      <p:sp>
        <p:nvSpPr>
          <p:cNvPr id="15" name="Text 12">
            <a:extLst xmlns:a="http://schemas.openxmlformats.org/drawingml/2006/main">
              <a:ext uri="{FF2B5EF4-FFF2-40B4-BE49-F238E27FC236}">
                <a16:creationId xmlns:a16="http://schemas.microsoft.com/office/drawing/2014/main" id="{7C45E92E-4141-4115-993C-7F1255C5CD46}"/>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Hızlı Hatırlatma</a:t>
            </a:r>
            <a:endParaRPr sz="900"/>
          </a:p>
        </p:txBody>
      </p:sp>
      <p:sp>
        <p:nvSpPr>
          <p:cNvPr id="16" name="Text 13">
            <a:extLst xmlns:a="http://schemas.openxmlformats.org/drawingml/2006/main">
              <a:ext uri="{FF2B5EF4-FFF2-40B4-BE49-F238E27FC236}">
                <a16:creationId xmlns:a16="http://schemas.microsoft.com/office/drawing/2014/main" id="{CD715005-F4BD-423A-9FF7-B7A0EC06B3E0}"/>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6555620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B075C43-4BFC-48B8-9FF5-2893DAF6F4C4}"/>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5e681a572f0444eb"/>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E6BEF382-3DAC-4ED2-9A0C-090C0BFE6066}"/>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DERINLEŞME · 1/2</a:t>
            </a:r>
            <a:endParaRPr sz="1300"/>
          </a:p>
        </p:txBody>
      </p:sp>
      <p:sp>
        <p:nvSpPr>
          <p:cNvPr id="5" name="Text 2">
            <a:extLst xmlns:a="http://schemas.openxmlformats.org/drawingml/2006/main">
              <a:ext uri="{FF2B5EF4-FFF2-40B4-BE49-F238E27FC236}">
                <a16:creationId xmlns:a16="http://schemas.microsoft.com/office/drawing/2014/main" id="{5F0288DB-4A00-451B-8143-A259BB52638C}"/>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Bağlamsal Eş Anlamda "Aynı Kelime" Tuzağı</a:t>
            </a:r>
            <a:endParaRPr sz="2800"/>
          </a:p>
        </p:txBody>
      </p:sp>
      <p:sp>
        <p:nvSpPr>
          <p:cNvPr id="6" name="Shape 3">
            <a:extLst xmlns:a="http://schemas.openxmlformats.org/drawingml/2006/main">
              <a:ext uri="{FF2B5EF4-FFF2-40B4-BE49-F238E27FC236}">
                <a16:creationId xmlns:a16="http://schemas.microsoft.com/office/drawing/2014/main" id="{A3590F3B-A823-490C-A9FC-0355114B195C}"/>
              </a:ext>
            </a:extLst>
          </p:cNvPr>
          <p:cNvSpPr>
            <a:spLocks xmlns:a="http://schemas.openxmlformats.org/drawingml/2006/main" noGrp="1"/>
          </p:cNvSpPr>
          <p:nvPr/>
        </p:nvSpPr>
        <p:spPr>
          <a:xfrm xmlns:a="http://schemas.openxmlformats.org/drawingml/2006/main">
            <a:off x="640080" y="1737360"/>
            <a:ext cx="10881360" cy="960120"/>
          </a:xfrm>
          <a:prstGeom xmlns:a="http://schemas.openxmlformats.org/drawingml/2006/main" prst="roundRect">
            <a:avLst>
              <a:gd name="adj" fmla="val 9524"/>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24D3D729-8DE6-4AD1-8CBD-9BE608EE4BF8}"/>
              </a:ext>
            </a:extLst>
          </p:cNvPr>
          <p:cNvSpPr>
            <a:spLocks xmlns:a="http://schemas.openxmlformats.org/drawingml/2006/main" noGrp="1"/>
          </p:cNvSpPr>
          <p:nvPr/>
        </p:nvSpPr>
        <p:spPr>
          <a:xfrm xmlns:a="http://schemas.openxmlformats.org/drawingml/2006/main">
            <a:off x="914400" y="1737360"/>
            <a:ext cx="103327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E3A5F"/>
                </a:solidFill>
                <a:latin typeface="Calibri"/>
                <a:ea typeface="Calibri"/>
                <a:cs typeface="Calibri"/>
              </a:rPr>
              <a:t>Gözlem:  </a:t>
            </a:r>
            <a:r>
              <a:rPr sz="1750">
                <a:solidFill>
                  <a:srgbClr val="1E2761"/>
                </a:solidFill>
                <a:latin typeface="Calibri"/>
                <a:ea typeface="Calibri"/>
                <a:cs typeface="Calibri"/>
              </a:rPr>
              <a:t>Seçeneklerde bazen altı çizili sözcüğün AYNI KELİMESİ geçer — ama farklı, uymayan bir anlamda kullanılmıştır. Bu bir tuzaktır: doğru seçenek genelde FARKLI kelimelerle AYNI ANLAMI verir.</a:t>
            </a:r>
            <a:endParaRPr sz="1750"/>
          </a:p>
        </p:txBody>
      </p:sp>
      <p:sp>
        <p:nvSpPr>
          <p:cNvPr id="8" name="Shape 5">
            <a:extLst xmlns:a="http://schemas.openxmlformats.org/drawingml/2006/main">
              <a:ext uri="{FF2B5EF4-FFF2-40B4-BE49-F238E27FC236}">
                <a16:creationId xmlns:a16="http://schemas.microsoft.com/office/drawing/2014/main" id="{D88AA788-6B0A-4DBE-80AD-791FFFE3BA9D}"/>
              </a:ext>
            </a:extLst>
          </p:cNvPr>
          <p:cNvSpPr>
            <a:spLocks xmlns:a="http://schemas.openxmlformats.org/drawingml/2006/main" noGrp="1"/>
          </p:cNvSpPr>
          <p:nvPr/>
        </p:nvSpPr>
        <p:spPr>
          <a:xfrm xmlns:a="http://schemas.openxmlformats.org/drawingml/2006/main">
            <a:off x="640080" y="2880360"/>
            <a:ext cx="10881360" cy="1051560"/>
          </a:xfrm>
          <a:prstGeom xmlns:a="http://schemas.openxmlformats.org/drawingml/2006/main" prst="roundRect">
            <a:avLst>
              <a:gd name="adj" fmla="val 8696"/>
            </a:avLst>
          </a:prstGeom>
          <a:solidFill xmlns:a="http://schemas.openxmlformats.org/drawingml/2006/main">
            <a:srgbClr val="EEF3F8"/>
          </a:solidFill>
        </p:spPr>
      </p:sp>
      <p:sp>
        <p:nvSpPr>
          <p:cNvPr id="9" name="Shape 6">
            <a:extLst xmlns:a="http://schemas.openxmlformats.org/drawingml/2006/main">
              <a:ext uri="{FF2B5EF4-FFF2-40B4-BE49-F238E27FC236}">
                <a16:creationId xmlns:a16="http://schemas.microsoft.com/office/drawing/2014/main" id="{69A1DB90-D219-495A-9927-0D66B2680242}"/>
              </a:ext>
            </a:extLst>
          </p:cNvPr>
          <p:cNvSpPr>
            <a:spLocks xmlns:a="http://schemas.openxmlformats.org/drawingml/2006/main" noGrp="1"/>
          </p:cNvSpPr>
          <p:nvPr/>
        </p:nvSpPr>
        <p:spPr>
          <a:xfrm xmlns:a="http://schemas.openxmlformats.org/drawingml/2006/main">
            <a:off x="822960" y="3154680"/>
            <a:ext cx="2377440" cy="704088"/>
          </a:xfrm>
          <a:prstGeom xmlns:a="http://schemas.openxmlformats.org/drawingml/2006/main" prst="roundRect">
            <a:avLst>
              <a:gd name="adj" fmla="val 14545"/>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0" name="Text 7">
            <a:extLst xmlns:a="http://schemas.openxmlformats.org/drawingml/2006/main">
              <a:ext uri="{FF2B5EF4-FFF2-40B4-BE49-F238E27FC236}">
                <a16:creationId xmlns:a16="http://schemas.microsoft.com/office/drawing/2014/main" id="{55986044-2617-42CB-8C58-38CA486F826D}"/>
              </a:ext>
            </a:extLst>
          </p:cNvPr>
          <p:cNvSpPr>
            <a:spLocks xmlns:a="http://schemas.openxmlformats.org/drawingml/2006/main" noGrp="1"/>
          </p:cNvSpPr>
          <p:nvPr/>
        </p:nvSpPr>
        <p:spPr>
          <a:xfrm xmlns:a="http://schemas.openxmlformats.org/drawingml/2006/main">
            <a:off x="822960" y="3154680"/>
            <a:ext cx="2377440" cy="54597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42A44"/>
                </a:solidFill>
                <a:latin typeface="Calibri"/>
                <a:ea typeface="Calibri"/>
                <a:cs typeface="Calibri"/>
              </a:rPr>
              <a:t>"yeknesak" (tekdüze, hep aynı)</a:t>
            </a:r>
            <a:endParaRPr sz="1500"/>
          </a:p>
        </p:txBody>
      </p:sp>
      <p:sp>
        <p:nvSpPr>
          <p:cNvPr id="11" name="Text 8">
            <a:extLst xmlns:a="http://schemas.openxmlformats.org/drawingml/2006/main">
              <a:ext uri="{FF2B5EF4-FFF2-40B4-BE49-F238E27FC236}">
                <a16:creationId xmlns:a16="http://schemas.microsoft.com/office/drawing/2014/main" id="{B5D76C29-0A96-4812-B9F7-EFDC65410035}"/>
              </a:ext>
            </a:extLst>
          </p:cNvPr>
          <p:cNvSpPr>
            <a:spLocks xmlns:a="http://schemas.openxmlformats.org/drawingml/2006/main" noGrp="1"/>
          </p:cNvSpPr>
          <p:nvPr/>
        </p:nvSpPr>
        <p:spPr>
          <a:xfrm xmlns:a="http://schemas.openxmlformats.org/drawingml/2006/main">
            <a:off x="3429000" y="2880360"/>
            <a:ext cx="78638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"Eserlerin geneline hâkim olan temalar, ilk başta TEKDÜZELİK hissi oluştursa da..." — farklı kelime ("tekdüzelik"), AYNI ANLAM — DOĞRU eşleşme.</a:t>
            </a:r>
            <a:endParaRPr sz="1600"/>
          </a:p>
        </p:txBody>
      </p:sp>
      <p:sp>
        <p:nvSpPr>
          <p:cNvPr id="12" name="Shape 9">
            <a:extLst xmlns:a="http://schemas.openxmlformats.org/drawingml/2006/main">
              <a:ext uri="{FF2B5EF4-FFF2-40B4-BE49-F238E27FC236}">
                <a16:creationId xmlns:a16="http://schemas.microsoft.com/office/drawing/2014/main" id="{791F1924-A074-4B20-94A9-BD9FA3CA542E}"/>
              </a:ext>
            </a:extLst>
          </p:cNvPr>
          <p:cNvSpPr>
            <a:spLocks xmlns:a="http://schemas.openxmlformats.org/drawingml/2006/main" noGrp="1"/>
          </p:cNvSpPr>
          <p:nvPr/>
        </p:nvSpPr>
        <p:spPr>
          <a:xfrm xmlns:a="http://schemas.openxmlformats.org/drawingml/2006/main">
            <a:off x="640080" y="4050792"/>
            <a:ext cx="10881360" cy="1051560"/>
          </a:xfrm>
          <a:prstGeom xmlns:a="http://schemas.openxmlformats.org/drawingml/2006/main" prst="roundRect">
            <a:avLst>
              <a:gd name="adj" fmla="val 8696"/>
            </a:avLst>
          </a:prstGeom>
          <a:solidFill xmlns:a="http://schemas.openxmlformats.org/drawingml/2006/main">
            <a:srgbClr val="EEF3F8"/>
          </a:solidFill>
        </p:spPr>
      </p:sp>
      <p:sp>
        <p:nvSpPr>
          <p:cNvPr id="13" name="Shape 10">
            <a:extLst xmlns:a="http://schemas.openxmlformats.org/drawingml/2006/main">
              <a:ext uri="{FF2B5EF4-FFF2-40B4-BE49-F238E27FC236}">
                <a16:creationId xmlns:a16="http://schemas.microsoft.com/office/drawing/2014/main" id="{278BA00C-1258-46C1-A5B3-D8EC2F914374}"/>
              </a:ext>
            </a:extLst>
          </p:cNvPr>
          <p:cNvSpPr>
            <a:spLocks xmlns:a="http://schemas.openxmlformats.org/drawingml/2006/main" noGrp="1"/>
          </p:cNvSpPr>
          <p:nvPr/>
        </p:nvSpPr>
        <p:spPr>
          <a:xfrm xmlns:a="http://schemas.openxmlformats.org/drawingml/2006/main">
            <a:off x="822960" y="4526280"/>
            <a:ext cx="2377440" cy="704088"/>
          </a:xfrm>
          <a:prstGeom xmlns:a="http://schemas.openxmlformats.org/drawingml/2006/main" prst="roundRect">
            <a:avLst>
              <a:gd name="adj" fmla="val 14545"/>
            </a:avLst>
          </a:prstGeom>
          <a:solidFill xmlns:a="http://schemas.openxmlformats.org/drawingml/2006/main">
            <a:srgbClr val="6B7280"/>
          </a:solidFill>
          <a:effectLst xmlns:a="http://schemas.openxmlformats.org/drawingml/2006/main">
            <a:outerShdw blurRad="76200" dist="25400" dir="5400000" sx="100000" sy="100000" kx="0" ky="0" algn="bl" rotWithShape="0">
              <a:srgbClr val="1E2761">
                <a:alpha val="18000"/>
              </a:srgbClr>
            </a:outerShdw>
          </a:effectLst>
        </p:spPr>
      </p:sp>
      <p:sp>
        <p:nvSpPr>
          <p:cNvPr id="14" name="Text 11">
            <a:extLst xmlns:a="http://schemas.openxmlformats.org/drawingml/2006/main">
              <a:ext uri="{FF2B5EF4-FFF2-40B4-BE49-F238E27FC236}">
                <a16:creationId xmlns:a16="http://schemas.microsoft.com/office/drawing/2014/main" id="{5B5B3D9A-3B03-43BF-9D16-F6FE2A49F247}"/>
              </a:ext>
            </a:extLst>
          </p:cNvPr>
          <p:cNvSpPr>
            <a:spLocks xmlns:a="http://schemas.openxmlformats.org/drawingml/2006/main" noGrp="1"/>
          </p:cNvSpPr>
          <p:nvPr/>
        </p:nvSpPr>
        <p:spPr>
          <a:xfrm xmlns:a="http://schemas.openxmlformats.org/drawingml/2006/main">
            <a:off x="822960" y="4526280"/>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Calibri"/>
                <a:ea typeface="Calibri"/>
                <a:cs typeface="Calibri"/>
              </a:rPr>
              <a:t>"yeknesak" (tekdüze, hep aynı)</a:t>
            </a:r>
            <a:endParaRPr sz="1350"/>
          </a:p>
        </p:txBody>
      </p:sp>
      <p:sp>
        <p:nvSpPr>
          <p:cNvPr id="15" name="Text 12">
            <a:extLst xmlns:a="http://schemas.openxmlformats.org/drawingml/2006/main">
              <a:ext uri="{FF2B5EF4-FFF2-40B4-BE49-F238E27FC236}">
                <a16:creationId xmlns:a16="http://schemas.microsoft.com/office/drawing/2014/main" id="{C464A29F-24C7-4412-A4C4-D117AC0CD8E9}"/>
              </a:ext>
            </a:extLst>
          </p:cNvPr>
          <p:cNvSpPr>
            <a:spLocks xmlns:a="http://schemas.openxmlformats.org/drawingml/2006/main" noGrp="1"/>
          </p:cNvSpPr>
          <p:nvPr/>
        </p:nvSpPr>
        <p:spPr>
          <a:xfrm xmlns:a="http://schemas.openxmlformats.org/drawingml/2006/main">
            <a:off x="3429000" y="4050792"/>
            <a:ext cx="786384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E2761"/>
                </a:solidFill>
                <a:latin typeface="Calibri"/>
                <a:ea typeface="Calibri"/>
                <a:cs typeface="Calibri"/>
              </a:rPr>
              <a:t>"...eleştirmenin gerçek sanatı tanıyabilmesi ve TEK ANLAMLILIĞA hapsolmaması..." — "tek" kelimesi kulağa benzer gelir ama kavram FARKLIDIR — YANLIŞ tuzak.</a:t>
            </a:r>
            <a:endParaRPr sz="1600"/>
          </a:p>
        </p:txBody>
      </p:sp>
      <p:sp>
        <p:nvSpPr>
          <p:cNvPr id="16" name="Shape 13">
            <a:extLst xmlns:a="http://schemas.openxmlformats.org/drawingml/2006/main">
              <a:ext uri="{FF2B5EF4-FFF2-40B4-BE49-F238E27FC236}">
                <a16:creationId xmlns:a16="http://schemas.microsoft.com/office/drawing/2014/main" id="{5720E746-1C6E-48E5-9AFC-8A934741DE16}"/>
              </a:ext>
            </a:extLst>
          </p:cNvPr>
          <p:cNvSpPr>
            <a:spLocks xmlns:a="http://schemas.openxmlformats.org/drawingml/2006/main" noGrp="1"/>
          </p:cNvSpPr>
          <p:nvPr/>
        </p:nvSpPr>
        <p:spPr>
          <a:xfrm xmlns:a="http://schemas.openxmlformats.org/drawingml/2006/main">
            <a:off x="640080" y="5349240"/>
            <a:ext cx="10881360" cy="548640"/>
          </a:xfrm>
          <a:prstGeom xmlns:a="http://schemas.openxmlformats.org/drawingml/2006/main" prst="roundRect">
            <a:avLst>
              <a:gd name="adj" fmla="val 16667"/>
            </a:avLst>
          </a:prstGeom>
          <a:solidFill xmlns:a="http://schemas.openxmlformats.org/drawingml/2006/main">
            <a:srgbClr val="FBF3E3"/>
          </a:solidFill>
        </p:spPr>
      </p:sp>
      <p:sp>
        <p:nvSpPr>
          <p:cNvPr id="17" name="Text 14">
            <a:extLst xmlns:a="http://schemas.openxmlformats.org/drawingml/2006/main">
              <a:ext uri="{FF2B5EF4-FFF2-40B4-BE49-F238E27FC236}">
                <a16:creationId xmlns:a16="http://schemas.microsoft.com/office/drawing/2014/main" id="{5A99CC10-5251-4463-A0A6-8451851EACE8}"/>
              </a:ext>
            </a:extLst>
          </p:cNvPr>
          <p:cNvSpPr>
            <a:spLocks xmlns:a="http://schemas.openxmlformats.org/drawingml/2006/main" noGrp="1"/>
          </p:cNvSpPr>
          <p:nvPr/>
        </p:nvSpPr>
        <p:spPr>
          <a:xfrm xmlns:a="http://schemas.openxmlformats.org/drawingml/2006/main">
            <a:off x="914400" y="5349240"/>
            <a:ext cx="10332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1E2761"/>
                </a:solidFill>
                <a:latin typeface="Calibri"/>
                <a:ea typeface="Calibri"/>
                <a:cs typeface="Calibri"/>
              </a:rPr>
              <a:t>Önemli: kelimenin kendisi değil, TAŞIDIĞI KAVRAM aranır — kulağa benzer gelen kelimeler farklı kavramlara ait olabilir.</a:t>
            </a:r>
            <a:endParaRPr sz="1500"/>
          </a:p>
        </p:txBody>
      </p:sp>
      <p:sp>
        <p:nvSpPr>
          <p:cNvPr id="18" name="Text 15">
            <a:extLst xmlns:a="http://schemas.openxmlformats.org/drawingml/2006/main">
              <a:ext uri="{FF2B5EF4-FFF2-40B4-BE49-F238E27FC236}">
                <a16:creationId xmlns:a16="http://schemas.microsoft.com/office/drawing/2014/main" id="{4A92F7B9-5327-4377-8C18-E9951C46D42B}"/>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Derinleşme — Aynı Kelime Tuzağı</a:t>
            </a:r>
            <a:endParaRPr sz="900"/>
          </a:p>
        </p:txBody>
      </p:sp>
      <p:sp>
        <p:nvSpPr>
          <p:cNvPr id="19" name="Text 16">
            <a:extLst xmlns:a="http://schemas.openxmlformats.org/drawingml/2006/main">
              <a:ext uri="{FF2B5EF4-FFF2-40B4-BE49-F238E27FC236}">
                <a16:creationId xmlns:a16="http://schemas.microsoft.com/office/drawing/2014/main" id="{20DF414A-04AE-43E7-83F2-48568EC2486C}"/>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6030244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20DE291-B9EC-46FE-8EB5-9B87600E4EB7}"/>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4bcb930ac934344"/>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E64579AB-7696-4805-83D9-A30D5CA5A822}"/>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DERINLEŞME · 2/2</a:t>
            </a:r>
            <a:endParaRPr sz="1300"/>
          </a:p>
        </p:txBody>
      </p:sp>
      <p:sp>
        <p:nvSpPr>
          <p:cNvPr id="5" name="Text 2">
            <a:extLst xmlns:a="http://schemas.openxmlformats.org/drawingml/2006/main">
              <a:ext uri="{FF2B5EF4-FFF2-40B4-BE49-F238E27FC236}">
                <a16:creationId xmlns:a16="http://schemas.microsoft.com/office/drawing/2014/main" id="{0E07A8A1-CD10-4944-93A2-7725D9757FCA}"/>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Deyim Karışıklığı Haritası</a:t>
            </a:r>
            <a:endParaRPr sz="2800"/>
          </a:p>
        </p:txBody>
      </p:sp>
      <p:sp>
        <p:nvSpPr>
          <p:cNvPr id="6" name="Shape 3">
            <a:extLst xmlns:a="http://schemas.openxmlformats.org/drawingml/2006/main">
              <a:ext uri="{FF2B5EF4-FFF2-40B4-BE49-F238E27FC236}">
                <a16:creationId xmlns:a16="http://schemas.microsoft.com/office/drawing/2014/main" id="{94F9A8D7-E6F6-4963-95F8-1528EC556D1D}"/>
              </a:ext>
            </a:extLst>
          </p:cNvPr>
          <p:cNvSpPr>
            <a:spLocks xmlns:a="http://schemas.openxmlformats.org/drawingml/2006/main" noGrp="1"/>
          </p:cNvSpPr>
          <p:nvPr/>
        </p:nvSpPr>
        <p:spPr>
          <a:xfrm xmlns:a="http://schemas.openxmlformats.org/drawingml/2006/main">
            <a:off x="640080" y="1737360"/>
            <a:ext cx="10881360" cy="914400"/>
          </a:xfrm>
          <a:prstGeom xmlns:a="http://schemas.openxmlformats.org/drawingml/2006/main" prst="roundRect">
            <a:avLst>
              <a:gd name="adj" fmla="val 10000"/>
            </a:avLst>
          </a:prstGeom>
          <a:solidFill xmlns:a="http://schemas.openxmlformats.org/drawingml/2006/main">
            <a:srgbClr val="EEF3F8"/>
          </a:solidFill>
        </p:spPr>
      </p:sp>
      <p:sp>
        <p:nvSpPr>
          <p:cNvPr id="7" name="Text 4">
            <a:extLst xmlns:a="http://schemas.openxmlformats.org/drawingml/2006/main">
              <a:ext uri="{FF2B5EF4-FFF2-40B4-BE49-F238E27FC236}">
                <a16:creationId xmlns:a16="http://schemas.microsoft.com/office/drawing/2014/main" id="{C735CD38-86E8-45D6-8960-5479055A1FF6}"/>
              </a:ext>
            </a:extLst>
          </p:cNvPr>
          <p:cNvSpPr>
            <a:spLocks xmlns:a="http://schemas.openxmlformats.org/drawingml/2006/main" noGrp="1"/>
          </p:cNvSpPr>
          <p:nvPr/>
        </p:nvSpPr>
        <p:spPr>
          <a:xfrm xmlns:a="http://schemas.openxmlformats.org/drawingml/2006/main">
            <a:off x="914400" y="1737360"/>
            <a:ext cx="1033272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50" b="1">
                <a:solidFill>
                  <a:srgbClr val="1E3A5F"/>
                </a:solidFill>
                <a:latin typeface="Calibri"/>
                <a:ea typeface="Calibri"/>
                <a:cs typeface="Calibri"/>
              </a:rPr>
              <a:t>Gözlem:  </a:t>
            </a:r>
            <a:r>
              <a:rPr sz="1950">
                <a:solidFill>
                  <a:srgbClr val="1E2761"/>
                </a:solidFill>
                <a:latin typeface="Calibri"/>
                <a:ea typeface="Calibri"/>
                <a:cs typeface="Calibri"/>
              </a:rPr>
              <a:t>ÖSYM, deyim sorularında sıklıkla BENZER GÖRÜNEN iki deyimin anlamını birbirine karıştırır. Bu sık karışan çiftleri önceden bilmek, sınavda hız kazandırır.</a:t>
            </a:r>
            <a:endParaRPr sz="1950"/>
          </a:p>
        </p:txBody>
      </p:sp>
      <p:sp>
        <p:nvSpPr>
          <p:cNvPr id="8" name="Shape 5">
            <a:extLst xmlns:a="http://schemas.openxmlformats.org/drawingml/2006/main">
              <a:ext uri="{FF2B5EF4-FFF2-40B4-BE49-F238E27FC236}">
                <a16:creationId xmlns:a16="http://schemas.microsoft.com/office/drawing/2014/main" id="{7962DB40-EECB-416B-8677-8947B60968C0}"/>
              </a:ext>
            </a:extLst>
          </p:cNvPr>
          <p:cNvSpPr>
            <a:spLocks xmlns:a="http://schemas.openxmlformats.org/drawingml/2006/main" noGrp="1"/>
          </p:cNvSpPr>
          <p:nvPr/>
        </p:nvSpPr>
        <p:spPr>
          <a:xfrm xmlns:a="http://schemas.openxmlformats.org/drawingml/2006/main">
            <a:off x="640080" y="2880360"/>
            <a:ext cx="10881360" cy="777240"/>
          </a:xfrm>
          <a:prstGeom xmlns:a="http://schemas.openxmlformats.org/drawingml/2006/main" prst="roundRect">
            <a:avLst>
              <a:gd name="adj" fmla="val 9412"/>
            </a:avLst>
          </a:prstGeom>
          <a:solidFill xmlns:a="http://schemas.openxmlformats.org/drawingml/2006/main">
            <a:srgbClr val="EEF3F8"/>
          </a:solidFill>
        </p:spPr>
      </p:sp>
      <p:sp>
        <p:nvSpPr>
          <p:cNvPr id="9" name="Shape 6">
            <a:extLst xmlns:a="http://schemas.openxmlformats.org/drawingml/2006/main">
              <a:ext uri="{FF2B5EF4-FFF2-40B4-BE49-F238E27FC236}">
                <a16:creationId xmlns:a16="http://schemas.microsoft.com/office/drawing/2014/main" id="{13240F5C-DFA8-4B27-B352-2D88D564D85B}"/>
              </a:ext>
            </a:extLst>
          </p:cNvPr>
          <p:cNvSpPr>
            <a:spLocks xmlns:a="http://schemas.openxmlformats.org/drawingml/2006/main" noGrp="1"/>
          </p:cNvSpPr>
          <p:nvPr/>
        </p:nvSpPr>
        <p:spPr>
          <a:xfrm xmlns:a="http://schemas.openxmlformats.org/drawingml/2006/main">
            <a:off x="822960" y="3017520"/>
            <a:ext cx="2651760" cy="502920"/>
          </a:xfrm>
          <a:prstGeom xmlns:a="http://schemas.openxmlformats.org/drawingml/2006/main" prst="roundRect">
            <a:avLst>
              <a:gd name="adj" fmla="val 14545"/>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0" name="Text 7">
            <a:extLst xmlns:a="http://schemas.openxmlformats.org/drawingml/2006/main">
              <a:ext uri="{FF2B5EF4-FFF2-40B4-BE49-F238E27FC236}">
                <a16:creationId xmlns:a16="http://schemas.microsoft.com/office/drawing/2014/main" id="{949345FA-4796-49A7-AB02-E8636C5D6F56}"/>
              </a:ext>
            </a:extLst>
          </p:cNvPr>
          <p:cNvSpPr>
            <a:spLocks xmlns:a="http://schemas.openxmlformats.org/drawingml/2006/main" noGrp="1"/>
          </p:cNvSpPr>
          <p:nvPr/>
        </p:nvSpPr>
        <p:spPr>
          <a:xfrm xmlns:a="http://schemas.openxmlformats.org/drawingml/2006/main">
            <a:off x="822960" y="3017520"/>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gözden düşmek</a:t>
            </a:r>
            <a:endParaRPr sz="1600"/>
          </a:p>
        </p:txBody>
      </p:sp>
      <p:sp>
        <p:nvSpPr>
          <p:cNvPr id="11" name="Text 8">
            <a:extLst xmlns:a="http://schemas.openxmlformats.org/drawingml/2006/main">
              <a:ext uri="{FF2B5EF4-FFF2-40B4-BE49-F238E27FC236}">
                <a16:creationId xmlns:a16="http://schemas.microsoft.com/office/drawing/2014/main" id="{32A7A6BC-9F51-44DF-AA31-3A2A63C61413}"/>
              </a:ext>
            </a:extLst>
          </p:cNvPr>
          <p:cNvSpPr>
            <a:spLocks xmlns:a="http://schemas.openxmlformats.org/drawingml/2006/main" noGrp="1"/>
          </p:cNvSpPr>
          <p:nvPr/>
        </p:nvSpPr>
        <p:spPr>
          <a:xfrm xmlns:a="http://schemas.openxmlformats.org/drawingml/2006/main">
            <a:off x="3611880" y="2971800"/>
            <a:ext cx="26517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itibarını/saygınlığını kaybetmek</a:t>
            </a:r>
            <a:endParaRPr sz="1600"/>
          </a:p>
        </p:txBody>
      </p:sp>
      <p:sp>
        <p:nvSpPr>
          <p:cNvPr id="12" name="Shape 9">
            <a:extLst xmlns:a="http://schemas.openxmlformats.org/drawingml/2006/main">
              <a:ext uri="{FF2B5EF4-FFF2-40B4-BE49-F238E27FC236}">
                <a16:creationId xmlns:a16="http://schemas.microsoft.com/office/drawing/2014/main" id="{0EF10D13-D594-43D8-A537-E9CA2B963F79}"/>
              </a:ext>
            </a:extLst>
          </p:cNvPr>
          <p:cNvSpPr>
            <a:spLocks xmlns:a="http://schemas.openxmlformats.org/drawingml/2006/main" noGrp="1"/>
          </p:cNvSpPr>
          <p:nvPr/>
        </p:nvSpPr>
        <p:spPr>
          <a:xfrm xmlns:a="http://schemas.openxmlformats.org/drawingml/2006/main">
            <a:off x="6400800" y="3017520"/>
            <a:ext cx="2651760" cy="502920"/>
          </a:xfrm>
          <a:prstGeom xmlns:a="http://schemas.openxmlformats.org/drawingml/2006/main" prst="roundRect">
            <a:avLst>
              <a:gd name="adj" fmla="val 14545"/>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13" name="Text 10">
            <a:extLst xmlns:a="http://schemas.openxmlformats.org/drawingml/2006/main">
              <a:ext uri="{FF2B5EF4-FFF2-40B4-BE49-F238E27FC236}">
                <a16:creationId xmlns:a16="http://schemas.microsoft.com/office/drawing/2014/main" id="{19308422-4A0A-416E-AB03-2385D8824058}"/>
              </a:ext>
            </a:extLst>
          </p:cNvPr>
          <p:cNvSpPr>
            <a:spLocks xmlns:a="http://schemas.openxmlformats.org/drawingml/2006/main" noGrp="1"/>
          </p:cNvSpPr>
          <p:nvPr/>
        </p:nvSpPr>
        <p:spPr>
          <a:xfrm xmlns:a="http://schemas.openxmlformats.org/drawingml/2006/main">
            <a:off x="6400800" y="3017520"/>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42A44"/>
                </a:solidFill>
                <a:latin typeface="Calibri"/>
                <a:ea typeface="Calibri"/>
                <a:cs typeface="Calibri"/>
              </a:rPr>
              <a:t>gözden kaçırmak</a:t>
            </a:r>
            <a:endParaRPr sz="1600"/>
          </a:p>
        </p:txBody>
      </p:sp>
      <p:sp>
        <p:nvSpPr>
          <p:cNvPr id="14" name="Text 11">
            <a:extLst xmlns:a="http://schemas.openxmlformats.org/drawingml/2006/main">
              <a:ext uri="{FF2B5EF4-FFF2-40B4-BE49-F238E27FC236}">
                <a16:creationId xmlns:a16="http://schemas.microsoft.com/office/drawing/2014/main" id="{247E9084-8A78-4E39-8213-64C063D0015D}"/>
              </a:ext>
            </a:extLst>
          </p:cNvPr>
          <p:cNvSpPr>
            <a:spLocks xmlns:a="http://schemas.openxmlformats.org/drawingml/2006/main" noGrp="1"/>
          </p:cNvSpPr>
          <p:nvPr/>
        </p:nvSpPr>
        <p:spPr>
          <a:xfrm xmlns:a="http://schemas.openxmlformats.org/drawingml/2006/main">
            <a:off x="9189720" y="2971800"/>
            <a:ext cx="2194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fark etmemek, atlamak</a:t>
            </a:r>
            <a:endParaRPr sz="1600"/>
          </a:p>
        </p:txBody>
      </p:sp>
      <p:sp>
        <p:nvSpPr>
          <p:cNvPr id="15" name="Shape 12">
            <a:extLst xmlns:a="http://schemas.openxmlformats.org/drawingml/2006/main">
              <a:ext uri="{FF2B5EF4-FFF2-40B4-BE49-F238E27FC236}">
                <a16:creationId xmlns:a16="http://schemas.microsoft.com/office/drawing/2014/main" id="{19F8AA46-B3BD-40D0-84AD-B587B9C5F353}"/>
              </a:ext>
            </a:extLst>
          </p:cNvPr>
          <p:cNvSpPr>
            <a:spLocks xmlns:a="http://schemas.openxmlformats.org/drawingml/2006/main" noGrp="1"/>
          </p:cNvSpPr>
          <p:nvPr/>
        </p:nvSpPr>
        <p:spPr>
          <a:xfrm xmlns:a="http://schemas.openxmlformats.org/drawingml/2006/main">
            <a:off x="640080" y="3776472"/>
            <a:ext cx="10881360" cy="777240"/>
          </a:xfrm>
          <a:prstGeom xmlns:a="http://schemas.openxmlformats.org/drawingml/2006/main" prst="roundRect">
            <a:avLst>
              <a:gd name="adj" fmla="val 9412"/>
            </a:avLst>
          </a:prstGeom>
          <a:solidFill xmlns:a="http://schemas.openxmlformats.org/drawingml/2006/main">
            <a:srgbClr val="EEF3F8"/>
          </a:solidFill>
        </p:spPr>
      </p:sp>
      <p:sp>
        <p:nvSpPr>
          <p:cNvPr id="16" name="Shape 13">
            <a:extLst xmlns:a="http://schemas.openxmlformats.org/drawingml/2006/main">
              <a:ext uri="{FF2B5EF4-FFF2-40B4-BE49-F238E27FC236}">
                <a16:creationId xmlns:a16="http://schemas.microsoft.com/office/drawing/2014/main" id="{C694EA48-6651-4FF6-8F07-C947155B2BC9}"/>
              </a:ext>
            </a:extLst>
          </p:cNvPr>
          <p:cNvSpPr>
            <a:spLocks xmlns:a="http://schemas.openxmlformats.org/drawingml/2006/main" noGrp="1"/>
          </p:cNvSpPr>
          <p:nvPr/>
        </p:nvSpPr>
        <p:spPr>
          <a:xfrm xmlns:a="http://schemas.openxmlformats.org/drawingml/2006/main">
            <a:off x="822960" y="3913632"/>
            <a:ext cx="2651760" cy="502920"/>
          </a:xfrm>
          <a:prstGeom xmlns:a="http://schemas.openxmlformats.org/drawingml/2006/main" prst="roundRect">
            <a:avLst>
              <a:gd name="adj" fmla="val 14545"/>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17" name="Text 14">
            <a:extLst xmlns:a="http://schemas.openxmlformats.org/drawingml/2006/main">
              <a:ext uri="{FF2B5EF4-FFF2-40B4-BE49-F238E27FC236}">
                <a16:creationId xmlns:a16="http://schemas.microsoft.com/office/drawing/2014/main" id="{6F6897C1-5BDA-45CB-8777-217587E6D2F3}"/>
              </a:ext>
            </a:extLst>
          </p:cNvPr>
          <p:cNvSpPr>
            <a:spLocks xmlns:a="http://schemas.openxmlformats.org/drawingml/2006/main" noGrp="1"/>
          </p:cNvSpPr>
          <p:nvPr/>
        </p:nvSpPr>
        <p:spPr>
          <a:xfrm xmlns:a="http://schemas.openxmlformats.org/drawingml/2006/main">
            <a:off x="822960" y="3913632"/>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ağzı kulaklarına varmak</a:t>
            </a:r>
            <a:endParaRPr sz="1600"/>
          </a:p>
        </p:txBody>
      </p:sp>
      <p:sp>
        <p:nvSpPr>
          <p:cNvPr id="18" name="Text 15">
            <a:extLst xmlns:a="http://schemas.openxmlformats.org/drawingml/2006/main">
              <a:ext uri="{FF2B5EF4-FFF2-40B4-BE49-F238E27FC236}">
                <a16:creationId xmlns:a16="http://schemas.microsoft.com/office/drawing/2014/main" id="{0AB2D90E-775C-4FD3-8BE3-4CD1515C45DA}"/>
              </a:ext>
            </a:extLst>
          </p:cNvPr>
          <p:cNvSpPr>
            <a:spLocks xmlns:a="http://schemas.openxmlformats.org/drawingml/2006/main" noGrp="1"/>
          </p:cNvSpPr>
          <p:nvPr/>
        </p:nvSpPr>
        <p:spPr>
          <a:xfrm xmlns:a="http://schemas.openxmlformats.org/drawingml/2006/main">
            <a:off x="3611880" y="3867912"/>
            <a:ext cx="26517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çok sevinmek</a:t>
            </a:r>
            <a:endParaRPr sz="1600"/>
          </a:p>
        </p:txBody>
      </p:sp>
      <p:sp>
        <p:nvSpPr>
          <p:cNvPr id="19" name="Shape 16">
            <a:extLst xmlns:a="http://schemas.openxmlformats.org/drawingml/2006/main">
              <a:ext uri="{FF2B5EF4-FFF2-40B4-BE49-F238E27FC236}">
                <a16:creationId xmlns:a16="http://schemas.microsoft.com/office/drawing/2014/main" id="{F28ADCD8-BA5D-428C-917B-49B784413754}"/>
              </a:ext>
            </a:extLst>
          </p:cNvPr>
          <p:cNvSpPr>
            <a:spLocks xmlns:a="http://schemas.openxmlformats.org/drawingml/2006/main" noGrp="1"/>
          </p:cNvSpPr>
          <p:nvPr/>
        </p:nvSpPr>
        <p:spPr>
          <a:xfrm xmlns:a="http://schemas.openxmlformats.org/drawingml/2006/main">
            <a:off x="6400800" y="3913632"/>
            <a:ext cx="2651760" cy="502920"/>
          </a:xfrm>
          <a:prstGeom xmlns:a="http://schemas.openxmlformats.org/drawingml/2006/main" prst="roundRect">
            <a:avLst>
              <a:gd name="adj" fmla="val 14545"/>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20" name="Text 17">
            <a:extLst xmlns:a="http://schemas.openxmlformats.org/drawingml/2006/main">
              <a:ext uri="{FF2B5EF4-FFF2-40B4-BE49-F238E27FC236}">
                <a16:creationId xmlns:a16="http://schemas.microsoft.com/office/drawing/2014/main" id="{83319819-5EAC-48C3-876D-3FC0D1481BEC}"/>
              </a:ext>
            </a:extLst>
          </p:cNvPr>
          <p:cNvSpPr>
            <a:spLocks xmlns:a="http://schemas.openxmlformats.org/drawingml/2006/main" noGrp="1"/>
          </p:cNvSpPr>
          <p:nvPr/>
        </p:nvSpPr>
        <p:spPr>
          <a:xfrm xmlns:a="http://schemas.openxmlformats.org/drawingml/2006/main">
            <a:off x="6400800" y="3913632"/>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42A44"/>
                </a:solidFill>
                <a:latin typeface="Calibri"/>
                <a:ea typeface="Calibri"/>
                <a:cs typeface="Calibri"/>
              </a:rPr>
              <a:t>ağzı açık kalmak</a:t>
            </a:r>
            <a:endParaRPr sz="1600"/>
          </a:p>
        </p:txBody>
      </p:sp>
      <p:sp>
        <p:nvSpPr>
          <p:cNvPr id="21" name="Text 18">
            <a:extLst xmlns:a="http://schemas.openxmlformats.org/drawingml/2006/main">
              <a:ext uri="{FF2B5EF4-FFF2-40B4-BE49-F238E27FC236}">
                <a16:creationId xmlns:a16="http://schemas.microsoft.com/office/drawing/2014/main" id="{98435B08-4029-438E-B2D8-EE13DF1B1445}"/>
              </a:ext>
            </a:extLst>
          </p:cNvPr>
          <p:cNvSpPr>
            <a:spLocks xmlns:a="http://schemas.openxmlformats.org/drawingml/2006/main" noGrp="1"/>
          </p:cNvSpPr>
          <p:nvPr/>
        </p:nvSpPr>
        <p:spPr>
          <a:xfrm xmlns:a="http://schemas.openxmlformats.org/drawingml/2006/main">
            <a:off x="9189720" y="3867912"/>
            <a:ext cx="2194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çok şaşırmak</a:t>
            </a:r>
            <a:endParaRPr sz="1600"/>
          </a:p>
        </p:txBody>
      </p:sp>
      <p:sp>
        <p:nvSpPr>
          <p:cNvPr id="22" name="Shape 19">
            <a:extLst xmlns:a="http://schemas.openxmlformats.org/drawingml/2006/main">
              <a:ext uri="{FF2B5EF4-FFF2-40B4-BE49-F238E27FC236}">
                <a16:creationId xmlns:a16="http://schemas.microsoft.com/office/drawing/2014/main" id="{7CB5E788-0B00-42C0-8A1E-CED6349B677F}"/>
              </a:ext>
            </a:extLst>
          </p:cNvPr>
          <p:cNvSpPr>
            <a:spLocks xmlns:a="http://schemas.openxmlformats.org/drawingml/2006/main" noGrp="1"/>
          </p:cNvSpPr>
          <p:nvPr/>
        </p:nvSpPr>
        <p:spPr>
          <a:xfrm xmlns:a="http://schemas.openxmlformats.org/drawingml/2006/main">
            <a:off x="640080" y="4672584"/>
            <a:ext cx="10881360" cy="777240"/>
          </a:xfrm>
          <a:prstGeom xmlns:a="http://schemas.openxmlformats.org/drawingml/2006/main" prst="roundRect">
            <a:avLst>
              <a:gd name="adj" fmla="val 9412"/>
            </a:avLst>
          </a:prstGeom>
          <a:solidFill xmlns:a="http://schemas.openxmlformats.org/drawingml/2006/main">
            <a:srgbClr val="EEF3F8"/>
          </a:solidFill>
        </p:spPr>
      </p:sp>
      <p:sp>
        <p:nvSpPr>
          <p:cNvPr id="23" name="Shape 20">
            <a:extLst xmlns:a="http://schemas.openxmlformats.org/drawingml/2006/main">
              <a:ext uri="{FF2B5EF4-FFF2-40B4-BE49-F238E27FC236}">
                <a16:creationId xmlns:a16="http://schemas.microsoft.com/office/drawing/2014/main" id="{45FC1955-84E8-4BF5-9798-653D48483931}"/>
              </a:ext>
            </a:extLst>
          </p:cNvPr>
          <p:cNvSpPr>
            <a:spLocks xmlns:a="http://schemas.openxmlformats.org/drawingml/2006/main" noGrp="1"/>
          </p:cNvSpPr>
          <p:nvPr/>
        </p:nvSpPr>
        <p:spPr>
          <a:xfrm xmlns:a="http://schemas.openxmlformats.org/drawingml/2006/main">
            <a:off x="822960" y="4809744"/>
            <a:ext cx="2651760" cy="502920"/>
          </a:xfrm>
          <a:prstGeom xmlns:a="http://schemas.openxmlformats.org/drawingml/2006/main" prst="roundRect">
            <a:avLst>
              <a:gd name="adj" fmla="val 14545"/>
            </a:avLst>
          </a:prstGeom>
          <a:solidFill xmlns:a="http://schemas.openxmlformats.org/drawingml/2006/main">
            <a:srgbClr val="1E3A5F"/>
          </a:solidFill>
          <a:effectLst xmlns:a="http://schemas.openxmlformats.org/drawingml/2006/main">
            <a:outerShdw blurRad="76200" dist="25400" dir="5400000" sx="100000" sy="100000" kx="0" ky="0" algn="bl" rotWithShape="0">
              <a:srgbClr val="1E2761">
                <a:alpha val="18000"/>
              </a:srgbClr>
            </a:outerShdw>
          </a:effectLst>
        </p:spPr>
      </p:sp>
      <p:sp>
        <p:nvSpPr>
          <p:cNvPr id="24" name="Text 21">
            <a:extLst xmlns:a="http://schemas.openxmlformats.org/drawingml/2006/main">
              <a:ext uri="{FF2B5EF4-FFF2-40B4-BE49-F238E27FC236}">
                <a16:creationId xmlns:a16="http://schemas.microsoft.com/office/drawing/2014/main" id="{8282285A-4238-41F9-8A27-6BD05F93912A}"/>
              </a:ext>
            </a:extLst>
          </p:cNvPr>
          <p:cNvSpPr>
            <a:spLocks xmlns:a="http://schemas.openxmlformats.org/drawingml/2006/main" noGrp="1"/>
          </p:cNvSpPr>
          <p:nvPr/>
        </p:nvSpPr>
        <p:spPr>
          <a:xfrm xmlns:a="http://schemas.openxmlformats.org/drawingml/2006/main">
            <a:off x="822960" y="4809744"/>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eli açık olmak</a:t>
            </a:r>
            <a:endParaRPr sz="1600"/>
          </a:p>
        </p:txBody>
      </p:sp>
      <p:sp>
        <p:nvSpPr>
          <p:cNvPr id="25" name="Text 22">
            <a:extLst xmlns:a="http://schemas.openxmlformats.org/drawingml/2006/main">
              <a:ext uri="{FF2B5EF4-FFF2-40B4-BE49-F238E27FC236}">
                <a16:creationId xmlns:a16="http://schemas.microsoft.com/office/drawing/2014/main" id="{AA7A904B-DFE1-4517-9103-7667C70E33F5}"/>
              </a:ext>
            </a:extLst>
          </p:cNvPr>
          <p:cNvSpPr>
            <a:spLocks xmlns:a="http://schemas.openxmlformats.org/drawingml/2006/main" noGrp="1"/>
          </p:cNvSpPr>
          <p:nvPr/>
        </p:nvSpPr>
        <p:spPr>
          <a:xfrm xmlns:a="http://schemas.openxmlformats.org/drawingml/2006/main">
            <a:off x="3611880" y="4764024"/>
            <a:ext cx="26517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cömert olmak</a:t>
            </a:r>
            <a:endParaRPr sz="1600"/>
          </a:p>
        </p:txBody>
      </p:sp>
      <p:sp>
        <p:nvSpPr>
          <p:cNvPr id="26" name="Shape 23">
            <a:extLst xmlns:a="http://schemas.openxmlformats.org/drawingml/2006/main">
              <a:ext uri="{FF2B5EF4-FFF2-40B4-BE49-F238E27FC236}">
                <a16:creationId xmlns:a16="http://schemas.microsoft.com/office/drawing/2014/main" id="{DEE7BFEB-E117-40B2-9122-E11B17C8FAF3}"/>
              </a:ext>
            </a:extLst>
          </p:cNvPr>
          <p:cNvSpPr>
            <a:spLocks xmlns:a="http://schemas.openxmlformats.org/drawingml/2006/main" noGrp="1"/>
          </p:cNvSpPr>
          <p:nvPr/>
        </p:nvSpPr>
        <p:spPr>
          <a:xfrm xmlns:a="http://schemas.openxmlformats.org/drawingml/2006/main">
            <a:off x="6400800" y="4809744"/>
            <a:ext cx="2651760" cy="502920"/>
          </a:xfrm>
          <a:prstGeom xmlns:a="http://schemas.openxmlformats.org/drawingml/2006/main" prst="roundRect">
            <a:avLst>
              <a:gd name="adj" fmla="val 14545"/>
            </a:avLst>
          </a:prstGeom>
          <a:solidFill xmlns:a="http://schemas.openxmlformats.org/drawingml/2006/main">
            <a:srgbClr val="D9A441"/>
          </a:solidFill>
          <a:effectLst xmlns:a="http://schemas.openxmlformats.org/drawingml/2006/main">
            <a:outerShdw blurRad="76200" dist="25400" dir="5400000" sx="100000" sy="100000" kx="0" ky="0" algn="bl" rotWithShape="0">
              <a:srgbClr val="1E2761">
                <a:alpha val="18000"/>
              </a:srgbClr>
            </a:outerShdw>
          </a:effectLst>
        </p:spPr>
      </p:sp>
      <p:sp>
        <p:nvSpPr>
          <p:cNvPr id="27" name="Text 24">
            <a:extLst xmlns:a="http://schemas.openxmlformats.org/drawingml/2006/main">
              <a:ext uri="{FF2B5EF4-FFF2-40B4-BE49-F238E27FC236}">
                <a16:creationId xmlns:a16="http://schemas.microsoft.com/office/drawing/2014/main" id="{7B278E8F-BDA3-4B27-AAFC-10E21760CCC1}"/>
              </a:ext>
            </a:extLst>
          </p:cNvPr>
          <p:cNvSpPr>
            <a:spLocks xmlns:a="http://schemas.openxmlformats.org/drawingml/2006/main" noGrp="1"/>
          </p:cNvSpPr>
          <p:nvPr/>
        </p:nvSpPr>
        <p:spPr>
          <a:xfrm xmlns:a="http://schemas.openxmlformats.org/drawingml/2006/main">
            <a:off x="6400800" y="4809744"/>
            <a:ext cx="2651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142A44"/>
                </a:solidFill>
                <a:latin typeface="Calibri"/>
                <a:ea typeface="Calibri"/>
                <a:cs typeface="Calibri"/>
              </a:rPr>
              <a:t>eli sıkı olmak</a:t>
            </a:r>
            <a:endParaRPr sz="1600"/>
          </a:p>
        </p:txBody>
      </p:sp>
      <p:sp>
        <p:nvSpPr>
          <p:cNvPr id="28" name="Text 25">
            <a:extLst xmlns:a="http://schemas.openxmlformats.org/drawingml/2006/main">
              <a:ext uri="{FF2B5EF4-FFF2-40B4-BE49-F238E27FC236}">
                <a16:creationId xmlns:a16="http://schemas.microsoft.com/office/drawing/2014/main" id="{4EC241D3-E0C8-448D-85F5-0428FCBAAB6F}"/>
              </a:ext>
            </a:extLst>
          </p:cNvPr>
          <p:cNvSpPr>
            <a:spLocks xmlns:a="http://schemas.openxmlformats.org/drawingml/2006/main" noGrp="1"/>
          </p:cNvSpPr>
          <p:nvPr/>
        </p:nvSpPr>
        <p:spPr>
          <a:xfrm xmlns:a="http://schemas.openxmlformats.org/drawingml/2006/main">
            <a:off x="9189720" y="4764024"/>
            <a:ext cx="2194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rgbClr val="6B7280"/>
                </a:solidFill>
                <a:latin typeface="Calibri"/>
                <a:ea typeface="Calibri"/>
                <a:cs typeface="Calibri"/>
              </a:rPr>
              <a:t>cimri olmak</a:t>
            </a:r>
            <a:endParaRPr sz="1600"/>
          </a:p>
        </p:txBody>
      </p:sp>
      <p:sp>
        <p:nvSpPr>
          <p:cNvPr id="29" name="Shape 26">
            <a:extLst xmlns:a="http://schemas.openxmlformats.org/drawingml/2006/main">
              <a:ext uri="{FF2B5EF4-FFF2-40B4-BE49-F238E27FC236}">
                <a16:creationId xmlns:a16="http://schemas.microsoft.com/office/drawing/2014/main" id="{458B2358-F173-4123-9B2E-1B2B0714F9AC}"/>
              </a:ext>
            </a:extLst>
          </p:cNvPr>
          <p:cNvSpPr>
            <a:spLocks xmlns:a="http://schemas.openxmlformats.org/drawingml/2006/main" noGrp="1"/>
          </p:cNvSpPr>
          <p:nvPr/>
        </p:nvSpPr>
        <p:spPr>
          <a:xfrm xmlns:a="http://schemas.openxmlformats.org/drawingml/2006/main">
            <a:off x="640080" y="5623560"/>
            <a:ext cx="10881360" cy="502920"/>
          </a:xfrm>
          <a:prstGeom xmlns:a="http://schemas.openxmlformats.org/drawingml/2006/main" prst="roundRect">
            <a:avLst>
              <a:gd name="adj" fmla="val 18182"/>
            </a:avLst>
          </a:prstGeom>
          <a:solidFill xmlns:a="http://schemas.openxmlformats.org/drawingml/2006/main">
            <a:srgbClr val="FBF3E3"/>
          </a:solidFill>
        </p:spPr>
      </p:sp>
      <p:sp>
        <p:nvSpPr>
          <p:cNvPr id="30" name="Text 27">
            <a:extLst xmlns:a="http://schemas.openxmlformats.org/drawingml/2006/main">
              <a:ext uri="{FF2B5EF4-FFF2-40B4-BE49-F238E27FC236}">
                <a16:creationId xmlns:a16="http://schemas.microsoft.com/office/drawing/2014/main" id="{7823D006-ADEB-4341-B016-768855AB7733}"/>
              </a:ext>
            </a:extLst>
          </p:cNvPr>
          <p:cNvSpPr>
            <a:spLocks xmlns:a="http://schemas.openxmlformats.org/drawingml/2006/main" noGrp="1"/>
          </p:cNvSpPr>
          <p:nvPr/>
        </p:nvSpPr>
        <p:spPr>
          <a:xfrm xmlns:a="http://schemas.openxmlformats.org/drawingml/2006/main">
            <a:off x="914400" y="5623560"/>
            <a:ext cx="10332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E2761"/>
                </a:solidFill>
                <a:latin typeface="Calibri"/>
                <a:ea typeface="Calibri"/>
                <a:cs typeface="Calibri"/>
              </a:rPr>
              <a:t>Pratik ipucu: iki deyim benzer bir organ/kavram içeriyorsa, sınavdan önce anlamlarını KESİN olarak birbirinden ayırın.</a:t>
            </a:r>
            <a:endParaRPr sz="1400"/>
          </a:p>
        </p:txBody>
      </p:sp>
      <p:sp>
        <p:nvSpPr>
          <p:cNvPr id="31" name="Text 28">
            <a:extLst xmlns:a="http://schemas.openxmlformats.org/drawingml/2006/main">
              <a:ext uri="{FF2B5EF4-FFF2-40B4-BE49-F238E27FC236}">
                <a16:creationId xmlns:a16="http://schemas.microsoft.com/office/drawing/2014/main" id="{1EB4D54C-CBA8-430B-A5C1-5855924E5CC2}"/>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Derinleşme — Deyim Karışıklığı</a:t>
            </a:r>
            <a:endParaRPr sz="900"/>
          </a:p>
        </p:txBody>
      </p:sp>
      <p:sp>
        <p:nvSpPr>
          <p:cNvPr id="32" name="Text 29">
            <a:extLst xmlns:a="http://schemas.openxmlformats.org/drawingml/2006/main">
              <a:ext uri="{FF2B5EF4-FFF2-40B4-BE49-F238E27FC236}">
                <a16:creationId xmlns:a16="http://schemas.microsoft.com/office/drawing/2014/main" id="{013F6D58-8BED-472C-A752-B12387FD609D}"/>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2082640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08C1D9-CC01-4229-A7EE-CEC8D71E1A5B}"/>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23bdb9ac26fb4433"/>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59E97879-3D24-4F0F-84BC-FDB238C2C52F}"/>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1/3</a:t>
            </a:r>
            <a:endParaRPr sz="1300"/>
          </a:p>
        </p:txBody>
      </p:sp>
      <p:sp>
        <p:nvSpPr>
          <p:cNvPr id="5" name="Text 2">
            <a:extLst xmlns:a="http://schemas.openxmlformats.org/drawingml/2006/main">
              <a:ext uri="{FF2B5EF4-FFF2-40B4-BE49-F238E27FC236}">
                <a16:creationId xmlns:a16="http://schemas.microsoft.com/office/drawing/2014/main" id="{E7C451B1-39A9-49AB-8C6A-01DF009F6DD5}"/>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94EDDCD4-9B4F-4F46-8441-5C5266A19AB5}"/>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06A8FA91-303A-43A4-9DBE-1D83CC5466C6}"/>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- 2022)</a:t>
            </a:r>
            <a:endParaRPr sz="1050"/>
          </a:p>
        </p:txBody>
      </p:sp>
      <p:sp>
        <p:nvSpPr>
          <p:cNvPr id="8" name="Shape 5">
            <a:extLst xmlns:a="http://schemas.openxmlformats.org/drawingml/2006/main">
              <a:ext uri="{FF2B5EF4-FFF2-40B4-BE49-F238E27FC236}">
                <a16:creationId xmlns:a16="http://schemas.microsoft.com/office/drawing/2014/main" id="{3767F883-7087-49E7-972F-A642BCC727B3}"/>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6495FD54-3DA8-44C9-8DEA-0803C4D6EC53}"/>
              </a:ext>
            </a:extLst>
          </p:cNvPr>
          <p:cNvSpPr>
            <a:spLocks xmlns:a="http://schemas.openxmlformats.org/drawingml/2006/main" noGrp="1"/>
          </p:cNvSpPr>
          <p:nvPr/>
        </p:nvSpPr>
        <p:spPr>
          <a:xfrm xmlns:a="http://schemas.openxmlformats.org/drawingml/2006/main">
            <a:off x="914400" y="1965960"/>
            <a:ext cx="10360152" cy="81608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E3A5F"/>
                </a:solidFill>
                <a:latin typeface="Calibri"/>
                <a:ea typeface="Calibri"/>
                <a:cs typeface="Calibri"/>
              </a:rPr>
              <a:t>Füruzan'ın hikâyeciliğinde eleştirmenlerce zayıf bulunan yanlardan biri yeknesak karakter üretimidir. Her hikâyesinde belli çevrelerde karşılaşılabilecek birkaç tipi anlatması ve bunların dışına çıkmaması bu eleştiriye dayanak gösterilebilir.</a:t>
            </a:r>
            <a:endParaRPr sz="1300"/>
          </a:p>
          <a:p xmlns:a="http://schemas.openxmlformats.org/drawingml/2006/main">
            <a:pPr marL="0" indent="0">
              <a:buNone/>
            </a:pPr>
            <a:endParaRPr sz="1300"/>
          </a:p>
          <a:p xmlns:a="http://schemas.openxmlformats.org/drawingml/2006/main">
            <a:pPr marL="0" indent="0">
              <a:buNone/>
            </a:pPr>
            <a:r>
              <a:rPr sz="1300" b="1">
                <a:solidFill>
                  <a:srgbClr val="1E3A5F"/>
                </a:solidFill>
                <a:latin typeface="Calibri"/>
                <a:ea typeface="Calibri"/>
                <a:cs typeface="Calibri"/>
              </a:rPr>
              <a:t>Bu parçada altı çizili sözü ("yeknesak") anlamca karşılayabilecek bir kullanım aşağıdakilerin hangisinde vardır?</a:t>
            </a:r>
            <a:endParaRPr sz="1300"/>
          </a:p>
        </p:txBody>
      </p:sp>
      <p:sp>
        <p:nvSpPr>
          <p:cNvPr id="10" name="Text 7">
            <a:extLst xmlns:a="http://schemas.openxmlformats.org/drawingml/2006/main">
              <a:ext uri="{FF2B5EF4-FFF2-40B4-BE49-F238E27FC236}">
                <a16:creationId xmlns:a16="http://schemas.microsoft.com/office/drawing/2014/main" id="{2DA369B8-65B0-4987-9B62-A51450B73B25}"/>
              </a:ext>
            </a:extLst>
          </p:cNvPr>
          <p:cNvSpPr>
            <a:spLocks xmlns:a="http://schemas.openxmlformats.org/drawingml/2006/main" noGrp="1"/>
          </p:cNvSpPr>
          <p:nvPr/>
        </p:nvSpPr>
        <p:spPr>
          <a:xfrm xmlns:a="http://schemas.openxmlformats.org/drawingml/2006/main">
            <a:off x="914400" y="3019787"/>
            <a:ext cx="10360152" cy="4562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E3A5F"/>
                </a:solidFill>
                <a:latin typeface="Calibri"/>
                <a:ea typeface="Calibri"/>
                <a:cs typeface="Calibri"/>
              </a:rPr>
              <a:t>A)  </a:t>
            </a:r>
            <a:r>
              <a:rPr sz="1250">
                <a:solidFill>
                  <a:srgbClr val="1E2761"/>
                </a:solidFill>
                <a:latin typeface="Calibri"/>
                <a:ea typeface="Calibri"/>
                <a:cs typeface="Calibri"/>
              </a:rPr>
              <a:t>Bir yazarın eserlerindeki olağanüstü karakterleri beğenmişsek yazarın sonraki eserlerinde de aynı karakterleri arama eğilimine gireriz.</a:t>
            </a:r>
            <a:endParaRPr sz="1250"/>
          </a:p>
        </p:txBody>
      </p:sp>
      <p:sp>
        <p:nvSpPr>
          <p:cNvPr id="11" name="Text 8">
            <a:extLst xmlns:a="http://schemas.openxmlformats.org/drawingml/2006/main">
              <a:ext uri="{FF2B5EF4-FFF2-40B4-BE49-F238E27FC236}">
                <a16:creationId xmlns:a16="http://schemas.microsoft.com/office/drawing/2014/main" id="{DC183B76-BCFC-4493-B170-774B9124E067}"/>
              </a:ext>
            </a:extLst>
          </p:cNvPr>
          <p:cNvSpPr>
            <a:spLocks xmlns:a="http://schemas.openxmlformats.org/drawingml/2006/main" noGrp="1"/>
          </p:cNvSpPr>
          <p:nvPr/>
        </p:nvSpPr>
        <p:spPr>
          <a:xfrm xmlns:a="http://schemas.openxmlformats.org/drawingml/2006/main">
            <a:off x="914400" y="3613694"/>
            <a:ext cx="10360152" cy="4562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E3A5F"/>
                </a:solidFill>
                <a:latin typeface="Calibri"/>
                <a:ea typeface="Calibri"/>
                <a:cs typeface="Calibri"/>
              </a:rPr>
              <a:t>B)  </a:t>
            </a:r>
            <a:r>
              <a:rPr sz="1250">
                <a:solidFill>
                  <a:srgbClr val="1E2761"/>
                </a:solidFill>
                <a:latin typeface="Calibri"/>
                <a:ea typeface="Calibri"/>
                <a:cs typeface="Calibri"/>
              </a:rPr>
              <a:t>Eleştirmenin en büyük yetkinliği, sanat eserine dair teknik unsurları bilmekten de öte gerçek sanatı tanıyabilmesi ve tek anlamlılığa hapsolmamasıdır.</a:t>
            </a:r>
            <a:endParaRPr sz="1250"/>
          </a:p>
        </p:txBody>
      </p:sp>
      <p:sp>
        <p:nvSpPr>
          <p:cNvPr id="12" name="Text 9">
            <a:extLst xmlns:a="http://schemas.openxmlformats.org/drawingml/2006/main">
              <a:ext uri="{FF2B5EF4-FFF2-40B4-BE49-F238E27FC236}">
                <a16:creationId xmlns:a16="http://schemas.microsoft.com/office/drawing/2014/main" id="{AB0EB006-6F71-4410-9C23-5235CD2E0DB9}"/>
              </a:ext>
            </a:extLst>
          </p:cNvPr>
          <p:cNvSpPr>
            <a:spLocks xmlns:a="http://schemas.openxmlformats.org/drawingml/2006/main" noGrp="1"/>
          </p:cNvSpPr>
          <p:nvPr/>
        </p:nvSpPr>
        <p:spPr>
          <a:xfrm xmlns:a="http://schemas.openxmlformats.org/drawingml/2006/main">
            <a:off x="914400" y="4207600"/>
            <a:ext cx="10360152" cy="4562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E3A5F"/>
                </a:solidFill>
                <a:latin typeface="Calibri"/>
                <a:ea typeface="Calibri"/>
                <a:cs typeface="Calibri"/>
              </a:rPr>
              <a:t>C)  </a:t>
            </a:r>
            <a:r>
              <a:rPr sz="1250">
                <a:solidFill>
                  <a:srgbClr val="1E2761"/>
                </a:solidFill>
                <a:latin typeface="Calibri"/>
                <a:ea typeface="Calibri"/>
                <a:cs typeface="Calibri"/>
              </a:rPr>
              <a:t>Eserlerinin geneline hâkim olan temalar, ilk başta tekdüzelik hissi oluştursa da bir araya geldiklerinde bir bütünün parçalarını andırır.</a:t>
            </a:r>
            <a:endParaRPr sz="1250"/>
          </a:p>
        </p:txBody>
      </p:sp>
      <p:sp>
        <p:nvSpPr>
          <p:cNvPr id="13" name="Text 10">
            <a:extLst xmlns:a="http://schemas.openxmlformats.org/drawingml/2006/main">
              <a:ext uri="{FF2B5EF4-FFF2-40B4-BE49-F238E27FC236}">
                <a16:creationId xmlns:a16="http://schemas.microsoft.com/office/drawing/2014/main" id="{544DB98E-AE1D-4F1A-8256-43409D5B4A63}"/>
              </a:ext>
            </a:extLst>
          </p:cNvPr>
          <p:cNvSpPr>
            <a:spLocks xmlns:a="http://schemas.openxmlformats.org/drawingml/2006/main" noGrp="1"/>
          </p:cNvSpPr>
          <p:nvPr/>
        </p:nvSpPr>
        <p:spPr>
          <a:xfrm xmlns:a="http://schemas.openxmlformats.org/drawingml/2006/main">
            <a:off x="914400" y="4801507"/>
            <a:ext cx="10360152" cy="4562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E3A5F"/>
                </a:solidFill>
                <a:latin typeface="Calibri"/>
                <a:ea typeface="Calibri"/>
                <a:cs typeface="Calibri"/>
              </a:rPr>
              <a:t>D)  </a:t>
            </a:r>
            <a:r>
              <a:rPr sz="1250">
                <a:solidFill>
                  <a:srgbClr val="1E2761"/>
                </a:solidFill>
                <a:latin typeface="Calibri"/>
                <a:ea typeface="Calibri"/>
                <a:cs typeface="Calibri"/>
              </a:rPr>
              <a:t>Deneme yazarları, hayal kurdukları için mi daha sonsuz bir evrene sahiptir yoksa öğrendiklerini özgün düşünce dünyalarına aktarabildikleri için mi?</a:t>
            </a:r>
            <a:endParaRPr sz="1250"/>
          </a:p>
        </p:txBody>
      </p:sp>
      <p:sp>
        <p:nvSpPr>
          <p:cNvPr id="14" name="Text 11">
            <a:extLst xmlns:a="http://schemas.openxmlformats.org/drawingml/2006/main">
              <a:ext uri="{FF2B5EF4-FFF2-40B4-BE49-F238E27FC236}">
                <a16:creationId xmlns:a16="http://schemas.microsoft.com/office/drawing/2014/main" id="{39B4E228-D5E1-4273-BA8B-76767DB31CA1}"/>
              </a:ext>
            </a:extLst>
          </p:cNvPr>
          <p:cNvSpPr>
            <a:spLocks xmlns:a="http://schemas.openxmlformats.org/drawingml/2006/main" noGrp="1"/>
          </p:cNvSpPr>
          <p:nvPr/>
        </p:nvSpPr>
        <p:spPr>
          <a:xfrm xmlns:a="http://schemas.openxmlformats.org/drawingml/2006/main">
            <a:off x="914400" y="5395413"/>
            <a:ext cx="10360152" cy="4562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E3A5F"/>
                </a:solidFill>
                <a:latin typeface="Calibri"/>
                <a:ea typeface="Calibri"/>
                <a:cs typeface="Calibri"/>
              </a:rPr>
              <a:t>E)  </a:t>
            </a:r>
            <a:r>
              <a:rPr sz="1250">
                <a:solidFill>
                  <a:srgbClr val="1E2761"/>
                </a:solidFill>
                <a:latin typeface="Calibri"/>
                <a:ea typeface="Calibri"/>
                <a:cs typeface="Calibri"/>
              </a:rPr>
              <a:t>Edebî eserdeki karakterin hayatın normal akışı içinde sıradan bir görüntüye bürünmesi yerine evrensel bir kimlikle donatılması onu belirli bir tip hâline getirir.</a:t>
            </a:r>
            <a:endParaRPr sz="1250"/>
          </a:p>
        </p:txBody>
      </p:sp>
      <p:sp>
        <p:nvSpPr>
          <p:cNvPr id="21" name="Text 18">
            <a:extLst xmlns:a="http://schemas.openxmlformats.org/drawingml/2006/main">
              <a:ext uri="{FF2B5EF4-FFF2-40B4-BE49-F238E27FC236}">
                <a16:creationId xmlns:a16="http://schemas.microsoft.com/office/drawing/2014/main" id="{B52ECF19-23FB-4200-BE72-DA7745ACF228}"/>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1 — gerçek ÖSYM sorusu (Tip 3)</a:t>
            </a:r>
            <a:endParaRPr sz="900"/>
          </a:p>
        </p:txBody>
      </p:sp>
      <p:sp>
        <p:nvSpPr>
          <p:cNvPr id="22" name="Text 19">
            <a:extLst xmlns:a="http://schemas.openxmlformats.org/drawingml/2006/main">
              <a:ext uri="{FF2B5EF4-FFF2-40B4-BE49-F238E27FC236}">
                <a16:creationId xmlns:a16="http://schemas.microsoft.com/office/drawing/2014/main" id="{C032CF35-D557-48AA-ABBB-D7684E7733D2}"/>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5083650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6D792D-5E84-4F92-804D-E721F1E44785}"/>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667eba809a634c66"/>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83920497-0C21-4DCE-BDA4-139EF1EAF489}"/>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1/3  ·  ÇÖZÜM</a:t>
            </a:r>
            <a:endParaRPr sz="1300"/>
          </a:p>
        </p:txBody>
      </p:sp>
      <p:sp>
        <p:nvSpPr>
          <p:cNvPr id="5" name="Text 2">
            <a:extLst xmlns:a="http://schemas.openxmlformats.org/drawingml/2006/main">
              <a:ext uri="{FF2B5EF4-FFF2-40B4-BE49-F238E27FC236}">
                <a16:creationId xmlns:a16="http://schemas.microsoft.com/office/drawing/2014/main" id="{3AC99499-6954-4578-823B-9D9DC40A50D4}"/>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BE018FE0-17C8-4ED9-B14B-0CB9EF83C554}"/>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9000E907-4B07-47D0-8C6A-03F7B5EDE55E}"/>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- 2022)</a:t>
            </a:r>
            <a:endParaRPr sz="1050"/>
          </a:p>
        </p:txBody>
      </p:sp>
      <p:sp>
        <p:nvSpPr>
          <p:cNvPr id="15" name="Shape 12">
            <a:extLst xmlns:a="http://schemas.openxmlformats.org/drawingml/2006/main">
              <a:ext uri="{FF2B5EF4-FFF2-40B4-BE49-F238E27FC236}">
                <a16:creationId xmlns:a16="http://schemas.microsoft.com/office/drawing/2014/main" id="{50719C5C-F138-4A5F-82A7-C2198D278805}"/>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EC10D175-DAFC-49A7-88C1-B59DDF3B7B47}"/>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2B91DEEF-ABE2-46F7-A9B4-34590AF4C3FF}"/>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1F18AE87-E2F0-43A3-B206-8E18CA4EFE58}"/>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C</a:t>
            </a:r>
            <a:endParaRPr sz="2700"/>
          </a:p>
        </p:txBody>
      </p:sp>
      <p:sp>
        <p:nvSpPr>
          <p:cNvPr id="19" name="Text 16">
            <a:extLst xmlns:a="http://schemas.openxmlformats.org/drawingml/2006/main">
              <a:ext uri="{FF2B5EF4-FFF2-40B4-BE49-F238E27FC236}">
                <a16:creationId xmlns:a16="http://schemas.microsoft.com/office/drawing/2014/main" id="{2D0C3E72-968D-4965-A6FA-189314F46E83}"/>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890D9370-D8C9-4FAC-AEAC-D002FDD12DB3}"/>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C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"Yeknesak" = tekdüze, hep aynı, çeşitlilik göstermeyen. C seçeneğindeki "TEKDÜZELİK" kelimesi bunun doğrudan eş anlamlısıdır — "temalar ilk başta tekdüzelik hissi oluştursa da..." cümlesi aynı kavramı taşır. B'deki "tek anlamlılık" kulağa benzer gelse de FARKLI bir kavramdır (yeknesaklık değil, çok anlamlılığın zıttı) — tuzaktır.</a:t>
            </a:r>
            <a:endParaRPr sz="1850"/>
          </a:p>
        </p:txBody>
      </p:sp>
      <p:sp>
        <p:nvSpPr>
          <p:cNvPr id="21" name="Text 18">
            <a:extLst xmlns:a="http://schemas.openxmlformats.org/drawingml/2006/main">
              <a:ext uri="{FF2B5EF4-FFF2-40B4-BE49-F238E27FC236}">
                <a16:creationId xmlns:a16="http://schemas.microsoft.com/office/drawing/2014/main" id="{DC962FF3-348D-4FD1-AB60-5E902916B4AA}"/>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1 — çözüm — gerçek ÖSYM sorusu (Tip 3)</a:t>
            </a:r>
            <a:endParaRPr sz="900"/>
          </a:p>
        </p:txBody>
      </p:sp>
      <p:sp>
        <p:nvSpPr>
          <p:cNvPr id="22" name="Text 19">
            <a:extLst xmlns:a="http://schemas.openxmlformats.org/drawingml/2006/main">
              <a:ext uri="{FF2B5EF4-FFF2-40B4-BE49-F238E27FC236}">
                <a16:creationId xmlns:a16="http://schemas.microsoft.com/office/drawing/2014/main" id="{C7280EEB-6457-4194-9022-94BACEF3335C}"/>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13830941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F47FFA0-C9D7-4E4C-8DE4-5CD8A9156A67}"/>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a70d9d8868a84525"/>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04011C6F-66C8-4126-A87F-69FE024711E7}"/>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2/3</a:t>
            </a:r>
            <a:endParaRPr sz="1300"/>
          </a:p>
        </p:txBody>
      </p:sp>
      <p:sp>
        <p:nvSpPr>
          <p:cNvPr id="5" name="Text 2">
            <a:extLst xmlns:a="http://schemas.openxmlformats.org/drawingml/2006/main">
              <a:ext uri="{FF2B5EF4-FFF2-40B4-BE49-F238E27FC236}">
                <a16:creationId xmlns:a16="http://schemas.microsoft.com/office/drawing/2014/main" id="{0FB0D4B4-1D79-48E2-BD4C-B478234DA0D5}"/>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17007CF6-8906-49A6-ABD9-34140662F0F1}"/>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6A6A348A-1617-4069-AC84-AE57DFEF1899}"/>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- 2026)</a:t>
            </a:r>
            <a:endParaRPr sz="1050"/>
          </a:p>
        </p:txBody>
      </p:sp>
      <p:sp>
        <p:nvSpPr>
          <p:cNvPr id="8" name="Shape 5">
            <a:extLst xmlns:a="http://schemas.openxmlformats.org/drawingml/2006/main">
              <a:ext uri="{FF2B5EF4-FFF2-40B4-BE49-F238E27FC236}">
                <a16:creationId xmlns:a16="http://schemas.microsoft.com/office/drawing/2014/main" id="{DDDB50D3-8189-44E3-A361-E79C866B7AD7}"/>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3BC3C502-32CA-4672-BEC1-90C15B6FEFBB}"/>
              </a:ext>
            </a:extLst>
          </p:cNvPr>
          <p:cNvSpPr>
            <a:spLocks xmlns:a="http://schemas.openxmlformats.org/drawingml/2006/main" noGrp="1"/>
          </p:cNvSpPr>
          <p:nvPr/>
        </p:nvSpPr>
        <p:spPr>
          <a:xfrm xmlns:a="http://schemas.openxmlformats.org/drawingml/2006/main">
            <a:off x="914400" y="1965960"/>
            <a:ext cx="10360152" cy="1448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Newton'ın "Eğer ileriyi gördüysek devlerin omuzlarında durduğumuz içindir." sözünü duymuşsunuzdur. Bu söz bilimsel ilerlemenin ana ilkelerinden birinin altını çizer. Zihinsel ve eylemsel perspektife yönelik bir dikkat çekme ifadesidir. Newton'a katılıyorum. Bana göre de devler ve onların omuzları olmasaydı insanlık için duvarın ardını görmek pek mümkün olmazdı.</a:t>
            </a:r>
            <a:endParaRPr sz="1500"/>
          </a:p>
          <a:p xmlns:a="http://schemas.openxmlformats.org/drawingml/2006/main">
            <a:pPr marL="0" indent="0">
              <a:buNone/>
            </a:pPr>
            <a:endParaRPr sz="1500"/>
          </a:p>
          <a:p xmlns:a="http://schemas.openxmlformats.org/drawingml/2006/main">
            <a:pPr marL="0" indent="0">
              <a:buNone/>
            </a:pPr>
            <a:r>
              <a:rPr sz="1500" b="1">
                <a:solidFill>
                  <a:srgbClr val="1E3A5F"/>
                </a:solidFill>
                <a:latin typeface="Calibri"/>
                <a:ea typeface="Calibri"/>
                <a:cs typeface="Calibri"/>
              </a:rPr>
              <a:t>Bu parçada altı çizili sözle ("devlerin omuzlarında durmak") anlatılmak istenen aşağıdakilerin hangisidir?</a:t>
            </a:r>
            <a:endParaRPr sz="1500"/>
          </a:p>
        </p:txBody>
      </p:sp>
      <p:sp>
        <p:nvSpPr>
          <p:cNvPr id="10" name="Text 7">
            <a:extLst xmlns:a="http://schemas.openxmlformats.org/drawingml/2006/main">
              <a:ext uri="{FF2B5EF4-FFF2-40B4-BE49-F238E27FC236}">
                <a16:creationId xmlns:a16="http://schemas.microsoft.com/office/drawing/2014/main" id="{BB14DCC0-8159-4DA5-908C-D470ED2E0A56}"/>
              </a:ext>
            </a:extLst>
          </p:cNvPr>
          <p:cNvSpPr>
            <a:spLocks xmlns:a="http://schemas.openxmlformats.org/drawingml/2006/main" noGrp="1"/>
          </p:cNvSpPr>
          <p:nvPr/>
        </p:nvSpPr>
        <p:spPr>
          <a:xfrm xmlns:a="http://schemas.openxmlformats.org/drawingml/2006/main">
            <a:off x="914400" y="3652329"/>
            <a:ext cx="10360152" cy="269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A)  </a:t>
            </a:r>
            <a:r>
              <a:rPr sz="1500">
                <a:solidFill>
                  <a:srgbClr val="1E2761"/>
                </a:solidFill>
                <a:latin typeface="Calibri"/>
                <a:ea typeface="Calibri"/>
                <a:cs typeface="Calibri"/>
              </a:rPr>
              <a:t>Toplumsal fayda sağlayacak çalışmalara yönelmek</a:t>
            </a:r>
            <a:endParaRPr sz="1500"/>
          </a:p>
        </p:txBody>
      </p:sp>
      <p:sp>
        <p:nvSpPr>
          <p:cNvPr id="11" name="Text 8">
            <a:extLst xmlns:a="http://schemas.openxmlformats.org/drawingml/2006/main">
              <a:ext uri="{FF2B5EF4-FFF2-40B4-BE49-F238E27FC236}">
                <a16:creationId xmlns:a16="http://schemas.microsoft.com/office/drawing/2014/main" id="{506405DA-9C90-4BE2-B143-324E874867CC}"/>
              </a:ext>
            </a:extLst>
          </p:cNvPr>
          <p:cNvSpPr>
            <a:spLocks xmlns:a="http://schemas.openxmlformats.org/drawingml/2006/main" noGrp="1"/>
          </p:cNvSpPr>
          <p:nvPr/>
        </p:nvSpPr>
        <p:spPr>
          <a:xfrm xmlns:a="http://schemas.openxmlformats.org/drawingml/2006/main">
            <a:off x="914400" y="4119728"/>
            <a:ext cx="10360152" cy="269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B)  </a:t>
            </a:r>
            <a:r>
              <a:rPr sz="1500">
                <a:solidFill>
                  <a:srgbClr val="1E2761"/>
                </a:solidFill>
                <a:latin typeface="Calibri"/>
                <a:ea typeface="Calibri"/>
                <a:cs typeface="Calibri"/>
              </a:rPr>
              <a:t>Olumsuz tecrübeleri sorgulayarak bugünü inşa etmek</a:t>
            </a:r>
            <a:endParaRPr sz="1500"/>
          </a:p>
        </p:txBody>
      </p:sp>
      <p:sp>
        <p:nvSpPr>
          <p:cNvPr id="12" name="Text 9">
            <a:extLst xmlns:a="http://schemas.openxmlformats.org/drawingml/2006/main">
              <a:ext uri="{FF2B5EF4-FFF2-40B4-BE49-F238E27FC236}">
                <a16:creationId xmlns:a16="http://schemas.microsoft.com/office/drawing/2014/main" id="{4ED1B79A-FCFD-4D2E-9622-DD396B81D9F6}"/>
              </a:ext>
            </a:extLst>
          </p:cNvPr>
          <p:cNvSpPr>
            <a:spLocks xmlns:a="http://schemas.openxmlformats.org/drawingml/2006/main" noGrp="1"/>
          </p:cNvSpPr>
          <p:nvPr/>
        </p:nvSpPr>
        <p:spPr>
          <a:xfrm xmlns:a="http://schemas.openxmlformats.org/drawingml/2006/main">
            <a:off x="914400" y="4587126"/>
            <a:ext cx="10360152" cy="269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C)  </a:t>
            </a:r>
            <a:r>
              <a:rPr sz="1500">
                <a:solidFill>
                  <a:srgbClr val="1E2761"/>
                </a:solidFill>
                <a:latin typeface="Calibri"/>
                <a:ea typeface="Calibri"/>
                <a:cs typeface="Calibri"/>
              </a:rPr>
              <a:t>Bilimde daha iyiye ulaşma konusunda azim göstermek</a:t>
            </a:r>
            <a:endParaRPr sz="1500"/>
          </a:p>
        </p:txBody>
      </p:sp>
      <p:sp>
        <p:nvSpPr>
          <p:cNvPr id="13" name="Text 10">
            <a:extLst xmlns:a="http://schemas.openxmlformats.org/drawingml/2006/main">
              <a:ext uri="{FF2B5EF4-FFF2-40B4-BE49-F238E27FC236}">
                <a16:creationId xmlns:a16="http://schemas.microsoft.com/office/drawing/2014/main" id="{16DD86D8-95A3-4A1B-86E9-E6398FE7DA16}"/>
              </a:ext>
            </a:extLst>
          </p:cNvPr>
          <p:cNvSpPr>
            <a:spLocks xmlns:a="http://schemas.openxmlformats.org/drawingml/2006/main" noGrp="1"/>
          </p:cNvSpPr>
          <p:nvPr/>
        </p:nvSpPr>
        <p:spPr>
          <a:xfrm xmlns:a="http://schemas.openxmlformats.org/drawingml/2006/main">
            <a:off x="914400" y="5054524"/>
            <a:ext cx="10360152" cy="269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D)  </a:t>
            </a:r>
            <a:r>
              <a:rPr sz="1500">
                <a:solidFill>
                  <a:srgbClr val="1E2761"/>
                </a:solidFill>
                <a:latin typeface="Calibri"/>
                <a:ea typeface="Calibri"/>
                <a:cs typeface="Calibri"/>
              </a:rPr>
              <a:t>Engelleri aşarken ihtiyatlı bir davranış sergilemek</a:t>
            </a:r>
            <a:endParaRPr sz="1500"/>
          </a:p>
        </p:txBody>
      </p:sp>
      <p:sp>
        <p:nvSpPr>
          <p:cNvPr id="14" name="Text 11">
            <a:extLst xmlns:a="http://schemas.openxmlformats.org/drawingml/2006/main">
              <a:ext uri="{FF2B5EF4-FFF2-40B4-BE49-F238E27FC236}">
                <a16:creationId xmlns:a16="http://schemas.microsoft.com/office/drawing/2014/main" id="{B4741962-4B14-49DE-97B1-9093E7D70410}"/>
              </a:ext>
            </a:extLst>
          </p:cNvPr>
          <p:cNvSpPr>
            <a:spLocks xmlns:a="http://schemas.openxmlformats.org/drawingml/2006/main" noGrp="1"/>
          </p:cNvSpPr>
          <p:nvPr/>
        </p:nvSpPr>
        <p:spPr>
          <a:xfrm xmlns:a="http://schemas.openxmlformats.org/drawingml/2006/main">
            <a:off x="914400" y="5521922"/>
            <a:ext cx="10360152" cy="269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E)  </a:t>
            </a:r>
            <a:r>
              <a:rPr sz="1500">
                <a:solidFill>
                  <a:srgbClr val="1E2761"/>
                </a:solidFill>
                <a:latin typeface="Calibri"/>
                <a:ea typeface="Calibri"/>
                <a:cs typeface="Calibri"/>
              </a:rPr>
              <a:t>Birikimin sağladığı imkânla görüş açısını genişletmek</a:t>
            </a:r>
            <a:endParaRPr sz="1500"/>
          </a:p>
        </p:txBody>
      </p:sp>
      <p:sp>
        <p:nvSpPr>
          <p:cNvPr id="21" name="Text 18">
            <a:extLst xmlns:a="http://schemas.openxmlformats.org/drawingml/2006/main">
              <a:ext uri="{FF2B5EF4-FFF2-40B4-BE49-F238E27FC236}">
                <a16:creationId xmlns:a16="http://schemas.microsoft.com/office/drawing/2014/main" id="{CEF918D9-B603-4600-93DE-68464AEAE5D4}"/>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2 — gerçek ÖSYM sorusu (Tip 4)</a:t>
            </a:r>
            <a:endParaRPr sz="900"/>
          </a:p>
        </p:txBody>
      </p:sp>
      <p:sp>
        <p:nvSpPr>
          <p:cNvPr id="22" name="Text 19">
            <a:extLst xmlns:a="http://schemas.openxmlformats.org/drawingml/2006/main">
              <a:ext uri="{FF2B5EF4-FFF2-40B4-BE49-F238E27FC236}">
                <a16:creationId xmlns:a16="http://schemas.microsoft.com/office/drawing/2014/main" id="{FC0802AB-2468-47E2-9470-01AC949D84D8}"/>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3319099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AE3EA06-8924-4BCB-B1B1-CE25D63AD4DD}"/>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870565f366b2425c"/>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12505F8-BBBF-4DF5-B474-444AE9164DEE}"/>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2/3  ·  ÇÖZÜM</a:t>
            </a:r>
            <a:endParaRPr sz="1300"/>
          </a:p>
        </p:txBody>
      </p:sp>
      <p:sp>
        <p:nvSpPr>
          <p:cNvPr id="5" name="Text 2">
            <a:extLst xmlns:a="http://schemas.openxmlformats.org/drawingml/2006/main">
              <a:ext uri="{FF2B5EF4-FFF2-40B4-BE49-F238E27FC236}">
                <a16:creationId xmlns:a16="http://schemas.microsoft.com/office/drawing/2014/main" id="{91DDD396-E4B9-48F8-BDAC-CEDF63FD94BF}"/>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F890A206-E49E-434A-B8D1-4EA9CB5C026E}"/>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FF5F718D-26B1-47CC-B3BA-81389152BF6E}"/>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- 2026)</a:t>
            </a:r>
            <a:endParaRPr sz="1050"/>
          </a:p>
        </p:txBody>
      </p:sp>
      <p:sp>
        <p:nvSpPr>
          <p:cNvPr id="15" name="Shape 12">
            <a:extLst xmlns:a="http://schemas.openxmlformats.org/drawingml/2006/main">
              <a:ext uri="{FF2B5EF4-FFF2-40B4-BE49-F238E27FC236}">
                <a16:creationId xmlns:a16="http://schemas.microsoft.com/office/drawing/2014/main" id="{93FDBC2F-5B5A-4B9F-835A-5FDA63315174}"/>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076F1599-1D62-4031-84C9-A96CFC68263C}"/>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792AF56A-6DAC-41F8-8068-B42D35C6F831}"/>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B48F3C19-ABEC-4F8E-8812-24E641A58329}"/>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E</a:t>
            </a:r>
            <a:endParaRPr sz="2700"/>
          </a:p>
        </p:txBody>
      </p:sp>
      <p:sp>
        <p:nvSpPr>
          <p:cNvPr id="19" name="Text 16">
            <a:extLst xmlns:a="http://schemas.openxmlformats.org/drawingml/2006/main">
              <a:ext uri="{FF2B5EF4-FFF2-40B4-BE49-F238E27FC236}">
                <a16:creationId xmlns:a16="http://schemas.microsoft.com/office/drawing/2014/main" id="{1C3BCF4C-3B91-49FE-8D48-3C9C9C91CD6D}"/>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70BBE6E8-A1AB-4E73-94CE-4F4166D051DC}"/>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E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"Devlerin omuzlarında durmak" ünlü bir söz — kendinden önceki kuşakların BİRİKİMİNİ kullanarak daha ileriyi görebilmeyi anlatır. E seçeneği tam olarak bunu ifade eder: "birikimin sağladığı imkânla görüş açısını genişletmek." Diğer seçenekler metnin ana fikrine (geçmiş birikimden yararlanma) değil, alakasız ya da kısmen ilgili genel fikirlere değinir.</a:t>
            </a:r>
            <a:endParaRPr sz="1850"/>
          </a:p>
        </p:txBody>
      </p:sp>
      <p:sp>
        <p:nvSpPr>
          <p:cNvPr id="21" name="Text 18">
            <a:extLst xmlns:a="http://schemas.openxmlformats.org/drawingml/2006/main">
              <a:ext uri="{FF2B5EF4-FFF2-40B4-BE49-F238E27FC236}">
                <a16:creationId xmlns:a16="http://schemas.microsoft.com/office/drawing/2014/main" id="{488B34E3-6F0A-458F-AB25-EA9229A5F98F}"/>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2 — çözüm — gerçek ÖSYM sorusu (Tip 4)</a:t>
            </a:r>
            <a:endParaRPr sz="900"/>
          </a:p>
        </p:txBody>
      </p:sp>
      <p:sp>
        <p:nvSpPr>
          <p:cNvPr id="22" name="Text 19">
            <a:extLst xmlns:a="http://schemas.openxmlformats.org/drawingml/2006/main">
              <a:ext uri="{FF2B5EF4-FFF2-40B4-BE49-F238E27FC236}">
                <a16:creationId xmlns:a16="http://schemas.microsoft.com/office/drawing/2014/main" id="{D17C43CD-E217-4D49-BDD1-EC0F489A4765}"/>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48394128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143E714-CC30-4F0D-87D8-5DC639485FD2}"/>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2dad7d4f9f6c49d4"/>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B034CB9C-AEBA-4540-9BE7-BFF63A733492}"/>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3/3</a:t>
            </a:r>
            <a:endParaRPr sz="1300"/>
          </a:p>
        </p:txBody>
      </p:sp>
      <p:sp>
        <p:nvSpPr>
          <p:cNvPr id="5" name="Text 2">
            <a:extLst xmlns:a="http://schemas.openxmlformats.org/drawingml/2006/main">
              <a:ext uri="{FF2B5EF4-FFF2-40B4-BE49-F238E27FC236}">
                <a16:creationId xmlns:a16="http://schemas.microsoft.com/office/drawing/2014/main" id="{46C29217-0495-4C8F-B948-10964C6208D0}"/>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Soru Çözümü</a:t>
            </a:r>
            <a:endParaRPr sz="2800"/>
          </a:p>
        </p:txBody>
      </p:sp>
      <p:sp>
        <p:nvSpPr>
          <p:cNvPr id="6" name="Shape 3">
            <a:extLst xmlns:a="http://schemas.openxmlformats.org/drawingml/2006/main">
              <a:ext uri="{FF2B5EF4-FFF2-40B4-BE49-F238E27FC236}">
                <a16:creationId xmlns:a16="http://schemas.microsoft.com/office/drawing/2014/main" id="{40DBD0D0-ED74-4D8B-A6D3-42663D16DDD2}"/>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33D9A781-4295-4008-8747-C5157D9F55CE}"/>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- 2024)</a:t>
            </a:r>
            <a:endParaRPr sz="1050"/>
          </a:p>
        </p:txBody>
      </p:sp>
      <p:sp>
        <p:nvSpPr>
          <p:cNvPr id="8" name="Shape 5">
            <a:extLst xmlns:a="http://schemas.openxmlformats.org/drawingml/2006/main">
              <a:ext uri="{FF2B5EF4-FFF2-40B4-BE49-F238E27FC236}">
                <a16:creationId xmlns:a16="http://schemas.microsoft.com/office/drawing/2014/main" id="{6602EC97-49D9-4FA8-8838-72C1F946A643}"/>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474"/>
            </a:avLst>
          </a:prstGeom>
          <a:solidFill xmlns:a="http://schemas.openxmlformats.org/drawingml/2006/main">
            <a:srgbClr val="EEF3F8"/>
          </a:solidFill>
        </p:spPr>
      </p:sp>
      <p:sp>
        <p:nvSpPr>
          <p:cNvPr id="9" name="Text 6">
            <a:extLst xmlns:a="http://schemas.openxmlformats.org/drawingml/2006/main">
              <a:ext uri="{FF2B5EF4-FFF2-40B4-BE49-F238E27FC236}">
                <a16:creationId xmlns:a16="http://schemas.microsoft.com/office/drawing/2014/main" id="{6E8F7A83-85B0-4D1A-A4FB-AF92E75B2B93}"/>
              </a:ext>
            </a:extLst>
          </p:cNvPr>
          <p:cNvSpPr>
            <a:spLocks xmlns:a="http://schemas.openxmlformats.org/drawingml/2006/main" noGrp="1"/>
          </p:cNvSpPr>
          <p:nvPr/>
        </p:nvSpPr>
        <p:spPr>
          <a:xfrm xmlns:a="http://schemas.openxmlformats.org/drawingml/2006/main">
            <a:off x="914400" y="1965960"/>
            <a:ext cx="10360152" cy="171823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E3A5F"/>
                </a:solidFill>
                <a:latin typeface="Calibri"/>
                <a:ea typeface="Calibri"/>
                <a:cs typeface="Calibri"/>
              </a:rPr>
              <a:t>Deyimlerin bir kısmı gözle ilgilidir. Örneğin gözü ısırmak (I) deyimiyle o kişiyi daha önce görmüş olduğumuzu ve tanıdığımızı anlatmak isteriz. Gözü dönmek (II) deyimi, aşırı istek veya öfke nedeniyle kişinin saldıracak duruma gelmesini belirtir. Göz kulak olmak (III), bir kimseyi veya nesneyi görüp gözetmek durumunu belirtir. Gözden düşmek (IV), bir iş veya durumu dikkatinden kaçırmak eylemini gösterir. Göz açtırmamak (V) ise birinin bir iş yapmasına fırsat vermemeyi ifade eder.</a:t>
            </a:r>
            <a:endParaRPr sz="1500"/>
          </a:p>
          <a:p xmlns:a="http://schemas.openxmlformats.org/drawingml/2006/main">
            <a:pPr marL="0" indent="0">
              <a:buNone/>
            </a:pPr>
            <a:endParaRPr sz="1500"/>
          </a:p>
          <a:p xmlns:a="http://schemas.openxmlformats.org/drawingml/2006/main">
            <a:pPr marL="0" indent="0">
              <a:buNone/>
            </a:pPr>
            <a:r>
              <a:rPr sz="1500" b="1">
                <a:solidFill>
                  <a:srgbClr val="1E3A5F"/>
                </a:solidFill>
                <a:latin typeface="Calibri"/>
                <a:ea typeface="Calibri"/>
                <a:cs typeface="Calibri"/>
              </a:rPr>
              <a:t>Bu parçada numaralanmış deyimlerden hangisinin açıklaması yanlıştır?</a:t>
            </a:r>
            <a:endParaRPr sz="1500"/>
          </a:p>
        </p:txBody>
      </p:sp>
      <p:sp>
        <p:nvSpPr>
          <p:cNvPr id="10" name="Text 7">
            <a:extLst xmlns:a="http://schemas.openxmlformats.org/drawingml/2006/main">
              <a:ext uri="{FF2B5EF4-FFF2-40B4-BE49-F238E27FC236}">
                <a16:creationId xmlns:a16="http://schemas.microsoft.com/office/drawing/2014/main" id="{64BAF4A0-E964-46CA-ADF8-3BF26A3094A2}"/>
              </a:ext>
            </a:extLst>
          </p:cNvPr>
          <p:cNvSpPr>
            <a:spLocks xmlns:a="http://schemas.openxmlformats.org/drawingml/2006/main" noGrp="1"/>
          </p:cNvSpPr>
          <p:nvPr/>
        </p:nvSpPr>
        <p:spPr>
          <a:xfrm xmlns:a="http://schemas.openxmlformats.org/drawingml/2006/main">
            <a:off x="914400" y="3921938"/>
            <a:ext cx="10360152" cy="2813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E3A5F"/>
                </a:solidFill>
                <a:latin typeface="Calibri"/>
                <a:ea typeface="Calibri"/>
                <a:cs typeface="Calibri"/>
              </a:rPr>
              <a:t>A)  </a:t>
            </a:r>
            <a:r>
              <a:rPr sz="1550">
                <a:solidFill>
                  <a:srgbClr val="1E2761"/>
                </a:solidFill>
                <a:latin typeface="Calibri"/>
                <a:ea typeface="Calibri"/>
                <a:cs typeface="Calibri"/>
              </a:rPr>
              <a:t>I</a:t>
            </a:r>
            <a:endParaRPr sz="1550"/>
          </a:p>
        </p:txBody>
      </p:sp>
      <p:sp>
        <p:nvSpPr>
          <p:cNvPr id="11" name="Text 8">
            <a:extLst xmlns:a="http://schemas.openxmlformats.org/drawingml/2006/main">
              <a:ext uri="{FF2B5EF4-FFF2-40B4-BE49-F238E27FC236}">
                <a16:creationId xmlns:a16="http://schemas.microsoft.com/office/drawing/2014/main" id="{A622B41D-B494-4997-BB4C-C8106FB74A88}"/>
              </a:ext>
            </a:extLst>
          </p:cNvPr>
          <p:cNvSpPr>
            <a:spLocks xmlns:a="http://schemas.openxmlformats.org/drawingml/2006/main" noGrp="1"/>
          </p:cNvSpPr>
          <p:nvPr/>
        </p:nvSpPr>
        <p:spPr>
          <a:xfrm xmlns:a="http://schemas.openxmlformats.org/drawingml/2006/main">
            <a:off x="914400" y="4335414"/>
            <a:ext cx="10360152" cy="2813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E3A5F"/>
                </a:solidFill>
                <a:latin typeface="Calibri"/>
                <a:ea typeface="Calibri"/>
                <a:cs typeface="Calibri"/>
              </a:rPr>
              <a:t>B)  </a:t>
            </a:r>
            <a:r>
              <a:rPr sz="1550">
                <a:solidFill>
                  <a:srgbClr val="1E2761"/>
                </a:solidFill>
                <a:latin typeface="Calibri"/>
                <a:ea typeface="Calibri"/>
                <a:cs typeface="Calibri"/>
              </a:rPr>
              <a:t>II</a:t>
            </a:r>
            <a:endParaRPr sz="1550"/>
          </a:p>
        </p:txBody>
      </p:sp>
      <p:sp>
        <p:nvSpPr>
          <p:cNvPr id="12" name="Text 9">
            <a:extLst xmlns:a="http://schemas.openxmlformats.org/drawingml/2006/main">
              <a:ext uri="{FF2B5EF4-FFF2-40B4-BE49-F238E27FC236}">
                <a16:creationId xmlns:a16="http://schemas.microsoft.com/office/drawing/2014/main" id="{CA08ABC6-BF29-4C72-B762-8AF30577192A}"/>
              </a:ext>
            </a:extLst>
          </p:cNvPr>
          <p:cNvSpPr>
            <a:spLocks xmlns:a="http://schemas.openxmlformats.org/drawingml/2006/main" noGrp="1"/>
          </p:cNvSpPr>
          <p:nvPr/>
        </p:nvSpPr>
        <p:spPr>
          <a:xfrm xmlns:a="http://schemas.openxmlformats.org/drawingml/2006/main">
            <a:off x="914400" y="4748891"/>
            <a:ext cx="10360152" cy="2813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E3A5F"/>
                </a:solidFill>
                <a:latin typeface="Calibri"/>
                <a:ea typeface="Calibri"/>
                <a:cs typeface="Calibri"/>
              </a:rPr>
              <a:t>C)  </a:t>
            </a:r>
            <a:r>
              <a:rPr sz="1550">
                <a:solidFill>
                  <a:srgbClr val="1E2761"/>
                </a:solidFill>
                <a:latin typeface="Calibri"/>
                <a:ea typeface="Calibri"/>
                <a:cs typeface="Calibri"/>
              </a:rPr>
              <a:t>III</a:t>
            </a:r>
            <a:endParaRPr sz="1550"/>
          </a:p>
        </p:txBody>
      </p:sp>
      <p:sp>
        <p:nvSpPr>
          <p:cNvPr id="13" name="Text 10">
            <a:extLst xmlns:a="http://schemas.openxmlformats.org/drawingml/2006/main">
              <a:ext uri="{FF2B5EF4-FFF2-40B4-BE49-F238E27FC236}">
                <a16:creationId xmlns:a16="http://schemas.microsoft.com/office/drawing/2014/main" id="{D5FF36BF-5800-4FC3-A571-9FC5C7773537}"/>
              </a:ext>
            </a:extLst>
          </p:cNvPr>
          <p:cNvSpPr>
            <a:spLocks xmlns:a="http://schemas.openxmlformats.org/drawingml/2006/main" noGrp="1"/>
          </p:cNvSpPr>
          <p:nvPr/>
        </p:nvSpPr>
        <p:spPr>
          <a:xfrm xmlns:a="http://schemas.openxmlformats.org/drawingml/2006/main">
            <a:off x="914400" y="5162367"/>
            <a:ext cx="10360152" cy="2813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E3A5F"/>
                </a:solidFill>
                <a:latin typeface="Calibri"/>
                <a:ea typeface="Calibri"/>
                <a:cs typeface="Calibri"/>
              </a:rPr>
              <a:t>D)  </a:t>
            </a:r>
            <a:r>
              <a:rPr sz="1550">
                <a:solidFill>
                  <a:srgbClr val="1E2761"/>
                </a:solidFill>
                <a:latin typeface="Calibri"/>
                <a:ea typeface="Calibri"/>
                <a:cs typeface="Calibri"/>
              </a:rPr>
              <a:t>IV</a:t>
            </a:r>
            <a:endParaRPr sz="1550"/>
          </a:p>
        </p:txBody>
      </p:sp>
      <p:sp>
        <p:nvSpPr>
          <p:cNvPr id="14" name="Text 11">
            <a:extLst xmlns:a="http://schemas.openxmlformats.org/drawingml/2006/main">
              <a:ext uri="{FF2B5EF4-FFF2-40B4-BE49-F238E27FC236}">
                <a16:creationId xmlns:a16="http://schemas.microsoft.com/office/drawing/2014/main" id="{B6CFF6CC-70CA-4A43-9017-83E4A78BCF5D}"/>
              </a:ext>
            </a:extLst>
          </p:cNvPr>
          <p:cNvSpPr>
            <a:spLocks xmlns:a="http://schemas.openxmlformats.org/drawingml/2006/main" noGrp="1"/>
          </p:cNvSpPr>
          <p:nvPr/>
        </p:nvSpPr>
        <p:spPr>
          <a:xfrm xmlns:a="http://schemas.openxmlformats.org/drawingml/2006/main">
            <a:off x="914400" y="5575844"/>
            <a:ext cx="10360152" cy="28133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E3A5F"/>
                </a:solidFill>
                <a:latin typeface="Calibri"/>
                <a:ea typeface="Calibri"/>
                <a:cs typeface="Calibri"/>
              </a:rPr>
              <a:t>E)  </a:t>
            </a:r>
            <a:r>
              <a:rPr sz="1550">
                <a:solidFill>
                  <a:srgbClr val="1E2761"/>
                </a:solidFill>
                <a:latin typeface="Calibri"/>
                <a:ea typeface="Calibri"/>
                <a:cs typeface="Calibri"/>
              </a:rPr>
              <a:t>V</a:t>
            </a:r>
            <a:endParaRPr sz="1550"/>
          </a:p>
        </p:txBody>
      </p:sp>
      <p:sp>
        <p:nvSpPr>
          <p:cNvPr id="21" name="Text 18">
            <a:extLst xmlns:a="http://schemas.openxmlformats.org/drawingml/2006/main">
              <a:ext uri="{FF2B5EF4-FFF2-40B4-BE49-F238E27FC236}">
                <a16:creationId xmlns:a16="http://schemas.microsoft.com/office/drawing/2014/main" id="{3CB6770D-ACCF-4229-B2FE-1BFA644EBAC7}"/>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3 — gerçek ÖSYM sorusu (Tip 6)</a:t>
            </a:r>
            <a:endParaRPr sz="900"/>
          </a:p>
        </p:txBody>
      </p:sp>
      <p:sp>
        <p:nvSpPr>
          <p:cNvPr id="22" name="Text 19">
            <a:extLst xmlns:a="http://schemas.openxmlformats.org/drawingml/2006/main">
              <a:ext uri="{FF2B5EF4-FFF2-40B4-BE49-F238E27FC236}">
                <a16:creationId xmlns:a16="http://schemas.microsoft.com/office/drawing/2014/main" id="{FA4CB82A-17E9-46AF-A072-A171989963DD}"/>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6854054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74062B-440B-42FA-9449-C7ECE7DC0CC2}"/>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f89bad2893a84437"/>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F1915D1-04DC-446A-AFCE-3D02BAE9CBE3}"/>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ÖRNEK SORU · 3/3  ·  ÇÖZÜM</a:t>
            </a:r>
            <a:endParaRPr sz="1300"/>
          </a:p>
        </p:txBody>
      </p:sp>
      <p:sp>
        <p:nvSpPr>
          <p:cNvPr id="5" name="Text 2">
            <a:extLst xmlns:a="http://schemas.openxmlformats.org/drawingml/2006/main">
              <a:ext uri="{FF2B5EF4-FFF2-40B4-BE49-F238E27FC236}">
                <a16:creationId xmlns:a16="http://schemas.microsoft.com/office/drawing/2014/main" id="{ED05145E-109B-4468-9D11-EC028F274936}"/>
              </a:ext>
            </a:extLst>
          </p:cNvPr>
          <p:cNvSpPr>
            <a:spLocks xmlns:a="http://schemas.openxmlformats.org/drawingml/2006/main" noGrp="1"/>
          </p:cNvSpPr>
          <p:nvPr/>
        </p:nvSpPr>
        <p:spPr>
          <a:xfrm xmlns:a="http://schemas.openxmlformats.org/drawingml/2006/main">
            <a:off x="1463040" y="841248"/>
            <a:ext cx="78638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Çözüm</a:t>
            </a:r>
            <a:endParaRPr sz="2800"/>
          </a:p>
        </p:txBody>
      </p:sp>
      <p:sp>
        <p:nvSpPr>
          <p:cNvPr id="6" name="Shape 3">
            <a:extLst xmlns:a="http://schemas.openxmlformats.org/drawingml/2006/main">
              <a:ext uri="{FF2B5EF4-FFF2-40B4-BE49-F238E27FC236}">
                <a16:creationId xmlns:a16="http://schemas.microsoft.com/office/drawing/2014/main" id="{9D956D88-16BF-4F6A-8785-AA4D50C8E729}"/>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D9A441"/>
            </a:solidFill>
            <a:prstDash val="solid"/>
          </a:ln>
        </p:spPr>
      </p:sp>
      <p:sp>
        <p:nvSpPr>
          <p:cNvPr id="7" name="Text 4">
            <a:extLst xmlns:a="http://schemas.openxmlformats.org/drawingml/2006/main">
              <a:ext uri="{FF2B5EF4-FFF2-40B4-BE49-F238E27FC236}">
                <a16:creationId xmlns:a16="http://schemas.microsoft.com/office/drawing/2014/main" id="{DC61B7DE-37FD-4D07-BE50-5F819DC7917D}"/>
              </a:ext>
            </a:extLst>
          </p:cNvPr>
          <p:cNvSpPr>
            <a:spLocks xmlns:a="http://schemas.openxmlformats.org/drawingml/2006/main" noGrp="1"/>
          </p:cNvSpPr>
          <p:nvPr/>
        </p:nvSpPr>
        <p:spPr>
          <a:xfrm xmlns:a="http://schemas.openxmlformats.org/drawingml/2006/main">
            <a:off x="9464040" y="621792"/>
            <a:ext cx="2057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3A5F"/>
                </a:solidFill>
                <a:latin typeface="Calibri"/>
                <a:ea typeface="Calibri"/>
                <a:cs typeface="Calibri"/>
              </a:rPr>
              <a:t>ÖSYM (TYT - 2024)</a:t>
            </a:r>
            <a:endParaRPr sz="1050"/>
          </a:p>
        </p:txBody>
      </p:sp>
      <p:sp>
        <p:nvSpPr>
          <p:cNvPr id="15" name="Shape 12">
            <a:extLst xmlns:a="http://schemas.openxmlformats.org/drawingml/2006/main">
              <a:ext uri="{FF2B5EF4-FFF2-40B4-BE49-F238E27FC236}">
                <a16:creationId xmlns:a16="http://schemas.microsoft.com/office/drawing/2014/main" id="{80ADFFFD-1461-4F5F-B90B-2CFB3109E8D3}"/>
              </a:ext>
            </a:extLst>
          </p:cNvPr>
          <p:cNvSpPr>
            <a:spLocks xmlns:a="http://schemas.openxmlformats.org/drawingml/2006/main" noGrp="1"/>
          </p:cNvSpPr>
          <p:nvPr/>
        </p:nvSpPr>
        <p:spPr>
          <a:xfrm xmlns:a="http://schemas.openxmlformats.org/drawingml/2006/main">
            <a:off x="640080" y="1783080"/>
            <a:ext cx="10908792" cy="4434840"/>
          </a:xfrm>
          <a:prstGeom xmlns:a="http://schemas.openxmlformats.org/drawingml/2006/main" prst="roundRect">
            <a:avLst>
              <a:gd name="adj" fmla="val 2526"/>
            </a:avLst>
          </a:prstGeom>
          <a:solidFill xmlns:a="http://schemas.openxmlformats.org/drawingml/2006/main">
            <a:srgbClr val="1E3A5F"/>
          </a:solidFill>
        </p:spPr>
      </p:sp>
      <p:sp>
        <p:nvSpPr>
          <p:cNvPr id="16" name="Text 13">
            <a:extLst xmlns:a="http://schemas.openxmlformats.org/drawingml/2006/main">
              <a:ext uri="{FF2B5EF4-FFF2-40B4-BE49-F238E27FC236}">
                <a16:creationId xmlns:a16="http://schemas.microsoft.com/office/drawing/2014/main" id="{EF369C56-0588-451A-9413-9D77C575F9D5}"/>
              </a:ext>
            </a:extLst>
          </p:cNvPr>
          <p:cNvSpPr>
            <a:spLocks xmlns:a="http://schemas.openxmlformats.org/drawingml/2006/main" noGrp="1"/>
          </p:cNvSpPr>
          <p:nvPr/>
        </p:nvSpPr>
        <p:spPr>
          <a:xfrm xmlns:a="http://schemas.openxmlformats.org/drawingml/2006/main">
            <a:off x="914400" y="1965960"/>
            <a:ext cx="103601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D9A441"/>
                </a:solidFill>
                <a:latin typeface="Calibri"/>
                <a:ea typeface="Calibri"/>
                <a:cs typeface="Calibri"/>
              </a:rPr>
              <a:t>ÇÖZÜM</a:t>
            </a:r>
            <a:endParaRPr sz="1600"/>
          </a:p>
        </p:txBody>
      </p:sp>
      <p:sp>
        <p:nvSpPr>
          <p:cNvPr id="17" name="Shape 14">
            <a:extLst xmlns:a="http://schemas.openxmlformats.org/drawingml/2006/main">
              <a:ext uri="{FF2B5EF4-FFF2-40B4-BE49-F238E27FC236}">
                <a16:creationId xmlns:a16="http://schemas.microsoft.com/office/drawing/2014/main" id="{DB1E92A8-A55B-4D9D-B4A1-473077CFAEBA}"/>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ellipse">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8D6F7B55-0E2F-4C74-8D7A-B6BD3A08110A}"/>
              </a:ext>
            </a:extLst>
          </p:cNvPr>
          <p:cNvSpPr>
            <a:spLocks xmlns:a="http://schemas.openxmlformats.org/drawingml/2006/main" noGrp="1"/>
          </p:cNvSpPr>
          <p:nvPr/>
        </p:nvSpPr>
        <p:spPr>
          <a:xfrm xmlns:a="http://schemas.openxmlformats.org/drawingml/2006/main">
            <a:off x="914400" y="2514600"/>
            <a:ext cx="777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700" b="1">
                <a:solidFill>
                  <a:srgbClr val="1E3A5F"/>
                </a:solidFill>
                <a:latin typeface="Cambria"/>
                <a:ea typeface="Cambria"/>
                <a:cs typeface="Cambria"/>
              </a:rPr>
              <a:t>D</a:t>
            </a:r>
            <a:endParaRPr sz="2700"/>
          </a:p>
        </p:txBody>
      </p:sp>
      <p:sp>
        <p:nvSpPr>
          <p:cNvPr id="19" name="Text 16">
            <a:extLst xmlns:a="http://schemas.openxmlformats.org/drawingml/2006/main">
              <a:ext uri="{FF2B5EF4-FFF2-40B4-BE49-F238E27FC236}">
                <a16:creationId xmlns:a16="http://schemas.microsoft.com/office/drawing/2014/main" id="{C1A6779B-046B-4AD6-BC91-B4A5F681D035}"/>
              </a:ext>
            </a:extLst>
          </p:cNvPr>
          <p:cNvSpPr>
            <a:spLocks xmlns:a="http://schemas.openxmlformats.org/drawingml/2006/main" noGrp="1"/>
          </p:cNvSpPr>
          <p:nvPr/>
        </p:nvSpPr>
        <p:spPr>
          <a:xfrm xmlns:a="http://schemas.openxmlformats.org/drawingml/2006/main">
            <a:off x="1874520" y="2514600"/>
            <a:ext cx="4572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a:solidFill>
                  <a:srgbClr val="CADCFC"/>
                </a:solidFill>
                <a:latin typeface="Calibri"/>
                <a:ea typeface="Calibri"/>
                <a:cs typeface="Calibri"/>
              </a:rPr>
              <a:t>Doğru cevap</a:t>
            </a:r>
            <a:endParaRPr sz="1900"/>
          </a:p>
        </p:txBody>
      </p:sp>
      <p:sp>
        <p:nvSpPr>
          <p:cNvPr id="20" name="Text 17">
            <a:extLst xmlns:a="http://schemas.openxmlformats.org/drawingml/2006/main">
              <a:ext uri="{FF2B5EF4-FFF2-40B4-BE49-F238E27FC236}">
                <a16:creationId xmlns:a16="http://schemas.microsoft.com/office/drawing/2014/main" id="{85715622-B21C-4D38-B06B-51731C343B8F}"/>
              </a:ext>
            </a:extLst>
          </p:cNvPr>
          <p:cNvSpPr>
            <a:spLocks xmlns:a="http://schemas.openxmlformats.org/drawingml/2006/main" noGrp="1"/>
          </p:cNvSpPr>
          <p:nvPr/>
        </p:nvSpPr>
        <p:spPr>
          <a:xfrm xmlns:a="http://schemas.openxmlformats.org/drawingml/2006/main">
            <a:off x="914400" y="3566160"/>
            <a:ext cx="10360152" cy="2423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50" b="1">
                <a:solidFill>
                  <a:srgbClr val="D9A441"/>
                </a:solidFill>
                <a:latin typeface="Calibri"/>
                <a:ea typeface="Calibri"/>
                <a:cs typeface="Calibri"/>
              </a:rPr>
              <a:t>D  </a:t>
            </a:r>
            <a:r>
              <a:rPr sz="1850" b="1">
                <a:solidFill>
                  <a:srgbClr val="FFFFFF"/>
                </a:solidFill>
                <a:latin typeface="Calibri"/>
                <a:ea typeface="Calibri"/>
                <a:cs typeface="Calibri"/>
              </a:rPr>
              <a:t>→ doğru cevap.
</a:t>
            </a:r>
            <a:r>
              <a:rPr sz="1850">
                <a:solidFill>
                  <a:srgbClr val="CADCFC"/>
                </a:solidFill>
                <a:latin typeface="Calibri"/>
                <a:ea typeface="Calibri"/>
                <a:cs typeface="Calibri"/>
              </a:rPr>
              <a:t>"Gözden düşmek" gerçekte "eskisi kadar saygı/itibar görmemek, değerini yitirmek" demektir — metindeki açıklama ("bir iş veya durumu dikkatinden kaçırmak") aslında BAŞKA bir deyimin ("gözden kaçırmak") anlamıdır. I, II, III ve V'in açıklamaları deyimlerin gerçek/yerleşik anlamlarıyla örtüşmektedir.</a:t>
            </a:r>
            <a:endParaRPr sz="1850"/>
          </a:p>
        </p:txBody>
      </p:sp>
      <p:sp>
        <p:nvSpPr>
          <p:cNvPr id="21" name="Text 18">
            <a:extLst xmlns:a="http://schemas.openxmlformats.org/drawingml/2006/main">
              <a:ext uri="{FF2B5EF4-FFF2-40B4-BE49-F238E27FC236}">
                <a16:creationId xmlns:a16="http://schemas.microsoft.com/office/drawing/2014/main" id="{BD92D772-77BC-4D72-A03F-595C2736D97B}"/>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Örnek Soru 3 — çözüm — gerçek ÖSYM sorusu (Tip 6)</a:t>
            </a:r>
            <a:endParaRPr sz="900"/>
          </a:p>
        </p:txBody>
      </p:sp>
      <p:sp>
        <p:nvSpPr>
          <p:cNvPr id="22" name="Text 19">
            <a:extLst xmlns:a="http://schemas.openxmlformats.org/drawingml/2006/main">
              <a:ext uri="{FF2B5EF4-FFF2-40B4-BE49-F238E27FC236}">
                <a16:creationId xmlns:a16="http://schemas.microsoft.com/office/drawing/2014/main" id="{ADF16134-2EAA-4B6B-8D2B-37195119389C}"/>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5878629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0594B2D-818A-49E9-BA2B-5EA9517E7E29}"/>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6d46e41001c04ca1"/>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23D11004-BFEE-41DC-B8FA-B3B0FFA0B173}"/>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DERS SONU KONTROL</a:t>
            </a:r>
            <a:endParaRPr sz="1300"/>
          </a:p>
        </p:txBody>
      </p:sp>
      <p:sp>
        <p:nvSpPr>
          <p:cNvPr id="5" name="Text 2">
            <a:extLst xmlns:a="http://schemas.openxmlformats.org/drawingml/2006/main">
              <a:ext uri="{FF2B5EF4-FFF2-40B4-BE49-F238E27FC236}">
                <a16:creationId xmlns:a16="http://schemas.microsoft.com/office/drawing/2014/main" id="{8957039C-D2B1-4117-8494-2DB689CBDAC3}"/>
              </a:ext>
            </a:extLst>
          </p:cNvPr>
          <p:cNvSpPr>
            <a:spLocks xmlns:a="http://schemas.openxmlformats.org/drawingml/2006/main" noGrp="1"/>
          </p:cNvSpPr>
          <p:nvPr/>
        </p:nvSpPr>
        <p:spPr>
          <a:xfrm xmlns:a="http://schemas.openxmlformats.org/drawingml/2006/main">
            <a:off x="1463040" y="841248"/>
            <a:ext cx="8229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Hızlı Kontrol</a:t>
            </a:r>
            <a:endParaRPr sz="2800"/>
          </a:p>
        </p:txBody>
      </p:sp>
      <p:sp>
        <p:nvSpPr>
          <p:cNvPr id="6" name="Text 3">
            <a:extLst xmlns:a="http://schemas.openxmlformats.org/drawingml/2006/main">
              <a:ext uri="{FF2B5EF4-FFF2-40B4-BE49-F238E27FC236}">
                <a16:creationId xmlns:a16="http://schemas.microsoft.com/office/drawing/2014/main" id="{2C0480D4-7FE2-41ED-B5E4-7F5C56C4EA22}"/>
              </a:ext>
            </a:extLst>
          </p:cNvPr>
          <p:cNvSpPr>
            <a:spLocks xmlns:a="http://schemas.openxmlformats.org/drawingml/2006/main" noGrp="1"/>
          </p:cNvSpPr>
          <p:nvPr/>
        </p:nvSpPr>
        <p:spPr>
          <a:xfrm xmlns:a="http://schemas.openxmlformats.org/drawingml/2006/main">
            <a:off x="640080" y="1645920"/>
            <a:ext cx="10881360" cy="7574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a:solidFill>
                  <a:srgbClr val="1E2761"/>
                </a:solidFill>
                <a:latin typeface="Calibri"/>
                <a:ea typeface="Calibri"/>
                <a:cs typeface="Calibri"/>
              </a:rPr>
              <a:t>Aşağıdaki dört soru kalıbını birlikte hızlıca tanıyalım — hangi TİP olduğunu söyleyin:</a:t>
            </a:r>
            <a:endParaRPr sz="2100"/>
          </a:p>
        </p:txBody>
      </p:sp>
      <p:sp>
        <p:nvSpPr>
          <p:cNvPr id="7" name="Shape 4">
            <a:extLst xmlns:a="http://schemas.openxmlformats.org/drawingml/2006/main">
              <a:ext uri="{FF2B5EF4-FFF2-40B4-BE49-F238E27FC236}">
                <a16:creationId xmlns:a16="http://schemas.microsoft.com/office/drawing/2014/main" id="{2C353AF3-5773-42DE-B183-9C18BD18AD0A}"/>
              </a:ext>
            </a:extLst>
          </p:cNvPr>
          <p:cNvSpPr>
            <a:spLocks xmlns:a="http://schemas.openxmlformats.org/drawingml/2006/main" noGrp="1"/>
          </p:cNvSpPr>
          <p:nvPr/>
        </p:nvSpPr>
        <p:spPr>
          <a:xfrm xmlns:a="http://schemas.openxmlformats.org/drawingml/2006/main">
            <a:off x="777240" y="2449068"/>
            <a:ext cx="2514600" cy="2438400"/>
          </a:xfrm>
          <a:prstGeom xmlns:a="http://schemas.openxmlformats.org/drawingml/2006/main" prst="roundRect">
            <a:avLst>
              <a:gd name="adj" fmla="val 6250"/>
            </a:avLst>
          </a:prstGeom>
          <a:solidFill xmlns:a="http://schemas.openxmlformats.org/drawingml/2006/main">
            <a:srgbClr val="EEF3F8"/>
          </a:solidFill>
        </p:spPr>
      </p:sp>
      <p:sp>
        <p:nvSpPr>
          <p:cNvPr id="8" name="Text 5">
            <a:extLst xmlns:a="http://schemas.openxmlformats.org/drawingml/2006/main">
              <a:ext uri="{FF2B5EF4-FFF2-40B4-BE49-F238E27FC236}">
                <a16:creationId xmlns:a16="http://schemas.microsoft.com/office/drawing/2014/main" id="{3FFA27FC-37DD-4015-9EEA-E51F2998BF65}"/>
              </a:ext>
            </a:extLst>
          </p:cNvPr>
          <p:cNvSpPr>
            <a:spLocks xmlns:a="http://schemas.openxmlformats.org/drawingml/2006/main" noGrp="1"/>
          </p:cNvSpPr>
          <p:nvPr/>
        </p:nvSpPr>
        <p:spPr>
          <a:xfrm xmlns:a="http://schemas.openxmlformats.org/drawingml/2006/main">
            <a:off x="868680" y="2540508"/>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"Altı çizili sözü anlamca karşılayabilecek kullanım hangisinde vardır?"</a:t>
            </a:r>
            <a:endParaRPr sz="2000"/>
          </a:p>
        </p:txBody>
      </p:sp>
      <p:sp>
        <p:nvSpPr>
          <p:cNvPr id="9" name="Text 6">
            <a:extLst xmlns:a="http://schemas.openxmlformats.org/drawingml/2006/main">
              <a:ext uri="{FF2B5EF4-FFF2-40B4-BE49-F238E27FC236}">
                <a16:creationId xmlns:a16="http://schemas.microsoft.com/office/drawing/2014/main" id="{0D1D4A3A-E080-4B4E-A208-15E0E2903B80}"/>
              </a:ext>
            </a:extLst>
          </p:cNvPr>
          <p:cNvSpPr>
            <a:spLocks xmlns:a="http://schemas.openxmlformats.org/drawingml/2006/main" noGrp="1"/>
          </p:cNvSpPr>
          <p:nvPr/>
        </p:nvSpPr>
        <p:spPr>
          <a:xfrm xmlns:a="http://schemas.openxmlformats.org/drawingml/2006/main">
            <a:off x="777240" y="40289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0" name="Text 7">
            <a:extLst xmlns:a="http://schemas.openxmlformats.org/drawingml/2006/main">
              <a:ext uri="{FF2B5EF4-FFF2-40B4-BE49-F238E27FC236}">
                <a16:creationId xmlns:a16="http://schemas.microsoft.com/office/drawing/2014/main" id="{3FADF096-DF10-4396-A203-5236DBB3A263}"/>
              </a:ext>
            </a:extLst>
          </p:cNvPr>
          <p:cNvSpPr>
            <a:spLocks xmlns:a="http://schemas.openxmlformats.org/drawingml/2006/main" noGrp="1"/>
          </p:cNvSpPr>
          <p:nvPr/>
        </p:nvSpPr>
        <p:spPr>
          <a:xfrm xmlns:a="http://schemas.openxmlformats.org/drawingml/2006/main">
            <a:off x="777240" y="44353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TİP 3</a:t>
            </a:r>
            <a:endParaRPr sz="2000"/>
          </a:p>
        </p:txBody>
      </p:sp>
      <p:sp>
        <p:nvSpPr>
          <p:cNvPr id="11" name="Shape 8">
            <a:extLst xmlns:a="http://schemas.openxmlformats.org/drawingml/2006/main">
              <a:ext uri="{FF2B5EF4-FFF2-40B4-BE49-F238E27FC236}">
                <a16:creationId xmlns:a16="http://schemas.microsoft.com/office/drawing/2014/main" id="{2C58B0CF-D42B-44B6-A54F-2984E45ADBEF}"/>
              </a:ext>
            </a:extLst>
          </p:cNvPr>
          <p:cNvSpPr>
            <a:spLocks xmlns:a="http://schemas.openxmlformats.org/drawingml/2006/main" noGrp="1"/>
          </p:cNvSpPr>
          <p:nvPr/>
        </p:nvSpPr>
        <p:spPr>
          <a:xfrm xmlns:a="http://schemas.openxmlformats.org/drawingml/2006/main">
            <a:off x="3474720" y="2449068"/>
            <a:ext cx="2514600" cy="2438400"/>
          </a:xfrm>
          <a:prstGeom xmlns:a="http://schemas.openxmlformats.org/drawingml/2006/main" prst="roundRect">
            <a:avLst>
              <a:gd name="adj" fmla="val 6250"/>
            </a:avLst>
          </a:prstGeom>
          <a:solidFill xmlns:a="http://schemas.openxmlformats.org/drawingml/2006/main">
            <a:srgbClr val="EEF3F8"/>
          </a:solidFill>
        </p:spPr>
      </p:sp>
      <p:sp>
        <p:nvSpPr>
          <p:cNvPr id="12" name="Text 9">
            <a:extLst xmlns:a="http://schemas.openxmlformats.org/drawingml/2006/main">
              <a:ext uri="{FF2B5EF4-FFF2-40B4-BE49-F238E27FC236}">
                <a16:creationId xmlns:a16="http://schemas.microsoft.com/office/drawing/2014/main" id="{D7C754F1-144C-4E1B-8BF7-8335831FAD7E}"/>
              </a:ext>
            </a:extLst>
          </p:cNvPr>
          <p:cNvSpPr>
            <a:spLocks xmlns:a="http://schemas.openxmlformats.org/drawingml/2006/main" noGrp="1"/>
          </p:cNvSpPr>
          <p:nvPr/>
        </p:nvSpPr>
        <p:spPr>
          <a:xfrm xmlns:a="http://schemas.openxmlformats.org/drawingml/2006/main">
            <a:off x="3566160" y="2540508"/>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"Altı çizili sözle anlatılmak istenen aşağıdakilerden hangisidir?"</a:t>
            </a:r>
            <a:endParaRPr sz="2000"/>
          </a:p>
        </p:txBody>
      </p:sp>
      <p:sp>
        <p:nvSpPr>
          <p:cNvPr id="13" name="Text 10">
            <a:extLst xmlns:a="http://schemas.openxmlformats.org/drawingml/2006/main">
              <a:ext uri="{FF2B5EF4-FFF2-40B4-BE49-F238E27FC236}">
                <a16:creationId xmlns:a16="http://schemas.microsoft.com/office/drawing/2014/main" id="{511CAF3D-4D79-4666-9DD1-89934C0D91C6}"/>
              </a:ext>
            </a:extLst>
          </p:cNvPr>
          <p:cNvSpPr>
            <a:spLocks xmlns:a="http://schemas.openxmlformats.org/drawingml/2006/main" noGrp="1"/>
          </p:cNvSpPr>
          <p:nvPr/>
        </p:nvSpPr>
        <p:spPr>
          <a:xfrm xmlns:a="http://schemas.openxmlformats.org/drawingml/2006/main">
            <a:off x="3474720" y="40289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4" name="Text 11">
            <a:extLst xmlns:a="http://schemas.openxmlformats.org/drawingml/2006/main">
              <a:ext uri="{FF2B5EF4-FFF2-40B4-BE49-F238E27FC236}">
                <a16:creationId xmlns:a16="http://schemas.microsoft.com/office/drawing/2014/main" id="{5B2E0385-CD90-47B4-BAB9-B5158EBAEA67}"/>
              </a:ext>
            </a:extLst>
          </p:cNvPr>
          <p:cNvSpPr>
            <a:spLocks xmlns:a="http://schemas.openxmlformats.org/drawingml/2006/main" noGrp="1"/>
          </p:cNvSpPr>
          <p:nvPr/>
        </p:nvSpPr>
        <p:spPr>
          <a:xfrm xmlns:a="http://schemas.openxmlformats.org/drawingml/2006/main">
            <a:off x="3474720" y="44353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TİP 4</a:t>
            </a:r>
            <a:endParaRPr sz="2000"/>
          </a:p>
        </p:txBody>
      </p:sp>
      <p:sp>
        <p:nvSpPr>
          <p:cNvPr id="15" name="Shape 12">
            <a:extLst xmlns:a="http://schemas.openxmlformats.org/drawingml/2006/main">
              <a:ext uri="{FF2B5EF4-FFF2-40B4-BE49-F238E27FC236}">
                <a16:creationId xmlns:a16="http://schemas.microsoft.com/office/drawing/2014/main" id="{F989033D-D6EA-438B-935F-FCDD3193DD73}"/>
              </a:ext>
            </a:extLst>
          </p:cNvPr>
          <p:cNvSpPr>
            <a:spLocks xmlns:a="http://schemas.openxmlformats.org/drawingml/2006/main" noGrp="1"/>
          </p:cNvSpPr>
          <p:nvPr/>
        </p:nvSpPr>
        <p:spPr>
          <a:xfrm xmlns:a="http://schemas.openxmlformats.org/drawingml/2006/main">
            <a:off x="6172200" y="2449068"/>
            <a:ext cx="2514600" cy="2438400"/>
          </a:xfrm>
          <a:prstGeom xmlns:a="http://schemas.openxmlformats.org/drawingml/2006/main" prst="roundRect">
            <a:avLst>
              <a:gd name="adj" fmla="val 6250"/>
            </a:avLst>
          </a:prstGeom>
          <a:solidFill xmlns:a="http://schemas.openxmlformats.org/drawingml/2006/main">
            <a:srgbClr val="EEF3F8"/>
          </a:solidFill>
        </p:spPr>
      </p:sp>
      <p:sp>
        <p:nvSpPr>
          <p:cNvPr id="16" name="Text 13">
            <a:extLst xmlns:a="http://schemas.openxmlformats.org/drawingml/2006/main">
              <a:ext uri="{FF2B5EF4-FFF2-40B4-BE49-F238E27FC236}">
                <a16:creationId xmlns:a16="http://schemas.microsoft.com/office/drawing/2014/main" id="{01F83D0B-E458-4DD6-9FE3-FCE738794CBA}"/>
              </a:ext>
            </a:extLst>
          </p:cNvPr>
          <p:cNvSpPr>
            <a:spLocks xmlns:a="http://schemas.openxmlformats.org/drawingml/2006/main" noGrp="1"/>
          </p:cNvSpPr>
          <p:nvPr/>
        </p:nvSpPr>
        <p:spPr>
          <a:xfrm xmlns:a="http://schemas.openxmlformats.org/drawingml/2006/main">
            <a:off x="6263640" y="2540508"/>
            <a:ext cx="2331720" cy="1442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"Numaralanmış deyimlerden hangisinin açıklaması yanlıştır?"</a:t>
            </a:r>
            <a:endParaRPr sz="2000"/>
          </a:p>
        </p:txBody>
      </p:sp>
      <p:sp>
        <p:nvSpPr>
          <p:cNvPr id="17" name="Text 14">
            <a:extLst xmlns:a="http://schemas.openxmlformats.org/drawingml/2006/main">
              <a:ext uri="{FF2B5EF4-FFF2-40B4-BE49-F238E27FC236}">
                <a16:creationId xmlns:a16="http://schemas.microsoft.com/office/drawing/2014/main" id="{6DC012EE-06AF-4890-B253-9D04728705A8}"/>
              </a:ext>
            </a:extLst>
          </p:cNvPr>
          <p:cNvSpPr>
            <a:spLocks xmlns:a="http://schemas.openxmlformats.org/drawingml/2006/main" noGrp="1"/>
          </p:cNvSpPr>
          <p:nvPr/>
        </p:nvSpPr>
        <p:spPr>
          <a:xfrm xmlns:a="http://schemas.openxmlformats.org/drawingml/2006/main">
            <a:off x="6172200" y="40289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18" name="Text 15">
            <a:extLst xmlns:a="http://schemas.openxmlformats.org/drawingml/2006/main">
              <a:ext uri="{FF2B5EF4-FFF2-40B4-BE49-F238E27FC236}">
                <a16:creationId xmlns:a16="http://schemas.microsoft.com/office/drawing/2014/main" id="{507C00CF-4CFA-4546-97C5-D34B25D8DEAE}"/>
              </a:ext>
            </a:extLst>
          </p:cNvPr>
          <p:cNvSpPr>
            <a:spLocks xmlns:a="http://schemas.openxmlformats.org/drawingml/2006/main" noGrp="1"/>
          </p:cNvSpPr>
          <p:nvPr/>
        </p:nvSpPr>
        <p:spPr>
          <a:xfrm xmlns:a="http://schemas.openxmlformats.org/drawingml/2006/main">
            <a:off x="6172200" y="443534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TİP 6</a:t>
            </a:r>
            <a:endParaRPr sz="2000"/>
          </a:p>
        </p:txBody>
      </p:sp>
      <p:sp>
        <p:nvSpPr>
          <p:cNvPr id="19" name="Shape 16">
            <a:extLst xmlns:a="http://schemas.openxmlformats.org/drawingml/2006/main">
              <a:ext uri="{FF2B5EF4-FFF2-40B4-BE49-F238E27FC236}">
                <a16:creationId xmlns:a16="http://schemas.microsoft.com/office/drawing/2014/main" id="{D35EB0EB-2525-4ABE-9CF3-CACC592014F6}"/>
              </a:ext>
            </a:extLst>
          </p:cNvPr>
          <p:cNvSpPr>
            <a:spLocks xmlns:a="http://schemas.openxmlformats.org/drawingml/2006/main" noGrp="1"/>
          </p:cNvSpPr>
          <p:nvPr/>
        </p:nvSpPr>
        <p:spPr>
          <a:xfrm xmlns:a="http://schemas.openxmlformats.org/drawingml/2006/main">
            <a:off x="8869680" y="2449068"/>
            <a:ext cx="2514600" cy="2077720"/>
          </a:xfrm>
          <a:prstGeom xmlns:a="http://schemas.openxmlformats.org/drawingml/2006/main" prst="roundRect">
            <a:avLst>
              <a:gd name="adj" fmla="val 6250"/>
            </a:avLst>
          </a:prstGeom>
          <a:solidFill xmlns:a="http://schemas.openxmlformats.org/drawingml/2006/main">
            <a:srgbClr val="EEF3F8"/>
          </a:solidFill>
        </p:spPr>
      </p:sp>
      <p:sp>
        <p:nvSpPr>
          <p:cNvPr id="20" name="Text 17">
            <a:extLst xmlns:a="http://schemas.openxmlformats.org/drawingml/2006/main">
              <a:ext uri="{FF2B5EF4-FFF2-40B4-BE49-F238E27FC236}">
                <a16:creationId xmlns:a16="http://schemas.microsoft.com/office/drawing/2014/main" id="{CC7B467E-C1B5-4752-A8E6-16F2E6C53006}"/>
              </a:ext>
            </a:extLst>
          </p:cNvPr>
          <p:cNvSpPr>
            <a:spLocks xmlns:a="http://schemas.openxmlformats.org/drawingml/2006/main" noGrp="1"/>
          </p:cNvSpPr>
          <p:nvPr/>
        </p:nvSpPr>
        <p:spPr>
          <a:xfrm xmlns:a="http://schemas.openxmlformats.org/drawingml/2006/main">
            <a:off x="8961120" y="2540508"/>
            <a:ext cx="2331720" cy="1082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i="1">
                <a:solidFill>
                  <a:srgbClr val="6B7280"/>
                </a:solidFill>
                <a:latin typeface="Calibri"/>
                <a:ea typeface="Calibri"/>
                <a:cs typeface="Calibri"/>
              </a:rPr>
              <a:t>"Bu sözle asıl vurgulanmak istenen nedir?"</a:t>
            </a:r>
            <a:endParaRPr sz="2000"/>
          </a:p>
        </p:txBody>
      </p:sp>
      <p:sp>
        <p:nvSpPr>
          <p:cNvPr id="21" name="Text 18">
            <a:extLst xmlns:a="http://schemas.openxmlformats.org/drawingml/2006/main">
              <a:ext uri="{FF2B5EF4-FFF2-40B4-BE49-F238E27FC236}">
                <a16:creationId xmlns:a16="http://schemas.microsoft.com/office/drawing/2014/main" id="{79A80DA1-FCAF-4CEF-BC03-65516319577A}"/>
              </a:ext>
            </a:extLst>
          </p:cNvPr>
          <p:cNvSpPr>
            <a:spLocks xmlns:a="http://schemas.openxmlformats.org/drawingml/2006/main" noGrp="1"/>
          </p:cNvSpPr>
          <p:nvPr/>
        </p:nvSpPr>
        <p:spPr>
          <a:xfrm xmlns:a="http://schemas.openxmlformats.org/drawingml/2006/main">
            <a:off x="8869680" y="366826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D9A441"/>
                </a:solidFill>
                <a:latin typeface="Calibri"/>
                <a:ea typeface="Calibri"/>
                <a:cs typeface="Calibri"/>
              </a:rPr>
              <a:t>↓</a:t>
            </a:r>
            <a:endParaRPr sz="2000"/>
          </a:p>
        </p:txBody>
      </p:sp>
      <p:sp>
        <p:nvSpPr>
          <p:cNvPr id="22" name="Text 19">
            <a:extLst xmlns:a="http://schemas.openxmlformats.org/drawingml/2006/main">
              <a:ext uri="{FF2B5EF4-FFF2-40B4-BE49-F238E27FC236}">
                <a16:creationId xmlns:a16="http://schemas.microsoft.com/office/drawing/2014/main" id="{127931E6-4700-4FEC-B590-ED53B3077B48}"/>
              </a:ext>
            </a:extLst>
          </p:cNvPr>
          <p:cNvSpPr>
            <a:spLocks xmlns:a="http://schemas.openxmlformats.org/drawingml/2006/main" noGrp="1"/>
          </p:cNvSpPr>
          <p:nvPr/>
        </p:nvSpPr>
        <p:spPr>
          <a:xfrm xmlns:a="http://schemas.openxmlformats.org/drawingml/2006/main">
            <a:off x="8869680" y="4074668"/>
            <a:ext cx="2514600" cy="360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E3A5F"/>
                </a:solidFill>
                <a:latin typeface="Cambria"/>
                <a:ea typeface="Cambria"/>
                <a:cs typeface="Cambria"/>
              </a:rPr>
              <a:t>TİP 4</a:t>
            </a:r>
            <a:endParaRPr sz="2000"/>
          </a:p>
        </p:txBody>
      </p:sp>
      <p:sp>
        <p:nvSpPr>
          <p:cNvPr id="23" name="Shape 20">
            <a:extLst xmlns:a="http://schemas.openxmlformats.org/drawingml/2006/main">
              <a:ext uri="{FF2B5EF4-FFF2-40B4-BE49-F238E27FC236}">
                <a16:creationId xmlns:a16="http://schemas.microsoft.com/office/drawing/2014/main" id="{049BF80A-64D6-4590-B33B-5CAC60BF2634}"/>
              </a:ext>
            </a:extLst>
          </p:cNvPr>
          <p:cNvSpPr>
            <a:spLocks xmlns:a="http://schemas.openxmlformats.org/drawingml/2006/main" noGrp="1"/>
          </p:cNvSpPr>
          <p:nvPr/>
        </p:nvSpPr>
        <p:spPr>
          <a:xfrm xmlns:a="http://schemas.openxmlformats.org/drawingml/2006/main">
            <a:off x="640080" y="5253228"/>
            <a:ext cx="10881360" cy="812800"/>
          </a:xfrm>
          <a:prstGeom xmlns:a="http://schemas.openxmlformats.org/drawingml/2006/main" prst="roundRect">
            <a:avLst>
              <a:gd name="adj" fmla="val 16667"/>
            </a:avLst>
          </a:prstGeom>
          <a:solidFill xmlns:a="http://schemas.openxmlformats.org/drawingml/2006/main">
            <a:srgbClr val="FBF3E3"/>
          </a:solidFill>
        </p:spPr>
      </p:sp>
      <p:sp>
        <p:nvSpPr>
          <p:cNvPr id="24" name="Text 21">
            <a:extLst xmlns:a="http://schemas.openxmlformats.org/drawingml/2006/main">
              <a:ext uri="{FF2B5EF4-FFF2-40B4-BE49-F238E27FC236}">
                <a16:creationId xmlns:a16="http://schemas.microsoft.com/office/drawing/2014/main" id="{02BA5B5C-C338-49B6-A0E3-26A124B2471D}"/>
              </a:ext>
            </a:extLst>
          </p:cNvPr>
          <p:cNvSpPr>
            <a:spLocks xmlns:a="http://schemas.openxmlformats.org/drawingml/2006/main" noGrp="1"/>
          </p:cNvSpPr>
          <p:nvPr/>
        </p:nvSpPr>
        <p:spPr>
          <a:xfrm xmlns:a="http://schemas.openxmlformats.org/drawingml/2006/main">
            <a:off x="914400" y="5253228"/>
            <a:ext cx="10332720" cy="721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E2761"/>
                </a:solidFill>
                <a:latin typeface="Calibri"/>
                <a:ea typeface="Calibri"/>
                <a:cs typeface="Calibri"/>
              </a:rPr>
              <a:t>Bu üç tipi soru kökünden hızlıca tanıyabiliyorsanız, Sözcükte Anlam konusunu tamamladınız!</a:t>
            </a:r>
            <a:endParaRPr sz="2000"/>
          </a:p>
        </p:txBody>
      </p:sp>
      <p:sp>
        <p:nvSpPr>
          <p:cNvPr id="25" name="Text 22">
            <a:extLst xmlns:a="http://schemas.openxmlformats.org/drawingml/2006/main">
              <a:ext uri="{FF2B5EF4-FFF2-40B4-BE49-F238E27FC236}">
                <a16:creationId xmlns:a16="http://schemas.microsoft.com/office/drawing/2014/main" id="{76C3DE74-1E7D-4B57-96DA-A7AF2E050044}"/>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Hızlı Kontrol</a:t>
            </a:r>
            <a:endParaRPr sz="900"/>
          </a:p>
        </p:txBody>
      </p:sp>
      <p:sp>
        <p:nvSpPr>
          <p:cNvPr id="26" name="Text 23">
            <a:extLst xmlns:a="http://schemas.openxmlformats.org/drawingml/2006/main">
              <a:ext uri="{FF2B5EF4-FFF2-40B4-BE49-F238E27FC236}">
                <a16:creationId xmlns:a16="http://schemas.microsoft.com/office/drawing/2014/main" id="{8F9CBF6E-6B86-4953-8B0E-1AC173580F23}"/>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1636274101"/>
      </p:ext>
    </p:extLst>
  </p:cSld>
</p:sld>
</file>

<file path=ppt/slides/slide22.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15096CB-3A0F-46AF-91AF-C0735CECBD47}"/>
              </a:ext>
            </a:extLst>
          </p:cNvPr>
          <p:cNvSpPr>
            <a:spLocks xmlns:a="http://schemas.openxmlformats.org/drawingml/2006/main" noGrp="1"/>
          </p:cNvSpPr>
          <p:nvPr/>
        </p:nvSpPr>
        <p:spPr>
          <a:xfrm xmlns:a="http://schemas.openxmlformats.org/drawingml/2006/main">
            <a:off x="0" y="0"/>
            <a:ext cx="4206240" cy="6858000"/>
          </a:xfrm>
          <a:prstGeom xmlns:a="http://schemas.openxmlformats.org/drawingml/2006/main" prst="rect">
            <a:avLst/>
          </a:prstGeom>
          <a:solidFill xmlns:a="http://schemas.openxmlformats.org/drawingml/2006/main">
            <a:srgbClr val="142A44"/>
          </a:solidFill>
        </p:spPr>
      </p:sp>
      <p:sp>
        <p:nvSpPr>
          <p:cNvPr id="3" name="Shape 1">
            <a:extLst xmlns:a="http://schemas.openxmlformats.org/drawingml/2006/main">
              <a:ext uri="{FF2B5EF4-FFF2-40B4-BE49-F238E27FC236}">
                <a16:creationId xmlns:a16="http://schemas.microsoft.com/office/drawing/2014/main" id="{8ED52987-A810-4BC9-99CD-7B5CAC28E602}"/>
              </a:ext>
            </a:extLst>
          </p:cNvPr>
          <p:cNvSpPr>
            <a:spLocks xmlns:a="http://schemas.openxmlformats.org/drawingml/2006/main" noGrp="1"/>
          </p:cNvSpPr>
          <p:nvPr/>
        </p:nvSpPr>
        <p:spPr>
          <a:xfrm xmlns:a="http://schemas.openxmlformats.org/drawingml/2006/main">
            <a:off x="822960" y="1005840"/>
            <a:ext cx="822960" cy="822960"/>
          </a:xfrm>
          <a:prstGeom xmlns:a="http://schemas.openxmlformats.org/drawingml/2006/main" prst="ellipse">
            <a:avLst/>
          </a:prstGeom>
          <a:solidFill xmlns:a="http://schemas.openxmlformats.org/drawingml/2006/main">
            <a:srgbClr val="254B78"/>
          </a:solidFill>
        </p:spPr>
      </p:sp>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35e3237a8d25474d"/>
          <a:stretch xmlns:a="http://schemas.openxmlformats.org/drawingml/2006/main">
            <a:fillRect l="0" t="0" r="0" b="0"/>
          </a:stretch>
        </p:blipFill>
        <p:spPr>
          <a:xfrm xmlns:a="http://schemas.openxmlformats.org/drawingml/2006/main">
            <a:off x="1008126" y="1191006"/>
            <a:ext cx="452628" cy="45262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BAF9B3CD-531D-4318-B999-2EF45505E721}"/>
              </a:ext>
            </a:extLst>
          </p:cNvPr>
          <p:cNvSpPr>
            <a:spLocks xmlns:a="http://schemas.openxmlformats.org/drawingml/2006/main" noGrp="1"/>
          </p:cNvSpPr>
          <p:nvPr/>
        </p:nvSpPr>
        <p:spPr>
          <a:xfrm xmlns:a="http://schemas.openxmlformats.org/drawingml/2006/main">
            <a:off x="640080" y="2173224"/>
            <a:ext cx="3200400" cy="432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FFFFFF"/>
                </a:solidFill>
                <a:latin typeface="Cambria"/>
                <a:ea typeface="Cambria"/>
                <a:cs typeface="Cambria"/>
              </a:rPr>
              <a:t>Ders Özeti</a:t>
            </a:r>
            <a:endParaRPr sz="2400"/>
          </a:p>
        </p:txBody>
      </p:sp>
      <p:sp>
        <p:nvSpPr>
          <p:cNvPr id="6" name="Text 3">
            <a:extLst xmlns:a="http://schemas.openxmlformats.org/drawingml/2006/main">
              <a:ext uri="{FF2B5EF4-FFF2-40B4-BE49-F238E27FC236}">
                <a16:creationId xmlns:a16="http://schemas.microsoft.com/office/drawing/2014/main" id="{C97129B6-877A-4911-B263-ACCA75486765}"/>
              </a:ext>
            </a:extLst>
          </p:cNvPr>
          <p:cNvSpPr>
            <a:spLocks xmlns:a="http://schemas.openxmlformats.org/drawingml/2006/main" noGrp="1"/>
          </p:cNvSpPr>
          <p:nvPr/>
        </p:nvSpPr>
        <p:spPr>
          <a:xfrm xmlns:a="http://schemas.openxmlformats.org/drawingml/2006/main">
            <a:off x="640080" y="2654808"/>
            <a:ext cx="329184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i="1">
                <a:solidFill>
                  <a:srgbClr val="9FB8D6"/>
                </a:solidFill>
                <a:latin typeface="Calibri"/>
                <a:ea typeface="Calibri"/>
                <a:cs typeface="Calibri"/>
              </a:rPr>
              <a:t>Bağlamsal Anlam Yorumlama ve Deyimler — Ders 3/3</a:t>
            </a:r>
            <a:endParaRPr sz="1800"/>
          </a:p>
        </p:txBody>
      </p:sp>
      <p:sp>
        <p:nvSpPr>
          <p:cNvPr id="7" name="Text 4">
            <a:extLst xmlns:a="http://schemas.openxmlformats.org/drawingml/2006/main">
              <a:ext uri="{FF2B5EF4-FFF2-40B4-BE49-F238E27FC236}">
                <a16:creationId xmlns:a16="http://schemas.microsoft.com/office/drawing/2014/main" id="{3D473EF1-D654-4639-8EAD-1A5CE30B72F9}"/>
              </a:ext>
            </a:extLst>
          </p:cNvPr>
          <p:cNvSpPr>
            <a:spLocks xmlns:a="http://schemas.openxmlformats.org/drawingml/2006/main" noGrp="1"/>
          </p:cNvSpPr>
          <p:nvPr/>
        </p:nvSpPr>
        <p:spPr>
          <a:xfrm xmlns:a="http://schemas.openxmlformats.org/drawingml/2006/main">
            <a:off x="640080" y="4563618"/>
            <a:ext cx="329184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spc="100">
                <a:solidFill>
                  <a:srgbClr val="D9A441"/>
                </a:solidFill>
                <a:latin typeface="Calibri"/>
                <a:ea typeface="Calibri"/>
                <a:cs typeface="Calibri"/>
              </a:rPr>
              <a:t>SÖZCÜKTE ANLAM KONUSU TAMAMLANDI</a:t>
            </a:r>
            <a:endParaRPr sz="1800"/>
          </a:p>
        </p:txBody>
      </p:sp>
      <p:sp>
        <p:nvSpPr>
          <p:cNvPr id="8" name="Text 5">
            <a:extLst xmlns:a="http://schemas.openxmlformats.org/drawingml/2006/main">
              <a:ext uri="{FF2B5EF4-FFF2-40B4-BE49-F238E27FC236}">
                <a16:creationId xmlns:a16="http://schemas.microsoft.com/office/drawing/2014/main" id="{5D1A5569-BFDB-4932-A86C-F0313BBE1E47}"/>
              </a:ext>
            </a:extLst>
          </p:cNvPr>
          <p:cNvSpPr>
            <a:spLocks xmlns:a="http://schemas.openxmlformats.org/drawingml/2006/main" noGrp="1"/>
          </p:cNvSpPr>
          <p:nvPr/>
        </p:nvSpPr>
        <p:spPr>
          <a:xfrm xmlns:a="http://schemas.openxmlformats.org/drawingml/2006/main">
            <a:off x="4663440" y="7772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BUGÜN ÖĞRENDIKLERIMIZ</a:t>
            </a:r>
            <a:endParaRPr sz="1300"/>
          </a:p>
        </p:txBody>
      </p:sp>
      <p:sp>
        <p:nvSpPr>
          <p:cNvPr id="9" name="Shape 6">
            <a:extLst xmlns:a="http://schemas.openxmlformats.org/drawingml/2006/main">
              <a:ext uri="{FF2B5EF4-FFF2-40B4-BE49-F238E27FC236}">
                <a16:creationId xmlns:a16="http://schemas.microsoft.com/office/drawing/2014/main" id="{05C44477-2F9B-442F-946A-AF225C3BDFC8}"/>
              </a:ext>
            </a:extLst>
          </p:cNvPr>
          <p:cNvSpPr>
            <a:spLocks xmlns:a="http://schemas.openxmlformats.org/drawingml/2006/main" noGrp="1"/>
          </p:cNvSpPr>
          <p:nvPr/>
        </p:nvSpPr>
        <p:spPr>
          <a:xfrm xmlns:a="http://schemas.openxmlformats.org/drawingml/2006/main">
            <a:off x="4663440" y="1234440"/>
            <a:ext cx="3977640" cy="457200"/>
          </a:xfrm>
          <a:prstGeom xmlns:a="http://schemas.openxmlformats.org/drawingml/2006/main" prst="roundRect">
            <a:avLst>
              <a:gd name="adj" fmla="val 50000"/>
            </a:avLst>
          </a:prstGeom>
          <a:solidFill xmlns:a="http://schemas.openxmlformats.org/drawingml/2006/main">
            <a:srgbClr val="254B78"/>
          </a:solidFill>
        </p:spPr>
      </p:sp>
      <p:sp>
        <p:nvSpPr>
          <p:cNvPr id="10" name="Text 7">
            <a:extLst xmlns:a="http://schemas.openxmlformats.org/drawingml/2006/main">
              <a:ext uri="{FF2B5EF4-FFF2-40B4-BE49-F238E27FC236}">
                <a16:creationId xmlns:a16="http://schemas.microsoft.com/office/drawing/2014/main" id="{ED46FAA9-202F-4DD4-93F0-1BA90386CCBD}"/>
              </a:ext>
            </a:extLst>
          </p:cNvPr>
          <p:cNvSpPr>
            <a:spLocks xmlns:a="http://schemas.openxmlformats.org/drawingml/2006/main" noGrp="1"/>
          </p:cNvSpPr>
          <p:nvPr/>
        </p:nvSpPr>
        <p:spPr>
          <a:xfrm xmlns:a="http://schemas.openxmlformats.org/drawingml/2006/main">
            <a:off x="4663440" y="1234440"/>
            <a:ext cx="39776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Tip 3: Bağlamsal Eş Anlam</a:t>
            </a:r>
            <a:endParaRPr sz="2000"/>
          </a:p>
        </p:txBody>
      </p:sp>
      <p:sp>
        <p:nvSpPr>
          <p:cNvPr id="11" name="Shape 8">
            <a:extLst xmlns:a="http://schemas.openxmlformats.org/drawingml/2006/main">
              <a:ext uri="{FF2B5EF4-FFF2-40B4-BE49-F238E27FC236}">
                <a16:creationId xmlns:a16="http://schemas.microsoft.com/office/drawing/2014/main" id="{4794301C-FEF8-462B-A11F-B355C8D859C9}"/>
              </a:ext>
            </a:extLst>
          </p:cNvPr>
          <p:cNvSpPr>
            <a:spLocks xmlns:a="http://schemas.openxmlformats.org/drawingml/2006/main" noGrp="1"/>
          </p:cNvSpPr>
          <p:nvPr/>
        </p:nvSpPr>
        <p:spPr>
          <a:xfrm xmlns:a="http://schemas.openxmlformats.org/drawingml/2006/main">
            <a:off x="4663440" y="1691640"/>
            <a:ext cx="3429000" cy="470154"/>
          </a:xfrm>
          <a:prstGeom xmlns:a="http://schemas.openxmlformats.org/drawingml/2006/main" prst="roundRect">
            <a:avLst>
              <a:gd name="adj" fmla="val 50000"/>
            </a:avLst>
          </a:prstGeom>
          <a:solidFill xmlns:a="http://schemas.openxmlformats.org/drawingml/2006/main">
            <a:srgbClr val="254B78"/>
          </a:solidFill>
        </p:spPr>
      </p:sp>
      <p:sp>
        <p:nvSpPr>
          <p:cNvPr id="12" name="Text 9">
            <a:extLst xmlns:a="http://schemas.openxmlformats.org/drawingml/2006/main">
              <a:ext uri="{FF2B5EF4-FFF2-40B4-BE49-F238E27FC236}">
                <a16:creationId xmlns:a16="http://schemas.microsoft.com/office/drawing/2014/main" id="{90919F86-373E-4ADF-AC3B-FFD108F42D11}"/>
              </a:ext>
            </a:extLst>
          </p:cNvPr>
          <p:cNvSpPr>
            <a:spLocks xmlns:a="http://schemas.openxmlformats.org/drawingml/2006/main" noGrp="1"/>
          </p:cNvSpPr>
          <p:nvPr/>
        </p:nvSpPr>
        <p:spPr>
          <a:xfrm xmlns:a="http://schemas.openxmlformats.org/drawingml/2006/main">
            <a:off x="4663440" y="1691640"/>
            <a:ext cx="342900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Tip 4: Sözü Yorumlama</a:t>
            </a:r>
            <a:endParaRPr sz="2000"/>
          </a:p>
        </p:txBody>
      </p:sp>
      <p:sp>
        <p:nvSpPr>
          <p:cNvPr id="13" name="Shape 10">
            <a:extLst xmlns:a="http://schemas.openxmlformats.org/drawingml/2006/main">
              <a:ext uri="{FF2B5EF4-FFF2-40B4-BE49-F238E27FC236}">
                <a16:creationId xmlns:a16="http://schemas.microsoft.com/office/drawing/2014/main" id="{8CCB73BD-2FBF-457E-9277-85AC43F0CB96}"/>
              </a:ext>
            </a:extLst>
          </p:cNvPr>
          <p:cNvSpPr>
            <a:spLocks xmlns:a="http://schemas.openxmlformats.org/drawingml/2006/main" noGrp="1"/>
          </p:cNvSpPr>
          <p:nvPr/>
        </p:nvSpPr>
        <p:spPr>
          <a:xfrm xmlns:a="http://schemas.openxmlformats.org/drawingml/2006/main">
            <a:off x="4663440" y="2173224"/>
            <a:ext cx="3566160" cy="470154"/>
          </a:xfrm>
          <a:prstGeom xmlns:a="http://schemas.openxmlformats.org/drawingml/2006/main" prst="roundRect">
            <a:avLst>
              <a:gd name="adj" fmla="val 50000"/>
            </a:avLst>
          </a:prstGeom>
          <a:solidFill xmlns:a="http://schemas.openxmlformats.org/drawingml/2006/main">
            <a:srgbClr val="254B78"/>
          </a:solidFill>
        </p:spPr>
      </p:sp>
      <p:sp>
        <p:nvSpPr>
          <p:cNvPr id="14" name="Text 11">
            <a:extLst xmlns:a="http://schemas.openxmlformats.org/drawingml/2006/main">
              <a:ext uri="{FF2B5EF4-FFF2-40B4-BE49-F238E27FC236}">
                <a16:creationId xmlns:a16="http://schemas.microsoft.com/office/drawing/2014/main" id="{9B8DE95C-9C52-4119-B3A7-C535F9AF9416}"/>
              </a:ext>
            </a:extLst>
          </p:cNvPr>
          <p:cNvSpPr>
            <a:spLocks xmlns:a="http://schemas.openxmlformats.org/drawingml/2006/main" noGrp="1"/>
          </p:cNvSpPr>
          <p:nvPr/>
        </p:nvSpPr>
        <p:spPr>
          <a:xfrm xmlns:a="http://schemas.openxmlformats.org/drawingml/2006/main">
            <a:off x="4663440" y="2173224"/>
            <a:ext cx="35661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a:solidFill>
                  <a:srgbClr val="FFFFFF"/>
                </a:solidFill>
                <a:latin typeface="Calibri"/>
                <a:ea typeface="Calibri"/>
                <a:cs typeface="Calibri"/>
              </a:rPr>
              <a:t>Tip 6: Deyim Doğrulama</a:t>
            </a:r>
            <a:endParaRPr sz="2000"/>
          </a:p>
        </p:txBody>
      </p:sp>
      <p:sp>
        <p:nvSpPr>
          <p:cNvPr id="15" name="Shape 12">
            <a:extLst xmlns:a="http://schemas.openxmlformats.org/drawingml/2006/main">
              <a:ext uri="{FF2B5EF4-FFF2-40B4-BE49-F238E27FC236}">
                <a16:creationId xmlns:a16="http://schemas.microsoft.com/office/drawing/2014/main" id="{1434111C-1394-4586-9BC7-60958086F0E1}"/>
              </a:ext>
            </a:extLst>
          </p:cNvPr>
          <p:cNvSpPr>
            <a:spLocks xmlns:a="http://schemas.openxmlformats.org/drawingml/2006/main" noGrp="1"/>
          </p:cNvSpPr>
          <p:nvPr/>
        </p:nvSpPr>
        <p:spPr>
          <a:xfrm xmlns:a="http://schemas.openxmlformats.org/drawingml/2006/main">
            <a:off x="4663440" y="2654808"/>
            <a:ext cx="6903720" cy="1897380"/>
          </a:xfrm>
          <a:prstGeom xmlns:a="http://schemas.openxmlformats.org/drawingml/2006/main" prst="roundRect">
            <a:avLst>
              <a:gd name="adj" fmla="val 8000"/>
            </a:avLst>
          </a:prstGeom>
          <a:solidFill xmlns:a="http://schemas.openxmlformats.org/drawingml/2006/main">
            <a:srgbClr val="254B78"/>
          </a:solidFill>
        </p:spPr>
      </p:sp>
      <p:sp>
        <p:nvSpPr>
          <p:cNvPr id="16" name="Text 13">
            <a:extLst xmlns:a="http://schemas.openxmlformats.org/drawingml/2006/main">
              <a:ext uri="{FF2B5EF4-FFF2-40B4-BE49-F238E27FC236}">
                <a16:creationId xmlns:a16="http://schemas.microsoft.com/office/drawing/2014/main" id="{BCCC2948-7FED-437B-805B-5E76F443D87D}"/>
              </a:ext>
            </a:extLst>
          </p:cNvPr>
          <p:cNvSpPr>
            <a:spLocks xmlns:a="http://schemas.openxmlformats.org/drawingml/2006/main" noGrp="1"/>
          </p:cNvSpPr>
          <p:nvPr/>
        </p:nvSpPr>
        <p:spPr>
          <a:xfrm xmlns:a="http://schemas.openxmlformats.org/drawingml/2006/main">
            <a:off x="4937760" y="2791968"/>
            <a:ext cx="6400800" cy="16230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D9A441"/>
                </a:solidFill>
                <a:latin typeface="Calibri"/>
                <a:ea typeface="Calibri"/>
                <a:cs typeface="Calibri"/>
              </a:rPr>
              <a:t>Bu 3 dersle Sözcükte Anlam konusunu tamamladık: </a:t>
            </a:r>
            <a:r>
              <a:rPr sz="1800">
                <a:solidFill>
                  <a:srgbClr val="FFFFFF"/>
                </a:solidFill>
                <a:latin typeface="Calibri"/>
                <a:ea typeface="Calibri"/>
                <a:cs typeface="Calibri"/>
              </a:rPr>
              <a:t>gerçek/mecaz anlam (Ders 1), bağlama uygun sözcük ve numaralanmış sözler (Ders 2), bağlamsal eş anlam, sözü yorumlama ve deyim doğrulama (Ders 3) — hepsi gerçek 2020-2026 ÖSYM sorularıyla desteklendi.</a:t>
            </a:r>
            <a:endParaRPr sz="1800"/>
          </a:p>
        </p:txBody>
      </p:sp>
      <p:sp>
        <p:nvSpPr>
          <p:cNvPr id="17" name="Shape 14">
            <a:extLst xmlns:a="http://schemas.openxmlformats.org/drawingml/2006/main">
              <a:ext uri="{FF2B5EF4-FFF2-40B4-BE49-F238E27FC236}">
                <a16:creationId xmlns:a16="http://schemas.microsoft.com/office/drawing/2014/main" id="{8A7AEE83-D50E-437E-BCEC-FAAAED6746AE}"/>
              </a:ext>
            </a:extLst>
          </p:cNvPr>
          <p:cNvSpPr>
            <a:spLocks xmlns:a="http://schemas.openxmlformats.org/drawingml/2006/main" noGrp="1"/>
          </p:cNvSpPr>
          <p:nvPr/>
        </p:nvSpPr>
        <p:spPr>
          <a:xfrm xmlns:a="http://schemas.openxmlformats.org/drawingml/2006/main">
            <a:off x="4663440" y="5395722"/>
            <a:ext cx="6903720" cy="1051560"/>
          </a:xfrm>
          <a:prstGeom xmlns:a="http://schemas.openxmlformats.org/drawingml/2006/main" prst="roundRect">
            <a:avLst>
              <a:gd name="adj" fmla="val 10435"/>
            </a:avLst>
          </a:prstGeom>
          <a:solidFill xmlns:a="http://schemas.openxmlformats.org/drawingml/2006/main">
            <a:srgbClr val="D9A441"/>
          </a:solidFill>
        </p:spPr>
      </p:sp>
      <p:sp>
        <p:nvSpPr>
          <p:cNvPr id="18" name="Text 15">
            <a:extLst xmlns:a="http://schemas.openxmlformats.org/drawingml/2006/main">
              <a:ext uri="{FF2B5EF4-FFF2-40B4-BE49-F238E27FC236}">
                <a16:creationId xmlns:a16="http://schemas.microsoft.com/office/drawing/2014/main" id="{4B7A6741-E6D9-41F8-BDC9-A8923B0B5E9C}"/>
              </a:ext>
            </a:extLst>
          </p:cNvPr>
          <p:cNvSpPr>
            <a:spLocks xmlns:a="http://schemas.openxmlformats.org/drawingml/2006/main" noGrp="1"/>
          </p:cNvSpPr>
          <p:nvPr/>
        </p:nvSpPr>
        <p:spPr>
          <a:xfrm xmlns:a="http://schemas.openxmlformats.org/drawingml/2006/main">
            <a:off x="4937760" y="5551170"/>
            <a:ext cx="6355080" cy="3246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spc="200">
                <a:solidFill>
                  <a:srgbClr val="142A44"/>
                </a:solidFill>
                <a:latin typeface="Calibri"/>
                <a:ea typeface="Calibri"/>
                <a:cs typeface="Calibri"/>
              </a:rPr>
              <a:t>SIRADAKİ KONU</a:t>
            </a:r>
            <a:endParaRPr sz="1800"/>
          </a:p>
        </p:txBody>
      </p:sp>
      <p:sp>
        <p:nvSpPr>
          <p:cNvPr id="19" name="Text 16">
            <a:extLst xmlns:a="http://schemas.openxmlformats.org/drawingml/2006/main">
              <a:ext uri="{FF2B5EF4-FFF2-40B4-BE49-F238E27FC236}">
                <a16:creationId xmlns:a16="http://schemas.microsoft.com/office/drawing/2014/main" id="{DA4E4F8F-17C9-4525-B168-216118D57579}"/>
              </a:ext>
            </a:extLst>
          </p:cNvPr>
          <p:cNvSpPr>
            <a:spLocks xmlns:a="http://schemas.openxmlformats.org/drawingml/2006/main" noGrp="1"/>
          </p:cNvSpPr>
          <p:nvPr/>
        </p:nvSpPr>
        <p:spPr>
          <a:xfrm xmlns:a="http://schemas.openxmlformats.org/drawingml/2006/main">
            <a:off x="4937760" y="5921502"/>
            <a:ext cx="6309360" cy="37871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42A44"/>
                </a:solidFill>
                <a:latin typeface="Cambria"/>
                <a:ea typeface="Cambria"/>
                <a:cs typeface="Cambria"/>
              </a:rPr>
              <a:t>Cümlede Anlam (4 ders)  →</a:t>
            </a:r>
            <a:endParaRPr sz="2100"/>
          </a:p>
        </p:txBody>
      </p:sp>
    </p:spTree>
    <p:extLst>
      <p:ext uri="{BB962C8B-B14F-4D97-AF65-F5344CB8AC3E}">
        <p14:creationId xmlns:p14="http://schemas.microsoft.com/office/powerpoint/2010/main" val="11018516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03F8ABC-313A-437F-BB49-FE8896E780F7}"/>
              </a:ext>
            </a:extLst>
          </p:cNvPr>
          <p:cNvSpPr>
            <a:spLocks xmlns:a="http://schemas.openxmlformats.org/drawingml/2006/main" noGrp="1"/>
          </p:cNvSpPr>
          <p:nvPr/>
        </p:nvSpPr>
        <p:spPr>
          <a:xfrm xmlns:a="http://schemas.openxmlformats.org/drawingml/2006/main">
            <a:off x="640080" y="548640"/>
            <a:ext cx="640080" cy="640080"/>
          </a:xfrm>
          <a:prstGeom xmlns:a="http://schemas.openxmlformats.org/drawingml/2006/main" prst="ellipse">
            <a:avLst/>
          </a:prstGeom>
          <a:solidFill xmlns:a="http://schemas.openxmlformats.org/drawingml/2006/main">
            <a:srgbClr val="1E3A5F"/>
          </a:solidFill>
        </p:spPr>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697062a8cc624dc5"/>
          <a:stretch xmlns:a="http://schemas.openxmlformats.org/drawingml/2006/main">
            <a:fillRect l="0" t="0" r="0" b="0"/>
          </a:stretch>
        </p:blipFill>
        <p:spPr>
          <a:xfrm xmlns:a="http://schemas.openxmlformats.org/drawingml/2006/main">
            <a:off x="784098" y="692658"/>
            <a:ext cx="352044" cy="352044"/>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C946A535-8534-413B-831E-CDB087643ECF}"/>
              </a:ext>
            </a:extLst>
          </p:cNvPr>
          <p:cNvSpPr>
            <a:spLocks xmlns:a="http://schemas.openxmlformats.org/drawingml/2006/main" noGrp="1"/>
          </p:cNvSpPr>
          <p:nvPr/>
        </p:nvSpPr>
        <p:spPr>
          <a:xfrm xmlns:a="http://schemas.openxmlformats.org/drawingml/2006/main">
            <a:off x="1508760" y="566928"/>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200">
                <a:solidFill>
                  <a:srgbClr val="D9A441"/>
                </a:solidFill>
                <a:latin typeface="Calibri"/>
                <a:ea typeface="Calibri"/>
                <a:cs typeface="Calibri"/>
              </a:rPr>
              <a:t>PEKIŞTIRME</a:t>
            </a:r>
            <a:endParaRPr sz="1300"/>
          </a:p>
        </p:txBody>
      </p:sp>
      <p:sp>
        <p:nvSpPr>
          <p:cNvPr id="5" name="Text 2">
            <a:extLst xmlns:a="http://schemas.openxmlformats.org/drawingml/2006/main">
              <a:ext uri="{FF2B5EF4-FFF2-40B4-BE49-F238E27FC236}">
                <a16:creationId xmlns:a16="http://schemas.microsoft.com/office/drawing/2014/main" id="{D6563B59-C93A-4ABF-9E6D-B95E3015F284}"/>
              </a:ext>
            </a:extLst>
          </p:cNvPr>
          <p:cNvSpPr>
            <a:spLocks xmlns:a="http://schemas.openxmlformats.org/drawingml/2006/main" noGrp="1"/>
          </p:cNvSpPr>
          <p:nvPr/>
        </p:nvSpPr>
        <p:spPr>
          <a:xfrm xmlns:a="http://schemas.openxmlformats.org/drawingml/2006/main">
            <a:off x="1463040" y="841248"/>
            <a:ext cx="10058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E3A5F"/>
                </a:solidFill>
                <a:latin typeface="Cambria"/>
                <a:ea typeface="Cambria"/>
                <a:cs typeface="Cambria"/>
              </a:rPr>
              <a:t>Ödev: Yorumu ve Deyimi Değerlendir</a:t>
            </a:r>
            <a:endParaRPr sz="2800"/>
          </a:p>
        </p:txBody>
      </p:sp>
      <p:sp>
        <p:nvSpPr>
          <p:cNvPr id="6" name="Text 3">
            <a:extLst xmlns:a="http://schemas.openxmlformats.org/drawingml/2006/main">
              <a:ext uri="{FF2B5EF4-FFF2-40B4-BE49-F238E27FC236}">
                <a16:creationId xmlns:a16="http://schemas.microsoft.com/office/drawing/2014/main" id="{47355141-3384-41BD-BE0D-1B2502175944}"/>
              </a:ext>
            </a:extLst>
          </p:cNvPr>
          <p:cNvSpPr>
            <a:spLocks xmlns:a="http://schemas.openxmlformats.org/drawingml/2006/main" noGrp="1"/>
          </p:cNvSpPr>
          <p:nvPr/>
        </p:nvSpPr>
        <p:spPr>
          <a:xfrm xmlns:a="http://schemas.openxmlformats.org/drawingml/2006/main">
            <a:off x="640080" y="1645920"/>
            <a:ext cx="1088136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E2761"/>
                </a:solidFill>
                <a:latin typeface="Calibri"/>
                <a:ea typeface="Calibri"/>
                <a:cs typeface="Calibri"/>
              </a:rPr>
              <a:t>Sıradaki konuya (Cümlede Anlam) kadar aşağıdaki 8 maddeyi değerlendirip defterinize yazın — Sözcükte Anlam'ın son pekiştirmesi:</a:t>
            </a:r>
            <a:endParaRPr sz="1800"/>
          </a:p>
        </p:txBody>
      </p:sp>
      <p:sp>
        <p:nvSpPr>
          <p:cNvPr id="7" name="Shape 4">
            <a:extLst xmlns:a="http://schemas.openxmlformats.org/drawingml/2006/main">
              <a:ext uri="{FF2B5EF4-FFF2-40B4-BE49-F238E27FC236}">
                <a16:creationId xmlns:a16="http://schemas.microsoft.com/office/drawing/2014/main" id="{64E3E847-6EDC-4C11-9857-EBC6CC916A78}"/>
              </a:ext>
            </a:extLst>
          </p:cNvPr>
          <p:cNvSpPr>
            <a:spLocks xmlns:a="http://schemas.openxmlformats.org/drawingml/2006/main" noGrp="1"/>
          </p:cNvSpPr>
          <p:nvPr/>
        </p:nvSpPr>
        <p:spPr>
          <a:xfrm xmlns:a="http://schemas.openxmlformats.org/drawingml/2006/main">
            <a:off x="640080" y="2318004"/>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8" name="Text 5">
            <a:extLst xmlns:a="http://schemas.openxmlformats.org/drawingml/2006/main">
              <a:ext uri="{FF2B5EF4-FFF2-40B4-BE49-F238E27FC236}">
                <a16:creationId xmlns:a16="http://schemas.microsoft.com/office/drawing/2014/main" id="{7F5C2328-D7F6-4294-A198-F7020B32F7F8}"/>
              </a:ext>
            </a:extLst>
          </p:cNvPr>
          <p:cNvSpPr>
            <a:spLocks xmlns:a="http://schemas.openxmlformats.org/drawingml/2006/main" noGrp="1"/>
          </p:cNvSpPr>
          <p:nvPr/>
        </p:nvSpPr>
        <p:spPr>
          <a:xfrm xmlns:a="http://schemas.openxmlformats.org/drawingml/2006/main">
            <a:off x="822960" y="2318004"/>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1. "Suyu bulandırdı." → "Ortamı huzursuz etti" yorumu doğru mu?</a:t>
            </a:r>
            <a:endParaRPr sz="1800"/>
          </a:p>
        </p:txBody>
      </p:sp>
      <p:sp>
        <p:nvSpPr>
          <p:cNvPr id="9" name="Shape 6">
            <a:extLst xmlns:a="http://schemas.openxmlformats.org/drawingml/2006/main">
              <a:ext uri="{FF2B5EF4-FFF2-40B4-BE49-F238E27FC236}">
                <a16:creationId xmlns:a16="http://schemas.microsoft.com/office/drawing/2014/main" id="{138876E5-E815-4528-8702-626D6AB2A365}"/>
              </a:ext>
            </a:extLst>
          </p:cNvPr>
          <p:cNvSpPr>
            <a:spLocks xmlns:a="http://schemas.openxmlformats.org/drawingml/2006/main" noGrp="1"/>
          </p:cNvSpPr>
          <p:nvPr/>
        </p:nvSpPr>
        <p:spPr>
          <a:xfrm xmlns:a="http://schemas.openxmlformats.org/drawingml/2006/main">
            <a:off x="6172200" y="2318004"/>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0" name="Text 7">
            <a:extLst xmlns:a="http://schemas.openxmlformats.org/drawingml/2006/main">
              <a:ext uri="{FF2B5EF4-FFF2-40B4-BE49-F238E27FC236}">
                <a16:creationId xmlns:a16="http://schemas.microsoft.com/office/drawing/2014/main" id="{9792AD37-9005-4EB0-BD82-A0D2F97B1AD9}"/>
              </a:ext>
            </a:extLst>
          </p:cNvPr>
          <p:cNvSpPr>
            <a:spLocks xmlns:a="http://schemas.openxmlformats.org/drawingml/2006/main" noGrp="1"/>
          </p:cNvSpPr>
          <p:nvPr/>
        </p:nvSpPr>
        <p:spPr>
          <a:xfrm xmlns:a="http://schemas.openxmlformats.org/drawingml/2006/main">
            <a:off x="6355080" y="2318004"/>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2. "Kaşıkla verdim, sapıyla gözünü çıkardı." → "Nankörlük etti" yorumu doğru mu?</a:t>
            </a:r>
            <a:endParaRPr sz="1800"/>
          </a:p>
        </p:txBody>
      </p:sp>
      <p:sp>
        <p:nvSpPr>
          <p:cNvPr id="11" name="Shape 8">
            <a:extLst xmlns:a="http://schemas.openxmlformats.org/drawingml/2006/main">
              <a:ext uri="{FF2B5EF4-FFF2-40B4-BE49-F238E27FC236}">
                <a16:creationId xmlns:a16="http://schemas.microsoft.com/office/drawing/2014/main" id="{259CA619-9533-48FA-90B7-3372794A1390}"/>
              </a:ext>
            </a:extLst>
          </p:cNvPr>
          <p:cNvSpPr>
            <a:spLocks xmlns:a="http://schemas.openxmlformats.org/drawingml/2006/main" noGrp="1"/>
          </p:cNvSpPr>
          <p:nvPr/>
        </p:nvSpPr>
        <p:spPr>
          <a:xfrm xmlns:a="http://schemas.openxmlformats.org/drawingml/2006/main">
            <a:off x="640080" y="3076956"/>
            <a:ext cx="5349240" cy="1065276"/>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2" name="Text 9">
            <a:extLst xmlns:a="http://schemas.openxmlformats.org/drawingml/2006/main">
              <a:ext uri="{FF2B5EF4-FFF2-40B4-BE49-F238E27FC236}">
                <a16:creationId xmlns:a16="http://schemas.microsoft.com/office/drawing/2014/main" id="{69E818D4-4ED6-4ECF-9764-8D85382481F2}"/>
              </a:ext>
            </a:extLst>
          </p:cNvPr>
          <p:cNvSpPr>
            <a:spLocks xmlns:a="http://schemas.openxmlformats.org/drawingml/2006/main" noGrp="1"/>
          </p:cNvSpPr>
          <p:nvPr/>
        </p:nvSpPr>
        <p:spPr>
          <a:xfrm xmlns:a="http://schemas.openxmlformats.org/drawingml/2006/main">
            <a:off x="822960" y="3076956"/>
            <a:ext cx="5029200" cy="9738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3. "Yorganına göre ayağını uzattı." → "İmkânlarını aşan harcama yaptı" yorumu doğru mu?</a:t>
            </a:r>
            <a:endParaRPr sz="1800"/>
          </a:p>
        </p:txBody>
      </p:sp>
      <p:sp>
        <p:nvSpPr>
          <p:cNvPr id="13" name="Shape 10">
            <a:extLst xmlns:a="http://schemas.openxmlformats.org/drawingml/2006/main">
              <a:ext uri="{FF2B5EF4-FFF2-40B4-BE49-F238E27FC236}">
                <a16:creationId xmlns:a16="http://schemas.microsoft.com/office/drawing/2014/main" id="{18F2F415-BE52-4291-8FCE-907A16357AB7}"/>
              </a:ext>
            </a:extLst>
          </p:cNvPr>
          <p:cNvSpPr>
            <a:spLocks xmlns:a="http://schemas.openxmlformats.org/drawingml/2006/main" noGrp="1"/>
          </p:cNvSpPr>
          <p:nvPr/>
        </p:nvSpPr>
        <p:spPr>
          <a:xfrm xmlns:a="http://schemas.openxmlformats.org/drawingml/2006/main">
            <a:off x="6172200" y="3076956"/>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4" name="Text 11">
            <a:extLst xmlns:a="http://schemas.openxmlformats.org/drawingml/2006/main">
              <a:ext uri="{FF2B5EF4-FFF2-40B4-BE49-F238E27FC236}">
                <a16:creationId xmlns:a16="http://schemas.microsoft.com/office/drawing/2014/main" id="{664AECBD-A9A6-42A6-9F4C-B0B88B63E027}"/>
              </a:ext>
            </a:extLst>
          </p:cNvPr>
          <p:cNvSpPr>
            <a:spLocks xmlns:a="http://schemas.openxmlformats.org/drawingml/2006/main" noGrp="1"/>
          </p:cNvSpPr>
          <p:nvPr/>
        </p:nvSpPr>
        <p:spPr>
          <a:xfrm xmlns:a="http://schemas.openxmlformats.org/drawingml/2006/main">
            <a:off x="6355080" y="3076956"/>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4. "</a:t>
            </a:r>
            <a:r>
              <a:rPr sz="1800" b="1">
                <a:solidFill>
                  <a:srgbClr val="1E3A5F"/>
                </a:solidFill>
                <a:latin typeface="Calibri"/>
                <a:ea typeface="Calibri"/>
                <a:cs typeface="Calibri"/>
              </a:rPr>
              <a:t>Köprüleri attı.</a:t>
            </a:r>
            <a:r>
              <a:rPr sz="1800" b="1">
                <a:solidFill>
                  <a:srgbClr val="1E3A5F"/>
                </a:solidFill>
                <a:latin typeface="Calibri"/>
                <a:ea typeface="Calibri"/>
                <a:cs typeface="Calibri"/>
              </a:rPr>
              <a:t>" → "</a:t>
            </a:r>
            <a:r>
              <a:rPr sz="1800" b="1">
                <a:solidFill>
                  <a:srgbClr val="1E3A5F"/>
                </a:solidFill>
                <a:latin typeface="Calibri"/>
                <a:ea typeface="Calibri"/>
                <a:cs typeface="Calibri"/>
              </a:rPr>
              <a:t>Geçmişle bağlarını kopardı</a:t>
            </a:r>
            <a:r>
              <a:rPr sz="1800" b="1">
                <a:solidFill>
                  <a:srgbClr val="1E3A5F"/>
                </a:solidFill>
                <a:latin typeface="Calibri"/>
                <a:ea typeface="Calibri"/>
                <a:cs typeface="Calibri"/>
              </a:rPr>
              <a:t>" yorumu doğru mu?</a:t>
            </a:r>
            <a:endParaRPr sz="1800"/>
          </a:p>
        </p:txBody>
      </p:sp>
      <p:sp>
        <p:nvSpPr>
          <p:cNvPr id="15" name="Shape 12">
            <a:extLst xmlns:a="http://schemas.openxmlformats.org/drawingml/2006/main">
              <a:ext uri="{FF2B5EF4-FFF2-40B4-BE49-F238E27FC236}">
                <a16:creationId xmlns:a16="http://schemas.microsoft.com/office/drawing/2014/main" id="{820F3FAE-DC68-432B-8309-E0A86C804021}"/>
              </a:ext>
            </a:extLst>
          </p:cNvPr>
          <p:cNvSpPr>
            <a:spLocks xmlns:a="http://schemas.openxmlformats.org/drawingml/2006/main" noGrp="1"/>
          </p:cNvSpPr>
          <p:nvPr/>
        </p:nvSpPr>
        <p:spPr>
          <a:xfrm xmlns:a="http://schemas.openxmlformats.org/drawingml/2006/main">
            <a:off x="640080" y="4160520"/>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6" name="Text 13">
            <a:extLst xmlns:a="http://schemas.openxmlformats.org/drawingml/2006/main">
              <a:ext uri="{FF2B5EF4-FFF2-40B4-BE49-F238E27FC236}">
                <a16:creationId xmlns:a16="http://schemas.microsoft.com/office/drawing/2014/main" id="{30AA4491-A9EC-4167-966E-36DD26DC776E}"/>
              </a:ext>
            </a:extLst>
          </p:cNvPr>
          <p:cNvSpPr>
            <a:spLocks xmlns:a="http://schemas.openxmlformats.org/drawingml/2006/main" noGrp="1"/>
          </p:cNvSpPr>
          <p:nvPr/>
        </p:nvSpPr>
        <p:spPr>
          <a:xfrm xmlns:a="http://schemas.openxmlformats.org/drawingml/2006/main">
            <a:off x="822960" y="4160520"/>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5. "Eli kalem tutmak" → "Yazı yazabilmek" — doğru mu?</a:t>
            </a:r>
            <a:endParaRPr sz="1800"/>
          </a:p>
        </p:txBody>
      </p:sp>
      <p:sp>
        <p:nvSpPr>
          <p:cNvPr id="17" name="Shape 14">
            <a:extLst xmlns:a="http://schemas.openxmlformats.org/drawingml/2006/main">
              <a:ext uri="{FF2B5EF4-FFF2-40B4-BE49-F238E27FC236}">
                <a16:creationId xmlns:a16="http://schemas.microsoft.com/office/drawing/2014/main" id="{62DCD445-F556-4CF3-9B66-D324C0D7B095}"/>
              </a:ext>
            </a:extLst>
          </p:cNvPr>
          <p:cNvSpPr>
            <a:spLocks xmlns:a="http://schemas.openxmlformats.org/drawingml/2006/main" noGrp="1"/>
          </p:cNvSpPr>
          <p:nvPr/>
        </p:nvSpPr>
        <p:spPr>
          <a:xfrm xmlns:a="http://schemas.openxmlformats.org/drawingml/2006/main">
            <a:off x="6172200" y="4160520"/>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18" name="Text 15">
            <a:extLst xmlns:a="http://schemas.openxmlformats.org/drawingml/2006/main">
              <a:ext uri="{FF2B5EF4-FFF2-40B4-BE49-F238E27FC236}">
                <a16:creationId xmlns:a16="http://schemas.microsoft.com/office/drawing/2014/main" id="{A9B29CA3-6728-44A2-AE94-91F54C4AB140}"/>
              </a:ext>
            </a:extLst>
          </p:cNvPr>
          <p:cNvSpPr>
            <a:spLocks xmlns:a="http://schemas.openxmlformats.org/drawingml/2006/main" noGrp="1"/>
          </p:cNvSpPr>
          <p:nvPr/>
        </p:nvSpPr>
        <p:spPr>
          <a:xfrm xmlns:a="http://schemas.openxmlformats.org/drawingml/2006/main">
            <a:off x="6355080" y="4160520"/>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6. "Ayağı kaymak" → "Bir işten kolayca vazgeçmek" — doğru mu?</a:t>
            </a:r>
            <a:endParaRPr sz="1800"/>
          </a:p>
        </p:txBody>
      </p:sp>
      <p:sp>
        <p:nvSpPr>
          <p:cNvPr id="19" name="Shape 16">
            <a:extLst xmlns:a="http://schemas.openxmlformats.org/drawingml/2006/main">
              <a:ext uri="{FF2B5EF4-FFF2-40B4-BE49-F238E27FC236}">
                <a16:creationId xmlns:a16="http://schemas.microsoft.com/office/drawing/2014/main" id="{E3814912-3F3E-4708-81CC-F6618547BF3C}"/>
              </a:ext>
            </a:extLst>
          </p:cNvPr>
          <p:cNvSpPr>
            <a:spLocks xmlns:a="http://schemas.openxmlformats.org/drawingml/2006/main" noGrp="1"/>
          </p:cNvSpPr>
          <p:nvPr/>
        </p:nvSpPr>
        <p:spPr>
          <a:xfrm xmlns:a="http://schemas.openxmlformats.org/drawingml/2006/main">
            <a:off x="640080" y="4919472"/>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20" name="Text 17">
            <a:extLst xmlns:a="http://schemas.openxmlformats.org/drawingml/2006/main">
              <a:ext uri="{FF2B5EF4-FFF2-40B4-BE49-F238E27FC236}">
                <a16:creationId xmlns:a16="http://schemas.microsoft.com/office/drawing/2014/main" id="{AC5E3F47-1D2E-4FF2-921E-148D68942CD2}"/>
              </a:ext>
            </a:extLst>
          </p:cNvPr>
          <p:cNvSpPr>
            <a:spLocks xmlns:a="http://schemas.openxmlformats.org/drawingml/2006/main" noGrp="1"/>
          </p:cNvSpPr>
          <p:nvPr/>
        </p:nvSpPr>
        <p:spPr>
          <a:xfrm xmlns:a="http://schemas.openxmlformats.org/drawingml/2006/main">
            <a:off x="822960" y="4919472"/>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7. "Kulak kabartmak" → "Dikkatle dinlemeye çalışmak" — doğru mu?</a:t>
            </a:r>
            <a:endParaRPr sz="1800"/>
          </a:p>
        </p:txBody>
      </p:sp>
      <p:sp>
        <p:nvSpPr>
          <p:cNvPr id="21" name="Shape 18">
            <a:extLst xmlns:a="http://schemas.openxmlformats.org/drawingml/2006/main">
              <a:ext uri="{FF2B5EF4-FFF2-40B4-BE49-F238E27FC236}">
                <a16:creationId xmlns:a16="http://schemas.microsoft.com/office/drawing/2014/main" id="{C7BD5EAC-8FE7-4FCC-9616-A27B3150B04F}"/>
              </a:ext>
            </a:extLst>
          </p:cNvPr>
          <p:cNvSpPr>
            <a:spLocks xmlns:a="http://schemas.openxmlformats.org/drawingml/2006/main" noGrp="1"/>
          </p:cNvSpPr>
          <p:nvPr/>
        </p:nvSpPr>
        <p:spPr>
          <a:xfrm xmlns:a="http://schemas.openxmlformats.org/drawingml/2006/main">
            <a:off x="6172200" y="4919472"/>
            <a:ext cx="5349240" cy="740664"/>
          </a:xfrm>
          <a:prstGeom xmlns:a="http://schemas.openxmlformats.org/drawingml/2006/main" prst="roundRect">
            <a:avLst>
              <a:gd name="adj" fmla="val 50000"/>
            </a:avLst>
          </a:prstGeom>
          <a:solidFill xmlns:a="http://schemas.openxmlformats.org/drawingml/2006/main">
            <a:srgbClr val="EEF3F8"/>
          </a:solidFill>
          <a:ln xmlns:a="http://schemas.openxmlformats.org/drawingml/2006/main" w="12700">
            <a:solidFill>
              <a:srgbClr val="1E3A5F"/>
            </a:solidFill>
            <a:prstDash val="solid"/>
          </a:ln>
        </p:spPr>
      </p:sp>
      <p:sp>
        <p:nvSpPr>
          <p:cNvPr id="22" name="Text 19">
            <a:extLst xmlns:a="http://schemas.openxmlformats.org/drawingml/2006/main">
              <a:ext uri="{FF2B5EF4-FFF2-40B4-BE49-F238E27FC236}">
                <a16:creationId xmlns:a16="http://schemas.microsoft.com/office/drawing/2014/main" id="{39D14E58-2005-404E-8A1F-0B649475828F}"/>
              </a:ext>
            </a:extLst>
          </p:cNvPr>
          <p:cNvSpPr>
            <a:spLocks xmlns:a="http://schemas.openxmlformats.org/drawingml/2006/main" noGrp="1"/>
          </p:cNvSpPr>
          <p:nvPr/>
        </p:nvSpPr>
        <p:spPr>
          <a:xfrm xmlns:a="http://schemas.openxmlformats.org/drawingml/2006/main">
            <a:off x="6355080" y="4919472"/>
            <a:ext cx="502920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3A5F"/>
                </a:solidFill>
                <a:latin typeface="Calibri"/>
                <a:ea typeface="Calibri"/>
                <a:cs typeface="Calibri"/>
              </a:rPr>
              <a:t>8. "Yüz vermek" → "İlgi göstermemek" — doğru mu?</a:t>
            </a:r>
            <a:endParaRPr sz="1800"/>
          </a:p>
        </p:txBody>
      </p:sp>
      <p:sp>
        <p:nvSpPr>
          <p:cNvPr id="23" name="Shape 20">
            <a:extLst xmlns:a="http://schemas.openxmlformats.org/drawingml/2006/main">
              <a:ext uri="{FF2B5EF4-FFF2-40B4-BE49-F238E27FC236}">
                <a16:creationId xmlns:a16="http://schemas.microsoft.com/office/drawing/2014/main" id="{8593CC82-74E9-4A27-BF5C-C3FCAC31D106}"/>
              </a:ext>
            </a:extLst>
          </p:cNvPr>
          <p:cNvSpPr>
            <a:spLocks xmlns:a="http://schemas.openxmlformats.org/drawingml/2006/main" noGrp="1"/>
          </p:cNvSpPr>
          <p:nvPr/>
        </p:nvSpPr>
        <p:spPr>
          <a:xfrm xmlns:a="http://schemas.openxmlformats.org/drawingml/2006/main">
            <a:off x="640080" y="5712714"/>
            <a:ext cx="10881360" cy="740664"/>
          </a:xfrm>
          <a:prstGeom xmlns:a="http://schemas.openxmlformats.org/drawingml/2006/main" prst="roundRect">
            <a:avLst>
              <a:gd name="adj" fmla="val 15385"/>
            </a:avLst>
          </a:prstGeom>
          <a:solidFill xmlns:a="http://schemas.openxmlformats.org/drawingml/2006/main">
            <a:srgbClr val="FBF3E3"/>
          </a:solidFill>
        </p:spPr>
      </p:sp>
      <p:sp>
        <p:nvSpPr>
          <p:cNvPr id="24" name="Text 21">
            <a:extLst xmlns:a="http://schemas.openxmlformats.org/drawingml/2006/main">
              <a:ext uri="{FF2B5EF4-FFF2-40B4-BE49-F238E27FC236}">
                <a16:creationId xmlns:a16="http://schemas.microsoft.com/office/drawing/2014/main" id="{88C500A8-2DAE-4A36-877B-0D011E5E36FE}"/>
              </a:ext>
            </a:extLst>
          </p:cNvPr>
          <p:cNvSpPr>
            <a:spLocks xmlns:a="http://schemas.openxmlformats.org/drawingml/2006/main" noGrp="1"/>
          </p:cNvSpPr>
          <p:nvPr/>
        </p:nvSpPr>
        <p:spPr>
          <a:xfrm xmlns:a="http://schemas.openxmlformats.org/drawingml/2006/main">
            <a:off x="914400" y="5712714"/>
            <a:ext cx="10332720" cy="6492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E2761"/>
                </a:solidFill>
                <a:latin typeface="Calibri"/>
                <a:ea typeface="Calibri"/>
                <a:cs typeface="Calibri"/>
              </a:rPr>
              <a:t>Not: 5-8'de dikkat — bazı deyimlerin "mantıklı görünen" bir açıklaması aslında YANLIŞ olabilir; deyimin GERÇEK/yerleşik kullanımdaki anlamını düşünün.</a:t>
            </a:r>
            <a:endParaRPr sz="1800"/>
          </a:p>
        </p:txBody>
      </p:sp>
      <p:sp>
        <p:nvSpPr>
          <p:cNvPr id="25" name="Text 22">
            <a:extLst xmlns:a="http://schemas.openxmlformats.org/drawingml/2006/main">
              <a:ext uri="{FF2B5EF4-FFF2-40B4-BE49-F238E27FC236}">
                <a16:creationId xmlns:a16="http://schemas.microsoft.com/office/drawing/2014/main" id="{604A581E-F719-42FB-B620-D2C4875EEB2D}"/>
              </a:ext>
            </a:extLst>
          </p:cNvPr>
          <p:cNvSpPr>
            <a:spLocks xmlns:a="http://schemas.openxmlformats.org/drawingml/2006/main" noGrp="1"/>
          </p:cNvSpPr>
          <p:nvPr/>
        </p:nvSpPr>
        <p:spPr>
          <a:xfrm xmlns:a="http://schemas.openxmlformats.org/drawingml/2006/main">
            <a:off x="457200" y="653796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latin typeface="Calibri"/>
                <a:ea typeface="Calibri"/>
                <a:cs typeface="Calibri"/>
              </a:rPr>
              <a:t>TYT TÜRKÇE  ·  SÖZCÜKTE ANLAM  ·  Ödev</a:t>
            </a:r>
            <a:endParaRPr sz="900"/>
          </a:p>
        </p:txBody>
      </p:sp>
      <p:sp>
        <p:nvSpPr>
          <p:cNvPr id="26" name="Text 23">
            <a:extLst xmlns:a="http://schemas.openxmlformats.org/drawingml/2006/main">
              <a:ext uri="{FF2B5EF4-FFF2-40B4-BE49-F238E27FC236}">
                <a16:creationId xmlns:a16="http://schemas.microsoft.com/office/drawing/2014/main" id="{A8CC6FB8-5390-4C8C-AB6A-10743620A6FF}"/>
              </a:ext>
            </a:extLst>
          </p:cNvPr>
          <p:cNvSpPr>
            <a:spLocks xmlns:a="http://schemas.openxmlformats.org/drawingml/2006/main" noGrp="1"/>
          </p:cNvSpPr>
          <p:nvPr/>
        </p:nvSpPr>
        <p:spPr>
          <a:xfrm xmlns:a="http://schemas.openxmlformats.org/drawingml/2006/main">
            <a:off x="9902952" y="6537960"/>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6B7280"/>
                </a:solidFill>
                <a:latin typeface="Calibri"/>
                <a:ea typeface="Calibri"/>
                <a:cs typeface="Calibri"/>
              </a:rPr>
              <a:t>Ders 3 / 3</a:t>
            </a:r>
            <a:endParaRPr sz="900"/>
          </a:p>
        </p:txBody>
      </p:sp>
    </p:spTree>
    <p:extLst>
      <p:ext uri="{BB962C8B-B14F-4D97-AF65-F5344CB8AC3E}">
        <p14:creationId xmlns:p14="http://schemas.microsoft.com/office/powerpoint/2010/main" val="37743940"/>
      </p:ext>
    </p:extLst>
  </p:cSld>
</p:sld>
</file>

<file path=ppt/slides/slide24.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040ABE-7087-4D70-B320-C41437310EEA}"/>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142A44"/>
          </a:solidFill>
        </p:spPr>
      </p:sp>
      <p:sp>
        <p:nvSpPr>
          <p:cNvPr id="3" name="Shape 1">
            <a:extLst xmlns:a="http://schemas.openxmlformats.org/drawingml/2006/main">
              <a:ext uri="{FF2B5EF4-FFF2-40B4-BE49-F238E27FC236}">
                <a16:creationId xmlns:a16="http://schemas.microsoft.com/office/drawing/2014/main" id="{6B2DEFBE-93B1-4969-9998-1CAFF838C75F}"/>
              </a:ext>
            </a:extLst>
          </p:cNvPr>
          <p:cNvSpPr>
            <a:spLocks xmlns:a="http://schemas.openxmlformats.org/drawingml/2006/main" noGrp="1"/>
          </p:cNvSpPr>
          <p:nvPr/>
        </p:nvSpPr>
        <p:spPr>
          <a:xfrm xmlns:a="http://schemas.openxmlformats.org/drawingml/2006/main">
            <a:off x="640080" y="548640"/>
            <a:ext cx="731520" cy="731520"/>
          </a:xfrm>
          <a:prstGeom xmlns:a="http://schemas.openxmlformats.org/drawingml/2006/main" prst="ellipse">
            <a:avLst/>
          </a:prstGeom>
          <a:solidFill xmlns:a="http://schemas.openxmlformats.org/drawingml/2006/main">
            <a:srgbClr val="254B78"/>
          </a:solidFill>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a5a757a48664668"/>
          <a:stretch xmlns:a="http://schemas.openxmlformats.org/drawingml/2006/main">
            <a:fillRect l="0" t="0" r="0" b="0"/>
          </a:stretch>
        </p:blipFill>
        <p:spPr>
          <a:xfrm xmlns:a="http://schemas.openxmlformats.org/drawingml/2006/main">
            <a:off x="804672" y="713232"/>
            <a:ext cx="402336" cy="402336"/>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898D4BAA-1980-4459-B87C-E374B305316C}"/>
              </a:ext>
            </a:extLst>
          </p:cNvPr>
          <p:cNvSpPr>
            <a:spLocks xmlns:a="http://schemas.openxmlformats.org/drawingml/2006/main" noGrp="1"/>
          </p:cNvSpPr>
          <p:nvPr/>
        </p:nvSpPr>
        <p:spPr>
          <a:xfrm xmlns:a="http://schemas.openxmlformats.org/drawingml/2006/main">
            <a:off x="1508760" y="594360"/>
            <a:ext cx="64008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FFFFFF"/>
                </a:solidFill>
                <a:latin typeface="Cambria"/>
                <a:ea typeface="Cambria"/>
                <a:cs typeface="Cambria"/>
              </a:rPr>
              <a:t>Ders ve Konu Tamamlandı</a:t>
            </a:r>
            <a:endParaRPr sz="2800"/>
          </a:p>
        </p:txBody>
      </p:sp>
      <p:sp>
        <p:nvSpPr>
          <p:cNvPr id="6" name="Text 3">
            <a:extLst xmlns:a="http://schemas.openxmlformats.org/drawingml/2006/main">
              <a:ext uri="{FF2B5EF4-FFF2-40B4-BE49-F238E27FC236}">
                <a16:creationId xmlns:a16="http://schemas.microsoft.com/office/drawing/2014/main" id="{C7DE0728-5AEA-4998-9B8A-1998BBF4E026}"/>
              </a:ext>
            </a:extLst>
          </p:cNvPr>
          <p:cNvSpPr>
            <a:spLocks xmlns:a="http://schemas.openxmlformats.org/drawingml/2006/main" noGrp="1"/>
          </p:cNvSpPr>
          <p:nvPr/>
        </p:nvSpPr>
        <p:spPr>
          <a:xfrm xmlns:a="http://schemas.openxmlformats.org/drawingml/2006/main">
            <a:off x="640080" y="137160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9FB8D6"/>
                </a:solidFill>
                <a:latin typeface="Calibri"/>
                <a:ea typeface="Calibri"/>
                <a:cs typeface="Calibri"/>
              </a:rPr>
              <a:t>Bağlamsal Anlam Yorumlama ve Deyimler — Sözcükte Anlam, Ders 3/3</a:t>
            </a:r>
            <a:endParaRPr sz="1300"/>
          </a:p>
        </p:txBody>
      </p:sp>
      <p:sp>
        <p:nvSpPr>
          <p:cNvPr id="7" name="Shape 4">
            <a:extLst xmlns:a="http://schemas.openxmlformats.org/drawingml/2006/main">
              <a:ext uri="{FF2B5EF4-FFF2-40B4-BE49-F238E27FC236}">
                <a16:creationId xmlns:a16="http://schemas.microsoft.com/office/drawing/2014/main" id="{F633D5FF-1180-44EE-8CB8-B5785C2D413C}"/>
              </a:ext>
            </a:extLst>
          </p:cNvPr>
          <p:cNvSpPr>
            <a:spLocks xmlns:a="http://schemas.openxmlformats.org/drawingml/2006/main" noGrp="1"/>
          </p:cNvSpPr>
          <p:nvPr/>
        </p:nvSpPr>
        <p:spPr>
          <a:xfrm xmlns:a="http://schemas.openxmlformats.org/drawingml/2006/main">
            <a:off x="640080" y="2103120"/>
            <a:ext cx="7040880" cy="1828800"/>
          </a:xfrm>
          <a:prstGeom xmlns:a="http://schemas.openxmlformats.org/drawingml/2006/main" prst="roundRect">
            <a:avLst>
              <a:gd name="adj" fmla="val 6000"/>
            </a:avLst>
          </a:prstGeom>
          <a:solidFill xmlns:a="http://schemas.openxmlformats.org/drawingml/2006/main">
            <a:srgbClr val="254B78"/>
          </a:solidFill>
        </p:spPr>
      </p:sp>
      <p:sp>
        <p:nvSpPr>
          <p:cNvPr id="8" name="Text 5">
            <a:extLst xmlns:a="http://schemas.openxmlformats.org/drawingml/2006/main">
              <a:ext uri="{FF2B5EF4-FFF2-40B4-BE49-F238E27FC236}">
                <a16:creationId xmlns:a16="http://schemas.microsoft.com/office/drawing/2014/main" id="{1BB045B0-4530-4405-B238-C02584650B1A}"/>
              </a:ext>
            </a:extLst>
          </p:cNvPr>
          <p:cNvSpPr>
            <a:spLocks xmlns:a="http://schemas.openxmlformats.org/drawingml/2006/main" noGrp="1"/>
          </p:cNvSpPr>
          <p:nvPr/>
        </p:nvSpPr>
        <p:spPr>
          <a:xfrm xmlns:a="http://schemas.openxmlformats.org/drawingml/2006/main">
            <a:off x="914400" y="2331720"/>
            <a:ext cx="64922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D9A441"/>
                </a:solidFill>
                <a:latin typeface="Calibri"/>
                <a:ea typeface="Calibri"/>
                <a:cs typeface="Calibri"/>
              </a:rPr>
              <a:t>Bugün öğrendik:  </a:t>
            </a:r>
            <a:endParaRPr sz="1550"/>
          </a:p>
          <a:p xmlns:a="http://schemas.openxmlformats.org/drawingml/2006/main">
            <a:pPr marL="0" indent="0">
              <a:buNone/>
            </a:pPr>
            <a:r>
              <a:rPr sz="1550">
                <a:solidFill>
                  <a:srgbClr val="FFFFFF"/>
                </a:solidFill>
                <a:latin typeface="Calibri"/>
                <a:ea typeface="Calibri"/>
                <a:cs typeface="Calibri"/>
              </a:rPr>
              <a:t>Bağlamsal eş anlam bulma (Tip 3), sözü yorumlama (Tip 4) ve deyim anlamını doğrulama (Tip 6) — bu 3 dersle Sözcükte Anlam konusunun TAMAMI, 2020-2026 gerçek ÖSYM sorularıyla birlikte tamamlandı.</a:t>
            </a:r>
            <a:endParaRPr sz="1550"/>
          </a:p>
        </p:txBody>
      </p:sp>
      <p:sp>
        <p:nvSpPr>
          <p:cNvPr id="9" name="Shape 6">
            <a:extLst xmlns:a="http://schemas.openxmlformats.org/drawingml/2006/main">
              <a:ext uri="{FF2B5EF4-FFF2-40B4-BE49-F238E27FC236}">
                <a16:creationId xmlns:a16="http://schemas.microsoft.com/office/drawing/2014/main" id="{927C8D19-2E13-44F0-9744-B2C3E56366E0}"/>
              </a:ext>
            </a:extLst>
          </p:cNvPr>
          <p:cNvSpPr>
            <a:spLocks xmlns:a="http://schemas.openxmlformats.org/drawingml/2006/main" noGrp="1"/>
          </p:cNvSpPr>
          <p:nvPr/>
        </p:nvSpPr>
        <p:spPr>
          <a:xfrm xmlns:a="http://schemas.openxmlformats.org/drawingml/2006/main">
            <a:off x="640080" y="4160520"/>
            <a:ext cx="7040880" cy="1051560"/>
          </a:xfrm>
          <a:prstGeom xmlns:a="http://schemas.openxmlformats.org/drawingml/2006/main" prst="roundRect">
            <a:avLst>
              <a:gd name="adj" fmla="val 10435"/>
            </a:avLst>
          </a:prstGeom>
          <a:solidFill xmlns:a="http://schemas.openxmlformats.org/drawingml/2006/main">
            <a:srgbClr val="D9A441"/>
          </a:solidFill>
        </p:spPr>
      </p:sp>
      <p:sp>
        <p:nvSpPr>
          <p:cNvPr id="10" name="Text 7">
            <a:extLst xmlns:a="http://schemas.openxmlformats.org/drawingml/2006/main">
              <a:ext uri="{FF2B5EF4-FFF2-40B4-BE49-F238E27FC236}">
                <a16:creationId xmlns:a16="http://schemas.microsoft.com/office/drawing/2014/main" id="{276585C4-8523-4D79-8F09-202A80BD0C79}"/>
              </a:ext>
            </a:extLst>
          </p:cNvPr>
          <p:cNvSpPr>
            <a:spLocks xmlns:a="http://schemas.openxmlformats.org/drawingml/2006/main" noGrp="1"/>
          </p:cNvSpPr>
          <p:nvPr/>
        </p:nvSpPr>
        <p:spPr>
          <a:xfrm xmlns:a="http://schemas.openxmlformats.org/drawingml/2006/main">
            <a:off x="914400" y="4315968"/>
            <a:ext cx="5943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200">
                <a:solidFill>
                  <a:srgbClr val="142A44"/>
                </a:solidFill>
                <a:latin typeface="Calibri"/>
                <a:ea typeface="Calibri"/>
                <a:cs typeface="Calibri"/>
              </a:rPr>
              <a:t>SIRADAKİ KONU</a:t>
            </a:r>
            <a:endParaRPr sz="1600"/>
          </a:p>
        </p:txBody>
      </p:sp>
      <p:sp>
        <p:nvSpPr>
          <p:cNvPr id="11" name="Text 8">
            <a:extLst xmlns:a="http://schemas.openxmlformats.org/drawingml/2006/main">
              <a:ext uri="{FF2B5EF4-FFF2-40B4-BE49-F238E27FC236}">
                <a16:creationId xmlns:a16="http://schemas.microsoft.com/office/drawing/2014/main" id="{576E4BC1-14D5-4105-B64B-9507DCF80489}"/>
              </a:ext>
            </a:extLst>
          </p:cNvPr>
          <p:cNvSpPr>
            <a:spLocks xmlns:a="http://schemas.openxmlformats.org/drawingml/2006/main" noGrp="1"/>
          </p:cNvSpPr>
          <p:nvPr/>
        </p:nvSpPr>
        <p:spPr>
          <a:xfrm xmlns:a="http://schemas.openxmlformats.org/drawingml/2006/main">
            <a:off x="914400" y="4590288"/>
            <a:ext cx="6309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42A44"/>
                </a:solidFill>
                <a:latin typeface="Cambria"/>
                <a:ea typeface="Cambria"/>
                <a:cs typeface="Cambria"/>
              </a:rPr>
              <a:t>Cümlede Anlam (4 ders)  →</a:t>
            </a:r>
            <a:endParaRPr sz="2100"/>
          </a:p>
        </p:txBody>
      </p:sp>
      <p:sp>
        <p:nvSpPr>
          <p:cNvPr id="12" name="Text 9">
            <a:extLst xmlns:a="http://schemas.openxmlformats.org/drawingml/2006/main">
              <a:ext uri="{FF2B5EF4-FFF2-40B4-BE49-F238E27FC236}">
                <a16:creationId xmlns:a16="http://schemas.microsoft.com/office/drawing/2014/main" id="{67032810-B9EB-44E9-88CF-6C43EC5322F5}"/>
              </a:ext>
            </a:extLst>
          </p:cNvPr>
          <p:cNvSpPr>
            <a:spLocks xmlns:a="http://schemas.openxmlformats.org/drawingml/2006/main" noGrp="1"/>
          </p:cNvSpPr>
          <p:nvPr/>
        </p:nvSpPr>
        <p:spPr>
          <a:xfrm xmlns:a="http://schemas.openxmlformats.org/drawingml/2006/main">
            <a:off x="640080" y="630936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6E8CB0"/>
                </a:solidFill>
                <a:latin typeface="Calibri"/>
                <a:ea typeface="Calibri"/>
                <a:cs typeface="Calibri"/>
              </a:rPr>
              <a:t>TYT Türkçe Ders Anlatım Projesi  ·  Sedat GÜLER ve Claude Opus 5 tarafından üretilmiştir.</a:t>
            </a:r>
            <a:endParaRPr sz="1000"/>
          </a:p>
        </p:txBody>
      </p:sp>
    </p:spTree>
    <p:extLst>
      <p:ext uri="{BB962C8B-B14F-4D97-AF65-F5344CB8AC3E}">
        <p14:creationId xmlns:p14="http://schemas.microsoft.com/office/powerpoint/2010/main" val="74228374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2026-09-22T08:02:47.1620000Z</dcterms:created>
  <dcterms:modified xsi:type="dcterms:W3CDTF">2026-09-22T08:02:47.1620000Z</dcterms:modified>
</coreProperties>
</file>