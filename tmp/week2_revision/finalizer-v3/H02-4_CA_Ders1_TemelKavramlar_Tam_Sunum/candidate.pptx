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bf8489928f4747" /><Relationship Type="http://schemas.openxmlformats.org/officeDocument/2006/relationships/extended-properties" Target="/docProps/app.xml" Id="Ra95de901b5c84bfd" /><Relationship Type="http://schemas.openxmlformats.org/officeDocument/2006/relationships/officeDocument" Target="/ppt/presentation.xml" Id="R553ab41669ad4157" /></Relationships>
</file>

<file path=ppt/presentation.xml><?xml version="1.0" encoding="utf-8"?>
<p:presentation xmlns:p="http://schemas.openxmlformats.org/presentationml/2006/main">
  <p:sldMasterIdLst>
    <p:sldMasterId xmlns:r="http://schemas.openxmlformats.org/officeDocument/2006/relationships" id="2147483648" r:id="Re60f012b163c4dd5"/>
  </p:sldMasterIdLst>
  <p:notesMasterIdLst>
    <p:notesMasterId xmlns:r="http://schemas.openxmlformats.org/officeDocument/2006/relationships" r:id="Rc80dcdf8890c4676"/>
  </p:notesMasterIdLst>
  <p:sldIdLst>
    <p:sldId xmlns:r="http://schemas.openxmlformats.org/officeDocument/2006/relationships" id="256" r:id="R1f92d206e1014e62"/>
    <p:sldId xmlns:r="http://schemas.openxmlformats.org/officeDocument/2006/relationships" id="257" r:id="Rd603c6e4974246e8"/>
    <p:sldId xmlns:r="http://schemas.openxmlformats.org/officeDocument/2006/relationships" id="258" r:id="R82b07482947f47d3"/>
    <p:sldId xmlns:r="http://schemas.openxmlformats.org/officeDocument/2006/relationships" id="259" r:id="Rc0dd922e94214e84"/>
    <p:sldId xmlns:r="http://schemas.openxmlformats.org/officeDocument/2006/relationships" id="260" r:id="Ra981ac752396482c"/>
    <p:sldId xmlns:r="http://schemas.openxmlformats.org/officeDocument/2006/relationships" id="261" r:id="R1f438752914c4131"/>
    <p:sldId xmlns:r="http://schemas.openxmlformats.org/officeDocument/2006/relationships" id="262" r:id="R5bc83af5889648b7"/>
    <p:sldId xmlns:r="http://schemas.openxmlformats.org/officeDocument/2006/relationships" id="263" r:id="Rb6796830cbfc4ca7"/>
    <p:sldId xmlns:r="http://schemas.openxmlformats.org/officeDocument/2006/relationships" id="264" r:id="R5f12307ba2d7433f"/>
    <p:sldId xmlns:r="http://schemas.openxmlformats.org/officeDocument/2006/relationships" id="265" r:id="R03441aa18a734250"/>
    <p:sldId xmlns:r="http://schemas.openxmlformats.org/officeDocument/2006/relationships" id="266" r:id="R4039519c733643bc"/>
    <p:sldId xmlns:r="http://schemas.openxmlformats.org/officeDocument/2006/relationships" id="267" r:id="R636b3c6f7acf4e33"/>
    <p:sldId xmlns:r="http://schemas.openxmlformats.org/officeDocument/2006/relationships" id="268" r:id="Rf2e8ad23d5014592"/>
    <p:sldId xmlns:r="http://schemas.openxmlformats.org/officeDocument/2006/relationships" id="269" r:id="R1275b0de23e64f64"/>
    <p:sldId xmlns:r="http://schemas.openxmlformats.org/officeDocument/2006/relationships" id="270" r:id="R8019873b26a04086"/>
    <p:sldId xmlns:r="http://schemas.openxmlformats.org/officeDocument/2006/relationships" id="271" r:id="R986f87346ac1486c"/>
    <p:sldId xmlns:r="http://schemas.openxmlformats.org/officeDocument/2006/relationships" id="272" r:id="R25b432b458ff4ca6"/>
    <p:sldId xmlns:r="http://schemas.openxmlformats.org/officeDocument/2006/relationships" id="273" r:id="R52b6a08ad940450f"/>
    <p:sldId xmlns:r="http://schemas.openxmlformats.org/officeDocument/2006/relationships" id="274" r:id="Raee44f62ad2e4e99"/>
    <p:sldId xmlns:r="http://schemas.openxmlformats.org/officeDocument/2006/relationships" id="275" r:id="Rc3cf2a37fc004889"/>
    <p:sldId xmlns:r="http://schemas.openxmlformats.org/officeDocument/2006/relationships" id="276" r:id="R7bf7f1e141274404"/>
    <p:sldId xmlns:r="http://schemas.openxmlformats.org/officeDocument/2006/relationships" id="277" r:id="Ra2b72062874e4f7b"/>
    <p:sldId xmlns:r="http://schemas.openxmlformats.org/officeDocument/2006/relationships" id="278" r:id="R29856b58927242f3"/>
    <p:sldId xmlns:r="http://schemas.openxmlformats.org/officeDocument/2006/relationships" id="279" r:id="R4cf8ea73a3934f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c902cc3a8d04f6a" /><Relationship Type="http://schemas.openxmlformats.org/officeDocument/2006/relationships/slideMaster" Target="/ppt/slideMasters/slideMaster1.xml" Id="Re60f012b163c4dd5" /><Relationship Type="http://schemas.openxmlformats.org/officeDocument/2006/relationships/notesMaster" Target="/ppt/notesMasters/notesMaster1.xml" Id="Rc80dcdf8890c4676" /><Relationship Type="http://schemas.openxmlformats.org/officeDocument/2006/relationships/presProps" Target="/ppt/presProps.xml" Id="Re1880db2a88941f8" /><Relationship Type="http://schemas.openxmlformats.org/officeDocument/2006/relationships/viewProps" Target="/ppt/viewProps.xml" Id="Rb6d4ce9f90d34604" /><Relationship Type="http://schemas.openxmlformats.org/officeDocument/2006/relationships/tableStyles" Target="/ppt/tableStyles.xml" Id="R925d808e7077418d" /><Relationship Type="http://schemas.openxmlformats.org/officeDocument/2006/relationships/slide" Target="/ppt/slides/slide1.xml" Id="R1f92d206e1014e62" /><Relationship Type="http://schemas.openxmlformats.org/officeDocument/2006/relationships/slide" Target="/ppt/slides/slide2.xml" Id="Rd603c6e4974246e8" /><Relationship Type="http://schemas.openxmlformats.org/officeDocument/2006/relationships/slide" Target="/ppt/slides/slide3.xml" Id="R82b07482947f47d3" /><Relationship Type="http://schemas.openxmlformats.org/officeDocument/2006/relationships/slide" Target="/ppt/slides/slide4.xml" Id="Rc0dd922e94214e84" /><Relationship Type="http://schemas.openxmlformats.org/officeDocument/2006/relationships/slide" Target="/ppt/slides/slide5.xml" Id="Ra981ac752396482c" /><Relationship Type="http://schemas.openxmlformats.org/officeDocument/2006/relationships/slide" Target="/ppt/slides/slide6.xml" Id="R1f438752914c4131" /><Relationship Type="http://schemas.openxmlformats.org/officeDocument/2006/relationships/slide" Target="/ppt/slides/slide7.xml" Id="R5bc83af5889648b7" /><Relationship Type="http://schemas.openxmlformats.org/officeDocument/2006/relationships/slide" Target="/ppt/slides/slide8.xml" Id="Rb6796830cbfc4ca7" /><Relationship Type="http://schemas.openxmlformats.org/officeDocument/2006/relationships/slide" Target="/ppt/slides/slide9.xml" Id="R5f12307ba2d7433f" /><Relationship Type="http://schemas.openxmlformats.org/officeDocument/2006/relationships/slide" Target="/ppt/slides/slide10.xml" Id="R03441aa18a734250" /><Relationship Type="http://schemas.openxmlformats.org/officeDocument/2006/relationships/slide" Target="/ppt/slides/slide11.xml" Id="R4039519c733643bc" /><Relationship Type="http://schemas.openxmlformats.org/officeDocument/2006/relationships/slide" Target="/ppt/slides/slide12.xml" Id="R636b3c6f7acf4e33" /><Relationship Type="http://schemas.openxmlformats.org/officeDocument/2006/relationships/slide" Target="/ppt/slides/slide13.xml" Id="Rf2e8ad23d5014592" /><Relationship Type="http://schemas.openxmlformats.org/officeDocument/2006/relationships/slide" Target="/ppt/slides/slide14.xml" Id="R1275b0de23e64f64" /><Relationship Type="http://schemas.openxmlformats.org/officeDocument/2006/relationships/slide" Target="/ppt/slides/slide15.xml" Id="R8019873b26a04086" /><Relationship Type="http://schemas.openxmlformats.org/officeDocument/2006/relationships/slide" Target="/ppt/slides/slide16.xml" Id="R986f87346ac1486c" /><Relationship Type="http://schemas.openxmlformats.org/officeDocument/2006/relationships/slide" Target="/ppt/slides/slide17.xml" Id="R25b432b458ff4ca6" /><Relationship Type="http://schemas.openxmlformats.org/officeDocument/2006/relationships/slide" Target="/ppt/slides/slide18.xml" Id="R52b6a08ad940450f" /><Relationship Type="http://schemas.openxmlformats.org/officeDocument/2006/relationships/slide" Target="/ppt/slides/slide19.xml" Id="Raee44f62ad2e4e99" /><Relationship Type="http://schemas.openxmlformats.org/officeDocument/2006/relationships/slide" Target="/ppt/slides/slide20.xml" Id="Rc3cf2a37fc004889" /><Relationship Type="http://schemas.openxmlformats.org/officeDocument/2006/relationships/slide" Target="/ppt/slides/slide21.xml" Id="R7bf7f1e141274404" /><Relationship Type="http://schemas.openxmlformats.org/officeDocument/2006/relationships/slide" Target="/ppt/slides/slide22.xml" Id="Ra2b72062874e4f7b" /><Relationship Type="http://schemas.openxmlformats.org/officeDocument/2006/relationships/slide" Target="/ppt/slides/slide23.xml" Id="R29856b58927242f3" /><Relationship Type="http://schemas.openxmlformats.org/officeDocument/2006/relationships/slide" Target="/ppt/slides/slide24.xml" Id="R4cf8ea73a3934f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5623aaa6c14c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a60976d62e4ee5" /><Relationship Type="http://schemas.openxmlformats.org/officeDocument/2006/relationships/notesMaster" Target="/ppt/notesMasters/notesMaster1.xml" Id="R0e8b4da8b7be4c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6ba3ef0e024bfe" /><Relationship Type="http://schemas.openxmlformats.org/officeDocument/2006/relationships/notesMaster" Target="/ppt/notesMasters/notesMaster1.xml" Id="Ra4aa2906ca1049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1224ac794744ba" /><Relationship Type="http://schemas.openxmlformats.org/officeDocument/2006/relationships/notesMaster" Target="/ppt/notesMasters/notesMaster1.xml" Id="Rc08b73d4e16b47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7d58912c584f92" /><Relationship Type="http://schemas.openxmlformats.org/officeDocument/2006/relationships/notesMaster" Target="/ppt/notesMasters/notesMaster1.xml" Id="R7ff74bd7d45b46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1fa67eb8644369" /><Relationship Type="http://schemas.openxmlformats.org/officeDocument/2006/relationships/notesMaster" Target="/ppt/notesMasters/notesMaster1.xml" Id="R9106e497ff544e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0e5d9e7e96499c" /><Relationship Type="http://schemas.openxmlformats.org/officeDocument/2006/relationships/notesMaster" Target="/ppt/notesMasters/notesMaster1.xml" Id="Ra5f47e425a1e4d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37b870181849e2" /><Relationship Type="http://schemas.openxmlformats.org/officeDocument/2006/relationships/notesMaster" Target="/ppt/notesMasters/notesMaster1.xml" Id="R1f90233c783147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783819312743dd" /><Relationship Type="http://schemas.openxmlformats.org/officeDocument/2006/relationships/notesMaster" Target="/ppt/notesMasters/notesMaster1.xml" Id="Rf8a9651ab1cb4a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d8da75c8ae45ed" /><Relationship Type="http://schemas.openxmlformats.org/officeDocument/2006/relationships/notesMaster" Target="/ppt/notesMasters/notesMaster1.xml" Id="Rc254cf7a24434c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38a055f70945b9" /><Relationship Type="http://schemas.openxmlformats.org/officeDocument/2006/relationships/notesMaster" Target="/ppt/notesMasters/notesMaster1.xml" Id="Rdc73b7f6686343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50f0f184b04158" /><Relationship Type="http://schemas.openxmlformats.org/officeDocument/2006/relationships/notesMaster" Target="/ppt/notesMasters/notesMaster1.xml" Id="Rcaac10c4155c4d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6a2ec624fd94145" /><Relationship Type="http://schemas.openxmlformats.org/officeDocument/2006/relationships/notesMaster" Target="/ppt/notesMasters/notesMaster1.xml" Id="R8a28b29b3cd94a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a2c25cd7a74cf3" /><Relationship Type="http://schemas.openxmlformats.org/officeDocument/2006/relationships/notesMaster" Target="/ppt/notesMasters/notesMaster1.xml" Id="R6e4f519d98b64df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0f354bd6f64b5b" /><Relationship Type="http://schemas.openxmlformats.org/officeDocument/2006/relationships/notesMaster" Target="/ppt/notesMasters/notesMaster1.xml" Id="Rdc6871db78544f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fc4c402326840ee" /><Relationship Type="http://schemas.openxmlformats.org/officeDocument/2006/relationships/notesMaster" Target="/ppt/notesMasters/notesMaster1.xml" Id="R6fa94606e1834f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41017ab6c946bf" /><Relationship Type="http://schemas.openxmlformats.org/officeDocument/2006/relationships/notesMaster" Target="/ppt/notesMasters/notesMaster1.xml" Id="R55c893d029b8499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8ac7f2dd0bd464f" /><Relationship Type="http://schemas.openxmlformats.org/officeDocument/2006/relationships/notesMaster" Target="/ppt/notesMasters/notesMaster1.xml" Id="R3c5282ec42404dd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114071f79ca4936" /><Relationship Type="http://schemas.openxmlformats.org/officeDocument/2006/relationships/notesMaster" Target="/ppt/notesMasters/notesMaster1.xml" Id="R9c36e1dd14a7451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842c9fe83a64166" /><Relationship Type="http://schemas.openxmlformats.org/officeDocument/2006/relationships/notesMaster" Target="/ppt/notesMasters/notesMaster1.xml" Id="Rb86556ef4e4c4a5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ce89b1b7d634c0b" /><Relationship Type="http://schemas.openxmlformats.org/officeDocument/2006/relationships/notesMaster" Target="/ppt/notesMasters/notesMaster1.xml" Id="R359aaf5d0e2d4f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29cba71beb643bc" /><Relationship Type="http://schemas.openxmlformats.org/officeDocument/2006/relationships/notesMaster" Target="/ppt/notesMasters/notesMaster1.xml" Id="R67c90e7b9db94d6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473aa452e9f4a9b" /><Relationship Type="http://schemas.openxmlformats.org/officeDocument/2006/relationships/notesMaster" Target="/ppt/notesMasters/notesMaster1.xml" Id="R3c8131ba61bf4dd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2ef40aaecac4cc0" /><Relationship Type="http://schemas.openxmlformats.org/officeDocument/2006/relationships/notesMaster" Target="/ppt/notesMasters/notesMaster1.xml" Id="R4186639f28b04d3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f5550c251f74821" /><Relationship Type="http://schemas.openxmlformats.org/officeDocument/2006/relationships/notesMaster" Target="/ppt/notesMasters/notesMaster1.xml" Id="R9df1f72f361047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96beb3a0944f4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d21a2652284bd7" /><Relationship Type="http://schemas.openxmlformats.org/officeDocument/2006/relationships/slideLayout" Target="/ppt/slideLayouts/slideLayout1.xml" Id="R0b84cfa731924ab0"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84cfa731924ab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43f6c4235c4c96" /><Relationship Type="http://schemas.openxmlformats.org/officeDocument/2006/relationships/image" Target="/ppt/media/image.png" Id="Rd89e25db90f343bd" /><Relationship Type="http://schemas.openxmlformats.org/officeDocument/2006/relationships/image" Target="/ppt/media/image2.png" Id="R379aeb989cfa4b46" /><Relationship Type="http://schemas.openxmlformats.org/officeDocument/2006/relationships/notesSlide" Target="/ppt/notesSlides/notesSlide1.xml" Id="R1f8457b7915b42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466e6e23bc4a42" /><Relationship Type="http://schemas.openxmlformats.org/officeDocument/2006/relationships/image" Target="/ppt/media/image3.png" Id="Rb986c231fe534f41" /><Relationship Type="http://schemas.openxmlformats.org/officeDocument/2006/relationships/notesSlide" Target="/ppt/notesSlides/notesSlide2.xml" Id="Rc87314d47b104b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729012f127a479f" /><Relationship Type="http://schemas.openxmlformats.org/officeDocument/2006/relationships/image" Target="/ppt/media/image4.png" Id="Rc5b4921b03634c04" /><Relationship Type="http://schemas.openxmlformats.org/officeDocument/2006/relationships/notesSlide" Target="/ppt/notesSlides/notesSlide3.xml" Id="R96f0fb1dd72543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09810f4e5841c4" /><Relationship Type="http://schemas.openxmlformats.org/officeDocument/2006/relationships/image" Target="/ppt/media/image5.png" Id="R6cf8cc9e785a43c3" /><Relationship Type="http://schemas.openxmlformats.org/officeDocument/2006/relationships/notesSlide" Target="/ppt/notesSlides/notesSlide4.xml" Id="Rff04adfe1fb245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b835ba30d74d99" /><Relationship Type="http://schemas.openxmlformats.org/officeDocument/2006/relationships/image" Target="/ppt/media/image6.png" Id="R18308847aed04aab" /><Relationship Type="http://schemas.openxmlformats.org/officeDocument/2006/relationships/notesSlide" Target="/ppt/notesSlides/notesSlide5.xml" Id="R515beb01522e4a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f7223a5a7e4e52" /><Relationship Type="http://schemas.openxmlformats.org/officeDocument/2006/relationships/image" Target="/ppt/media/image7.png" Id="R46523ccaa40a46d7" /><Relationship Type="http://schemas.openxmlformats.org/officeDocument/2006/relationships/notesSlide" Target="/ppt/notesSlides/notesSlide6.xml" Id="R5818810ff30343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16c23e62f154726" /><Relationship Type="http://schemas.openxmlformats.org/officeDocument/2006/relationships/image" Target="/ppt/media/image8.png" Id="R9891e10d26a940d9" /><Relationship Type="http://schemas.openxmlformats.org/officeDocument/2006/relationships/notesSlide" Target="/ppt/notesSlides/notesSlide7.xml" Id="R5d0aba3980f044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c60c1f53c44893" /><Relationship Type="http://schemas.openxmlformats.org/officeDocument/2006/relationships/image" Target="/ppt/media/image9.png" Id="Ra12141bbe906475d" /><Relationship Type="http://schemas.openxmlformats.org/officeDocument/2006/relationships/notesSlide" Target="/ppt/notesSlides/notesSlide8.xml" Id="R6684112f59af4d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57c36ca68414da7" /><Relationship Type="http://schemas.openxmlformats.org/officeDocument/2006/relationships/image" Target="/ppt/media/image10.png" Id="Rc7381132027540de" /><Relationship Type="http://schemas.openxmlformats.org/officeDocument/2006/relationships/notesSlide" Target="/ppt/notesSlides/notesSlide9.xml" Id="R925fec54074b4a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451c5182d64393" /><Relationship Type="http://schemas.openxmlformats.org/officeDocument/2006/relationships/image" Target="/ppt/media/image11.png" Id="R29df1ef672a94639" /><Relationship Type="http://schemas.openxmlformats.org/officeDocument/2006/relationships/notesSlide" Target="/ppt/notesSlides/notesSlide10.xml" Id="R6f82c88917a341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ae93304c2f34803" /><Relationship Type="http://schemas.openxmlformats.org/officeDocument/2006/relationships/image" Target="/ppt/media/image12.png" Id="Rb921020d458e448c" /><Relationship Type="http://schemas.openxmlformats.org/officeDocument/2006/relationships/notesSlide" Target="/ppt/notesSlides/notesSlide11.xml" Id="Rbab7d002c97349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c81d0b77f4c435d" /><Relationship Type="http://schemas.openxmlformats.org/officeDocument/2006/relationships/image" Target="/ppt/media/image13.png" Id="Re8766e99eefe4a08" /><Relationship Type="http://schemas.openxmlformats.org/officeDocument/2006/relationships/notesSlide" Target="/ppt/notesSlides/notesSlide12.xml" Id="R31b42cf2d52841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165719026d040e0" /><Relationship Type="http://schemas.openxmlformats.org/officeDocument/2006/relationships/image" Target="/ppt/media/image14.png" Id="R5c93109a28ac4268" /><Relationship Type="http://schemas.openxmlformats.org/officeDocument/2006/relationships/notesSlide" Target="/ppt/notesSlides/notesSlide13.xml" Id="R5a5fb9ec5b7748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67b3c9ff9f64c4c" /><Relationship Type="http://schemas.openxmlformats.org/officeDocument/2006/relationships/image" Target="/ppt/media/image15.png" Id="Rb65f0a20e6f94efb" /><Relationship Type="http://schemas.openxmlformats.org/officeDocument/2006/relationships/notesSlide" Target="/ppt/notesSlides/notesSlide14.xml" Id="R37a1f6aeb807480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8498b4eec954ef9" /><Relationship Type="http://schemas.openxmlformats.org/officeDocument/2006/relationships/image" Target="/ppt/media/image16.png" Id="R8077f3dd41034469" /><Relationship Type="http://schemas.openxmlformats.org/officeDocument/2006/relationships/notesSlide" Target="/ppt/notesSlides/notesSlide15.xml" Id="R6af019da2b344c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ab5679d7ccd424d" /><Relationship Type="http://schemas.openxmlformats.org/officeDocument/2006/relationships/image" Target="/ppt/media/image16.png" Id="Rc1488845a5a74b76" /><Relationship Type="http://schemas.openxmlformats.org/officeDocument/2006/relationships/notesSlide" Target="/ppt/notesSlides/notesSlide16.xml" Id="R4c073e5d9246464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e30ae21cb504e6b" /><Relationship Type="http://schemas.openxmlformats.org/officeDocument/2006/relationships/image" Target="/ppt/media/image17.png" Id="R83f15ebc7a884fd2" /><Relationship Type="http://schemas.openxmlformats.org/officeDocument/2006/relationships/notesSlide" Target="/ppt/notesSlides/notesSlide17.xml" Id="R73536c81ef1e4ba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dc8b5249078418d" /><Relationship Type="http://schemas.openxmlformats.org/officeDocument/2006/relationships/image" Target="/ppt/media/image17.png" Id="Reac28801a4d34ab0" /><Relationship Type="http://schemas.openxmlformats.org/officeDocument/2006/relationships/notesSlide" Target="/ppt/notesSlides/notesSlide18.xml" Id="R19d404eb46cd462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bc0eb6debe94b1d" /><Relationship Type="http://schemas.openxmlformats.org/officeDocument/2006/relationships/image" Target="/ppt/media/image18.png" Id="R64d3ab1398374dcf" /><Relationship Type="http://schemas.openxmlformats.org/officeDocument/2006/relationships/notesSlide" Target="/ppt/notesSlides/notesSlide19.xml" Id="R7cc2fab0bdb1483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3fd2a0496f44d74" /><Relationship Type="http://schemas.openxmlformats.org/officeDocument/2006/relationships/image" Target="/ppt/media/image18.png" Id="R5801b8a063fa4327" /><Relationship Type="http://schemas.openxmlformats.org/officeDocument/2006/relationships/notesSlide" Target="/ppt/notesSlides/notesSlide20.xml" Id="Rda67755a0e434ff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323ac903a844d84" /><Relationship Type="http://schemas.openxmlformats.org/officeDocument/2006/relationships/image" Target="/ppt/media/image19.png" Id="R1996158cd8114f7d" /><Relationship Type="http://schemas.openxmlformats.org/officeDocument/2006/relationships/notesSlide" Target="/ppt/notesSlides/notesSlide21.xml" Id="R7ead19a2178343e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0894d0c50294a9b" /><Relationship Type="http://schemas.openxmlformats.org/officeDocument/2006/relationships/image" Target="/ppt/media/image20.png" Id="R0e5d088ef6a14a86" /><Relationship Type="http://schemas.openxmlformats.org/officeDocument/2006/relationships/notesSlide" Target="/ppt/notesSlides/notesSlide22.xml" Id="R3ebbca2a57a0474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30b5703f6d24ef5" /><Relationship Type="http://schemas.openxmlformats.org/officeDocument/2006/relationships/image" Target="/ppt/media/image21.png" Id="R3c40b204635b4a8c" /><Relationship Type="http://schemas.openxmlformats.org/officeDocument/2006/relationships/notesSlide" Target="/ppt/notesSlides/notesSlide23.xml" Id="Re920c6a0efa04c4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2286b0e802543c8" /><Relationship Type="http://schemas.openxmlformats.org/officeDocument/2006/relationships/image" Target="/ppt/media/image22.png" Id="R8114be1820c4448e" /><Relationship Type="http://schemas.openxmlformats.org/officeDocument/2006/relationships/notesSlide" Target="/ppt/notesSlides/notesSlide24.xml" Id="Rea18dbc5e74c4e19" /></Relationships>
</file>

<file path=ppt/slides/slide1.xml><?xml version="1.0" encoding="utf-8"?>
<p:sld xmlns:p="http://schemas.openxmlformats.org/presentationml/2006/main">
  <p:cSld>
    <p:bg>
      <p:bgPr>
        <a:solidFill xmlns:a="http://schemas.openxmlformats.org/drawingml/2006/main">
          <a:srgbClr val="1E3A5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22B808D-346C-4E08-8E20-65CF185F7FC9}"/>
              </a:ext>
            </a:extLst>
          </p:cNvPr>
          <p:cNvSpPr>
            <a:spLocks xmlns:a="http://schemas.openxmlformats.org/drawingml/2006/main" noGrp="1"/>
          </p:cNvSpPr>
          <p:nvPr/>
        </p:nvSpPr>
        <p:spPr>
          <a:xfrm xmlns:a="http://schemas.openxmlformats.org/drawingml/2006/main">
            <a:off x="7863840" y="0"/>
            <a:ext cx="4325112" cy="6858000"/>
          </a:xfrm>
          <a:prstGeom xmlns:a="http://schemas.openxmlformats.org/drawingml/2006/main" prst="rect">
            <a:avLst/>
          </a:prstGeom>
          <a:solidFill xmlns:a="http://schemas.openxmlformats.org/drawingml/2006/main">
            <a:srgbClr val="142A44"/>
          </a:solidFill>
        </p:spPr>
      </p:sp>
      <p:sp>
        <p:nvSpPr>
          <p:cNvPr id="3" name="Text 1">
            <a:extLst xmlns:a="http://schemas.openxmlformats.org/drawingml/2006/main">
              <a:ext uri="{FF2B5EF4-FFF2-40B4-BE49-F238E27FC236}">
                <a16:creationId xmlns:a16="http://schemas.microsoft.com/office/drawing/2014/main" id="{6BDDCBDE-4B9D-4ABE-B572-41855E2616B0}"/>
              </a:ext>
            </a:extLst>
          </p:cNvPr>
          <p:cNvSpPr>
            <a:spLocks xmlns:a="http://schemas.openxmlformats.org/drawingml/2006/main" noGrp="1"/>
          </p:cNvSpPr>
          <p:nvPr/>
        </p:nvSpPr>
        <p:spPr>
          <a:xfrm xmlns:a="http://schemas.openxmlformats.org/drawingml/2006/main">
            <a:off x="640080" y="96012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CÜMLEDE ANLAM · DERS 1/4</a:t>
            </a:r>
            <a:endParaRPr sz="1300"/>
          </a:p>
        </p:txBody>
      </p:sp>
      <p:sp>
        <p:nvSpPr>
          <p:cNvPr id="4" name="Text 2">
            <a:extLst xmlns:a="http://schemas.openxmlformats.org/drawingml/2006/main">
              <a:ext uri="{FF2B5EF4-FFF2-40B4-BE49-F238E27FC236}">
                <a16:creationId xmlns:a16="http://schemas.microsoft.com/office/drawing/2014/main" id="{85659996-5D3A-44DB-8AAD-58AB5DCA2B80}"/>
              </a:ext>
            </a:extLst>
          </p:cNvPr>
          <p:cNvSpPr>
            <a:spLocks xmlns:a="http://schemas.openxmlformats.org/drawingml/2006/main" noGrp="1"/>
          </p:cNvSpPr>
          <p:nvPr/>
        </p:nvSpPr>
        <p:spPr>
          <a:xfrm xmlns:a="http://schemas.openxmlformats.org/drawingml/2006/main">
            <a:off x="594360" y="1234440"/>
            <a:ext cx="694944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mbria"/>
                <a:ea typeface="Cambria"/>
                <a:cs typeface="Cambria"/>
              </a:rPr>
              <a:t>Cümlede Anlam'a Giriş</a:t>
            </a:r>
            <a:endParaRPr sz="3800"/>
          </a:p>
          <a:p xmlns:a="http://schemas.openxmlformats.org/drawingml/2006/main">
            <a:pPr marL="0" indent="0">
              <a:buNone/>
            </a:pPr>
            <a:r>
              <a:rPr sz="3800" b="1">
                <a:solidFill>
                  <a:srgbClr val="FFFFFF"/>
                </a:solidFill>
                <a:latin typeface="Cambria"/>
                <a:ea typeface="Cambria"/>
                <a:cs typeface="Cambria"/>
              </a:rPr>
              <a:t>Temel Kavramlar</a:t>
            </a:r>
            <a:endParaRPr sz="3800"/>
          </a:p>
        </p:txBody>
      </p:sp>
      <p:sp>
        <p:nvSpPr>
          <p:cNvPr id="5" name="Text 3">
            <a:extLst xmlns:a="http://schemas.openxmlformats.org/drawingml/2006/main">
              <a:ext uri="{FF2B5EF4-FFF2-40B4-BE49-F238E27FC236}">
                <a16:creationId xmlns:a16="http://schemas.microsoft.com/office/drawing/2014/main" id="{A3C6DBA9-CA6C-466B-BB9B-AC1CDB328327}"/>
              </a:ext>
            </a:extLst>
          </p:cNvPr>
          <p:cNvSpPr>
            <a:spLocks xmlns:a="http://schemas.openxmlformats.org/drawingml/2006/main" noGrp="1"/>
          </p:cNvSpPr>
          <p:nvPr/>
        </p:nvSpPr>
        <p:spPr>
          <a:xfrm xmlns:a="http://schemas.openxmlformats.org/drawingml/2006/main">
            <a:off x="640080" y="2788920"/>
            <a:ext cx="6949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i="1">
                <a:solidFill>
                  <a:srgbClr val="CADCFC"/>
                </a:solidFill>
                <a:latin typeface="Calibri"/>
                <a:ea typeface="Calibri"/>
                <a:cs typeface="Calibri"/>
              </a:rPr>
              <a:t>Bir Cümle Bize Ne Anlatıyor? Öznel mi, Nesnel mi?</a:t>
            </a:r>
            <a:endParaRPr sz="2100"/>
          </a:p>
        </p:txBody>
      </p:sp>
      <p:sp>
        <p:nvSpPr>
          <p:cNvPr id="6" name="Shape 4">
            <a:extLst xmlns:a="http://schemas.openxmlformats.org/drawingml/2006/main">
              <a:ext uri="{FF2B5EF4-FFF2-40B4-BE49-F238E27FC236}">
                <a16:creationId xmlns:a16="http://schemas.microsoft.com/office/drawing/2014/main" id="{5255238B-919F-4119-A23F-2557FE6444F2}"/>
              </a:ext>
            </a:extLst>
          </p:cNvPr>
          <p:cNvSpPr>
            <a:spLocks xmlns:a="http://schemas.openxmlformats.org/drawingml/2006/main" noGrp="1"/>
          </p:cNvSpPr>
          <p:nvPr/>
        </p:nvSpPr>
        <p:spPr>
          <a:xfrm xmlns:a="http://schemas.openxmlformats.org/drawingml/2006/main">
            <a:off x="640080" y="3520440"/>
            <a:ext cx="2478024" cy="384048"/>
          </a:xfrm>
          <a:prstGeom xmlns:a="http://schemas.openxmlformats.org/drawingml/2006/main" prst="roundRect">
            <a:avLst>
              <a:gd name="adj" fmla="val 50000"/>
            </a:avLst>
          </a:prstGeom>
          <a:solidFill xmlns:a="http://schemas.openxmlformats.org/drawingml/2006/main">
            <a:srgbClr val="142A44"/>
          </a:solidFill>
          <a:ln xmlns:a="http://schemas.openxmlformats.org/drawingml/2006/main" w="12700">
            <a:solidFill>
              <a:srgbClr val="D9A441"/>
            </a:solidFill>
            <a:prstDash val="solid"/>
          </a:ln>
        </p:spPr>
      </p:sp>
      <p:sp>
        <p:nvSpPr>
          <p:cNvPr id="7" name="Text 5">
            <a:extLst xmlns:a="http://schemas.openxmlformats.org/drawingml/2006/main">
              <a:ext uri="{FF2B5EF4-FFF2-40B4-BE49-F238E27FC236}">
                <a16:creationId xmlns:a16="http://schemas.microsoft.com/office/drawing/2014/main" id="{4FB65FF1-2F36-457B-867D-BAE11633C03C}"/>
              </a:ext>
            </a:extLst>
          </p:cNvPr>
          <p:cNvSpPr>
            <a:spLocks xmlns:a="http://schemas.openxmlformats.org/drawingml/2006/main" noGrp="1"/>
          </p:cNvSpPr>
          <p:nvPr/>
        </p:nvSpPr>
        <p:spPr>
          <a:xfrm xmlns:a="http://schemas.openxmlformats.org/drawingml/2006/main">
            <a:off x="640080" y="3520440"/>
            <a:ext cx="247802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a:solidFill>
                  <a:srgbClr val="FFFFFF"/>
                </a:solidFill>
                <a:latin typeface="Calibri"/>
                <a:ea typeface="Calibri"/>
                <a:cs typeface="Calibri"/>
              </a:rPr>
              <a:t>40 dk · </a:t>
            </a:r>
            <a:r>
              <a:rPr sz="1750">
                <a:solidFill>
                  <a:srgbClr val="FFFFFF"/>
                </a:solidFill>
                <a:latin typeface="Calibri"/>
                <a:ea typeface="Calibri"/>
                <a:cs typeface="Calibri"/>
              </a:rPr>
              <a:t>Blokta</a:t>
            </a:r>
            <a:r>
              <a:rPr sz="1750">
                <a:solidFill>
                  <a:srgbClr val="FFFFFF"/>
                </a:solidFill>
                <a:latin typeface="Calibri"/>
                <a:ea typeface="Calibri"/>
                <a:cs typeface="Calibri"/>
              </a:rPr>
              <a:t> 2 föy</a:t>
            </a:r>
            <a:endParaRPr sz="1750"/>
          </a:p>
        </p:txBody>
      </p:sp>
      <p:sp>
        <p:nvSpPr>
          <p:cNvPr id="8" name="Shape 6">
            <a:extLst xmlns:a="http://schemas.openxmlformats.org/drawingml/2006/main">
              <a:ext uri="{FF2B5EF4-FFF2-40B4-BE49-F238E27FC236}">
                <a16:creationId xmlns:a16="http://schemas.microsoft.com/office/drawing/2014/main" id="{8132584B-2354-4711-A68C-E56CBF1D5B46}"/>
              </a:ext>
            </a:extLst>
          </p:cNvPr>
          <p:cNvSpPr>
            <a:spLocks xmlns:a="http://schemas.openxmlformats.org/drawingml/2006/main" noGrp="1"/>
          </p:cNvSpPr>
          <p:nvPr/>
        </p:nvSpPr>
        <p:spPr>
          <a:xfrm xmlns:a="http://schemas.openxmlformats.org/drawingml/2006/main">
            <a:off x="3300984" y="3520440"/>
            <a:ext cx="3589020" cy="384048"/>
          </a:xfrm>
          <a:prstGeom xmlns:a="http://schemas.openxmlformats.org/drawingml/2006/main" prst="roundRect">
            <a:avLst>
              <a:gd name="adj" fmla="val 50000"/>
            </a:avLst>
          </a:prstGeom>
          <a:solidFill xmlns:a="http://schemas.openxmlformats.org/drawingml/2006/main">
            <a:srgbClr val="142A44"/>
          </a:solidFill>
          <a:ln xmlns:a="http://schemas.openxmlformats.org/drawingml/2006/main" w="12700">
            <a:solidFill>
              <a:srgbClr val="D9A441"/>
            </a:solidFill>
            <a:prstDash val="solid"/>
          </a:ln>
        </p:spPr>
      </p:sp>
      <p:sp>
        <p:nvSpPr>
          <p:cNvPr id="9" name="Text 7">
            <a:extLst xmlns:a="http://schemas.openxmlformats.org/drawingml/2006/main">
              <a:ext uri="{FF2B5EF4-FFF2-40B4-BE49-F238E27FC236}">
                <a16:creationId xmlns:a16="http://schemas.microsoft.com/office/drawing/2014/main" id="{B5C75C66-488F-46C1-985E-6FD3088521A0}"/>
              </a:ext>
            </a:extLst>
          </p:cNvPr>
          <p:cNvSpPr>
            <a:spLocks xmlns:a="http://schemas.openxmlformats.org/drawingml/2006/main" noGrp="1"/>
          </p:cNvSpPr>
          <p:nvPr/>
        </p:nvSpPr>
        <p:spPr>
          <a:xfrm xmlns:a="http://schemas.openxmlformats.org/drawingml/2006/main">
            <a:off x="3300984" y="3520440"/>
            <a:ext cx="35890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a:solidFill>
                  <a:srgbClr val="FFFFFF"/>
                </a:solidFill>
                <a:latin typeface="Calibri"/>
                <a:ea typeface="Calibri"/>
                <a:cs typeface="Calibri"/>
              </a:rPr>
              <a:t>Anlam Bilgisi · Yeni Konu</a:t>
            </a:r>
            <a:endParaRPr sz="1750"/>
          </a:p>
        </p:txBody>
      </p:sp>
      <p:sp>
        <p:nvSpPr>
          <p:cNvPr id="10" name="Shape 8">
            <a:extLst xmlns:a="http://schemas.openxmlformats.org/drawingml/2006/main">
              <a:ext uri="{FF2B5EF4-FFF2-40B4-BE49-F238E27FC236}">
                <a16:creationId xmlns:a16="http://schemas.microsoft.com/office/drawing/2014/main" id="{2E8CA0DD-73EF-4798-BD4E-32C6BB82EF24}"/>
              </a:ext>
            </a:extLst>
          </p:cNvPr>
          <p:cNvSpPr>
            <a:spLocks xmlns:a="http://schemas.openxmlformats.org/drawingml/2006/main" noGrp="1"/>
          </p:cNvSpPr>
          <p:nvPr/>
        </p:nvSpPr>
        <p:spPr>
          <a:xfrm xmlns:a="http://schemas.openxmlformats.org/drawingml/2006/main">
            <a:off x="640080" y="4297680"/>
            <a:ext cx="502920" cy="502920"/>
          </a:xfrm>
          <a:prstGeom xmlns:a="http://schemas.openxmlformats.org/drawingml/2006/main" prst="ellipse">
            <a:avLst/>
          </a:prstGeom>
          <a:solidFill xmlns:a="http://schemas.openxmlformats.org/drawingml/2006/main">
            <a:srgbClr val="254B78"/>
          </a:solidFill>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d89e25db90f343bd"/>
          <a:stretch xmlns:a="http://schemas.openxmlformats.org/drawingml/2006/main">
            <a:fillRect l="0" t="0" r="0" b="0"/>
          </a:stretch>
        </p:blipFill>
        <p:spPr>
          <a:xfrm xmlns:a="http://schemas.openxmlformats.org/drawingml/2006/main">
            <a:off x="740664" y="4398264"/>
            <a:ext cx="301752" cy="301752"/>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102AE114-1418-45D2-BD14-D76D810BA643}"/>
              </a:ext>
            </a:extLst>
          </p:cNvPr>
          <p:cNvSpPr>
            <a:spLocks xmlns:a="http://schemas.openxmlformats.org/drawingml/2006/main" noGrp="1"/>
          </p:cNvSpPr>
          <p:nvPr/>
        </p:nvSpPr>
        <p:spPr>
          <a:xfrm xmlns:a="http://schemas.openxmlformats.org/drawingml/2006/main">
            <a:off x="1280160" y="4297680"/>
            <a:ext cx="4572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9FB8D6"/>
                </a:solidFill>
                <a:latin typeface="Calibri"/>
                <a:ea typeface="Calibri"/>
                <a:cs typeface="Calibri"/>
              </a:rPr>
              <a:t>Sedat GÜLER ve Claude Opus 5  ·  TYT Türkçe Ders Anlatım Serisi</a:t>
            </a:r>
            <a:endParaRPr sz="1200"/>
          </a:p>
        </p:txBody>
      </p:sp>
      <p:sp>
        <p:nvSpPr>
          <p:cNvPr id="13" name="Shape 10">
            <a:extLst xmlns:a="http://schemas.openxmlformats.org/drawingml/2006/main">
              <a:ext uri="{FF2B5EF4-FFF2-40B4-BE49-F238E27FC236}">
                <a16:creationId xmlns:a16="http://schemas.microsoft.com/office/drawing/2014/main" id="{CC618870-8366-4379-8A8E-7A5E3C86E560}"/>
              </a:ext>
            </a:extLst>
          </p:cNvPr>
          <p:cNvSpPr>
            <a:spLocks xmlns:a="http://schemas.openxmlformats.org/drawingml/2006/main" noGrp="1"/>
          </p:cNvSpPr>
          <p:nvPr/>
        </p:nvSpPr>
        <p:spPr>
          <a:xfrm xmlns:a="http://schemas.openxmlformats.org/drawingml/2006/main">
            <a:off x="8321040" y="1554480"/>
            <a:ext cx="3291840" cy="685800"/>
          </a:xfrm>
          <a:prstGeom xmlns:a="http://schemas.openxmlformats.org/drawingml/2006/main" prst="roundRect">
            <a:avLst>
              <a:gd name="adj" fmla="val 10667"/>
            </a:avLst>
          </a:prstGeom>
          <a:solidFill xmlns:a="http://schemas.openxmlformats.org/drawingml/2006/main">
            <a:srgbClr val="142A44"/>
          </a:solidFill>
          <a:effectLst xmlns:a="http://schemas.openxmlformats.org/drawingml/2006/main">
            <a:outerShdw blurRad="76200" dist="25400" dir="5400000" sx="100000" sy="100000" kx="0" ky="0" algn="bl" rotWithShape="0">
              <a:srgbClr val="1E2761">
                <a:alpha val="18000"/>
              </a:srgbClr>
            </a:outerShdw>
          </a:effectLst>
        </p:spPr>
      </p:sp>
      <p:sp>
        <p:nvSpPr>
          <p:cNvPr id="14" name="Text 11">
            <a:extLst xmlns:a="http://schemas.openxmlformats.org/drawingml/2006/main">
              <a:ext uri="{FF2B5EF4-FFF2-40B4-BE49-F238E27FC236}">
                <a16:creationId xmlns:a16="http://schemas.microsoft.com/office/drawing/2014/main" id="{B96336BB-C45C-492C-BAE6-C10705EA9947}"/>
              </a:ext>
            </a:extLst>
          </p:cNvPr>
          <p:cNvSpPr>
            <a:spLocks xmlns:a="http://schemas.openxmlformats.org/drawingml/2006/main" noGrp="1"/>
          </p:cNvSpPr>
          <p:nvPr/>
        </p:nvSpPr>
        <p:spPr>
          <a:xfrm xmlns:a="http://schemas.openxmlformats.org/drawingml/2006/main">
            <a:off x="8321040" y="1554480"/>
            <a:ext cx="32918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"Bu roman gerçekten</a:t>
            </a:r>
            <a:endParaRPr sz="1600"/>
          </a:p>
          <a:p xmlns:a="http://schemas.openxmlformats.org/drawingml/2006/main">
            <a:pPr marL="0" indent="0" algn="ctr">
              <a:buNone/>
            </a:pPr>
            <a:r>
              <a:rPr sz="1600" b="1">
                <a:solidFill>
                  <a:srgbClr val="FFFFFF"/>
                </a:solidFill>
                <a:latin typeface="Calibri"/>
                <a:ea typeface="Calibri"/>
                <a:cs typeface="Calibri"/>
              </a:rPr>
              <a:t>çok etkileyici!"</a:t>
            </a:r>
            <a:endParaRPr sz="1600"/>
          </a:p>
        </p:txBody>
      </p:sp>
      <p:sp>
        <p:nvSpPr>
          <p:cNvPr id="15" name="Text 12">
            <a:extLst xmlns:a="http://schemas.openxmlformats.org/drawingml/2006/main">
              <a:ext uri="{FF2B5EF4-FFF2-40B4-BE49-F238E27FC236}">
                <a16:creationId xmlns:a16="http://schemas.microsoft.com/office/drawing/2014/main" id="{3CC59596-EB8E-4F64-9B46-4B805BFDE195}"/>
              </a:ext>
            </a:extLst>
          </p:cNvPr>
          <p:cNvSpPr>
            <a:spLocks xmlns:a="http://schemas.openxmlformats.org/drawingml/2006/main" noGrp="1"/>
          </p:cNvSpPr>
          <p:nvPr/>
        </p:nvSpPr>
        <p:spPr>
          <a:xfrm xmlns:a="http://schemas.openxmlformats.org/drawingml/2006/main">
            <a:off x="8321040" y="228600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i="1">
                <a:solidFill>
                  <a:srgbClr val="9FB8D6"/>
                </a:solidFill>
                <a:latin typeface="Calibri"/>
                <a:ea typeface="Calibri"/>
                <a:cs typeface="Calibri"/>
              </a:rPr>
              <a:t>kişiden kişiye değişir</a:t>
            </a:r>
            <a:endParaRPr sz="1500"/>
          </a:p>
        </p:txBody>
      </p:sp>
      <p:sp>
        <p:nvSpPr>
          <p:cNvPr id="16" name="Shape 13">
            <a:extLst xmlns:a="http://schemas.openxmlformats.org/drawingml/2006/main">
              <a:ext uri="{FF2B5EF4-FFF2-40B4-BE49-F238E27FC236}">
                <a16:creationId xmlns:a16="http://schemas.microsoft.com/office/drawing/2014/main" id="{B3B194B7-014D-4654-BA56-F574E8757494}"/>
              </a:ext>
            </a:extLst>
          </p:cNvPr>
          <p:cNvSpPr>
            <a:spLocks xmlns:a="http://schemas.openxmlformats.org/drawingml/2006/main" noGrp="1"/>
          </p:cNvSpPr>
          <p:nvPr/>
        </p:nvSpPr>
        <p:spPr>
          <a:xfrm xmlns:a="http://schemas.openxmlformats.org/drawingml/2006/main">
            <a:off x="8321040" y="2651760"/>
            <a:ext cx="3291840" cy="1243584"/>
          </a:xfrm>
          <a:prstGeom xmlns:a="http://schemas.openxmlformats.org/drawingml/2006/main" prst="roundRect">
            <a:avLst>
              <a:gd name="adj" fmla="val 20000"/>
            </a:avLst>
          </a:prstGeom>
          <a:solidFill xmlns:a="http://schemas.openxmlformats.org/drawingml/2006/main">
            <a:srgbClr val="D9A441"/>
          </a:solidFill>
          <a:effectLst xmlns:a="http://schemas.openxmlformats.org/drawingml/2006/main">
            <a:outerShdw blurRad="76200" dist="25400" dir="5400000" sx="100000" sy="100000" kx="0" ky="0" algn="bl" rotWithShape="0">
              <a:srgbClr val="1E2761">
                <a:alpha val="18000"/>
              </a:srgbClr>
            </a:outerShdw>
          </a:effectLst>
        </p:spPr>
      </p:sp>
      <p:sp>
        <p:nvSpPr>
          <p:cNvPr id="17" name="Text 14">
            <a:extLst xmlns:a="http://schemas.openxmlformats.org/drawingml/2006/main">
              <a:ext uri="{FF2B5EF4-FFF2-40B4-BE49-F238E27FC236}">
                <a16:creationId xmlns:a16="http://schemas.microsoft.com/office/drawing/2014/main" id="{CCED9CD4-105B-46CE-BCE7-86175F549B39}"/>
              </a:ext>
            </a:extLst>
          </p:cNvPr>
          <p:cNvSpPr>
            <a:spLocks xmlns:a="http://schemas.openxmlformats.org/drawingml/2006/main" noGrp="1"/>
          </p:cNvSpPr>
          <p:nvPr/>
        </p:nvSpPr>
        <p:spPr>
          <a:xfrm xmlns:a="http://schemas.openxmlformats.org/drawingml/2006/main">
            <a:off x="8321040" y="2651760"/>
            <a:ext cx="329184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142A44"/>
                </a:solidFill>
                <a:latin typeface="Calibri"/>
                <a:ea typeface="Calibri"/>
                <a:cs typeface="Calibri"/>
              </a:rPr>
              <a:t>ÖZNEL</a:t>
            </a:r>
            <a:endParaRPr sz="2100"/>
          </a:p>
        </p:txBody>
      </p:sp>
      <p:sp>
        <p:nvSpPr>
          <p:cNvPr id="18" name="Shape 15">
            <a:extLst xmlns:a="http://schemas.openxmlformats.org/drawingml/2006/main">
              <a:ext uri="{FF2B5EF4-FFF2-40B4-BE49-F238E27FC236}">
                <a16:creationId xmlns:a16="http://schemas.microsoft.com/office/drawing/2014/main" id="{84CA37DD-EAD0-4B8B-B7CC-14F5EAC78CA4}"/>
              </a:ext>
            </a:extLst>
          </p:cNvPr>
          <p:cNvSpPr>
            <a:spLocks xmlns:a="http://schemas.openxmlformats.org/drawingml/2006/main" noGrp="1"/>
          </p:cNvSpPr>
          <p:nvPr/>
        </p:nvSpPr>
        <p:spPr>
          <a:xfrm xmlns:a="http://schemas.openxmlformats.org/drawingml/2006/main">
            <a:off x="8321040" y="3200400"/>
            <a:ext cx="3291840" cy="685800"/>
          </a:xfrm>
          <a:prstGeom xmlns:a="http://schemas.openxmlformats.org/drawingml/2006/main" prst="roundRect">
            <a:avLst>
              <a:gd name="adj" fmla="val 10667"/>
            </a:avLst>
          </a:prstGeom>
          <a:solidFill xmlns:a="http://schemas.openxmlformats.org/drawingml/2006/main">
            <a:srgbClr val="142A44"/>
          </a:solidFill>
          <a:effectLst xmlns:a="http://schemas.openxmlformats.org/drawingml/2006/main">
            <a:outerShdw blurRad="76200" dist="25400" dir="5400000" sx="100000" sy="100000" kx="0" ky="0" algn="bl" rotWithShape="0">
              <a:srgbClr val="1E2761">
                <a:alpha val="18000"/>
              </a:srgbClr>
            </a:outerShdw>
          </a:effectLst>
        </p:spPr>
      </p:sp>
      <p:sp>
        <p:nvSpPr>
          <p:cNvPr id="19" name="Text 16">
            <a:extLst xmlns:a="http://schemas.openxmlformats.org/drawingml/2006/main">
              <a:ext uri="{FF2B5EF4-FFF2-40B4-BE49-F238E27FC236}">
                <a16:creationId xmlns:a16="http://schemas.microsoft.com/office/drawing/2014/main" id="{8DC606FD-68D5-4003-8363-19F911AC66C7}"/>
              </a:ext>
            </a:extLst>
          </p:cNvPr>
          <p:cNvSpPr>
            <a:spLocks xmlns:a="http://schemas.openxmlformats.org/drawingml/2006/main" noGrp="1"/>
          </p:cNvSpPr>
          <p:nvPr/>
        </p:nvSpPr>
        <p:spPr>
          <a:xfrm xmlns:a="http://schemas.openxmlformats.org/drawingml/2006/main">
            <a:off x="8321040" y="3200400"/>
            <a:ext cx="32918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"Roman 320 sayfadan</a:t>
            </a:r>
            <a:endParaRPr sz="1600"/>
          </a:p>
          <a:p xmlns:a="http://schemas.openxmlformats.org/drawingml/2006/main">
            <a:pPr marL="0" indent="0" algn="ctr">
              <a:buNone/>
            </a:pPr>
            <a:r>
              <a:rPr sz="1600" b="1">
                <a:solidFill>
                  <a:srgbClr val="FFFFFF"/>
                </a:solidFill>
                <a:latin typeface="Calibri"/>
                <a:ea typeface="Calibri"/>
                <a:cs typeface="Calibri"/>
              </a:rPr>
              <a:t>oluşmaktadır."</a:t>
            </a:r>
            <a:endParaRPr sz="1600"/>
          </a:p>
        </p:txBody>
      </p:sp>
      <p:sp>
        <p:nvSpPr>
          <p:cNvPr id="20" name="Text 17">
            <a:extLst xmlns:a="http://schemas.openxmlformats.org/drawingml/2006/main">
              <a:ext uri="{FF2B5EF4-FFF2-40B4-BE49-F238E27FC236}">
                <a16:creationId xmlns:a16="http://schemas.microsoft.com/office/drawing/2014/main" id="{7B4C93D7-8666-4471-A135-93E1DDB9D767}"/>
              </a:ext>
            </a:extLst>
          </p:cNvPr>
          <p:cNvSpPr>
            <a:spLocks xmlns:a="http://schemas.openxmlformats.org/drawingml/2006/main" noGrp="1"/>
          </p:cNvSpPr>
          <p:nvPr/>
        </p:nvSpPr>
        <p:spPr>
          <a:xfrm xmlns:a="http://schemas.openxmlformats.org/drawingml/2006/main">
            <a:off x="8321040" y="3931920"/>
            <a:ext cx="3291840" cy="5770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i="1">
                <a:solidFill>
                  <a:srgbClr val="9FB8D6"/>
                </a:solidFill>
                <a:latin typeface="Calibri"/>
                <a:ea typeface="Calibri"/>
                <a:cs typeface="Calibri"/>
              </a:rPr>
              <a:t>herkes için aynıdır, kanıtlanabilir</a:t>
            </a:r>
            <a:endParaRPr sz="1600"/>
          </a:p>
        </p:txBody>
      </p:sp>
      <p:sp>
        <p:nvSpPr>
          <p:cNvPr id="21" name="Shape 18">
            <a:extLst xmlns:a="http://schemas.openxmlformats.org/drawingml/2006/main">
              <a:ext uri="{FF2B5EF4-FFF2-40B4-BE49-F238E27FC236}">
                <a16:creationId xmlns:a16="http://schemas.microsoft.com/office/drawing/2014/main" id="{6416C313-5170-41CB-8B0E-8180B0BA120F}"/>
              </a:ext>
            </a:extLst>
          </p:cNvPr>
          <p:cNvSpPr>
            <a:spLocks xmlns:a="http://schemas.openxmlformats.org/drawingml/2006/main" noGrp="1"/>
          </p:cNvSpPr>
          <p:nvPr/>
        </p:nvSpPr>
        <p:spPr>
          <a:xfrm xmlns:a="http://schemas.openxmlformats.org/drawingml/2006/main">
            <a:off x="8321040" y="5175504"/>
            <a:ext cx="3291840" cy="1243584"/>
          </a:xfrm>
          <a:prstGeom xmlns:a="http://schemas.openxmlformats.org/drawingml/2006/main" prst="roundRect">
            <a:avLst>
              <a:gd name="adj" fmla="val 20000"/>
            </a:avLst>
          </a:prstGeom>
          <a:solidFill xmlns:a="http://schemas.openxmlformats.org/drawingml/2006/main">
            <a:srgbClr val="254B78"/>
          </a:solidFill>
          <a:effectLst xmlns:a="http://schemas.openxmlformats.org/drawingml/2006/main">
            <a:outerShdw blurRad="76200" dist="25400" dir="5400000" sx="100000" sy="100000" kx="0" ky="0" algn="bl" rotWithShape="0">
              <a:srgbClr val="1E2761">
                <a:alpha val="18000"/>
              </a:srgbClr>
            </a:outerShdw>
          </a:effectLst>
        </p:spPr>
      </p:sp>
      <p:sp>
        <p:nvSpPr>
          <p:cNvPr id="22" name="Text 19">
            <a:extLst xmlns:a="http://schemas.openxmlformats.org/drawingml/2006/main">
              <a:ext uri="{FF2B5EF4-FFF2-40B4-BE49-F238E27FC236}">
                <a16:creationId xmlns:a16="http://schemas.microsoft.com/office/drawing/2014/main" id="{DDB7BD50-4D69-4F69-8237-C0547DB2BC50}"/>
              </a:ext>
            </a:extLst>
          </p:cNvPr>
          <p:cNvSpPr>
            <a:spLocks xmlns:a="http://schemas.openxmlformats.org/drawingml/2006/main" noGrp="1"/>
          </p:cNvSpPr>
          <p:nvPr/>
        </p:nvSpPr>
        <p:spPr>
          <a:xfrm xmlns:a="http://schemas.openxmlformats.org/drawingml/2006/main">
            <a:off x="8321040" y="5175504"/>
            <a:ext cx="329184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NESNEL</a:t>
            </a:r>
            <a:endParaRPr sz="2100"/>
          </a:p>
        </p:txBody>
      </p:sp>
      <p:sp>
        <p:nvSpPr>
          <p:cNvPr id="23" name="Shape 20">
            <a:extLst xmlns:a="http://schemas.openxmlformats.org/drawingml/2006/main">
              <a:ext uri="{FF2B5EF4-FFF2-40B4-BE49-F238E27FC236}">
                <a16:creationId xmlns:a16="http://schemas.microsoft.com/office/drawing/2014/main" id="{7AA9DF5A-2AD6-487E-AF3D-4CD2A96AA76A}"/>
              </a:ext>
            </a:extLst>
          </p:cNvPr>
          <p:cNvSpPr>
            <a:spLocks xmlns:a="http://schemas.openxmlformats.org/drawingml/2006/main" noGrp="1"/>
          </p:cNvSpPr>
          <p:nvPr/>
        </p:nvSpPr>
        <p:spPr>
          <a:xfrm xmlns:a="http://schemas.openxmlformats.org/drawingml/2006/main">
            <a:off x="9692640" y="5074920"/>
            <a:ext cx="777240" cy="777240"/>
          </a:xfrm>
          <a:prstGeom xmlns:a="http://schemas.openxmlformats.org/drawingml/2006/main" prst="ellipse">
            <a:avLst/>
          </a:prstGeom>
          <a:solidFill xmlns:a="http://schemas.openxmlformats.org/drawingml/2006/main">
            <a:srgbClr val="254B78"/>
          </a:solidFill>
        </p:spPr>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379aeb989cfa4b46"/>
          <a:stretch xmlns:a="http://schemas.openxmlformats.org/drawingml/2006/main">
            <a:fillRect l="0" t="0" r="0" b="0"/>
          </a:stretch>
        </p:blipFill>
        <p:spPr>
          <a:xfrm xmlns:a="http://schemas.openxmlformats.org/drawingml/2006/main">
            <a:off x="9867519" y="5249799"/>
            <a:ext cx="427482" cy="427482"/>
          </a:xfrm>
          <a:prstGeom xmlns:a="http://schemas.openxmlformats.org/drawingml/2006/main" prst="rect">
            <a:avLst/>
          </a:prstGeom>
        </p:spPr>
      </p:pic>
    </p:spTree>
    <p:extLst>
      <p:ext uri="{BB962C8B-B14F-4D97-AF65-F5344CB8AC3E}">
        <p14:creationId xmlns:p14="http://schemas.microsoft.com/office/powerpoint/2010/main" val="10158927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BE379B5-F2DB-4BDA-9341-473333414C9F}"/>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b986c231fe534f41"/>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A095318E-7AD3-4672-8691-1E9D453E7B44}"/>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KAZANIM</a:t>
            </a:r>
            <a:endParaRPr sz="1300"/>
          </a:p>
        </p:txBody>
      </p:sp>
      <p:sp>
        <p:nvSpPr>
          <p:cNvPr id="5" name="Text 2">
            <a:extLst xmlns:a="http://schemas.openxmlformats.org/drawingml/2006/main">
              <a:ext uri="{FF2B5EF4-FFF2-40B4-BE49-F238E27FC236}">
                <a16:creationId xmlns:a16="http://schemas.microsoft.com/office/drawing/2014/main" id="{B30A307D-5F7B-4A4B-875A-29A1D3644829}"/>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Bugün Ne Öğreneceğiz?</a:t>
            </a:r>
            <a:endParaRPr sz="2800"/>
          </a:p>
        </p:txBody>
      </p:sp>
      <p:sp>
        <p:nvSpPr>
          <p:cNvPr id="6" name="Shape 3">
            <a:extLst xmlns:a="http://schemas.openxmlformats.org/drawingml/2006/main">
              <a:ext uri="{FF2B5EF4-FFF2-40B4-BE49-F238E27FC236}">
                <a16:creationId xmlns:a16="http://schemas.microsoft.com/office/drawing/2014/main" id="{B6712B9B-6E08-4CFE-8FA3-41070A7A8BFB}"/>
              </a:ext>
            </a:extLst>
          </p:cNvPr>
          <p:cNvSpPr>
            <a:spLocks xmlns:a="http://schemas.openxmlformats.org/drawingml/2006/main" noGrp="1"/>
          </p:cNvSpPr>
          <p:nvPr/>
        </p:nvSpPr>
        <p:spPr>
          <a:xfrm xmlns:a="http://schemas.openxmlformats.org/drawingml/2006/main">
            <a:off x="640080" y="1828800"/>
            <a:ext cx="10881360" cy="1043178"/>
          </a:xfrm>
          <a:prstGeom xmlns:a="http://schemas.openxmlformats.org/drawingml/2006/main" prst="roundRect">
            <a:avLst>
              <a:gd name="adj" fmla="val 10000"/>
            </a:avLst>
          </a:prstGeom>
          <a:solidFill xmlns:a="http://schemas.openxmlformats.org/drawingml/2006/main">
            <a:srgbClr val="EEF3F8"/>
          </a:solidFill>
        </p:spPr>
      </p:sp>
      <p:sp>
        <p:nvSpPr>
          <p:cNvPr id="7" name="Shape 4">
            <a:extLst xmlns:a="http://schemas.openxmlformats.org/drawingml/2006/main">
              <a:ext uri="{FF2B5EF4-FFF2-40B4-BE49-F238E27FC236}">
                <a16:creationId xmlns:a16="http://schemas.microsoft.com/office/drawing/2014/main" id="{3CC9F2DF-173C-481A-BD5C-454027F51390}"/>
              </a:ext>
            </a:extLst>
          </p:cNvPr>
          <p:cNvSpPr>
            <a:spLocks xmlns:a="http://schemas.openxmlformats.org/drawingml/2006/main" noGrp="1"/>
          </p:cNvSpPr>
          <p:nvPr/>
        </p:nvSpPr>
        <p:spPr>
          <a:xfrm xmlns:a="http://schemas.openxmlformats.org/drawingml/2006/main">
            <a:off x="868680" y="2098929"/>
            <a:ext cx="502920" cy="502920"/>
          </a:xfrm>
          <a:prstGeom xmlns:a="http://schemas.openxmlformats.org/drawingml/2006/main" prst="ellipse">
            <a:avLst/>
          </a:prstGeom>
          <a:solidFill xmlns:a="http://schemas.openxmlformats.org/drawingml/2006/main">
            <a:srgbClr val="1E3A5F"/>
          </a:solidFill>
        </p:spPr>
      </p:sp>
      <p:sp>
        <p:nvSpPr>
          <p:cNvPr id="8" name="Text 5">
            <a:extLst xmlns:a="http://schemas.openxmlformats.org/drawingml/2006/main">
              <a:ext uri="{FF2B5EF4-FFF2-40B4-BE49-F238E27FC236}">
                <a16:creationId xmlns:a16="http://schemas.microsoft.com/office/drawing/2014/main" id="{D2A7CFBF-091A-45D2-BB5D-E26D707A24A6}"/>
              </a:ext>
            </a:extLst>
          </p:cNvPr>
          <p:cNvSpPr>
            <a:spLocks xmlns:a="http://schemas.openxmlformats.org/drawingml/2006/main" noGrp="1"/>
          </p:cNvSpPr>
          <p:nvPr/>
        </p:nvSpPr>
        <p:spPr>
          <a:xfrm xmlns:a="http://schemas.openxmlformats.org/drawingml/2006/main">
            <a:off x="868680" y="2098929"/>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1</a:t>
            </a:r>
            <a:endParaRPr sz="2000"/>
          </a:p>
        </p:txBody>
      </p:sp>
      <p:sp>
        <p:nvSpPr>
          <p:cNvPr id="9" name="Text 6">
            <a:extLst xmlns:a="http://schemas.openxmlformats.org/drawingml/2006/main">
              <a:ext uri="{FF2B5EF4-FFF2-40B4-BE49-F238E27FC236}">
                <a16:creationId xmlns:a16="http://schemas.microsoft.com/office/drawing/2014/main" id="{644F853B-B7A0-47F7-8829-8AB8623DC333}"/>
              </a:ext>
            </a:extLst>
          </p:cNvPr>
          <p:cNvSpPr>
            <a:spLocks xmlns:a="http://schemas.openxmlformats.org/drawingml/2006/main" noGrp="1"/>
          </p:cNvSpPr>
          <p:nvPr/>
        </p:nvSpPr>
        <p:spPr>
          <a:xfrm xmlns:a="http://schemas.openxmlformats.org/drawingml/2006/main">
            <a:off x="1600200" y="1828800"/>
            <a:ext cx="9692640" cy="7574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a:solidFill>
                  <a:srgbClr val="1E2761"/>
                </a:solidFill>
                <a:latin typeface="Calibri"/>
                <a:ea typeface="Calibri"/>
                <a:cs typeface="Calibri"/>
              </a:rPr>
              <a:t>Bir cümlenin ÖZNEL mi (kişiden kişiye değişen, kanıtlanamayan) yoksa NESNEL mi (kanıtlanabilir, herkes için aynı) olduğunu ayırt edebilecek.</a:t>
            </a:r>
            <a:endParaRPr sz="2100"/>
          </a:p>
        </p:txBody>
      </p:sp>
      <p:sp>
        <p:nvSpPr>
          <p:cNvPr id="10" name="Shape 7">
            <a:extLst xmlns:a="http://schemas.openxmlformats.org/drawingml/2006/main">
              <a:ext uri="{FF2B5EF4-FFF2-40B4-BE49-F238E27FC236}">
                <a16:creationId xmlns:a16="http://schemas.microsoft.com/office/drawing/2014/main" id="{8F331FEB-4999-41E4-9AD9-B2F4B5EEFD10}"/>
              </a:ext>
            </a:extLst>
          </p:cNvPr>
          <p:cNvSpPr>
            <a:spLocks xmlns:a="http://schemas.openxmlformats.org/drawingml/2006/main" noGrp="1"/>
          </p:cNvSpPr>
          <p:nvPr/>
        </p:nvSpPr>
        <p:spPr>
          <a:xfrm xmlns:a="http://schemas.openxmlformats.org/drawingml/2006/main">
            <a:off x="640080" y="2913126"/>
            <a:ext cx="10881360" cy="1043178"/>
          </a:xfrm>
          <a:prstGeom xmlns:a="http://schemas.openxmlformats.org/drawingml/2006/main" prst="roundRect">
            <a:avLst>
              <a:gd name="adj" fmla="val 10000"/>
            </a:avLst>
          </a:prstGeom>
          <a:solidFill xmlns:a="http://schemas.openxmlformats.org/drawingml/2006/main">
            <a:srgbClr val="EEF3F8"/>
          </a:solidFill>
        </p:spPr>
      </p:sp>
      <p:sp>
        <p:nvSpPr>
          <p:cNvPr id="11" name="Shape 8">
            <a:extLst xmlns:a="http://schemas.openxmlformats.org/drawingml/2006/main">
              <a:ext uri="{FF2B5EF4-FFF2-40B4-BE49-F238E27FC236}">
                <a16:creationId xmlns:a16="http://schemas.microsoft.com/office/drawing/2014/main" id="{E992D32A-9E3C-4B95-BC47-0490B5C1B8CE}"/>
              </a:ext>
            </a:extLst>
          </p:cNvPr>
          <p:cNvSpPr>
            <a:spLocks xmlns:a="http://schemas.openxmlformats.org/drawingml/2006/main" noGrp="1"/>
          </p:cNvSpPr>
          <p:nvPr/>
        </p:nvSpPr>
        <p:spPr>
          <a:xfrm xmlns:a="http://schemas.openxmlformats.org/drawingml/2006/main">
            <a:off x="868680" y="3183255"/>
            <a:ext cx="502920" cy="502920"/>
          </a:xfrm>
          <a:prstGeom xmlns:a="http://schemas.openxmlformats.org/drawingml/2006/main" prst="ellipse">
            <a:avLst/>
          </a:prstGeom>
          <a:solidFill xmlns:a="http://schemas.openxmlformats.org/drawingml/2006/main">
            <a:srgbClr val="1E3A5F"/>
          </a:solidFill>
        </p:spPr>
      </p:sp>
      <p:sp>
        <p:nvSpPr>
          <p:cNvPr id="12" name="Text 9">
            <a:extLst xmlns:a="http://schemas.openxmlformats.org/drawingml/2006/main">
              <a:ext uri="{FF2B5EF4-FFF2-40B4-BE49-F238E27FC236}">
                <a16:creationId xmlns:a16="http://schemas.microsoft.com/office/drawing/2014/main" id="{4AD8357A-643B-49F3-9957-F185609B3C42}"/>
              </a:ext>
            </a:extLst>
          </p:cNvPr>
          <p:cNvSpPr>
            <a:spLocks xmlns:a="http://schemas.openxmlformats.org/drawingml/2006/main" noGrp="1"/>
          </p:cNvSpPr>
          <p:nvPr/>
        </p:nvSpPr>
        <p:spPr>
          <a:xfrm xmlns:a="http://schemas.openxmlformats.org/drawingml/2006/main">
            <a:off x="868680" y="3183255"/>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2</a:t>
            </a:r>
            <a:endParaRPr sz="2000"/>
          </a:p>
        </p:txBody>
      </p:sp>
      <p:sp>
        <p:nvSpPr>
          <p:cNvPr id="13" name="Text 10">
            <a:extLst xmlns:a="http://schemas.openxmlformats.org/drawingml/2006/main">
              <a:ext uri="{FF2B5EF4-FFF2-40B4-BE49-F238E27FC236}">
                <a16:creationId xmlns:a16="http://schemas.microsoft.com/office/drawing/2014/main" id="{0C7113DB-20DC-479C-8371-0DC83D031A49}"/>
              </a:ext>
            </a:extLst>
          </p:cNvPr>
          <p:cNvSpPr>
            <a:spLocks xmlns:a="http://schemas.openxmlformats.org/drawingml/2006/main" noGrp="1"/>
          </p:cNvSpPr>
          <p:nvPr/>
        </p:nvSpPr>
        <p:spPr>
          <a:xfrm xmlns:a="http://schemas.openxmlformats.org/drawingml/2006/main">
            <a:off x="1600200" y="2913126"/>
            <a:ext cx="9692640" cy="7574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a:solidFill>
                  <a:srgbClr val="1E2761"/>
                </a:solidFill>
                <a:latin typeface="Calibri"/>
                <a:ea typeface="Calibri"/>
                <a:cs typeface="Calibri"/>
              </a:rPr>
              <a:t>İki varlık/kavramı birbiriyle KARŞILAŞTIRAN cümleleri ve bir eser/kişi/durum hakkında yargı bildiren DEĞERLENDİRME cümlelerini tanıyabilecek.</a:t>
            </a:r>
            <a:endParaRPr sz="2100"/>
          </a:p>
        </p:txBody>
      </p:sp>
      <p:sp>
        <p:nvSpPr>
          <p:cNvPr id="14" name="Shape 11">
            <a:extLst xmlns:a="http://schemas.openxmlformats.org/drawingml/2006/main">
              <a:ext uri="{FF2B5EF4-FFF2-40B4-BE49-F238E27FC236}">
                <a16:creationId xmlns:a16="http://schemas.microsoft.com/office/drawing/2014/main" id="{5F347856-42E5-4983-9F4D-B4FA1676FD4F}"/>
              </a:ext>
            </a:extLst>
          </p:cNvPr>
          <p:cNvSpPr>
            <a:spLocks xmlns:a="http://schemas.openxmlformats.org/drawingml/2006/main" noGrp="1"/>
          </p:cNvSpPr>
          <p:nvPr/>
        </p:nvSpPr>
        <p:spPr>
          <a:xfrm xmlns:a="http://schemas.openxmlformats.org/drawingml/2006/main">
            <a:off x="640080" y="3997452"/>
            <a:ext cx="10881360" cy="1043178"/>
          </a:xfrm>
          <a:prstGeom xmlns:a="http://schemas.openxmlformats.org/drawingml/2006/main" prst="roundRect">
            <a:avLst>
              <a:gd name="adj" fmla="val 10000"/>
            </a:avLst>
          </a:prstGeom>
          <a:solidFill xmlns:a="http://schemas.openxmlformats.org/drawingml/2006/main">
            <a:srgbClr val="EEF3F8"/>
          </a:solidFill>
        </p:spPr>
      </p:sp>
      <p:sp>
        <p:nvSpPr>
          <p:cNvPr id="15" name="Shape 12">
            <a:extLst xmlns:a="http://schemas.openxmlformats.org/drawingml/2006/main">
              <a:ext uri="{FF2B5EF4-FFF2-40B4-BE49-F238E27FC236}">
                <a16:creationId xmlns:a16="http://schemas.microsoft.com/office/drawing/2014/main" id="{63BF41CC-DE8B-4058-BE05-294BE44C969A}"/>
              </a:ext>
            </a:extLst>
          </p:cNvPr>
          <p:cNvSpPr>
            <a:spLocks xmlns:a="http://schemas.openxmlformats.org/drawingml/2006/main" noGrp="1"/>
          </p:cNvSpPr>
          <p:nvPr/>
        </p:nvSpPr>
        <p:spPr>
          <a:xfrm xmlns:a="http://schemas.openxmlformats.org/drawingml/2006/main">
            <a:off x="868680" y="4267581"/>
            <a:ext cx="502920" cy="502920"/>
          </a:xfrm>
          <a:prstGeom xmlns:a="http://schemas.openxmlformats.org/drawingml/2006/main" prst="ellipse">
            <a:avLst/>
          </a:prstGeom>
          <a:solidFill xmlns:a="http://schemas.openxmlformats.org/drawingml/2006/main">
            <a:srgbClr val="1E3A5F"/>
          </a:solidFill>
        </p:spPr>
      </p:sp>
      <p:sp>
        <p:nvSpPr>
          <p:cNvPr id="16" name="Text 13">
            <a:extLst xmlns:a="http://schemas.openxmlformats.org/drawingml/2006/main">
              <a:ext uri="{FF2B5EF4-FFF2-40B4-BE49-F238E27FC236}">
                <a16:creationId xmlns:a16="http://schemas.microsoft.com/office/drawing/2014/main" id="{71EC7E53-4034-4D27-9A18-C4006D81A481}"/>
              </a:ext>
            </a:extLst>
          </p:cNvPr>
          <p:cNvSpPr>
            <a:spLocks xmlns:a="http://schemas.openxmlformats.org/drawingml/2006/main" noGrp="1"/>
          </p:cNvSpPr>
          <p:nvPr/>
        </p:nvSpPr>
        <p:spPr>
          <a:xfrm xmlns:a="http://schemas.openxmlformats.org/drawingml/2006/main">
            <a:off x="868680" y="4267581"/>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3</a:t>
            </a:r>
            <a:endParaRPr sz="2000"/>
          </a:p>
        </p:txBody>
      </p:sp>
      <p:sp>
        <p:nvSpPr>
          <p:cNvPr id="17" name="Text 14">
            <a:extLst xmlns:a="http://schemas.openxmlformats.org/drawingml/2006/main">
              <a:ext uri="{FF2B5EF4-FFF2-40B4-BE49-F238E27FC236}">
                <a16:creationId xmlns:a16="http://schemas.microsoft.com/office/drawing/2014/main" id="{59509564-1F32-477D-AD7C-2433D7D9F156}"/>
              </a:ext>
            </a:extLst>
          </p:cNvPr>
          <p:cNvSpPr>
            <a:spLocks xmlns:a="http://schemas.openxmlformats.org/drawingml/2006/main" noGrp="1"/>
          </p:cNvSpPr>
          <p:nvPr/>
        </p:nvSpPr>
        <p:spPr>
          <a:xfrm xmlns:a="http://schemas.openxmlformats.org/drawingml/2006/main">
            <a:off x="1600200" y="3997452"/>
            <a:ext cx="9692640" cy="7574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a:solidFill>
                  <a:srgbClr val="1E2761"/>
                </a:solidFill>
                <a:latin typeface="Calibri"/>
                <a:ea typeface="Calibri"/>
                <a:cs typeface="Calibri"/>
              </a:rPr>
              <a:t>Kesin yargı, varsayım (olasılık), sebep-sonuç ve koşul-amaç cümlelerini birbirinden ayırt edebilecek.</a:t>
            </a:r>
            <a:endParaRPr sz="2100"/>
          </a:p>
        </p:txBody>
      </p:sp>
      <p:sp>
        <p:nvSpPr>
          <p:cNvPr id="18" name="Shape 15">
            <a:extLst xmlns:a="http://schemas.openxmlformats.org/drawingml/2006/main">
              <a:ext uri="{FF2B5EF4-FFF2-40B4-BE49-F238E27FC236}">
                <a16:creationId xmlns:a16="http://schemas.microsoft.com/office/drawing/2014/main" id="{222E8D87-E372-446E-A9A6-79278ED55F04}"/>
              </a:ext>
            </a:extLst>
          </p:cNvPr>
          <p:cNvSpPr>
            <a:spLocks xmlns:a="http://schemas.openxmlformats.org/drawingml/2006/main" noGrp="1"/>
          </p:cNvSpPr>
          <p:nvPr/>
        </p:nvSpPr>
        <p:spPr>
          <a:xfrm xmlns:a="http://schemas.openxmlformats.org/drawingml/2006/main">
            <a:off x="640080" y="5081778"/>
            <a:ext cx="10881360" cy="1367790"/>
          </a:xfrm>
          <a:prstGeom xmlns:a="http://schemas.openxmlformats.org/drawingml/2006/main" prst="roundRect">
            <a:avLst>
              <a:gd name="adj" fmla="val 10000"/>
            </a:avLst>
          </a:prstGeom>
          <a:solidFill xmlns:a="http://schemas.openxmlformats.org/drawingml/2006/main">
            <a:srgbClr val="EEF3F8"/>
          </a:solidFill>
        </p:spPr>
      </p:sp>
      <p:sp>
        <p:nvSpPr>
          <p:cNvPr id="19" name="Shape 16">
            <a:extLst xmlns:a="http://schemas.openxmlformats.org/drawingml/2006/main">
              <a:ext uri="{FF2B5EF4-FFF2-40B4-BE49-F238E27FC236}">
                <a16:creationId xmlns:a16="http://schemas.microsoft.com/office/drawing/2014/main" id="{C64D195F-7CE9-48A3-86FE-7D7194A515C7}"/>
              </a:ext>
            </a:extLst>
          </p:cNvPr>
          <p:cNvSpPr>
            <a:spLocks xmlns:a="http://schemas.openxmlformats.org/drawingml/2006/main" noGrp="1"/>
          </p:cNvSpPr>
          <p:nvPr/>
        </p:nvSpPr>
        <p:spPr>
          <a:xfrm xmlns:a="http://schemas.openxmlformats.org/drawingml/2006/main">
            <a:off x="868680" y="5514213"/>
            <a:ext cx="502920" cy="502920"/>
          </a:xfrm>
          <a:prstGeom xmlns:a="http://schemas.openxmlformats.org/drawingml/2006/main" prst="ellipse">
            <a:avLst/>
          </a:prstGeom>
          <a:solidFill xmlns:a="http://schemas.openxmlformats.org/drawingml/2006/main">
            <a:srgbClr val="1E3A5F"/>
          </a:solidFill>
        </p:spPr>
      </p:sp>
      <p:sp>
        <p:nvSpPr>
          <p:cNvPr id="20" name="Text 17">
            <a:extLst xmlns:a="http://schemas.openxmlformats.org/drawingml/2006/main">
              <a:ext uri="{FF2B5EF4-FFF2-40B4-BE49-F238E27FC236}">
                <a16:creationId xmlns:a16="http://schemas.microsoft.com/office/drawing/2014/main" id="{7961C2A4-CFD6-497C-99D4-EF0DEB94E32A}"/>
              </a:ext>
            </a:extLst>
          </p:cNvPr>
          <p:cNvSpPr>
            <a:spLocks xmlns:a="http://schemas.openxmlformats.org/drawingml/2006/main" noGrp="1"/>
          </p:cNvSpPr>
          <p:nvPr/>
        </p:nvSpPr>
        <p:spPr>
          <a:xfrm xmlns:a="http://schemas.openxmlformats.org/drawingml/2006/main">
            <a:off x="868680" y="5514213"/>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4</a:t>
            </a:r>
            <a:endParaRPr sz="2000"/>
          </a:p>
        </p:txBody>
      </p:sp>
      <p:sp>
        <p:nvSpPr>
          <p:cNvPr id="21" name="Text 18">
            <a:extLst xmlns:a="http://schemas.openxmlformats.org/drawingml/2006/main">
              <a:ext uri="{FF2B5EF4-FFF2-40B4-BE49-F238E27FC236}">
                <a16:creationId xmlns:a16="http://schemas.microsoft.com/office/drawing/2014/main" id="{C50629D1-DC61-4077-B817-2429A2EF5525}"/>
              </a:ext>
            </a:extLst>
          </p:cNvPr>
          <p:cNvSpPr>
            <a:spLocks xmlns:a="http://schemas.openxmlformats.org/drawingml/2006/main" noGrp="1"/>
          </p:cNvSpPr>
          <p:nvPr/>
        </p:nvSpPr>
        <p:spPr>
          <a:xfrm xmlns:a="http://schemas.openxmlformats.org/drawingml/2006/main">
            <a:off x="1600200" y="5081778"/>
            <a:ext cx="9692640" cy="1082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Bu temel kavramları gerçek ÖSYM sorularında hızlıca tanıyacak — bu kavramlar, önümüzdeki 3 derste öğreneceğimiz "anlamca eşdeğer cümle bulma" becerisinin TEMELİNİ oluşturacak.</a:t>
            </a:r>
            <a:endParaRPr sz="2000"/>
          </a:p>
        </p:txBody>
      </p:sp>
      <p:sp>
        <p:nvSpPr>
          <p:cNvPr id="22" name="Text 19">
            <a:extLst xmlns:a="http://schemas.openxmlformats.org/drawingml/2006/main">
              <a:ext uri="{FF2B5EF4-FFF2-40B4-BE49-F238E27FC236}">
                <a16:creationId xmlns:a16="http://schemas.microsoft.com/office/drawing/2014/main" id="{4D422D48-8665-401D-8497-832CA70C0855}"/>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Kazanım</a:t>
            </a:r>
            <a:endParaRPr sz="900"/>
          </a:p>
        </p:txBody>
      </p:sp>
      <p:sp>
        <p:nvSpPr>
          <p:cNvPr id="23" name="Text 20">
            <a:extLst xmlns:a="http://schemas.openxmlformats.org/drawingml/2006/main">
              <a:ext uri="{FF2B5EF4-FFF2-40B4-BE49-F238E27FC236}">
                <a16:creationId xmlns:a16="http://schemas.microsoft.com/office/drawing/2014/main" id="{FF3563D0-CE3E-4956-93E0-C95351A89848}"/>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16831812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3924A42-8E15-4AB8-BA17-E2AAA90E439C}"/>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c5b4921b03634c04"/>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96B76E57-1031-4DA5-BAE0-ABE1DE7A8C94}"/>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BAĞLANTI</a:t>
            </a:r>
            <a:endParaRPr sz="1300"/>
          </a:p>
        </p:txBody>
      </p:sp>
      <p:sp>
        <p:nvSpPr>
          <p:cNvPr id="5" name="Text 2">
            <a:extLst xmlns:a="http://schemas.openxmlformats.org/drawingml/2006/main">
              <a:ext uri="{FF2B5EF4-FFF2-40B4-BE49-F238E27FC236}">
                <a16:creationId xmlns:a16="http://schemas.microsoft.com/office/drawing/2014/main" id="{EC283348-0C0E-4EC9-9F64-363996CBB7C0}"/>
              </a:ext>
            </a:extLst>
          </p:cNvPr>
          <p:cNvSpPr>
            <a:spLocks xmlns:a="http://schemas.openxmlformats.org/drawingml/2006/main" noGrp="1"/>
          </p:cNvSpPr>
          <p:nvPr/>
        </p:nvSpPr>
        <p:spPr>
          <a:xfrm xmlns:a="http://schemas.openxmlformats.org/drawingml/2006/main">
            <a:off x="1463040" y="841248"/>
            <a:ext cx="9601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E3A5F"/>
                </a:solidFill>
                <a:latin typeface="Cambria"/>
                <a:ea typeface="Cambria"/>
                <a:cs typeface="Cambria"/>
              </a:rPr>
              <a:t>Yeni Konu: Cümlede Anlam</a:t>
            </a:r>
            <a:endParaRPr sz="2500"/>
          </a:p>
        </p:txBody>
      </p:sp>
      <p:sp>
        <p:nvSpPr>
          <p:cNvPr id="6" name="Shape 3">
            <a:extLst xmlns:a="http://schemas.openxmlformats.org/drawingml/2006/main">
              <a:ext uri="{FF2B5EF4-FFF2-40B4-BE49-F238E27FC236}">
                <a16:creationId xmlns:a16="http://schemas.microsoft.com/office/drawing/2014/main" id="{B11F3557-9A6D-488A-85D2-BA9B7F17B8D8}"/>
              </a:ext>
            </a:extLst>
          </p:cNvPr>
          <p:cNvSpPr>
            <a:spLocks xmlns:a="http://schemas.openxmlformats.org/drawingml/2006/main" noGrp="1"/>
          </p:cNvSpPr>
          <p:nvPr/>
        </p:nvSpPr>
        <p:spPr>
          <a:xfrm xmlns:a="http://schemas.openxmlformats.org/drawingml/2006/main">
            <a:off x="640080" y="1645920"/>
            <a:ext cx="10881360" cy="1534160"/>
          </a:xfrm>
          <a:prstGeom xmlns:a="http://schemas.openxmlformats.org/drawingml/2006/main" prst="roundRect">
            <a:avLst>
              <a:gd name="adj" fmla="val 7692"/>
            </a:avLst>
          </a:prstGeom>
          <a:solidFill xmlns:a="http://schemas.openxmlformats.org/drawingml/2006/main">
            <a:srgbClr val="FBF3E3"/>
          </a:solidFill>
        </p:spPr>
      </p:sp>
      <p:sp>
        <p:nvSpPr>
          <p:cNvPr id="7" name="Text 4">
            <a:extLst xmlns:a="http://schemas.openxmlformats.org/drawingml/2006/main">
              <a:ext uri="{FF2B5EF4-FFF2-40B4-BE49-F238E27FC236}">
                <a16:creationId xmlns:a16="http://schemas.microsoft.com/office/drawing/2014/main" id="{698998D2-13ED-49AC-A4EE-FC02A74F0116}"/>
              </a:ext>
            </a:extLst>
          </p:cNvPr>
          <p:cNvSpPr>
            <a:spLocks xmlns:a="http://schemas.openxmlformats.org/drawingml/2006/main" noGrp="1"/>
          </p:cNvSpPr>
          <p:nvPr/>
        </p:nvSpPr>
        <p:spPr>
          <a:xfrm xmlns:a="http://schemas.openxmlformats.org/drawingml/2006/main">
            <a:off x="914400" y="1645920"/>
            <a:ext cx="10332720" cy="1442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Sözcükte Anlam konusunu </a:t>
            </a:r>
            <a:r>
              <a:rPr sz="2000" b="1">
                <a:solidFill>
                  <a:srgbClr val="1E3A5F"/>
                </a:solidFill>
                <a:latin typeface="Calibri"/>
                <a:ea typeface="Calibri"/>
                <a:cs typeface="Calibri"/>
              </a:rPr>
              <a:t>3 derste TAMAMLADIK</a:t>
            </a:r>
            <a:r>
              <a:rPr sz="2000">
                <a:solidFill>
                  <a:srgbClr val="1E2761"/>
                </a:solidFill>
                <a:latin typeface="Calibri"/>
                <a:ea typeface="Calibri"/>
                <a:cs typeface="Calibri"/>
              </a:rPr>
              <a:t>. Şimdi </a:t>
            </a:r>
            <a:r>
              <a:rPr sz="2000" b="1">
                <a:solidFill>
                  <a:srgbClr val="1E3A5F"/>
                </a:solidFill>
                <a:latin typeface="Calibri"/>
                <a:ea typeface="Calibri"/>
                <a:cs typeface="Calibri"/>
              </a:rPr>
              <a:t>Cümlede Anlam</a:t>
            </a:r>
            <a:r>
              <a:rPr sz="2000">
                <a:solidFill>
                  <a:srgbClr val="1E2761"/>
                </a:solidFill>
                <a:latin typeface="Calibri"/>
                <a:ea typeface="Calibri"/>
                <a:cs typeface="Calibri"/>
              </a:rPr>
              <a:t> konusuna başlıyoruz — bu konu </a:t>
            </a:r>
            <a:r>
              <a:rPr sz="2000" b="1">
                <a:solidFill>
                  <a:srgbClr val="1E3A5F"/>
                </a:solidFill>
                <a:latin typeface="Calibri"/>
                <a:ea typeface="Calibri"/>
                <a:cs typeface="Calibri"/>
              </a:rPr>
              <a:t>4 ders</a:t>
            </a:r>
            <a:r>
              <a:rPr sz="2000">
                <a:solidFill>
                  <a:srgbClr val="1E2761"/>
                </a:solidFill>
                <a:latin typeface="Calibri"/>
                <a:ea typeface="Calibri"/>
                <a:cs typeface="Calibri"/>
              </a:rPr>
              <a:t>sürecek. Bugün (1/4) temel kavramları görüyoruz; 2/4-4/4 dersleri ise sınavda asıl çıkan tip olan "anlamca eşdeğer/tanıma uygun cümle bulma" becerisine odaklanacak.</a:t>
            </a:r>
            <a:endParaRPr sz="2000"/>
          </a:p>
        </p:txBody>
      </p:sp>
      <p:sp>
        <p:nvSpPr>
          <p:cNvPr id="8" name="Shape 5">
            <a:extLst xmlns:a="http://schemas.openxmlformats.org/drawingml/2006/main">
              <a:ext uri="{FF2B5EF4-FFF2-40B4-BE49-F238E27FC236}">
                <a16:creationId xmlns:a16="http://schemas.microsoft.com/office/drawing/2014/main" id="{C9B30D31-4D4C-4058-B619-2AB946E693B5}"/>
              </a:ext>
            </a:extLst>
          </p:cNvPr>
          <p:cNvSpPr>
            <a:spLocks xmlns:a="http://schemas.openxmlformats.org/drawingml/2006/main" noGrp="1"/>
          </p:cNvSpPr>
          <p:nvPr/>
        </p:nvSpPr>
        <p:spPr>
          <a:xfrm xmlns:a="http://schemas.openxmlformats.org/drawingml/2006/main">
            <a:off x="822960" y="3225800"/>
            <a:ext cx="3246120" cy="2148840"/>
          </a:xfrm>
          <a:prstGeom xmlns:a="http://schemas.openxmlformats.org/drawingml/2006/main" prst="roundRect">
            <a:avLst>
              <a:gd name="adj" fmla="val 5106"/>
            </a:avLst>
          </a:prstGeom>
          <a:solidFill xmlns:a="http://schemas.openxmlformats.org/drawingml/2006/main">
            <a:srgbClr val="EEF3F8"/>
          </a:solidFill>
        </p:spPr>
      </p:sp>
      <p:sp>
        <p:nvSpPr>
          <p:cNvPr id="9" name="Text 6">
            <a:extLst xmlns:a="http://schemas.openxmlformats.org/drawingml/2006/main">
              <a:ext uri="{FF2B5EF4-FFF2-40B4-BE49-F238E27FC236}">
                <a16:creationId xmlns:a16="http://schemas.microsoft.com/office/drawing/2014/main" id="{80F2C41B-798D-4B44-91C1-801D5BEA37DF}"/>
              </a:ext>
            </a:extLst>
          </p:cNvPr>
          <p:cNvSpPr>
            <a:spLocks xmlns:a="http://schemas.openxmlformats.org/drawingml/2006/main" noGrp="1"/>
          </p:cNvSpPr>
          <p:nvPr/>
        </p:nvSpPr>
        <p:spPr>
          <a:xfrm xmlns:a="http://schemas.openxmlformats.org/drawingml/2006/main">
            <a:off x="1051560" y="3454400"/>
            <a:ext cx="278892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E3A5F"/>
                </a:solidFill>
                <a:latin typeface="Cambria"/>
                <a:ea typeface="Cambria"/>
                <a:cs typeface="Cambria"/>
              </a:rPr>
              <a:t>Tamamlanan Konu</a:t>
            </a:r>
            <a:endParaRPr sz="2100"/>
          </a:p>
        </p:txBody>
      </p:sp>
      <p:sp>
        <p:nvSpPr>
          <p:cNvPr id="10" name="Text 7">
            <a:extLst xmlns:a="http://schemas.openxmlformats.org/drawingml/2006/main">
              <a:ext uri="{FF2B5EF4-FFF2-40B4-BE49-F238E27FC236}">
                <a16:creationId xmlns:a16="http://schemas.microsoft.com/office/drawing/2014/main" id="{3FE353E2-46F4-4351-84F5-4720DD46B189}"/>
              </a:ext>
            </a:extLst>
          </p:cNvPr>
          <p:cNvSpPr>
            <a:spLocks xmlns:a="http://schemas.openxmlformats.org/drawingml/2006/main" noGrp="1"/>
          </p:cNvSpPr>
          <p:nvPr/>
        </p:nvSpPr>
        <p:spPr>
          <a:xfrm xmlns:a="http://schemas.openxmlformats.org/drawingml/2006/main">
            <a:off x="1051560" y="3878834"/>
            <a:ext cx="2788920" cy="8580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a:solidFill>
                  <a:srgbClr val="6B7280"/>
                </a:solidFill>
                <a:latin typeface="Calibri"/>
                <a:ea typeface="Calibri"/>
                <a:cs typeface="Calibri"/>
              </a:rPr>
              <a:t>Sözcükte Anlam</a:t>
            </a:r>
            <a:endParaRPr sz="2100"/>
          </a:p>
          <a:p xmlns:a="http://schemas.openxmlformats.org/drawingml/2006/main">
            <a:pPr marL="0" indent="0">
              <a:buNone/>
            </a:pPr>
            <a:r>
              <a:rPr sz="2100">
                <a:solidFill>
                  <a:srgbClr val="6B7280"/>
                </a:solidFill>
                <a:latin typeface="Calibri"/>
                <a:ea typeface="Calibri"/>
                <a:cs typeface="Calibri"/>
              </a:rPr>
              <a:t>(3 ders) ✓</a:t>
            </a:r>
            <a:endParaRPr sz="2100"/>
          </a:p>
        </p:txBody>
      </p:sp>
      <p:sp>
        <p:nvSpPr>
          <p:cNvPr id="11" name="Shape 8">
            <a:extLst xmlns:a="http://schemas.openxmlformats.org/drawingml/2006/main">
              <a:ext uri="{FF2B5EF4-FFF2-40B4-BE49-F238E27FC236}">
                <a16:creationId xmlns:a16="http://schemas.microsoft.com/office/drawing/2014/main" id="{C89BF0AD-CE2A-423D-8D8E-D60955514458}"/>
              </a:ext>
            </a:extLst>
          </p:cNvPr>
          <p:cNvSpPr>
            <a:spLocks xmlns:a="http://schemas.openxmlformats.org/drawingml/2006/main" noGrp="1"/>
          </p:cNvSpPr>
          <p:nvPr/>
        </p:nvSpPr>
        <p:spPr>
          <a:xfrm xmlns:a="http://schemas.openxmlformats.org/drawingml/2006/main">
            <a:off x="4526280" y="3225800"/>
            <a:ext cx="3246120" cy="2148840"/>
          </a:xfrm>
          <a:prstGeom xmlns:a="http://schemas.openxmlformats.org/drawingml/2006/main" prst="roundRect">
            <a:avLst>
              <a:gd name="adj" fmla="val 5106"/>
            </a:avLst>
          </a:prstGeom>
          <a:solidFill xmlns:a="http://schemas.openxmlformats.org/drawingml/2006/main">
            <a:srgbClr val="1E3A5F"/>
          </a:solidFill>
          <a:effectLst xmlns:a="http://schemas.openxmlformats.org/drawingml/2006/main">
            <a:outerShdw blurRad="101600" dist="38100" dir="5400000" sx="100000" sy="100000" kx="0" ky="0" algn="bl" rotWithShape="0">
              <a:srgbClr val="1E2761">
                <a:alpha val="25000"/>
              </a:srgbClr>
            </a:outerShdw>
          </a:effectLst>
        </p:spPr>
      </p:sp>
      <p:sp>
        <p:nvSpPr>
          <p:cNvPr id="12" name="Text 9">
            <a:extLst xmlns:a="http://schemas.openxmlformats.org/drawingml/2006/main">
              <a:ext uri="{FF2B5EF4-FFF2-40B4-BE49-F238E27FC236}">
                <a16:creationId xmlns:a16="http://schemas.microsoft.com/office/drawing/2014/main" id="{6C71A01B-4EC8-457D-8324-701606705044}"/>
              </a:ext>
            </a:extLst>
          </p:cNvPr>
          <p:cNvSpPr>
            <a:spLocks xmlns:a="http://schemas.openxmlformats.org/drawingml/2006/main" noGrp="1"/>
          </p:cNvSpPr>
          <p:nvPr/>
        </p:nvSpPr>
        <p:spPr>
          <a:xfrm xmlns:a="http://schemas.openxmlformats.org/drawingml/2006/main">
            <a:off x="4754880" y="3454400"/>
            <a:ext cx="278892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FFFFFF"/>
                </a:solidFill>
                <a:latin typeface="Cambria"/>
                <a:ea typeface="Cambria"/>
                <a:cs typeface="Cambria"/>
              </a:rPr>
              <a:t>Ders 1/4 (bugün)</a:t>
            </a:r>
            <a:endParaRPr sz="2100"/>
          </a:p>
        </p:txBody>
      </p:sp>
      <p:sp>
        <p:nvSpPr>
          <p:cNvPr id="13" name="Text 10">
            <a:extLst xmlns:a="http://schemas.openxmlformats.org/drawingml/2006/main">
              <a:ext uri="{FF2B5EF4-FFF2-40B4-BE49-F238E27FC236}">
                <a16:creationId xmlns:a16="http://schemas.microsoft.com/office/drawing/2014/main" id="{26504CFD-CB19-421A-8EE4-C7B7CDE7F72B}"/>
              </a:ext>
            </a:extLst>
          </p:cNvPr>
          <p:cNvSpPr>
            <a:spLocks xmlns:a="http://schemas.openxmlformats.org/drawingml/2006/main" noGrp="1"/>
          </p:cNvSpPr>
          <p:nvPr/>
        </p:nvSpPr>
        <p:spPr>
          <a:xfrm xmlns:a="http://schemas.openxmlformats.org/drawingml/2006/main">
            <a:off x="4754880" y="3878834"/>
            <a:ext cx="2788920" cy="1182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a:solidFill>
                  <a:srgbClr val="CADCFC"/>
                </a:solidFill>
                <a:latin typeface="Calibri"/>
                <a:ea typeface="Calibri"/>
                <a:cs typeface="Calibri"/>
              </a:rPr>
              <a:t>Cümlede Anlam'a Giriş:</a:t>
            </a:r>
            <a:endParaRPr sz="2000"/>
          </a:p>
          <a:p xmlns:a="http://schemas.openxmlformats.org/drawingml/2006/main">
            <a:pPr marL="0" indent="0">
              <a:buNone/>
            </a:pPr>
            <a:r>
              <a:rPr sz="2000">
                <a:solidFill>
                  <a:srgbClr val="CADCFC"/>
                </a:solidFill>
                <a:latin typeface="Calibri"/>
                <a:ea typeface="Calibri"/>
                <a:cs typeface="Calibri"/>
              </a:rPr>
              <a:t>Temel Kavramlar.</a:t>
            </a:r>
            <a:endParaRPr sz="2000"/>
          </a:p>
        </p:txBody>
      </p:sp>
      <p:sp>
        <p:nvSpPr>
          <p:cNvPr id="14" name="Shape 11">
            <a:extLst xmlns:a="http://schemas.openxmlformats.org/drawingml/2006/main">
              <a:ext uri="{FF2B5EF4-FFF2-40B4-BE49-F238E27FC236}">
                <a16:creationId xmlns:a16="http://schemas.microsoft.com/office/drawing/2014/main" id="{F4C68C00-041E-4E62-BC27-2AAF2AD88E70}"/>
              </a:ext>
            </a:extLst>
          </p:cNvPr>
          <p:cNvSpPr>
            <a:spLocks xmlns:a="http://schemas.openxmlformats.org/drawingml/2006/main" noGrp="1"/>
          </p:cNvSpPr>
          <p:nvPr/>
        </p:nvSpPr>
        <p:spPr>
          <a:xfrm xmlns:a="http://schemas.openxmlformats.org/drawingml/2006/main">
            <a:off x="8229600" y="3225800"/>
            <a:ext cx="3246120" cy="2148840"/>
          </a:xfrm>
          <a:prstGeom xmlns:a="http://schemas.openxmlformats.org/drawingml/2006/main" prst="roundRect">
            <a:avLst>
              <a:gd name="adj" fmla="val 5106"/>
            </a:avLst>
          </a:prstGeom>
          <a:solidFill xmlns:a="http://schemas.openxmlformats.org/drawingml/2006/main">
            <a:srgbClr val="EEF3F8"/>
          </a:solidFill>
        </p:spPr>
      </p:sp>
      <p:sp>
        <p:nvSpPr>
          <p:cNvPr id="15" name="Text 12">
            <a:extLst xmlns:a="http://schemas.openxmlformats.org/drawingml/2006/main">
              <a:ext uri="{FF2B5EF4-FFF2-40B4-BE49-F238E27FC236}">
                <a16:creationId xmlns:a16="http://schemas.microsoft.com/office/drawing/2014/main" id="{F6900F0E-A7C2-4E76-86EE-D585C91B6985}"/>
              </a:ext>
            </a:extLst>
          </p:cNvPr>
          <p:cNvSpPr>
            <a:spLocks xmlns:a="http://schemas.openxmlformats.org/drawingml/2006/main" noGrp="1"/>
          </p:cNvSpPr>
          <p:nvPr/>
        </p:nvSpPr>
        <p:spPr>
          <a:xfrm xmlns:a="http://schemas.openxmlformats.org/drawingml/2006/main">
            <a:off x="8458200" y="3454400"/>
            <a:ext cx="278892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E3A5F"/>
                </a:solidFill>
                <a:latin typeface="Cambria"/>
                <a:ea typeface="Cambria"/>
                <a:cs typeface="Cambria"/>
              </a:rPr>
              <a:t>Sıradaki Dersler</a:t>
            </a:r>
            <a:endParaRPr sz="2100"/>
          </a:p>
        </p:txBody>
      </p:sp>
      <p:sp>
        <p:nvSpPr>
          <p:cNvPr id="16" name="Text 13">
            <a:extLst xmlns:a="http://schemas.openxmlformats.org/drawingml/2006/main">
              <a:ext uri="{FF2B5EF4-FFF2-40B4-BE49-F238E27FC236}">
                <a16:creationId xmlns:a16="http://schemas.microsoft.com/office/drawing/2014/main" id="{559A8477-0EFD-4B8C-96E0-41006A087090}"/>
              </a:ext>
            </a:extLst>
          </p:cNvPr>
          <p:cNvSpPr>
            <a:spLocks xmlns:a="http://schemas.openxmlformats.org/drawingml/2006/main" noGrp="1"/>
          </p:cNvSpPr>
          <p:nvPr/>
        </p:nvSpPr>
        <p:spPr>
          <a:xfrm xmlns:a="http://schemas.openxmlformats.org/drawingml/2006/main">
            <a:off x="8458200" y="3878834"/>
            <a:ext cx="2788920" cy="8399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50">
                <a:solidFill>
                  <a:srgbClr val="6B7280"/>
                </a:solidFill>
                <a:latin typeface="Calibri"/>
                <a:ea typeface="Calibri"/>
                <a:cs typeface="Calibri"/>
              </a:rPr>
              <a:t>Anlamca Eşdeğer Cümle</a:t>
            </a:r>
            <a:endParaRPr sz="2050"/>
          </a:p>
          <a:p xmlns:a="http://schemas.openxmlformats.org/drawingml/2006/main">
            <a:pPr marL="0" indent="0">
              <a:buNone/>
            </a:pPr>
            <a:r>
              <a:rPr sz="2050">
                <a:solidFill>
                  <a:srgbClr val="6B7280"/>
                </a:solidFill>
                <a:latin typeface="Calibri"/>
                <a:ea typeface="Calibri"/>
                <a:cs typeface="Calibri"/>
              </a:rPr>
              <a:t>Bulma (2/4, 3/4, 4/4)</a:t>
            </a:r>
            <a:endParaRPr sz="2050"/>
          </a:p>
        </p:txBody>
      </p:sp>
      <p:sp>
        <p:nvSpPr>
          <p:cNvPr id="17" name="Text 14">
            <a:extLst xmlns:a="http://schemas.openxmlformats.org/drawingml/2006/main">
              <a:ext uri="{FF2B5EF4-FFF2-40B4-BE49-F238E27FC236}">
                <a16:creationId xmlns:a16="http://schemas.microsoft.com/office/drawing/2014/main" id="{0E955EEE-1FE1-4711-BFC9-C513C0384B23}"/>
              </a:ext>
            </a:extLst>
          </p:cNvPr>
          <p:cNvSpPr>
            <a:spLocks xmlns:a="http://schemas.openxmlformats.org/drawingml/2006/main" noGrp="1"/>
          </p:cNvSpPr>
          <p:nvPr/>
        </p:nvSpPr>
        <p:spPr>
          <a:xfrm xmlns:a="http://schemas.openxmlformats.org/drawingml/2006/main">
            <a:off x="4114800" y="3225800"/>
            <a:ext cx="365760" cy="432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D9A441"/>
                </a:solidFill>
                <a:latin typeface="Calibri"/>
                <a:ea typeface="Calibri"/>
                <a:cs typeface="Calibri"/>
              </a:rPr>
              <a:t>→</a:t>
            </a:r>
            <a:endParaRPr sz="2400"/>
          </a:p>
        </p:txBody>
      </p:sp>
      <p:sp>
        <p:nvSpPr>
          <p:cNvPr id="18" name="Text 15">
            <a:extLst xmlns:a="http://schemas.openxmlformats.org/drawingml/2006/main">
              <a:ext uri="{FF2B5EF4-FFF2-40B4-BE49-F238E27FC236}">
                <a16:creationId xmlns:a16="http://schemas.microsoft.com/office/drawing/2014/main" id="{66B38AE9-DB63-45EC-A292-030D8989876C}"/>
              </a:ext>
            </a:extLst>
          </p:cNvPr>
          <p:cNvSpPr>
            <a:spLocks xmlns:a="http://schemas.openxmlformats.org/drawingml/2006/main" noGrp="1"/>
          </p:cNvSpPr>
          <p:nvPr/>
        </p:nvSpPr>
        <p:spPr>
          <a:xfrm xmlns:a="http://schemas.openxmlformats.org/drawingml/2006/main">
            <a:off x="7863840" y="3225800"/>
            <a:ext cx="365760" cy="432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D9A441"/>
                </a:solidFill>
                <a:latin typeface="Calibri"/>
                <a:ea typeface="Calibri"/>
                <a:cs typeface="Calibri"/>
              </a:rPr>
              <a:t>→</a:t>
            </a:r>
            <a:endParaRPr sz="2400"/>
          </a:p>
        </p:txBody>
      </p:sp>
      <p:sp>
        <p:nvSpPr>
          <p:cNvPr id="19" name="Text 16">
            <a:extLst xmlns:a="http://schemas.openxmlformats.org/drawingml/2006/main">
              <a:ext uri="{FF2B5EF4-FFF2-40B4-BE49-F238E27FC236}">
                <a16:creationId xmlns:a16="http://schemas.microsoft.com/office/drawing/2014/main" id="{43BF391A-1E49-4F5F-BBEC-053C7AB0026D}"/>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Bağlantı</a:t>
            </a:r>
            <a:endParaRPr sz="900"/>
          </a:p>
        </p:txBody>
      </p:sp>
      <p:sp>
        <p:nvSpPr>
          <p:cNvPr id="20" name="Text 17">
            <a:extLst xmlns:a="http://schemas.openxmlformats.org/drawingml/2006/main">
              <a:ext uri="{FF2B5EF4-FFF2-40B4-BE49-F238E27FC236}">
                <a16:creationId xmlns:a16="http://schemas.microsoft.com/office/drawing/2014/main" id="{CBE1EA03-2C29-448E-A8A3-BBCABBA92109}"/>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12129776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3C496B1-3CE8-41F2-8B0D-96CE9E1EFCC8}"/>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6cf8cc9e785a43c3"/>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51293A80-2CCC-4B2F-A010-175192EB8AE0}"/>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HAZIRLIK SORUSU</a:t>
            </a:r>
            <a:endParaRPr sz="1300"/>
          </a:p>
        </p:txBody>
      </p:sp>
      <p:sp>
        <p:nvSpPr>
          <p:cNvPr id="5" name="Text 2">
            <a:extLst xmlns:a="http://schemas.openxmlformats.org/drawingml/2006/main">
              <a:ext uri="{FF2B5EF4-FFF2-40B4-BE49-F238E27FC236}">
                <a16:creationId xmlns:a16="http://schemas.microsoft.com/office/drawing/2014/main" id="{EEF6C003-7F06-4883-82BD-52C278B5FA6F}"/>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Bu İki Cümle Arasındaki Fark Ne?</a:t>
            </a:r>
            <a:endParaRPr sz="2800"/>
          </a:p>
        </p:txBody>
      </p:sp>
      <p:sp>
        <p:nvSpPr>
          <p:cNvPr id="6" name="Text 3">
            <a:extLst xmlns:a="http://schemas.openxmlformats.org/drawingml/2006/main">
              <a:ext uri="{FF2B5EF4-FFF2-40B4-BE49-F238E27FC236}">
                <a16:creationId xmlns:a16="http://schemas.microsoft.com/office/drawing/2014/main" id="{7E892E09-4FE5-4D5B-969D-CAA6E472FA6C}"/>
              </a:ext>
            </a:extLst>
          </p:cNvPr>
          <p:cNvSpPr>
            <a:spLocks xmlns:a="http://schemas.openxmlformats.org/drawingml/2006/main" noGrp="1"/>
          </p:cNvSpPr>
          <p:nvPr/>
        </p:nvSpPr>
        <p:spPr>
          <a:xfrm xmlns:a="http://schemas.openxmlformats.org/drawingml/2006/main">
            <a:off x="640080" y="1691640"/>
            <a:ext cx="10881360" cy="1082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Aşağıdaki iki cümleyi okuyun ve 2 dakika düşünün: (1) "Bu film, yılın en iyi filmiydi."   (2) "Bu film 128 dakika sürmektedir." Bu iki cümle arasındaki temel fark nedir?</a:t>
            </a:r>
            <a:endParaRPr sz="2000"/>
          </a:p>
        </p:txBody>
      </p:sp>
      <p:sp>
        <p:nvSpPr>
          <p:cNvPr id="7" name="Shape 4">
            <a:extLst xmlns:a="http://schemas.openxmlformats.org/drawingml/2006/main">
              <a:ext uri="{FF2B5EF4-FFF2-40B4-BE49-F238E27FC236}">
                <a16:creationId xmlns:a16="http://schemas.microsoft.com/office/drawing/2014/main" id="{292F0CB5-468E-4DE6-B098-B2AA63A15047}"/>
              </a:ext>
            </a:extLst>
          </p:cNvPr>
          <p:cNvSpPr>
            <a:spLocks xmlns:a="http://schemas.openxmlformats.org/drawingml/2006/main" noGrp="1"/>
          </p:cNvSpPr>
          <p:nvPr/>
        </p:nvSpPr>
        <p:spPr>
          <a:xfrm xmlns:a="http://schemas.openxmlformats.org/drawingml/2006/main">
            <a:off x="4114800" y="2865120"/>
            <a:ext cx="3931920" cy="1374648"/>
          </a:xfrm>
          <a:prstGeom xmlns:a="http://schemas.openxmlformats.org/drawingml/2006/main" prst="roundRect">
            <a:avLst>
              <a:gd name="adj" fmla="val 8889"/>
            </a:avLst>
          </a:prstGeom>
          <a:solidFill xmlns:a="http://schemas.openxmlformats.org/drawingml/2006/main">
            <a:srgbClr val="254B78"/>
          </a:solidFill>
          <a:effectLst xmlns:a="http://schemas.openxmlformats.org/drawingml/2006/main">
            <a:outerShdw blurRad="76200" dist="25400" dir="5400000" sx="100000" sy="100000" kx="0" ky="0" algn="bl" rotWithShape="0">
              <a:srgbClr val="1E2761">
                <a:alpha val="18000"/>
              </a:srgbClr>
            </a:outerShdw>
          </a:effectLst>
        </p:spPr>
      </p:sp>
      <p:sp>
        <p:nvSpPr>
          <p:cNvPr id="8" name="Text 5">
            <a:extLst xmlns:a="http://schemas.openxmlformats.org/drawingml/2006/main">
              <a:ext uri="{FF2B5EF4-FFF2-40B4-BE49-F238E27FC236}">
                <a16:creationId xmlns:a16="http://schemas.microsoft.com/office/drawing/2014/main" id="{2AB2E52F-D875-4613-A99B-FA87D39B0471}"/>
              </a:ext>
            </a:extLst>
          </p:cNvPr>
          <p:cNvSpPr>
            <a:spLocks xmlns:a="http://schemas.openxmlformats.org/drawingml/2006/main" noGrp="1"/>
          </p:cNvSpPr>
          <p:nvPr/>
        </p:nvSpPr>
        <p:spPr>
          <a:xfrm xmlns:a="http://schemas.openxmlformats.org/drawingml/2006/main">
            <a:off x="4114800" y="2865120"/>
            <a:ext cx="3931920" cy="12832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"yılın en iyi filmi"</a:t>
            </a:r>
            <a:endParaRPr sz="2000"/>
          </a:p>
          <a:p xmlns:a="http://schemas.openxmlformats.org/drawingml/2006/main">
            <a:pPr marL="0" indent="0" algn="ctr">
              <a:buNone/>
            </a:pPr>
            <a:r>
              <a:rPr sz="2000" b="1">
                <a:solidFill>
                  <a:srgbClr val="FFFFFF"/>
                </a:solidFill>
                <a:latin typeface="Calibri"/>
                <a:ea typeface="Calibri"/>
                <a:cs typeface="Calibri"/>
              </a:rPr>
              <a:t>vs.</a:t>
            </a:r>
            <a:endParaRPr sz="2000"/>
          </a:p>
          <a:p xmlns:a="http://schemas.openxmlformats.org/drawingml/2006/main">
            <a:pPr marL="0" indent="0" algn="ctr">
              <a:buNone/>
            </a:pPr>
            <a:r>
              <a:rPr sz="2000" b="1">
                <a:solidFill>
                  <a:srgbClr val="FFFFFF"/>
                </a:solidFill>
                <a:latin typeface="Calibri"/>
                <a:ea typeface="Calibri"/>
                <a:cs typeface="Calibri"/>
              </a:rPr>
              <a:t>"128 dakika"</a:t>
            </a:r>
            <a:endParaRPr sz="2000"/>
          </a:p>
        </p:txBody>
      </p:sp>
      <p:sp>
        <p:nvSpPr>
          <p:cNvPr id="9" name="Shape 6">
            <a:extLst xmlns:a="http://schemas.openxmlformats.org/drawingml/2006/main">
              <a:ext uri="{FF2B5EF4-FFF2-40B4-BE49-F238E27FC236}">
                <a16:creationId xmlns:a16="http://schemas.microsoft.com/office/drawing/2014/main" id="{C01C27C8-95DC-4108-AA3A-5470FAE70643}"/>
              </a:ext>
            </a:extLst>
          </p:cNvPr>
          <p:cNvSpPr>
            <a:spLocks xmlns:a="http://schemas.openxmlformats.org/drawingml/2006/main" noGrp="1"/>
          </p:cNvSpPr>
          <p:nvPr/>
        </p:nvSpPr>
        <p:spPr>
          <a:xfrm xmlns:a="http://schemas.openxmlformats.org/drawingml/2006/main">
            <a:off x="640080" y="4514088"/>
            <a:ext cx="10881360" cy="1371600"/>
          </a:xfrm>
          <a:prstGeom xmlns:a="http://schemas.openxmlformats.org/drawingml/2006/main" prst="roundRect">
            <a:avLst>
              <a:gd name="adj" fmla="val 6667"/>
            </a:avLst>
          </a:prstGeom>
          <a:solidFill xmlns:a="http://schemas.openxmlformats.org/drawingml/2006/main">
            <a:srgbClr val="FBF3E3"/>
          </a:solidFill>
        </p:spPr>
      </p:sp>
      <p:sp>
        <p:nvSpPr>
          <p:cNvPr id="10" name="Text 7">
            <a:extLst xmlns:a="http://schemas.openxmlformats.org/drawingml/2006/main">
              <a:ext uri="{FF2B5EF4-FFF2-40B4-BE49-F238E27FC236}">
                <a16:creationId xmlns:a16="http://schemas.microsoft.com/office/drawing/2014/main" id="{545F5D46-3D3C-4D75-A18B-8518E83869C9}"/>
              </a:ext>
            </a:extLst>
          </p:cNvPr>
          <p:cNvSpPr>
            <a:spLocks xmlns:a="http://schemas.openxmlformats.org/drawingml/2006/main" noGrp="1"/>
          </p:cNvSpPr>
          <p:nvPr/>
        </p:nvSpPr>
        <p:spPr>
          <a:xfrm xmlns:a="http://schemas.openxmlformats.org/drawingml/2006/main">
            <a:off x="914400" y="4514088"/>
            <a:ext cx="10332720" cy="1082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E3A5F"/>
                </a:solidFill>
                <a:latin typeface="Calibri"/>
                <a:ea typeface="Calibri"/>
                <a:cs typeface="Calibri"/>
              </a:rPr>
              <a:t>Cevap:  </a:t>
            </a:r>
            <a:r>
              <a:rPr sz="2000">
                <a:solidFill>
                  <a:srgbClr val="1E2761"/>
                </a:solidFill>
                <a:latin typeface="Calibri"/>
                <a:ea typeface="Calibri"/>
                <a:cs typeface="Calibri"/>
              </a:rPr>
              <a:t>İlk cümle bir KİŞİSEL YARGI — "en iyi" olmak kişiden kişiye değişir, kanıtlanamaz (ÖZNEL). İkinci cümle ise SAYISAL/KANITLANABİLİR bir bilgi — herkes için aynıdır (NESNEL). İşte bugün bu ve benzeri temel ayrımları netleştireceğiz.</a:t>
            </a:r>
            <a:endParaRPr sz="2000"/>
          </a:p>
        </p:txBody>
      </p:sp>
      <p:sp>
        <p:nvSpPr>
          <p:cNvPr id="11" name="Text 8">
            <a:extLst xmlns:a="http://schemas.openxmlformats.org/drawingml/2006/main">
              <a:ext uri="{FF2B5EF4-FFF2-40B4-BE49-F238E27FC236}">
                <a16:creationId xmlns:a16="http://schemas.microsoft.com/office/drawing/2014/main" id="{416AE265-3C36-4FBB-99E8-FFE4EC11D06A}"/>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Hazırlık Sorusu</a:t>
            </a:r>
            <a:endParaRPr sz="900"/>
          </a:p>
        </p:txBody>
      </p:sp>
      <p:sp>
        <p:nvSpPr>
          <p:cNvPr id="12" name="Text 9">
            <a:extLst xmlns:a="http://schemas.openxmlformats.org/drawingml/2006/main">
              <a:ext uri="{FF2B5EF4-FFF2-40B4-BE49-F238E27FC236}">
                <a16:creationId xmlns:a16="http://schemas.microsoft.com/office/drawing/2014/main" id="{C49152E7-564C-475C-A3A8-62EFB6258108}"/>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6982620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E24FF91-60A3-4900-B603-2CEA5973AB0D}"/>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18308847aed04aab"/>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259A8A46-67BB-40B0-A350-3148B2496D5C}"/>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ANLATIM · 1/3</a:t>
            </a:r>
            <a:endParaRPr sz="1300"/>
          </a:p>
        </p:txBody>
      </p:sp>
      <p:sp>
        <p:nvSpPr>
          <p:cNvPr id="5" name="Text 2">
            <a:extLst xmlns:a="http://schemas.openxmlformats.org/drawingml/2006/main">
              <a:ext uri="{FF2B5EF4-FFF2-40B4-BE49-F238E27FC236}">
                <a16:creationId xmlns:a16="http://schemas.microsoft.com/office/drawing/2014/main" id="{37A0FB8F-BA87-4CE0-83E4-09E7ADEFFC84}"/>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Öznellik ve Nesnellik</a:t>
            </a:r>
            <a:endParaRPr sz="2800"/>
          </a:p>
        </p:txBody>
      </p:sp>
      <p:sp>
        <p:nvSpPr>
          <p:cNvPr id="6" name="Shape 3">
            <a:extLst xmlns:a="http://schemas.openxmlformats.org/drawingml/2006/main">
              <a:ext uri="{FF2B5EF4-FFF2-40B4-BE49-F238E27FC236}">
                <a16:creationId xmlns:a16="http://schemas.microsoft.com/office/drawing/2014/main" id="{CAC085F2-0004-40A2-938E-938274D19714}"/>
              </a:ext>
            </a:extLst>
          </p:cNvPr>
          <p:cNvSpPr>
            <a:spLocks xmlns:a="http://schemas.openxmlformats.org/drawingml/2006/main" noGrp="1"/>
          </p:cNvSpPr>
          <p:nvPr/>
        </p:nvSpPr>
        <p:spPr>
          <a:xfrm xmlns:a="http://schemas.openxmlformats.org/drawingml/2006/main">
            <a:off x="640080" y="1783080"/>
            <a:ext cx="10881360" cy="1051560"/>
          </a:xfrm>
          <a:prstGeom xmlns:a="http://schemas.openxmlformats.org/drawingml/2006/main" prst="roundRect">
            <a:avLst>
              <a:gd name="adj" fmla="val 8696"/>
            </a:avLst>
          </a:prstGeom>
          <a:solidFill xmlns:a="http://schemas.openxmlformats.org/drawingml/2006/main">
            <a:srgbClr val="EEF3F8"/>
          </a:solidFill>
        </p:spPr>
      </p:sp>
      <p:sp>
        <p:nvSpPr>
          <p:cNvPr id="7" name="Text 4">
            <a:extLst xmlns:a="http://schemas.openxmlformats.org/drawingml/2006/main">
              <a:ext uri="{FF2B5EF4-FFF2-40B4-BE49-F238E27FC236}">
                <a16:creationId xmlns:a16="http://schemas.microsoft.com/office/drawing/2014/main" id="{C9568505-60BB-42EA-9A06-78583AF387D6}"/>
              </a:ext>
            </a:extLst>
          </p:cNvPr>
          <p:cNvSpPr>
            <a:spLocks xmlns:a="http://schemas.openxmlformats.org/drawingml/2006/main" noGrp="1"/>
          </p:cNvSpPr>
          <p:nvPr/>
        </p:nvSpPr>
        <p:spPr>
          <a:xfrm xmlns:a="http://schemas.openxmlformats.org/drawingml/2006/main">
            <a:off x="914400" y="1783080"/>
            <a:ext cx="1033272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1E3A5F"/>
                </a:solidFill>
                <a:latin typeface="Calibri"/>
                <a:ea typeface="Calibri"/>
                <a:cs typeface="Calibri"/>
              </a:rPr>
              <a:t>Öznel Yargı:  </a:t>
            </a:r>
            <a:r>
              <a:rPr sz="1900">
                <a:solidFill>
                  <a:srgbClr val="1E2761"/>
                </a:solidFill>
                <a:latin typeface="Calibri"/>
                <a:ea typeface="Calibri"/>
                <a:cs typeface="Calibri"/>
              </a:rPr>
              <a:t>Söz söyleyen kişinin kendi duygu, düşünce ve yorumuna dayanan; kişiden kişiye DEĞİŞEBİLEN, kanıtlanamayan yargılardır. "Bence, bana göre" anlamı taşır. İpucu sözcükler: en güzel, en iyi, ilgi çekici, başarılı, etkileyici, keşke.</a:t>
            </a:r>
            <a:endParaRPr sz="1900"/>
          </a:p>
        </p:txBody>
      </p:sp>
      <p:sp>
        <p:nvSpPr>
          <p:cNvPr id="8" name="Shape 5">
            <a:extLst xmlns:a="http://schemas.openxmlformats.org/drawingml/2006/main">
              <a:ext uri="{FF2B5EF4-FFF2-40B4-BE49-F238E27FC236}">
                <a16:creationId xmlns:a16="http://schemas.microsoft.com/office/drawing/2014/main" id="{9949140B-57BB-4663-B746-4B1E02D9B644}"/>
              </a:ext>
            </a:extLst>
          </p:cNvPr>
          <p:cNvSpPr>
            <a:spLocks xmlns:a="http://schemas.openxmlformats.org/drawingml/2006/main" noGrp="1"/>
          </p:cNvSpPr>
          <p:nvPr/>
        </p:nvSpPr>
        <p:spPr>
          <a:xfrm xmlns:a="http://schemas.openxmlformats.org/drawingml/2006/main">
            <a:off x="640080" y="2971800"/>
            <a:ext cx="10881360" cy="914400"/>
          </a:xfrm>
          <a:prstGeom xmlns:a="http://schemas.openxmlformats.org/drawingml/2006/main" prst="roundRect">
            <a:avLst>
              <a:gd name="adj" fmla="val 10000"/>
            </a:avLst>
          </a:prstGeom>
          <a:solidFill xmlns:a="http://schemas.openxmlformats.org/drawingml/2006/main">
            <a:srgbClr val="EEF3F8"/>
          </a:solidFill>
        </p:spPr>
      </p:sp>
      <p:sp>
        <p:nvSpPr>
          <p:cNvPr id="9" name="Text 6">
            <a:extLst xmlns:a="http://schemas.openxmlformats.org/drawingml/2006/main">
              <a:ext uri="{FF2B5EF4-FFF2-40B4-BE49-F238E27FC236}">
                <a16:creationId xmlns:a16="http://schemas.microsoft.com/office/drawing/2014/main" id="{52139568-FF31-45C4-B043-EED7041D7504}"/>
              </a:ext>
            </a:extLst>
          </p:cNvPr>
          <p:cNvSpPr>
            <a:spLocks xmlns:a="http://schemas.openxmlformats.org/drawingml/2006/main" noGrp="1"/>
          </p:cNvSpPr>
          <p:nvPr/>
        </p:nvSpPr>
        <p:spPr>
          <a:xfrm xmlns:a="http://schemas.openxmlformats.org/drawingml/2006/main">
            <a:off x="914400" y="2971800"/>
            <a:ext cx="103327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E3A5F"/>
                </a:solidFill>
                <a:latin typeface="Calibri"/>
                <a:ea typeface="Calibri"/>
                <a:cs typeface="Calibri"/>
              </a:rPr>
              <a:t>Nesnel Yargı:  </a:t>
            </a:r>
            <a:r>
              <a:rPr sz="1700">
                <a:solidFill>
                  <a:srgbClr val="1E2761"/>
                </a:solidFill>
                <a:latin typeface="Calibri"/>
                <a:ea typeface="Calibri"/>
                <a:cs typeface="Calibri"/>
              </a:rPr>
              <a:t>Söz söylenen nesnenin/olgunun kendi gerçeğine dayanan, kişiye göre DEĞİŞMEYEN, kanıtlanabilir yargılardır. Sayı, tarih, ölçülebilir bilgi ve genel geçer olgular nesneldir.</a:t>
            </a:r>
            <a:endParaRPr sz="1700"/>
          </a:p>
        </p:txBody>
      </p:sp>
      <p:sp>
        <p:nvSpPr>
          <p:cNvPr id="10" name="Text 7">
            <a:extLst xmlns:a="http://schemas.openxmlformats.org/drawingml/2006/main">
              <a:ext uri="{FF2B5EF4-FFF2-40B4-BE49-F238E27FC236}">
                <a16:creationId xmlns:a16="http://schemas.microsoft.com/office/drawing/2014/main" id="{FCE50F24-EC98-44FC-B971-6722A1B493F7}"/>
              </a:ext>
            </a:extLst>
          </p:cNvPr>
          <p:cNvSpPr>
            <a:spLocks xmlns:a="http://schemas.openxmlformats.org/drawingml/2006/main" noGrp="1"/>
          </p:cNvSpPr>
          <p:nvPr/>
        </p:nvSpPr>
        <p:spPr>
          <a:xfrm xmlns:a="http://schemas.openxmlformats.org/drawingml/2006/main">
            <a:off x="640080" y="4069080"/>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E3A5F"/>
                </a:solidFill>
                <a:latin typeface="Calibri"/>
                <a:ea typeface="Calibri"/>
                <a:cs typeface="Calibri"/>
              </a:rPr>
              <a:t>Hızlı örnekler:</a:t>
            </a:r>
            <a:endParaRPr sz="2000"/>
          </a:p>
        </p:txBody>
      </p:sp>
      <p:sp>
        <p:nvSpPr>
          <p:cNvPr id="11" name="Shape 8">
            <a:extLst xmlns:a="http://schemas.openxmlformats.org/drawingml/2006/main">
              <a:ext uri="{FF2B5EF4-FFF2-40B4-BE49-F238E27FC236}">
                <a16:creationId xmlns:a16="http://schemas.microsoft.com/office/drawing/2014/main" id="{A3091B29-CCA4-4D6D-A1C7-B4A87EEEFAD3}"/>
              </a:ext>
            </a:extLst>
          </p:cNvPr>
          <p:cNvSpPr>
            <a:spLocks xmlns:a="http://schemas.openxmlformats.org/drawingml/2006/main" noGrp="1"/>
          </p:cNvSpPr>
          <p:nvPr/>
        </p:nvSpPr>
        <p:spPr>
          <a:xfrm xmlns:a="http://schemas.openxmlformats.org/drawingml/2006/main">
            <a:off x="640080" y="4480560"/>
            <a:ext cx="10881360" cy="900684"/>
          </a:xfrm>
          <a:prstGeom xmlns:a="http://schemas.openxmlformats.org/drawingml/2006/main" prst="roundRect">
            <a:avLst>
              <a:gd name="adj" fmla="val 10667"/>
            </a:avLst>
          </a:prstGeom>
          <a:solidFill xmlns:a="http://schemas.openxmlformats.org/drawingml/2006/main">
            <a:srgbClr val="EEF3F8"/>
          </a:solidFill>
        </p:spPr>
      </p:sp>
      <p:sp>
        <p:nvSpPr>
          <p:cNvPr id="12" name="Text 9">
            <a:extLst xmlns:a="http://schemas.openxmlformats.org/drawingml/2006/main">
              <a:ext uri="{FF2B5EF4-FFF2-40B4-BE49-F238E27FC236}">
                <a16:creationId xmlns:a16="http://schemas.microsoft.com/office/drawing/2014/main" id="{B123E97A-3564-4E85-9796-5BCEDDF9DEFA}"/>
              </a:ext>
            </a:extLst>
          </p:cNvPr>
          <p:cNvSpPr>
            <a:spLocks xmlns:a="http://schemas.openxmlformats.org/drawingml/2006/main" noGrp="1"/>
          </p:cNvSpPr>
          <p:nvPr/>
        </p:nvSpPr>
        <p:spPr>
          <a:xfrm xmlns:a="http://schemas.openxmlformats.org/drawingml/2006/main">
            <a:off x="822960" y="4480560"/>
            <a:ext cx="6035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i="1">
                <a:solidFill>
                  <a:srgbClr val="142A44"/>
                </a:solidFill>
                <a:latin typeface="Calibri"/>
                <a:ea typeface="Calibri"/>
                <a:cs typeface="Calibri"/>
              </a:rPr>
              <a:t>"Orhan Veli, şiirimizde en başarılı şairdir."</a:t>
            </a:r>
            <a:endParaRPr sz="2050"/>
          </a:p>
        </p:txBody>
      </p:sp>
      <p:sp>
        <p:nvSpPr>
          <p:cNvPr id="13" name="Shape 10">
            <a:extLst xmlns:a="http://schemas.openxmlformats.org/drawingml/2006/main">
              <a:ext uri="{FF2B5EF4-FFF2-40B4-BE49-F238E27FC236}">
                <a16:creationId xmlns:a16="http://schemas.microsoft.com/office/drawing/2014/main" id="{F437E991-12E6-42F8-B551-7B4B3C559410}"/>
              </a:ext>
            </a:extLst>
          </p:cNvPr>
          <p:cNvSpPr>
            <a:spLocks xmlns:a="http://schemas.openxmlformats.org/drawingml/2006/main" noGrp="1"/>
          </p:cNvSpPr>
          <p:nvPr/>
        </p:nvSpPr>
        <p:spPr>
          <a:xfrm xmlns:a="http://schemas.openxmlformats.org/drawingml/2006/main">
            <a:off x="7040880" y="4572000"/>
            <a:ext cx="4297680" cy="656082"/>
          </a:xfrm>
          <a:prstGeom xmlns:a="http://schemas.openxmlformats.org/drawingml/2006/main" prst="roundRect">
            <a:avLst>
              <a:gd name="adj" fmla="val 14545"/>
            </a:avLst>
          </a:prstGeom>
          <a:solidFill xmlns:a="http://schemas.openxmlformats.org/drawingml/2006/main">
            <a:srgbClr val="D9A441"/>
          </a:solidFill>
          <a:effectLst xmlns:a="http://schemas.openxmlformats.org/drawingml/2006/main">
            <a:outerShdw blurRad="76200" dist="25400" dir="5400000" sx="100000" sy="100000" kx="0" ky="0" algn="bl" rotWithShape="0">
              <a:srgbClr val="1E2761">
                <a:alpha val="18000"/>
              </a:srgbClr>
            </a:outerShdw>
          </a:effectLst>
        </p:spPr>
      </p:sp>
      <p:sp>
        <p:nvSpPr>
          <p:cNvPr id="14" name="Text 11">
            <a:extLst xmlns:a="http://schemas.openxmlformats.org/drawingml/2006/main">
              <a:ext uri="{FF2B5EF4-FFF2-40B4-BE49-F238E27FC236}">
                <a16:creationId xmlns:a16="http://schemas.microsoft.com/office/drawing/2014/main" id="{54AB1671-0898-4DEC-9E4D-D02D1E9C9C25}"/>
              </a:ext>
            </a:extLst>
          </p:cNvPr>
          <p:cNvSpPr>
            <a:spLocks xmlns:a="http://schemas.openxmlformats.org/drawingml/2006/main" noGrp="1"/>
          </p:cNvSpPr>
          <p:nvPr/>
        </p:nvSpPr>
        <p:spPr>
          <a:xfrm xmlns:a="http://schemas.openxmlformats.org/drawingml/2006/main">
            <a:off x="7040880" y="4572000"/>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42A44"/>
                </a:solidFill>
                <a:latin typeface="Calibri"/>
                <a:ea typeface="Calibri"/>
                <a:cs typeface="Calibri"/>
              </a:rPr>
              <a:t>ÖZNEL — "en başarılı" kanıtlanamaz</a:t>
            </a:r>
            <a:endParaRPr sz="1600"/>
          </a:p>
        </p:txBody>
      </p:sp>
      <p:sp>
        <p:nvSpPr>
          <p:cNvPr id="15" name="Shape 12">
            <a:extLst xmlns:a="http://schemas.openxmlformats.org/drawingml/2006/main">
              <a:ext uri="{FF2B5EF4-FFF2-40B4-BE49-F238E27FC236}">
                <a16:creationId xmlns:a16="http://schemas.microsoft.com/office/drawing/2014/main" id="{26F31463-5112-404F-9995-2E494E328574}"/>
              </a:ext>
            </a:extLst>
          </p:cNvPr>
          <p:cNvSpPr>
            <a:spLocks xmlns:a="http://schemas.openxmlformats.org/drawingml/2006/main" noGrp="1"/>
          </p:cNvSpPr>
          <p:nvPr/>
        </p:nvSpPr>
        <p:spPr>
          <a:xfrm xmlns:a="http://schemas.openxmlformats.org/drawingml/2006/main">
            <a:off x="640080" y="5518404"/>
            <a:ext cx="10881360" cy="900684"/>
          </a:xfrm>
          <a:prstGeom xmlns:a="http://schemas.openxmlformats.org/drawingml/2006/main" prst="roundRect">
            <a:avLst>
              <a:gd name="adj" fmla="val 10667"/>
            </a:avLst>
          </a:prstGeom>
          <a:solidFill xmlns:a="http://schemas.openxmlformats.org/drawingml/2006/main">
            <a:srgbClr val="EEF3F8"/>
          </a:solidFill>
        </p:spPr>
      </p:sp>
      <p:sp>
        <p:nvSpPr>
          <p:cNvPr id="16" name="Text 13">
            <a:extLst xmlns:a="http://schemas.openxmlformats.org/drawingml/2006/main">
              <a:ext uri="{FF2B5EF4-FFF2-40B4-BE49-F238E27FC236}">
                <a16:creationId xmlns:a16="http://schemas.microsoft.com/office/drawing/2014/main" id="{FCAA7A01-3526-42EA-B88F-AF780F555ACC}"/>
              </a:ext>
            </a:extLst>
          </p:cNvPr>
          <p:cNvSpPr>
            <a:spLocks xmlns:a="http://schemas.openxmlformats.org/drawingml/2006/main" noGrp="1"/>
          </p:cNvSpPr>
          <p:nvPr/>
        </p:nvSpPr>
        <p:spPr>
          <a:xfrm xmlns:a="http://schemas.openxmlformats.org/drawingml/2006/main">
            <a:off x="822960" y="5518404"/>
            <a:ext cx="6035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i="1">
                <a:solidFill>
                  <a:srgbClr val="142A44"/>
                </a:solidFill>
                <a:latin typeface="Calibri"/>
                <a:ea typeface="Calibri"/>
                <a:cs typeface="Calibri"/>
              </a:rPr>
              <a:t>"Orhan Veli 1914'te İstanbul'da doğmuştur."</a:t>
            </a:r>
            <a:endParaRPr sz="2100"/>
          </a:p>
        </p:txBody>
      </p:sp>
      <p:sp>
        <p:nvSpPr>
          <p:cNvPr id="17" name="Shape 14">
            <a:extLst xmlns:a="http://schemas.openxmlformats.org/drawingml/2006/main">
              <a:ext uri="{FF2B5EF4-FFF2-40B4-BE49-F238E27FC236}">
                <a16:creationId xmlns:a16="http://schemas.microsoft.com/office/drawing/2014/main" id="{0F24B002-15D6-4AC1-9FF6-F2F6A0930012}"/>
              </a:ext>
            </a:extLst>
          </p:cNvPr>
          <p:cNvSpPr>
            <a:spLocks xmlns:a="http://schemas.openxmlformats.org/drawingml/2006/main" noGrp="1"/>
          </p:cNvSpPr>
          <p:nvPr/>
        </p:nvSpPr>
        <p:spPr>
          <a:xfrm xmlns:a="http://schemas.openxmlformats.org/drawingml/2006/main">
            <a:off x="7040880" y="5763006"/>
            <a:ext cx="4297680" cy="656082"/>
          </a:xfrm>
          <a:prstGeom xmlns:a="http://schemas.openxmlformats.org/drawingml/2006/main" prst="roundRect">
            <a:avLst>
              <a:gd name="adj" fmla="val 14545"/>
            </a:avLst>
          </a:prstGeom>
          <a:solidFill xmlns:a="http://schemas.openxmlformats.org/drawingml/2006/main">
            <a:srgbClr val="254B78"/>
          </a:solidFill>
          <a:effectLst xmlns:a="http://schemas.openxmlformats.org/drawingml/2006/main">
            <a:outerShdw blurRad="76200" dist="25400" dir="5400000" sx="100000" sy="100000" kx="0" ky="0" algn="bl" rotWithShape="0">
              <a:srgbClr val="1E2761">
                <a:alpha val="18000"/>
              </a:srgbClr>
            </a:outerShdw>
          </a:effectLst>
        </p:spPr>
      </p:sp>
      <p:sp>
        <p:nvSpPr>
          <p:cNvPr id="18" name="Text 15">
            <a:extLst xmlns:a="http://schemas.openxmlformats.org/drawingml/2006/main">
              <a:ext uri="{FF2B5EF4-FFF2-40B4-BE49-F238E27FC236}">
                <a16:creationId xmlns:a16="http://schemas.microsoft.com/office/drawing/2014/main" id="{B1ECD666-A1A6-4C0F-B15F-8F8D36E126E8}"/>
              </a:ext>
            </a:extLst>
          </p:cNvPr>
          <p:cNvSpPr>
            <a:spLocks xmlns:a="http://schemas.openxmlformats.org/drawingml/2006/main" noGrp="1"/>
          </p:cNvSpPr>
          <p:nvPr/>
        </p:nvSpPr>
        <p:spPr>
          <a:xfrm xmlns:a="http://schemas.openxmlformats.org/drawingml/2006/main">
            <a:off x="7040880" y="5763006"/>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50" b="1">
                <a:solidFill>
                  <a:srgbClr val="FFFFFF"/>
                </a:solidFill>
                <a:latin typeface="Calibri"/>
                <a:ea typeface="Calibri"/>
                <a:cs typeface="Calibri"/>
              </a:rPr>
              <a:t>NESNEL — doğum tarihi kanıtlanabilir bir olgu</a:t>
            </a:r>
            <a:endParaRPr sz="1450"/>
          </a:p>
        </p:txBody>
      </p:sp>
      <p:sp>
        <p:nvSpPr>
          <p:cNvPr id="19" name="Text 16">
            <a:extLst xmlns:a="http://schemas.openxmlformats.org/drawingml/2006/main">
              <a:ext uri="{FF2B5EF4-FFF2-40B4-BE49-F238E27FC236}">
                <a16:creationId xmlns:a16="http://schemas.microsoft.com/office/drawing/2014/main" id="{ED608522-4C4D-479A-8A28-7418178CDFE1}"/>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Anlatım — Öznellik ve Nesnellik</a:t>
            </a:r>
            <a:endParaRPr sz="900"/>
          </a:p>
        </p:txBody>
      </p:sp>
      <p:sp>
        <p:nvSpPr>
          <p:cNvPr id="20" name="Text 17">
            <a:extLst xmlns:a="http://schemas.openxmlformats.org/drawingml/2006/main">
              <a:ext uri="{FF2B5EF4-FFF2-40B4-BE49-F238E27FC236}">
                <a16:creationId xmlns:a16="http://schemas.microsoft.com/office/drawing/2014/main" id="{1CAD58B6-05A7-48C0-861A-1B344DDEFF15}"/>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7923275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5F10671-EBC4-4D76-8FA4-FABBCBE6816C}"/>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46523ccaa40a46d7"/>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5E0EF8AF-1409-41A4-A080-F7960DC12A6E}"/>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ANLATIM · 2/3</a:t>
            </a:r>
            <a:endParaRPr sz="1300"/>
          </a:p>
        </p:txBody>
      </p:sp>
      <p:sp>
        <p:nvSpPr>
          <p:cNvPr id="5" name="Text 2">
            <a:extLst xmlns:a="http://schemas.openxmlformats.org/drawingml/2006/main">
              <a:ext uri="{FF2B5EF4-FFF2-40B4-BE49-F238E27FC236}">
                <a16:creationId xmlns:a16="http://schemas.microsoft.com/office/drawing/2014/main" id="{1FF909F8-29EF-40E1-9E2C-0982F81EFD0A}"/>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Karşılaştırma ve Değerlendirme Cümlesi</a:t>
            </a:r>
            <a:endParaRPr sz="2800"/>
          </a:p>
        </p:txBody>
      </p:sp>
      <p:sp>
        <p:nvSpPr>
          <p:cNvPr id="6" name="Shape 3">
            <a:extLst xmlns:a="http://schemas.openxmlformats.org/drawingml/2006/main">
              <a:ext uri="{FF2B5EF4-FFF2-40B4-BE49-F238E27FC236}">
                <a16:creationId xmlns:a16="http://schemas.microsoft.com/office/drawing/2014/main" id="{DB106677-95CA-4D32-8258-321CD638F112}"/>
              </a:ext>
            </a:extLst>
          </p:cNvPr>
          <p:cNvSpPr>
            <a:spLocks xmlns:a="http://schemas.openxmlformats.org/drawingml/2006/main" noGrp="1"/>
          </p:cNvSpPr>
          <p:nvPr/>
        </p:nvSpPr>
        <p:spPr>
          <a:xfrm xmlns:a="http://schemas.openxmlformats.org/drawingml/2006/main">
            <a:off x="640080" y="1783080"/>
            <a:ext cx="10881360" cy="1005840"/>
          </a:xfrm>
          <a:prstGeom xmlns:a="http://schemas.openxmlformats.org/drawingml/2006/main" prst="roundRect">
            <a:avLst>
              <a:gd name="adj" fmla="val 9091"/>
            </a:avLst>
          </a:prstGeom>
          <a:solidFill xmlns:a="http://schemas.openxmlformats.org/drawingml/2006/main">
            <a:srgbClr val="EEF3F8"/>
          </a:solidFill>
        </p:spPr>
      </p:sp>
      <p:sp>
        <p:nvSpPr>
          <p:cNvPr id="7" name="Text 4">
            <a:extLst xmlns:a="http://schemas.openxmlformats.org/drawingml/2006/main">
              <a:ext uri="{FF2B5EF4-FFF2-40B4-BE49-F238E27FC236}">
                <a16:creationId xmlns:a16="http://schemas.microsoft.com/office/drawing/2014/main" id="{2835D968-E842-4BCF-A073-F036DC4628F9}"/>
              </a:ext>
            </a:extLst>
          </p:cNvPr>
          <p:cNvSpPr>
            <a:spLocks xmlns:a="http://schemas.openxmlformats.org/drawingml/2006/main" noGrp="1"/>
          </p:cNvSpPr>
          <p:nvPr/>
        </p:nvSpPr>
        <p:spPr>
          <a:xfrm xmlns:a="http://schemas.openxmlformats.org/drawingml/2006/main">
            <a:off x="914400" y="1783080"/>
            <a:ext cx="10332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50" b="1">
                <a:solidFill>
                  <a:srgbClr val="1E3A5F"/>
                </a:solidFill>
                <a:latin typeface="Calibri"/>
                <a:ea typeface="Calibri"/>
                <a:cs typeface="Calibri"/>
              </a:rPr>
              <a:t>Karşılaştırma Cümlesi:  </a:t>
            </a:r>
            <a:r>
              <a:rPr sz="1850">
                <a:solidFill>
                  <a:srgbClr val="1E2761"/>
                </a:solidFill>
                <a:latin typeface="Calibri"/>
                <a:ea typeface="Calibri"/>
                <a:cs typeface="Calibri"/>
              </a:rPr>
              <a:t>İki varlık, iki kavram ya da herhangi iki şeyi, ortak olan ya da olmayan yönleriyle birlikte anlatan cümledir. "Gibi, kadar, daha, en..." gibi bağlaç, ilgeç ve belirteçlerle kurulur.</a:t>
            </a:r>
            <a:endParaRPr sz="1850"/>
          </a:p>
        </p:txBody>
      </p:sp>
      <p:sp>
        <p:nvSpPr>
          <p:cNvPr id="8" name="Shape 5">
            <a:extLst xmlns:a="http://schemas.openxmlformats.org/drawingml/2006/main">
              <a:ext uri="{FF2B5EF4-FFF2-40B4-BE49-F238E27FC236}">
                <a16:creationId xmlns:a16="http://schemas.microsoft.com/office/drawing/2014/main" id="{EE552B6C-FEC6-4A1E-892B-7F85104E109B}"/>
              </a:ext>
            </a:extLst>
          </p:cNvPr>
          <p:cNvSpPr>
            <a:spLocks xmlns:a="http://schemas.openxmlformats.org/drawingml/2006/main" noGrp="1"/>
          </p:cNvSpPr>
          <p:nvPr/>
        </p:nvSpPr>
        <p:spPr>
          <a:xfrm xmlns:a="http://schemas.openxmlformats.org/drawingml/2006/main">
            <a:off x="640080" y="2926080"/>
            <a:ext cx="10881360" cy="1051560"/>
          </a:xfrm>
          <a:prstGeom xmlns:a="http://schemas.openxmlformats.org/drawingml/2006/main" prst="roundRect">
            <a:avLst>
              <a:gd name="adj" fmla="val 8696"/>
            </a:avLst>
          </a:prstGeom>
          <a:solidFill xmlns:a="http://schemas.openxmlformats.org/drawingml/2006/main">
            <a:srgbClr val="EEF3F8"/>
          </a:solidFill>
        </p:spPr>
      </p:sp>
      <p:sp>
        <p:nvSpPr>
          <p:cNvPr id="9" name="Text 6">
            <a:extLst xmlns:a="http://schemas.openxmlformats.org/drawingml/2006/main">
              <a:ext uri="{FF2B5EF4-FFF2-40B4-BE49-F238E27FC236}">
                <a16:creationId xmlns:a16="http://schemas.microsoft.com/office/drawing/2014/main" id="{E2582E1E-D12B-41B2-A543-6BE9E2F46070}"/>
              </a:ext>
            </a:extLst>
          </p:cNvPr>
          <p:cNvSpPr>
            <a:spLocks xmlns:a="http://schemas.openxmlformats.org/drawingml/2006/main" noGrp="1"/>
          </p:cNvSpPr>
          <p:nvPr/>
        </p:nvSpPr>
        <p:spPr>
          <a:xfrm xmlns:a="http://schemas.openxmlformats.org/drawingml/2006/main">
            <a:off x="914400" y="2926080"/>
            <a:ext cx="1033272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1E3A5F"/>
                </a:solidFill>
                <a:latin typeface="Calibri"/>
                <a:ea typeface="Calibri"/>
                <a:cs typeface="Calibri"/>
              </a:rPr>
              <a:t>Değerlendirme Cümlesi:  </a:t>
            </a:r>
            <a:r>
              <a:rPr sz="1900">
                <a:solidFill>
                  <a:srgbClr val="1E2761"/>
                </a:solidFill>
                <a:latin typeface="Calibri"/>
                <a:ea typeface="Calibri"/>
                <a:cs typeface="Calibri"/>
              </a:rPr>
              <a:t>Bir yapıt, sanatçı ya da olayla ilgili olumlu/olumsuz kişisel bir belirleme içeren cümledir. Değerlendirmeler öznel ya da nesnel olabilir; ancak MUTLAKA belirli bir eser/kişi/durum üzerine yapılır — genel bir yargı değildir.</a:t>
            </a:r>
            <a:endParaRPr sz="1900"/>
          </a:p>
        </p:txBody>
      </p:sp>
      <p:sp>
        <p:nvSpPr>
          <p:cNvPr id="10" name="Text 7">
            <a:extLst xmlns:a="http://schemas.openxmlformats.org/drawingml/2006/main">
              <a:ext uri="{FF2B5EF4-FFF2-40B4-BE49-F238E27FC236}">
                <a16:creationId xmlns:a16="http://schemas.microsoft.com/office/drawing/2014/main" id="{2EF8C036-6798-4E50-8A11-32B8F6DE270D}"/>
              </a:ext>
            </a:extLst>
          </p:cNvPr>
          <p:cNvSpPr>
            <a:spLocks xmlns:a="http://schemas.openxmlformats.org/drawingml/2006/main" noGrp="1"/>
          </p:cNvSpPr>
          <p:nvPr/>
        </p:nvSpPr>
        <p:spPr>
          <a:xfrm xmlns:a="http://schemas.openxmlformats.org/drawingml/2006/main">
            <a:off x="640080" y="4114800"/>
            <a:ext cx="1088136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E3A5F"/>
                </a:solidFill>
                <a:latin typeface="Calibri"/>
                <a:ea typeface="Calibri"/>
                <a:cs typeface="Calibri"/>
              </a:rPr>
              <a:t>Çözüm stratejisi:</a:t>
            </a:r>
            <a:endParaRPr sz="2100"/>
          </a:p>
        </p:txBody>
      </p:sp>
      <p:sp>
        <p:nvSpPr>
          <p:cNvPr id="11" name="Shape 8">
            <a:extLst xmlns:a="http://schemas.openxmlformats.org/drawingml/2006/main">
              <a:ext uri="{FF2B5EF4-FFF2-40B4-BE49-F238E27FC236}">
                <a16:creationId xmlns:a16="http://schemas.microsoft.com/office/drawing/2014/main" id="{F28B1601-86B2-4D31-B440-B50ABCA924CC}"/>
              </a:ext>
            </a:extLst>
          </p:cNvPr>
          <p:cNvSpPr>
            <a:spLocks xmlns:a="http://schemas.openxmlformats.org/drawingml/2006/main" noGrp="1"/>
          </p:cNvSpPr>
          <p:nvPr/>
        </p:nvSpPr>
        <p:spPr>
          <a:xfrm xmlns:a="http://schemas.openxmlformats.org/drawingml/2006/main">
            <a:off x="640080" y="4526280"/>
            <a:ext cx="10881360" cy="777240"/>
          </a:xfrm>
          <a:prstGeom xmlns:a="http://schemas.openxmlformats.org/drawingml/2006/main" prst="roundRect">
            <a:avLst>
              <a:gd name="adj" fmla="val 11765"/>
            </a:avLst>
          </a:prstGeom>
          <a:solidFill xmlns:a="http://schemas.openxmlformats.org/drawingml/2006/main">
            <a:srgbClr val="EEF3F8"/>
          </a:solidFill>
        </p:spPr>
      </p:sp>
      <p:sp>
        <p:nvSpPr>
          <p:cNvPr id="12" name="Shape 9">
            <a:extLst xmlns:a="http://schemas.openxmlformats.org/drawingml/2006/main">
              <a:ext uri="{FF2B5EF4-FFF2-40B4-BE49-F238E27FC236}">
                <a16:creationId xmlns:a16="http://schemas.microsoft.com/office/drawing/2014/main" id="{7056936F-02EE-410A-A62A-051FE4B0B42D}"/>
              </a:ext>
            </a:extLst>
          </p:cNvPr>
          <p:cNvSpPr>
            <a:spLocks xmlns:a="http://schemas.openxmlformats.org/drawingml/2006/main" noGrp="1"/>
          </p:cNvSpPr>
          <p:nvPr/>
        </p:nvSpPr>
        <p:spPr>
          <a:xfrm xmlns:a="http://schemas.openxmlformats.org/drawingml/2006/main">
            <a:off x="868680" y="4663440"/>
            <a:ext cx="502920" cy="502920"/>
          </a:xfrm>
          <a:prstGeom xmlns:a="http://schemas.openxmlformats.org/drawingml/2006/main" prst="ellipse">
            <a:avLst/>
          </a:prstGeom>
          <a:solidFill xmlns:a="http://schemas.openxmlformats.org/drawingml/2006/main">
            <a:srgbClr val="1E3A5F"/>
          </a:solidFill>
        </p:spPr>
      </p:sp>
      <p:sp>
        <p:nvSpPr>
          <p:cNvPr id="13" name="Text 10">
            <a:extLst xmlns:a="http://schemas.openxmlformats.org/drawingml/2006/main">
              <a:ext uri="{FF2B5EF4-FFF2-40B4-BE49-F238E27FC236}">
                <a16:creationId xmlns:a16="http://schemas.microsoft.com/office/drawing/2014/main" id="{1DE0BDA6-6451-4D88-8F01-82BA415FB0DD}"/>
              </a:ext>
            </a:extLst>
          </p:cNvPr>
          <p:cNvSpPr>
            <a:spLocks xmlns:a="http://schemas.openxmlformats.org/drawingml/2006/main" noGrp="1"/>
          </p:cNvSpPr>
          <p:nvPr/>
        </p:nvSpPr>
        <p:spPr>
          <a:xfrm xmlns:a="http://schemas.openxmlformats.org/drawingml/2006/main">
            <a:off x="868680" y="46634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1</a:t>
            </a:r>
            <a:endParaRPr sz="2000"/>
          </a:p>
        </p:txBody>
      </p:sp>
      <p:sp>
        <p:nvSpPr>
          <p:cNvPr id="14" name="Text 11">
            <a:extLst xmlns:a="http://schemas.openxmlformats.org/drawingml/2006/main">
              <a:ext uri="{FF2B5EF4-FFF2-40B4-BE49-F238E27FC236}">
                <a16:creationId xmlns:a16="http://schemas.microsoft.com/office/drawing/2014/main" id="{CF0072E3-16D6-41E7-9A0F-601C65913A04}"/>
              </a:ext>
            </a:extLst>
          </p:cNvPr>
          <p:cNvSpPr>
            <a:spLocks xmlns:a="http://schemas.openxmlformats.org/drawingml/2006/main" noGrp="1"/>
          </p:cNvSpPr>
          <p:nvPr/>
        </p:nvSpPr>
        <p:spPr>
          <a:xfrm xmlns:a="http://schemas.openxmlformats.org/drawingml/2006/main">
            <a:off x="1600200" y="4617720"/>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1E3A5F"/>
                </a:solidFill>
                <a:latin typeface="Calibri"/>
                <a:ea typeface="Calibri"/>
                <a:cs typeface="Calibri"/>
              </a:rPr>
              <a:t>Karşılaştırmada İKİ ÖGE arayın</a:t>
            </a:r>
            <a:endParaRPr sz="2050"/>
          </a:p>
        </p:txBody>
      </p:sp>
      <p:sp>
        <p:nvSpPr>
          <p:cNvPr id="15" name="Text 12">
            <a:extLst xmlns:a="http://schemas.openxmlformats.org/drawingml/2006/main">
              <a:ext uri="{FF2B5EF4-FFF2-40B4-BE49-F238E27FC236}">
                <a16:creationId xmlns:a16="http://schemas.microsoft.com/office/drawing/2014/main" id="{8B0FD0BD-2D9D-4A8E-A40E-BABAC8374D66}"/>
              </a:ext>
            </a:extLst>
          </p:cNvPr>
          <p:cNvSpPr>
            <a:spLocks xmlns:a="http://schemas.openxmlformats.org/drawingml/2006/main" noGrp="1"/>
          </p:cNvSpPr>
          <p:nvPr/>
        </p:nvSpPr>
        <p:spPr>
          <a:xfrm xmlns:a="http://schemas.openxmlformats.org/drawingml/2006/main">
            <a:off x="1600200" y="4983480"/>
            <a:ext cx="6035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761"/>
                </a:solidFill>
                <a:latin typeface="Calibri"/>
                <a:ea typeface="Calibri"/>
                <a:cs typeface="Calibri"/>
              </a:rPr>
              <a:t>"Şiir, romandan daha çok sevilmiştir." — burada "şiir" ile "roman" karşılaştırılıyor. Tek bir öge hakkında yargı varsa karşılaştırma değildir.</a:t>
            </a:r>
            <a:endParaRPr sz="1200"/>
          </a:p>
        </p:txBody>
      </p:sp>
      <p:sp>
        <p:nvSpPr>
          <p:cNvPr id="16" name="Shape 13">
            <a:extLst xmlns:a="http://schemas.openxmlformats.org/drawingml/2006/main">
              <a:ext uri="{FF2B5EF4-FFF2-40B4-BE49-F238E27FC236}">
                <a16:creationId xmlns:a16="http://schemas.microsoft.com/office/drawing/2014/main" id="{1A79CDF1-20E8-4F29-B718-BA64C9E3D71B}"/>
              </a:ext>
            </a:extLst>
          </p:cNvPr>
          <p:cNvSpPr>
            <a:spLocks xmlns:a="http://schemas.openxmlformats.org/drawingml/2006/main" noGrp="1"/>
          </p:cNvSpPr>
          <p:nvPr/>
        </p:nvSpPr>
        <p:spPr>
          <a:xfrm xmlns:a="http://schemas.openxmlformats.org/drawingml/2006/main">
            <a:off x="640080" y="5422392"/>
            <a:ext cx="10881360" cy="777240"/>
          </a:xfrm>
          <a:prstGeom xmlns:a="http://schemas.openxmlformats.org/drawingml/2006/main" prst="roundRect">
            <a:avLst>
              <a:gd name="adj" fmla="val 11765"/>
            </a:avLst>
          </a:prstGeom>
          <a:solidFill xmlns:a="http://schemas.openxmlformats.org/drawingml/2006/main">
            <a:srgbClr val="EEF3F8"/>
          </a:solidFill>
        </p:spPr>
      </p:sp>
      <p:sp>
        <p:nvSpPr>
          <p:cNvPr id="17" name="Shape 14">
            <a:extLst xmlns:a="http://schemas.openxmlformats.org/drawingml/2006/main">
              <a:ext uri="{FF2B5EF4-FFF2-40B4-BE49-F238E27FC236}">
                <a16:creationId xmlns:a16="http://schemas.microsoft.com/office/drawing/2014/main" id="{B64A554E-5B0F-4553-AEEC-329D582853BB}"/>
              </a:ext>
            </a:extLst>
          </p:cNvPr>
          <p:cNvSpPr>
            <a:spLocks xmlns:a="http://schemas.openxmlformats.org/drawingml/2006/main" noGrp="1"/>
          </p:cNvSpPr>
          <p:nvPr/>
        </p:nvSpPr>
        <p:spPr>
          <a:xfrm xmlns:a="http://schemas.openxmlformats.org/drawingml/2006/main">
            <a:off x="868680" y="5559552"/>
            <a:ext cx="502920" cy="502920"/>
          </a:xfrm>
          <a:prstGeom xmlns:a="http://schemas.openxmlformats.org/drawingml/2006/main" prst="ellipse">
            <a:avLst/>
          </a:prstGeom>
          <a:solidFill xmlns:a="http://schemas.openxmlformats.org/drawingml/2006/main">
            <a:srgbClr val="1E3A5F"/>
          </a:solidFill>
        </p:spPr>
      </p:sp>
      <p:sp>
        <p:nvSpPr>
          <p:cNvPr id="18" name="Text 15">
            <a:extLst xmlns:a="http://schemas.openxmlformats.org/drawingml/2006/main">
              <a:ext uri="{FF2B5EF4-FFF2-40B4-BE49-F238E27FC236}">
                <a16:creationId xmlns:a16="http://schemas.microsoft.com/office/drawing/2014/main" id="{57D284F3-5DFB-490E-BDFD-7C8500B1DE6A}"/>
              </a:ext>
            </a:extLst>
          </p:cNvPr>
          <p:cNvSpPr>
            <a:spLocks xmlns:a="http://schemas.openxmlformats.org/drawingml/2006/main" noGrp="1"/>
          </p:cNvSpPr>
          <p:nvPr/>
        </p:nvSpPr>
        <p:spPr>
          <a:xfrm xmlns:a="http://schemas.openxmlformats.org/drawingml/2006/main">
            <a:off x="868680" y="5559552"/>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2</a:t>
            </a:r>
            <a:endParaRPr sz="2000"/>
          </a:p>
        </p:txBody>
      </p:sp>
      <p:sp>
        <p:nvSpPr>
          <p:cNvPr id="19" name="Text 16">
            <a:extLst xmlns:a="http://schemas.openxmlformats.org/drawingml/2006/main">
              <a:ext uri="{FF2B5EF4-FFF2-40B4-BE49-F238E27FC236}">
                <a16:creationId xmlns:a16="http://schemas.microsoft.com/office/drawing/2014/main" id="{EBFE97D8-09DF-4659-877C-208CA51DD9AD}"/>
              </a:ext>
            </a:extLst>
          </p:cNvPr>
          <p:cNvSpPr>
            <a:spLocks xmlns:a="http://schemas.openxmlformats.org/drawingml/2006/main" noGrp="1"/>
          </p:cNvSpPr>
          <p:nvPr/>
        </p:nvSpPr>
        <p:spPr>
          <a:xfrm xmlns:a="http://schemas.openxmlformats.org/drawingml/2006/main">
            <a:off x="1600200" y="5513832"/>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1E3A5F"/>
                </a:solidFill>
                <a:latin typeface="Calibri"/>
                <a:ea typeface="Calibri"/>
                <a:cs typeface="Calibri"/>
              </a:rPr>
              <a:t>Değerlendirmede TEK BİR HEDEF arayın</a:t>
            </a:r>
            <a:endParaRPr sz="2050"/>
          </a:p>
        </p:txBody>
      </p:sp>
      <p:sp>
        <p:nvSpPr>
          <p:cNvPr id="20" name="Text 17">
            <a:extLst xmlns:a="http://schemas.openxmlformats.org/drawingml/2006/main">
              <a:ext uri="{FF2B5EF4-FFF2-40B4-BE49-F238E27FC236}">
                <a16:creationId xmlns:a16="http://schemas.microsoft.com/office/drawing/2014/main" id="{C69D519C-0DB4-4A2F-B526-7A76341119A5}"/>
              </a:ext>
            </a:extLst>
          </p:cNvPr>
          <p:cNvSpPr>
            <a:spLocks xmlns:a="http://schemas.openxmlformats.org/drawingml/2006/main" noGrp="1"/>
          </p:cNvSpPr>
          <p:nvPr/>
        </p:nvSpPr>
        <p:spPr>
          <a:xfrm xmlns:a="http://schemas.openxmlformats.org/drawingml/2006/main">
            <a:off x="1600200" y="5879592"/>
            <a:ext cx="6035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761"/>
                </a:solidFill>
                <a:latin typeface="Calibri"/>
                <a:ea typeface="Calibri"/>
                <a:cs typeface="Calibri"/>
              </a:rPr>
              <a:t>Değerlendirme cümlesi belirli bir eser/kişi/durum hakkındadır — "Yazarların çoğu şiirle başlar" gibi GENEL bir yargı değerlendirme sayılmaz.</a:t>
            </a:r>
            <a:endParaRPr sz="1200"/>
          </a:p>
        </p:txBody>
      </p:sp>
      <p:sp>
        <p:nvSpPr>
          <p:cNvPr id="21" name="Text 18">
            <a:extLst xmlns:a="http://schemas.openxmlformats.org/drawingml/2006/main">
              <a:ext uri="{FF2B5EF4-FFF2-40B4-BE49-F238E27FC236}">
                <a16:creationId xmlns:a16="http://schemas.microsoft.com/office/drawing/2014/main" id="{EE6D6D6D-9708-4B46-8149-3210A120321A}"/>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Anlatım — Karşılaştırma ve Değerlendirme</a:t>
            </a:r>
            <a:endParaRPr sz="900"/>
          </a:p>
        </p:txBody>
      </p:sp>
      <p:sp>
        <p:nvSpPr>
          <p:cNvPr id="22" name="Text 19">
            <a:extLst xmlns:a="http://schemas.openxmlformats.org/drawingml/2006/main">
              <a:ext uri="{FF2B5EF4-FFF2-40B4-BE49-F238E27FC236}">
                <a16:creationId xmlns:a16="http://schemas.microsoft.com/office/drawing/2014/main" id="{152E388E-CB87-4690-8AC4-13F02233F529}"/>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7260007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5B5B39-C8BF-4007-88B0-26610DABBEB4}"/>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9891e10d26a940d9"/>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2B597F3C-40CD-40A9-AE6B-BA38C4B366C3}"/>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ANLATIM · 3/3</a:t>
            </a:r>
            <a:endParaRPr sz="1300"/>
          </a:p>
        </p:txBody>
      </p:sp>
      <p:sp>
        <p:nvSpPr>
          <p:cNvPr id="5" name="Text 2">
            <a:extLst xmlns:a="http://schemas.openxmlformats.org/drawingml/2006/main">
              <a:ext uri="{FF2B5EF4-FFF2-40B4-BE49-F238E27FC236}">
                <a16:creationId xmlns:a16="http://schemas.microsoft.com/office/drawing/2014/main" id="{3057D805-6953-4EBE-BA74-19CD8E590855}"/>
              </a:ext>
            </a:extLst>
          </p:cNvPr>
          <p:cNvSpPr>
            <a:spLocks xmlns:a="http://schemas.openxmlformats.org/drawingml/2006/main" noGrp="1"/>
          </p:cNvSpPr>
          <p:nvPr/>
        </p:nvSpPr>
        <p:spPr>
          <a:xfrm xmlns:a="http://schemas.openxmlformats.org/drawingml/2006/main">
            <a:off x="1463040" y="841248"/>
            <a:ext cx="10058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Hızlı Kavram Turu: 4 Temel Cümle Tipi</a:t>
            </a:r>
            <a:endParaRPr sz="2800"/>
          </a:p>
        </p:txBody>
      </p:sp>
      <p:sp>
        <p:nvSpPr>
          <p:cNvPr id="6" name="Text 3">
            <a:extLst xmlns:a="http://schemas.openxmlformats.org/drawingml/2006/main">
              <a:ext uri="{FF2B5EF4-FFF2-40B4-BE49-F238E27FC236}">
                <a16:creationId xmlns:a16="http://schemas.microsoft.com/office/drawing/2014/main" id="{E140AC6D-43A3-4582-AF2C-8C1EF2908872}"/>
              </a:ext>
            </a:extLst>
          </p:cNvPr>
          <p:cNvSpPr>
            <a:spLocks xmlns:a="http://schemas.openxmlformats.org/drawingml/2006/main" noGrp="1"/>
          </p:cNvSpPr>
          <p:nvPr/>
        </p:nvSpPr>
        <p:spPr>
          <a:xfrm xmlns:a="http://schemas.openxmlformats.org/drawingml/2006/main">
            <a:off x="640080" y="1737360"/>
            <a:ext cx="10881360" cy="5843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E2761"/>
                </a:solidFill>
                <a:latin typeface="Calibri"/>
                <a:ea typeface="Calibri"/>
                <a:cs typeface="Calibri"/>
              </a:rPr>
              <a:t>Bu 4 kavram, 2020-2026 sınavlarında TEK BAŞINA soru tipi olarak çıkmıyor — ama sıradaki derslerde göreceğimiz "anlamca eşdeğer cümle" ve "tanıma uygun cümle" sorularını çözmenin TEMEL YAPI TAŞLARIDIR.</a:t>
            </a:r>
            <a:endParaRPr sz="1600"/>
          </a:p>
        </p:txBody>
      </p:sp>
      <p:sp>
        <p:nvSpPr>
          <p:cNvPr id="7" name="Shape 4">
            <a:extLst xmlns:a="http://schemas.openxmlformats.org/drawingml/2006/main">
              <a:ext uri="{FF2B5EF4-FFF2-40B4-BE49-F238E27FC236}">
                <a16:creationId xmlns:a16="http://schemas.microsoft.com/office/drawing/2014/main" id="{A4D15FDF-CEFD-4F00-A95A-D28723237F9E}"/>
              </a:ext>
            </a:extLst>
          </p:cNvPr>
          <p:cNvSpPr>
            <a:spLocks xmlns:a="http://schemas.openxmlformats.org/drawingml/2006/main" noGrp="1"/>
          </p:cNvSpPr>
          <p:nvPr/>
        </p:nvSpPr>
        <p:spPr>
          <a:xfrm xmlns:a="http://schemas.openxmlformats.org/drawingml/2006/main">
            <a:off x="640080" y="2331720"/>
            <a:ext cx="5349240" cy="1975104"/>
          </a:xfrm>
          <a:prstGeom xmlns:a="http://schemas.openxmlformats.org/drawingml/2006/main" prst="roundRect">
            <a:avLst>
              <a:gd name="adj" fmla="val 5405"/>
            </a:avLst>
          </a:prstGeom>
          <a:solidFill xmlns:a="http://schemas.openxmlformats.org/drawingml/2006/main">
            <a:srgbClr val="EEF3F8"/>
          </a:solidFill>
        </p:spPr>
      </p:sp>
      <p:sp>
        <p:nvSpPr>
          <p:cNvPr id="8" name="Text 5">
            <a:extLst xmlns:a="http://schemas.openxmlformats.org/drawingml/2006/main">
              <a:ext uri="{FF2B5EF4-FFF2-40B4-BE49-F238E27FC236}">
                <a16:creationId xmlns:a16="http://schemas.microsoft.com/office/drawing/2014/main" id="{EE4D653A-8CDD-4B67-8A35-0E85625E8A87}"/>
              </a:ext>
            </a:extLst>
          </p:cNvPr>
          <p:cNvSpPr>
            <a:spLocks xmlns:a="http://schemas.openxmlformats.org/drawingml/2006/main" noGrp="1"/>
          </p:cNvSpPr>
          <p:nvPr/>
        </p:nvSpPr>
        <p:spPr>
          <a:xfrm xmlns:a="http://schemas.openxmlformats.org/drawingml/2006/main">
            <a:off x="822960" y="2441448"/>
            <a:ext cx="4983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E3A5F"/>
                </a:solidFill>
                <a:latin typeface="Calibri"/>
                <a:ea typeface="Calibri"/>
                <a:cs typeface="Calibri"/>
              </a:rPr>
              <a:t>Kesin Yargı</a:t>
            </a:r>
            <a:endParaRPr sz="2000"/>
          </a:p>
        </p:txBody>
      </p:sp>
      <p:sp>
        <p:nvSpPr>
          <p:cNvPr id="9" name="Text 6">
            <a:extLst xmlns:a="http://schemas.openxmlformats.org/drawingml/2006/main">
              <a:ext uri="{FF2B5EF4-FFF2-40B4-BE49-F238E27FC236}">
                <a16:creationId xmlns:a16="http://schemas.microsoft.com/office/drawing/2014/main" id="{E6103CD1-586E-4577-84B2-5EACD2464BBF}"/>
              </a:ext>
            </a:extLst>
          </p:cNvPr>
          <p:cNvSpPr>
            <a:spLocks xmlns:a="http://schemas.openxmlformats.org/drawingml/2006/main" noGrp="1"/>
          </p:cNvSpPr>
          <p:nvPr/>
        </p:nvSpPr>
        <p:spPr>
          <a:xfrm xmlns:a="http://schemas.openxmlformats.org/drawingml/2006/main">
            <a:off x="822960" y="2788920"/>
            <a:ext cx="49834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E2761"/>
                </a:solidFill>
                <a:latin typeface="Calibri"/>
                <a:ea typeface="Calibri"/>
                <a:cs typeface="Calibri"/>
              </a:rPr>
              <a:t>İstisna tanımayan, "her zaman, asla, mutlaka, kesinlikle" gibi ifadelerle kurulan yargılardır.</a:t>
            </a:r>
            <a:endParaRPr sz="1600"/>
          </a:p>
        </p:txBody>
      </p:sp>
      <p:sp>
        <p:nvSpPr>
          <p:cNvPr id="10" name="Text 7">
            <a:extLst xmlns:a="http://schemas.openxmlformats.org/drawingml/2006/main">
              <a:ext uri="{FF2B5EF4-FFF2-40B4-BE49-F238E27FC236}">
                <a16:creationId xmlns:a16="http://schemas.microsoft.com/office/drawing/2014/main" id="{E7A026A6-402B-40CC-B6DF-7D72C71D1F49}"/>
              </a:ext>
            </a:extLst>
          </p:cNvPr>
          <p:cNvSpPr>
            <a:spLocks xmlns:a="http://schemas.openxmlformats.org/drawingml/2006/main" noGrp="1"/>
          </p:cNvSpPr>
          <p:nvPr/>
        </p:nvSpPr>
        <p:spPr>
          <a:xfrm xmlns:a="http://schemas.openxmlformats.org/drawingml/2006/main">
            <a:off x="822960" y="3502152"/>
            <a:ext cx="4983480" cy="5770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i="1">
                <a:solidFill>
                  <a:srgbClr val="6B7280"/>
                </a:solidFill>
                <a:latin typeface="Calibri"/>
                <a:ea typeface="Calibri"/>
                <a:cs typeface="Calibri"/>
              </a:rPr>
              <a:t>"Başarılı olmak için her zaman çok çalışmak gerekir."</a:t>
            </a:r>
            <a:endParaRPr sz="1600"/>
          </a:p>
        </p:txBody>
      </p:sp>
      <p:sp>
        <p:nvSpPr>
          <p:cNvPr id="11" name="Shape 8">
            <a:extLst xmlns:a="http://schemas.openxmlformats.org/drawingml/2006/main">
              <a:ext uri="{FF2B5EF4-FFF2-40B4-BE49-F238E27FC236}">
                <a16:creationId xmlns:a16="http://schemas.microsoft.com/office/drawing/2014/main" id="{176A4355-A154-404F-A12B-246A8CC32721}"/>
              </a:ext>
            </a:extLst>
          </p:cNvPr>
          <p:cNvSpPr>
            <a:spLocks xmlns:a="http://schemas.openxmlformats.org/drawingml/2006/main" noGrp="1"/>
          </p:cNvSpPr>
          <p:nvPr/>
        </p:nvSpPr>
        <p:spPr>
          <a:xfrm xmlns:a="http://schemas.openxmlformats.org/drawingml/2006/main">
            <a:off x="6172200" y="2331720"/>
            <a:ext cx="5349240" cy="1975104"/>
          </a:xfrm>
          <a:prstGeom xmlns:a="http://schemas.openxmlformats.org/drawingml/2006/main" prst="roundRect">
            <a:avLst>
              <a:gd name="adj" fmla="val 5405"/>
            </a:avLst>
          </a:prstGeom>
          <a:solidFill xmlns:a="http://schemas.openxmlformats.org/drawingml/2006/main">
            <a:srgbClr val="EEF3F8"/>
          </a:solidFill>
        </p:spPr>
      </p:sp>
      <p:sp>
        <p:nvSpPr>
          <p:cNvPr id="12" name="Text 9">
            <a:extLst xmlns:a="http://schemas.openxmlformats.org/drawingml/2006/main">
              <a:ext uri="{FF2B5EF4-FFF2-40B4-BE49-F238E27FC236}">
                <a16:creationId xmlns:a16="http://schemas.microsoft.com/office/drawing/2014/main" id="{145ED3EA-98AC-443E-A3DC-AC4EEAABC452}"/>
              </a:ext>
            </a:extLst>
          </p:cNvPr>
          <p:cNvSpPr>
            <a:spLocks xmlns:a="http://schemas.openxmlformats.org/drawingml/2006/main" noGrp="1"/>
          </p:cNvSpPr>
          <p:nvPr/>
        </p:nvSpPr>
        <p:spPr>
          <a:xfrm xmlns:a="http://schemas.openxmlformats.org/drawingml/2006/main">
            <a:off x="6355080" y="2441448"/>
            <a:ext cx="4983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E3A5F"/>
                </a:solidFill>
                <a:latin typeface="Calibri"/>
                <a:ea typeface="Calibri"/>
                <a:cs typeface="Calibri"/>
              </a:rPr>
              <a:t>Varsayım (Olasılık)</a:t>
            </a:r>
            <a:endParaRPr sz="2000"/>
          </a:p>
        </p:txBody>
      </p:sp>
      <p:sp>
        <p:nvSpPr>
          <p:cNvPr id="13" name="Text 10">
            <a:extLst xmlns:a="http://schemas.openxmlformats.org/drawingml/2006/main">
              <a:ext uri="{FF2B5EF4-FFF2-40B4-BE49-F238E27FC236}">
                <a16:creationId xmlns:a16="http://schemas.microsoft.com/office/drawing/2014/main" id="{D813F01E-636E-4760-9F08-7241000F20B2}"/>
              </a:ext>
            </a:extLst>
          </p:cNvPr>
          <p:cNvSpPr>
            <a:spLocks xmlns:a="http://schemas.openxmlformats.org/drawingml/2006/main" noGrp="1"/>
          </p:cNvSpPr>
          <p:nvPr/>
        </p:nvSpPr>
        <p:spPr>
          <a:xfrm xmlns:a="http://schemas.openxmlformats.org/drawingml/2006/main">
            <a:off x="6355080" y="2788920"/>
            <a:ext cx="49834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761"/>
                </a:solidFill>
                <a:latin typeface="Calibri"/>
                <a:ea typeface="Calibri"/>
                <a:cs typeface="Calibri"/>
              </a:rPr>
              <a:t>Kesin değil, olası/varsayımsal bir durumu bildirir. "Sanki, -mış gibi, belki, muhtemelen" ile kurulur.</a:t>
            </a:r>
            <a:endParaRPr sz="1500"/>
          </a:p>
        </p:txBody>
      </p:sp>
      <p:sp>
        <p:nvSpPr>
          <p:cNvPr id="14" name="Text 11">
            <a:extLst xmlns:a="http://schemas.openxmlformats.org/drawingml/2006/main">
              <a:ext uri="{FF2B5EF4-FFF2-40B4-BE49-F238E27FC236}">
                <a16:creationId xmlns:a16="http://schemas.microsoft.com/office/drawing/2014/main" id="{2DDBFDD5-07C5-44C8-A6D8-B9C2CF739E9E}"/>
              </a:ext>
            </a:extLst>
          </p:cNvPr>
          <p:cNvSpPr>
            <a:spLocks xmlns:a="http://schemas.openxmlformats.org/drawingml/2006/main" noGrp="1"/>
          </p:cNvSpPr>
          <p:nvPr/>
        </p:nvSpPr>
        <p:spPr>
          <a:xfrm xmlns:a="http://schemas.openxmlformats.org/drawingml/2006/main">
            <a:off x="6355080" y="3502152"/>
            <a:ext cx="49834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i="1">
                <a:solidFill>
                  <a:srgbClr val="6B7280"/>
                </a:solidFill>
                <a:latin typeface="Calibri"/>
                <a:ea typeface="Calibri"/>
                <a:cs typeface="Calibri"/>
              </a:rPr>
              <a:t>"Sanki bütün şehir o gece hiç uyumamış gibiydi."</a:t>
            </a:r>
            <a:endParaRPr sz="1600"/>
          </a:p>
        </p:txBody>
      </p:sp>
      <p:sp>
        <p:nvSpPr>
          <p:cNvPr id="15" name="Shape 12">
            <a:extLst xmlns:a="http://schemas.openxmlformats.org/drawingml/2006/main">
              <a:ext uri="{FF2B5EF4-FFF2-40B4-BE49-F238E27FC236}">
                <a16:creationId xmlns:a16="http://schemas.microsoft.com/office/drawing/2014/main" id="{9FF8CC39-560F-4285-8D3B-E2617C263331}"/>
              </a:ext>
            </a:extLst>
          </p:cNvPr>
          <p:cNvSpPr>
            <a:spLocks xmlns:a="http://schemas.openxmlformats.org/drawingml/2006/main" noGrp="1"/>
          </p:cNvSpPr>
          <p:nvPr/>
        </p:nvSpPr>
        <p:spPr>
          <a:xfrm xmlns:a="http://schemas.openxmlformats.org/drawingml/2006/main">
            <a:off x="640080" y="4443984"/>
            <a:ext cx="5349240" cy="1975104"/>
          </a:xfrm>
          <a:prstGeom xmlns:a="http://schemas.openxmlformats.org/drawingml/2006/main" prst="roundRect">
            <a:avLst>
              <a:gd name="adj" fmla="val 5405"/>
            </a:avLst>
          </a:prstGeom>
          <a:solidFill xmlns:a="http://schemas.openxmlformats.org/drawingml/2006/main">
            <a:srgbClr val="EEF3F8"/>
          </a:solidFill>
        </p:spPr>
      </p:sp>
      <p:sp>
        <p:nvSpPr>
          <p:cNvPr id="16" name="Text 13">
            <a:extLst xmlns:a="http://schemas.openxmlformats.org/drawingml/2006/main">
              <a:ext uri="{FF2B5EF4-FFF2-40B4-BE49-F238E27FC236}">
                <a16:creationId xmlns:a16="http://schemas.microsoft.com/office/drawing/2014/main" id="{DEE25564-714F-4DA8-8429-1746E888E0C8}"/>
              </a:ext>
            </a:extLst>
          </p:cNvPr>
          <p:cNvSpPr>
            <a:spLocks xmlns:a="http://schemas.openxmlformats.org/drawingml/2006/main" noGrp="1"/>
          </p:cNvSpPr>
          <p:nvPr/>
        </p:nvSpPr>
        <p:spPr>
          <a:xfrm xmlns:a="http://schemas.openxmlformats.org/drawingml/2006/main">
            <a:off x="822960" y="4553712"/>
            <a:ext cx="4983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E3A5F"/>
                </a:solidFill>
                <a:latin typeface="Calibri"/>
                <a:ea typeface="Calibri"/>
                <a:cs typeface="Calibri"/>
              </a:rPr>
              <a:t>Sebep-Sonuç</a:t>
            </a:r>
            <a:endParaRPr sz="2000"/>
          </a:p>
        </p:txBody>
      </p:sp>
      <p:sp>
        <p:nvSpPr>
          <p:cNvPr id="17" name="Text 14">
            <a:extLst xmlns:a="http://schemas.openxmlformats.org/drawingml/2006/main">
              <a:ext uri="{FF2B5EF4-FFF2-40B4-BE49-F238E27FC236}">
                <a16:creationId xmlns:a16="http://schemas.microsoft.com/office/drawing/2014/main" id="{0CBA1FF5-B0B1-4001-9697-558FA11C5DB0}"/>
              </a:ext>
            </a:extLst>
          </p:cNvPr>
          <p:cNvSpPr>
            <a:spLocks xmlns:a="http://schemas.openxmlformats.org/drawingml/2006/main" noGrp="1"/>
          </p:cNvSpPr>
          <p:nvPr/>
        </p:nvSpPr>
        <p:spPr>
          <a:xfrm xmlns:a="http://schemas.openxmlformats.org/drawingml/2006/main">
            <a:off x="822960" y="4901184"/>
            <a:ext cx="49834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1E2761"/>
                </a:solidFill>
                <a:latin typeface="Calibri"/>
                <a:ea typeface="Calibri"/>
                <a:cs typeface="Calibri"/>
              </a:rPr>
              <a:t>Bir eylemin nedenini ve bu nedenin doğurduğu sonucu birlikte verir. "İçin, çünkü, bu nedenle, dolayısıyla" bağlaçlarıyla kurulur.</a:t>
            </a:r>
            <a:endParaRPr sz="1250"/>
          </a:p>
        </p:txBody>
      </p:sp>
      <p:sp>
        <p:nvSpPr>
          <p:cNvPr id="18" name="Text 15">
            <a:extLst xmlns:a="http://schemas.openxmlformats.org/drawingml/2006/main">
              <a:ext uri="{FF2B5EF4-FFF2-40B4-BE49-F238E27FC236}">
                <a16:creationId xmlns:a16="http://schemas.microsoft.com/office/drawing/2014/main" id="{4439A857-6146-4069-B835-C61508DFADBC}"/>
              </a:ext>
            </a:extLst>
          </p:cNvPr>
          <p:cNvSpPr>
            <a:spLocks xmlns:a="http://schemas.openxmlformats.org/drawingml/2006/main" noGrp="1"/>
          </p:cNvSpPr>
          <p:nvPr/>
        </p:nvSpPr>
        <p:spPr>
          <a:xfrm xmlns:a="http://schemas.openxmlformats.org/drawingml/2006/main">
            <a:off x="822960" y="5614416"/>
            <a:ext cx="49834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i="1">
                <a:solidFill>
                  <a:srgbClr val="6B7280"/>
                </a:solidFill>
                <a:latin typeface="Calibri"/>
                <a:ea typeface="Calibri"/>
                <a:cs typeface="Calibri"/>
              </a:rPr>
              <a:t>"Yağmur yağdığı için maç ertelendi."</a:t>
            </a:r>
            <a:endParaRPr sz="1600"/>
          </a:p>
        </p:txBody>
      </p:sp>
      <p:sp>
        <p:nvSpPr>
          <p:cNvPr id="19" name="Shape 16">
            <a:extLst xmlns:a="http://schemas.openxmlformats.org/drawingml/2006/main">
              <a:ext uri="{FF2B5EF4-FFF2-40B4-BE49-F238E27FC236}">
                <a16:creationId xmlns:a16="http://schemas.microsoft.com/office/drawing/2014/main" id="{F7CCD91F-E16A-47E5-8CB2-6C4E5E98BEF4}"/>
              </a:ext>
            </a:extLst>
          </p:cNvPr>
          <p:cNvSpPr>
            <a:spLocks xmlns:a="http://schemas.openxmlformats.org/drawingml/2006/main" noGrp="1"/>
          </p:cNvSpPr>
          <p:nvPr/>
        </p:nvSpPr>
        <p:spPr>
          <a:xfrm xmlns:a="http://schemas.openxmlformats.org/drawingml/2006/main">
            <a:off x="6172200" y="4443984"/>
            <a:ext cx="5349240" cy="1975104"/>
          </a:xfrm>
          <a:prstGeom xmlns:a="http://schemas.openxmlformats.org/drawingml/2006/main" prst="roundRect">
            <a:avLst>
              <a:gd name="adj" fmla="val 5405"/>
            </a:avLst>
          </a:prstGeom>
          <a:solidFill xmlns:a="http://schemas.openxmlformats.org/drawingml/2006/main">
            <a:srgbClr val="EEF3F8"/>
          </a:solidFill>
        </p:spPr>
      </p:sp>
      <p:sp>
        <p:nvSpPr>
          <p:cNvPr id="20" name="Text 17">
            <a:extLst xmlns:a="http://schemas.openxmlformats.org/drawingml/2006/main">
              <a:ext uri="{FF2B5EF4-FFF2-40B4-BE49-F238E27FC236}">
                <a16:creationId xmlns:a16="http://schemas.microsoft.com/office/drawing/2014/main" id="{6523B851-B839-4B29-BBEA-90D7B0816FDD}"/>
              </a:ext>
            </a:extLst>
          </p:cNvPr>
          <p:cNvSpPr>
            <a:spLocks xmlns:a="http://schemas.openxmlformats.org/drawingml/2006/main" noGrp="1"/>
          </p:cNvSpPr>
          <p:nvPr/>
        </p:nvSpPr>
        <p:spPr>
          <a:xfrm xmlns:a="http://schemas.openxmlformats.org/drawingml/2006/main">
            <a:off x="6355080" y="4553712"/>
            <a:ext cx="4983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E3A5F"/>
                </a:solidFill>
                <a:latin typeface="Calibri"/>
                <a:ea typeface="Calibri"/>
                <a:cs typeface="Calibri"/>
              </a:rPr>
              <a:t>Koşul-Amaç</a:t>
            </a:r>
            <a:endParaRPr sz="2000"/>
          </a:p>
        </p:txBody>
      </p:sp>
      <p:sp>
        <p:nvSpPr>
          <p:cNvPr id="21" name="Text 18">
            <a:extLst xmlns:a="http://schemas.openxmlformats.org/drawingml/2006/main">
              <a:ext uri="{FF2B5EF4-FFF2-40B4-BE49-F238E27FC236}">
                <a16:creationId xmlns:a16="http://schemas.microsoft.com/office/drawing/2014/main" id="{1CD55E4A-8ECF-46C0-8316-673E9E794EC6}"/>
              </a:ext>
            </a:extLst>
          </p:cNvPr>
          <p:cNvSpPr>
            <a:spLocks xmlns:a="http://schemas.openxmlformats.org/drawingml/2006/main" noGrp="1"/>
          </p:cNvSpPr>
          <p:nvPr/>
        </p:nvSpPr>
        <p:spPr>
          <a:xfrm xmlns:a="http://schemas.openxmlformats.org/drawingml/2006/main">
            <a:off x="6355080" y="4901184"/>
            <a:ext cx="49834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1E2761"/>
                </a:solidFill>
                <a:latin typeface="Calibri"/>
                <a:ea typeface="Calibri"/>
                <a:cs typeface="Calibri"/>
              </a:rPr>
              <a:t>Bir durumun gerçekleşmesi için gereken ŞARTI ya da ulaşılmak istenen AMACI bildirir. "-se/-sa, eğer, için, -mek amacıyla" ile kurulur.</a:t>
            </a:r>
            <a:endParaRPr sz="1250"/>
          </a:p>
        </p:txBody>
      </p:sp>
      <p:sp>
        <p:nvSpPr>
          <p:cNvPr id="22" name="Text 19">
            <a:extLst xmlns:a="http://schemas.openxmlformats.org/drawingml/2006/main">
              <a:ext uri="{FF2B5EF4-FFF2-40B4-BE49-F238E27FC236}">
                <a16:creationId xmlns:a16="http://schemas.microsoft.com/office/drawing/2014/main" id="{40DCCA1A-691C-40D6-9DD0-43242AB76F46}"/>
              </a:ext>
            </a:extLst>
          </p:cNvPr>
          <p:cNvSpPr>
            <a:spLocks xmlns:a="http://schemas.openxmlformats.org/drawingml/2006/main" noGrp="1"/>
          </p:cNvSpPr>
          <p:nvPr/>
        </p:nvSpPr>
        <p:spPr>
          <a:xfrm xmlns:a="http://schemas.openxmlformats.org/drawingml/2006/main">
            <a:off x="6355080" y="5614416"/>
            <a:ext cx="49834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i="1">
                <a:solidFill>
                  <a:srgbClr val="6B7280"/>
                </a:solidFill>
                <a:latin typeface="Calibri"/>
                <a:ea typeface="Calibri"/>
                <a:cs typeface="Calibri"/>
              </a:rPr>
              <a:t>"Başarılı olmak için düzenli çalışmak gerekir."</a:t>
            </a:r>
            <a:endParaRPr sz="1600"/>
          </a:p>
        </p:txBody>
      </p:sp>
      <p:sp>
        <p:nvSpPr>
          <p:cNvPr id="23" name="Text 20">
            <a:extLst xmlns:a="http://schemas.openxmlformats.org/drawingml/2006/main">
              <a:ext uri="{FF2B5EF4-FFF2-40B4-BE49-F238E27FC236}">
                <a16:creationId xmlns:a16="http://schemas.microsoft.com/office/drawing/2014/main" id="{56F014D1-23F4-4B2F-90EC-87BCF52FC941}"/>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Anlatım — Hızlı Kavram Turu</a:t>
            </a:r>
            <a:endParaRPr sz="900"/>
          </a:p>
        </p:txBody>
      </p:sp>
      <p:sp>
        <p:nvSpPr>
          <p:cNvPr id="24" name="Text 21">
            <a:extLst xmlns:a="http://schemas.openxmlformats.org/drawingml/2006/main">
              <a:ext uri="{FF2B5EF4-FFF2-40B4-BE49-F238E27FC236}">
                <a16:creationId xmlns:a16="http://schemas.microsoft.com/office/drawing/2014/main" id="{AA2F8602-16A8-4658-AD1C-48E24A25DB79}"/>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18208266"/>
      </p:ext>
    </p:extLst>
  </p:cSld>
</p:sld>
</file>

<file path=ppt/slides/slide8.xml><?xml version="1.0" encoding="utf-8"?>
<p:sld xmlns:p="http://schemas.openxmlformats.org/presentationml/2006/main">
  <p:cSld>
    <p:bg>
      <p:bgPr>
        <a:solidFill xmlns:a="http://schemas.openxmlformats.org/drawingml/2006/main">
          <a:srgbClr val="8E231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ADF5D72-AFA4-4BA6-9049-B08833EDEB33}"/>
              </a:ext>
            </a:extLst>
          </p:cNvPr>
          <p:cNvSpPr>
            <a:spLocks xmlns:a="http://schemas.openxmlformats.org/drawingml/2006/main" noGrp="1"/>
          </p:cNvSpPr>
          <p:nvPr/>
        </p:nvSpPr>
        <p:spPr>
          <a:xfrm xmlns:a="http://schemas.openxmlformats.org/drawingml/2006/main">
            <a:off x="8138160" y="0"/>
            <a:ext cx="4050792" cy="6858000"/>
          </a:xfrm>
          <a:prstGeom xmlns:a="http://schemas.openxmlformats.org/drawingml/2006/main" prst="rect">
            <a:avLst/>
          </a:prstGeom>
          <a:solidFill xmlns:a="http://schemas.openxmlformats.org/drawingml/2006/main">
            <a:srgbClr val="6E1B12"/>
          </a:solidFill>
        </p:spPr>
      </p:sp>
      <p:sp>
        <p:nvSpPr>
          <p:cNvPr id="3" name="Shape 1">
            <a:extLst xmlns:a="http://schemas.openxmlformats.org/drawingml/2006/main">
              <a:ext uri="{FF2B5EF4-FFF2-40B4-BE49-F238E27FC236}">
                <a16:creationId xmlns:a16="http://schemas.microsoft.com/office/drawing/2014/main" id="{021E76DB-84FD-4BC0-9047-9AF249F4DCA2}"/>
              </a:ext>
            </a:extLst>
          </p:cNvPr>
          <p:cNvSpPr>
            <a:spLocks xmlns:a="http://schemas.openxmlformats.org/drawingml/2006/main" noGrp="1"/>
          </p:cNvSpPr>
          <p:nvPr/>
        </p:nvSpPr>
        <p:spPr>
          <a:xfrm xmlns:a="http://schemas.openxmlformats.org/drawingml/2006/main">
            <a:off x="640080" y="548640"/>
            <a:ext cx="731520" cy="731520"/>
          </a:xfrm>
          <a:prstGeom xmlns:a="http://schemas.openxmlformats.org/drawingml/2006/main" prst="ellipse">
            <a:avLst/>
          </a:prstGeom>
          <a:solidFill xmlns:a="http://schemas.openxmlformats.org/drawingml/2006/main">
            <a:srgbClr val="6E1B12"/>
          </a:solidFill>
        </p:spPr>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a12141bbe906475d"/>
          <a:stretch xmlns:a="http://schemas.openxmlformats.org/drawingml/2006/main">
            <a:fillRect l="0" t="0" r="0" b="0"/>
          </a:stretch>
        </p:blipFill>
        <p:spPr>
          <a:xfrm xmlns:a="http://schemas.openxmlformats.org/drawingml/2006/main">
            <a:off x="804672" y="713232"/>
            <a:ext cx="402336" cy="402336"/>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C1252479-1869-4F78-889D-96DD7F110CB4}"/>
              </a:ext>
            </a:extLst>
          </p:cNvPr>
          <p:cNvSpPr>
            <a:spLocks xmlns:a="http://schemas.openxmlformats.org/drawingml/2006/main" noGrp="1"/>
          </p:cNvSpPr>
          <p:nvPr/>
        </p:nvSpPr>
        <p:spPr>
          <a:xfrm xmlns:a="http://schemas.openxmlformats.org/drawingml/2006/main">
            <a:off x="1508760" y="566928"/>
            <a:ext cx="5486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FFFFFF"/>
                </a:solidFill>
                <a:latin typeface="Cambria"/>
                <a:ea typeface="Cambria"/>
                <a:cs typeface="Cambria"/>
              </a:rPr>
              <a:t>DİKKAT!</a:t>
            </a:r>
            <a:endParaRPr sz="3200"/>
          </a:p>
        </p:txBody>
      </p:sp>
      <p:sp>
        <p:nvSpPr>
          <p:cNvPr id="6" name="Text 3">
            <a:extLst xmlns:a="http://schemas.openxmlformats.org/drawingml/2006/main">
              <a:ext uri="{FF2B5EF4-FFF2-40B4-BE49-F238E27FC236}">
                <a16:creationId xmlns:a16="http://schemas.microsoft.com/office/drawing/2014/main" id="{5B2F10D4-BF59-4551-B6CA-11B038DA8493}"/>
              </a:ext>
            </a:extLst>
          </p:cNvPr>
          <p:cNvSpPr>
            <a:spLocks xmlns:a="http://schemas.openxmlformats.org/drawingml/2006/main" noGrp="1"/>
          </p:cNvSpPr>
          <p:nvPr/>
        </p:nvSpPr>
        <p:spPr>
          <a:xfrm xmlns:a="http://schemas.openxmlformats.org/drawingml/2006/main">
            <a:off x="640080" y="1645920"/>
            <a:ext cx="1051560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i="1">
                <a:solidFill>
                  <a:srgbClr val="F5D6D0"/>
                </a:solidFill>
                <a:latin typeface="Calibri"/>
                <a:ea typeface="Calibri"/>
                <a:cs typeface="Calibri"/>
              </a:rPr>
              <a:t>Öznel-Nesnel Ayrımında Sık Yapılan Hatalar!</a:t>
            </a:r>
            <a:endParaRPr sz="2100"/>
          </a:p>
        </p:txBody>
      </p:sp>
      <p:sp>
        <p:nvSpPr>
          <p:cNvPr id="7" name="Text 4">
            <a:extLst xmlns:a="http://schemas.openxmlformats.org/drawingml/2006/main">
              <a:ext uri="{FF2B5EF4-FFF2-40B4-BE49-F238E27FC236}">
                <a16:creationId xmlns:a16="http://schemas.microsoft.com/office/drawing/2014/main" id="{1C10ECFC-8D0C-41F6-A19C-6FD674918EE6}"/>
              </a:ext>
            </a:extLst>
          </p:cNvPr>
          <p:cNvSpPr>
            <a:spLocks xmlns:a="http://schemas.openxmlformats.org/drawingml/2006/main" noGrp="1"/>
          </p:cNvSpPr>
          <p:nvPr/>
        </p:nvSpPr>
        <p:spPr>
          <a:xfrm xmlns:a="http://schemas.openxmlformats.org/drawingml/2006/main">
            <a:off x="640080" y="2070354"/>
            <a:ext cx="10515600" cy="7574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a:solidFill>
                  <a:srgbClr val="FFFFFF"/>
                </a:solidFill>
                <a:latin typeface="Calibri"/>
                <a:ea typeface="Calibri"/>
                <a:cs typeface="Calibri"/>
              </a:rPr>
              <a:t>Öğrenciler bu ayrımı yaparken genellikle cümlenin UZUNLUĞUNA ya da KONUSUNA bakarak yanılır — oysa asıl kriter yargının KANITLANABİLİR olup olmadığıdır.</a:t>
            </a:r>
            <a:endParaRPr sz="2100"/>
          </a:p>
        </p:txBody>
      </p:sp>
      <p:sp>
        <p:nvSpPr>
          <p:cNvPr id="8" name="Shape 5">
            <a:extLst xmlns:a="http://schemas.openxmlformats.org/drawingml/2006/main">
              <a:ext uri="{FF2B5EF4-FFF2-40B4-BE49-F238E27FC236}">
                <a16:creationId xmlns:a16="http://schemas.microsoft.com/office/drawing/2014/main" id="{D950818F-4227-414E-9DA1-50C1B0A00C05}"/>
              </a:ext>
            </a:extLst>
          </p:cNvPr>
          <p:cNvSpPr>
            <a:spLocks xmlns:a="http://schemas.openxmlformats.org/drawingml/2006/main" noGrp="1"/>
          </p:cNvSpPr>
          <p:nvPr/>
        </p:nvSpPr>
        <p:spPr>
          <a:xfrm xmlns:a="http://schemas.openxmlformats.org/drawingml/2006/main">
            <a:off x="640080" y="2947035"/>
            <a:ext cx="10515600" cy="1146810"/>
          </a:xfrm>
          <a:prstGeom xmlns:a="http://schemas.openxmlformats.org/drawingml/2006/main" prst="roundRect">
            <a:avLst>
              <a:gd name="adj" fmla="val 10000"/>
            </a:avLst>
          </a:prstGeom>
          <a:solidFill xmlns:a="http://schemas.openxmlformats.org/drawingml/2006/main">
            <a:srgbClr val="6E1B12"/>
          </a:solidFill>
        </p:spPr>
      </p:sp>
      <p:sp>
        <p:nvSpPr>
          <p:cNvPr id="9" name="Text 6">
            <a:extLst xmlns:a="http://schemas.openxmlformats.org/drawingml/2006/main">
              <a:ext uri="{FF2B5EF4-FFF2-40B4-BE49-F238E27FC236}">
                <a16:creationId xmlns:a16="http://schemas.microsoft.com/office/drawing/2014/main" id="{F837A98F-A9AF-4AFA-86DD-A41174DF1B0D}"/>
              </a:ext>
            </a:extLst>
          </p:cNvPr>
          <p:cNvSpPr>
            <a:spLocks xmlns:a="http://schemas.openxmlformats.org/drawingml/2006/main" noGrp="1"/>
          </p:cNvSpPr>
          <p:nvPr/>
        </p:nvSpPr>
        <p:spPr>
          <a:xfrm xmlns:a="http://schemas.openxmlformats.org/drawingml/2006/main">
            <a:off x="914400" y="2947035"/>
            <a:ext cx="329184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D9A441"/>
                </a:solidFill>
                <a:latin typeface="Calibri"/>
                <a:ea typeface="Calibri"/>
                <a:cs typeface="Calibri"/>
              </a:rPr>
              <a:t>"Duygusal kelime var, öznel" tuzağı</a:t>
            </a:r>
            <a:endParaRPr sz="1900"/>
          </a:p>
        </p:txBody>
      </p:sp>
      <p:sp>
        <p:nvSpPr>
          <p:cNvPr id="10" name="Text 7">
            <a:extLst xmlns:a="http://schemas.openxmlformats.org/drawingml/2006/main">
              <a:ext uri="{FF2B5EF4-FFF2-40B4-BE49-F238E27FC236}">
                <a16:creationId xmlns:a16="http://schemas.microsoft.com/office/drawing/2014/main" id="{1BFD2A38-F18E-4078-A9AA-C619A7EFBF37}"/>
              </a:ext>
            </a:extLst>
          </p:cNvPr>
          <p:cNvSpPr>
            <a:spLocks xmlns:a="http://schemas.openxmlformats.org/drawingml/2006/main" noGrp="1"/>
          </p:cNvSpPr>
          <p:nvPr/>
        </p:nvSpPr>
        <p:spPr>
          <a:xfrm xmlns:a="http://schemas.openxmlformats.org/drawingml/2006/main">
            <a:off x="4297680" y="2947035"/>
            <a:ext cx="6675120" cy="102793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F5D6D0"/>
                </a:solidFill>
                <a:latin typeface="Calibri"/>
                <a:ea typeface="Calibri"/>
                <a:cs typeface="Calibri"/>
              </a:rPr>
              <a:t>Bir cümlede "güzel, sevgi, umut" gibi kelimeler geçmesi onu otomatik öznel yapmaz — asıl önemli olan YARGININ kanıtlanabilir olup olmadığıdır.</a:t>
            </a:r>
            <a:endParaRPr sz="1900"/>
          </a:p>
        </p:txBody>
      </p:sp>
      <p:sp>
        <p:nvSpPr>
          <p:cNvPr id="11" name="Shape 8">
            <a:extLst xmlns:a="http://schemas.openxmlformats.org/drawingml/2006/main">
              <a:ext uri="{FF2B5EF4-FFF2-40B4-BE49-F238E27FC236}">
                <a16:creationId xmlns:a16="http://schemas.microsoft.com/office/drawing/2014/main" id="{E7520C74-0DCF-4BB7-A59F-EAF7FA73E68E}"/>
              </a:ext>
            </a:extLst>
          </p:cNvPr>
          <p:cNvSpPr>
            <a:spLocks xmlns:a="http://schemas.openxmlformats.org/drawingml/2006/main" noGrp="1"/>
          </p:cNvSpPr>
          <p:nvPr/>
        </p:nvSpPr>
        <p:spPr>
          <a:xfrm xmlns:a="http://schemas.openxmlformats.org/drawingml/2006/main">
            <a:off x="640080" y="4123563"/>
            <a:ext cx="10515600" cy="1146810"/>
          </a:xfrm>
          <a:prstGeom xmlns:a="http://schemas.openxmlformats.org/drawingml/2006/main" prst="roundRect">
            <a:avLst>
              <a:gd name="adj" fmla="val 10000"/>
            </a:avLst>
          </a:prstGeom>
          <a:solidFill xmlns:a="http://schemas.openxmlformats.org/drawingml/2006/main">
            <a:srgbClr val="6E1B12"/>
          </a:solidFill>
        </p:spPr>
      </p:sp>
      <p:sp>
        <p:nvSpPr>
          <p:cNvPr id="12" name="Text 9">
            <a:extLst xmlns:a="http://schemas.openxmlformats.org/drawingml/2006/main">
              <a:ext uri="{FF2B5EF4-FFF2-40B4-BE49-F238E27FC236}">
                <a16:creationId xmlns:a16="http://schemas.microsoft.com/office/drawing/2014/main" id="{622176F3-5BE6-4C9E-BDBC-699C68911632}"/>
              </a:ext>
            </a:extLst>
          </p:cNvPr>
          <p:cNvSpPr>
            <a:spLocks xmlns:a="http://schemas.openxmlformats.org/drawingml/2006/main" noGrp="1"/>
          </p:cNvSpPr>
          <p:nvPr/>
        </p:nvSpPr>
        <p:spPr>
          <a:xfrm xmlns:a="http://schemas.openxmlformats.org/drawingml/2006/main">
            <a:off x="914400" y="4123563"/>
            <a:ext cx="329184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D9A441"/>
                </a:solidFill>
                <a:latin typeface="Calibri"/>
                <a:ea typeface="Calibri"/>
                <a:cs typeface="Calibri"/>
              </a:rPr>
              <a:t>Sayı geçince nesnel sanma tuzağı</a:t>
            </a:r>
            <a:endParaRPr sz="1900"/>
          </a:p>
        </p:txBody>
      </p:sp>
      <p:sp>
        <p:nvSpPr>
          <p:cNvPr id="13" name="Text 10">
            <a:extLst xmlns:a="http://schemas.openxmlformats.org/drawingml/2006/main">
              <a:ext uri="{FF2B5EF4-FFF2-40B4-BE49-F238E27FC236}">
                <a16:creationId xmlns:a16="http://schemas.microsoft.com/office/drawing/2014/main" id="{0DFC6718-FFB5-48A6-993D-5A159E38BA62}"/>
              </a:ext>
            </a:extLst>
          </p:cNvPr>
          <p:cNvSpPr>
            <a:spLocks xmlns:a="http://schemas.openxmlformats.org/drawingml/2006/main" noGrp="1"/>
          </p:cNvSpPr>
          <p:nvPr/>
        </p:nvSpPr>
        <p:spPr>
          <a:xfrm xmlns:a="http://schemas.openxmlformats.org/drawingml/2006/main">
            <a:off x="4297680" y="4123563"/>
            <a:ext cx="6675120" cy="102793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F5D6D0"/>
                </a:solidFill>
                <a:latin typeface="Calibri"/>
                <a:ea typeface="Calibri"/>
                <a:cs typeface="Calibri"/>
              </a:rPr>
              <a:t>"Bu roman 500 sayfa olduğu için OKUNMAZ." — sayı (500 sayfa) nesnel olsa da "okunmaz" yorumu ÖZNELDİR; cümlenin YARGI kısmına bakılmalı.</a:t>
            </a:r>
            <a:endParaRPr sz="1900"/>
          </a:p>
        </p:txBody>
      </p:sp>
      <p:sp>
        <p:nvSpPr>
          <p:cNvPr id="14" name="Shape 11">
            <a:extLst xmlns:a="http://schemas.openxmlformats.org/drawingml/2006/main">
              <a:ext uri="{FF2B5EF4-FFF2-40B4-BE49-F238E27FC236}">
                <a16:creationId xmlns:a16="http://schemas.microsoft.com/office/drawing/2014/main" id="{CB9CE9B1-D791-4EEF-9D18-A56C0A13891E}"/>
              </a:ext>
            </a:extLst>
          </p:cNvPr>
          <p:cNvSpPr>
            <a:spLocks xmlns:a="http://schemas.openxmlformats.org/drawingml/2006/main" noGrp="1"/>
          </p:cNvSpPr>
          <p:nvPr/>
        </p:nvSpPr>
        <p:spPr>
          <a:xfrm xmlns:a="http://schemas.openxmlformats.org/drawingml/2006/main">
            <a:off x="640080" y="5300091"/>
            <a:ext cx="10515600" cy="1146810"/>
          </a:xfrm>
          <a:prstGeom xmlns:a="http://schemas.openxmlformats.org/drawingml/2006/main" prst="roundRect">
            <a:avLst>
              <a:gd name="adj" fmla="val 10000"/>
            </a:avLst>
          </a:prstGeom>
          <a:solidFill xmlns:a="http://schemas.openxmlformats.org/drawingml/2006/main">
            <a:srgbClr val="6E1B12"/>
          </a:solidFill>
        </p:spPr>
      </p:sp>
      <p:sp>
        <p:nvSpPr>
          <p:cNvPr id="15" name="Text 12">
            <a:extLst xmlns:a="http://schemas.openxmlformats.org/drawingml/2006/main">
              <a:ext uri="{FF2B5EF4-FFF2-40B4-BE49-F238E27FC236}">
                <a16:creationId xmlns:a16="http://schemas.microsoft.com/office/drawing/2014/main" id="{273B9B7F-8215-4912-9328-E7CA8E784BB3}"/>
              </a:ext>
            </a:extLst>
          </p:cNvPr>
          <p:cNvSpPr>
            <a:spLocks xmlns:a="http://schemas.openxmlformats.org/drawingml/2006/main" noGrp="1"/>
          </p:cNvSpPr>
          <p:nvPr/>
        </p:nvSpPr>
        <p:spPr>
          <a:xfrm xmlns:a="http://schemas.openxmlformats.org/drawingml/2006/main">
            <a:off x="914400" y="5300091"/>
            <a:ext cx="3291840" cy="35166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50" b="1">
                <a:solidFill>
                  <a:srgbClr val="D9A441"/>
                </a:solidFill>
                <a:latin typeface="Calibri"/>
                <a:ea typeface="Calibri"/>
                <a:cs typeface="Calibri"/>
              </a:rPr>
              <a:t>Sınavda ayırt etme yöntemi</a:t>
            </a:r>
            <a:endParaRPr sz="1950"/>
          </a:p>
        </p:txBody>
      </p:sp>
      <p:sp>
        <p:nvSpPr>
          <p:cNvPr id="16" name="Text 13">
            <a:extLst xmlns:a="http://schemas.openxmlformats.org/drawingml/2006/main">
              <a:ext uri="{FF2B5EF4-FFF2-40B4-BE49-F238E27FC236}">
                <a16:creationId xmlns:a16="http://schemas.microsoft.com/office/drawing/2014/main" id="{9BCC7B0C-CDC5-48CF-90A2-F6C552E4ABBE}"/>
              </a:ext>
            </a:extLst>
          </p:cNvPr>
          <p:cNvSpPr>
            <a:spLocks xmlns:a="http://schemas.openxmlformats.org/drawingml/2006/main" noGrp="1"/>
          </p:cNvSpPr>
          <p:nvPr/>
        </p:nvSpPr>
        <p:spPr>
          <a:xfrm xmlns:a="http://schemas.openxmlformats.org/drawingml/2006/main">
            <a:off x="4297680" y="5300091"/>
            <a:ext cx="6675120" cy="102793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F5D6D0"/>
                </a:solidFill>
                <a:latin typeface="Calibri"/>
                <a:ea typeface="Calibri"/>
                <a:cs typeface="Calibri"/>
              </a:rPr>
              <a:t>Kendinize sorun: "Bu yargıyı biri kanıtlayabilir mi, yoksa herkes farklı düşünebilir mi?" Kanıtlanabiliyorsa NESNEL, kişiden kişiye değişiyorsa ÖZNELDİR.</a:t>
            </a:r>
            <a:endParaRPr sz="1900"/>
          </a:p>
        </p:txBody>
      </p:sp>
    </p:spTree>
    <p:extLst>
      <p:ext uri="{BB962C8B-B14F-4D97-AF65-F5344CB8AC3E}">
        <p14:creationId xmlns:p14="http://schemas.microsoft.com/office/powerpoint/2010/main" val="1760532100"/>
      </p:ext>
    </p:extLst>
  </p:cSld>
</p:sld>
</file>

<file path=ppt/slides/slide9.xml><?xml version="1.0" encoding="utf-8"?>
<p:sld xmlns:p="http://schemas.openxmlformats.org/presentationml/2006/main">
  <p:cSld>
    <p:bg>
      <p:bgPr>
        <a:solidFill xmlns:a="http://schemas.openxmlformats.org/drawingml/2006/main">
          <a:srgbClr val="8E231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6F469BD-5368-43FE-BF65-F5301BD22A61}"/>
              </a:ext>
            </a:extLst>
          </p:cNvPr>
          <p:cNvSpPr>
            <a:spLocks xmlns:a="http://schemas.openxmlformats.org/drawingml/2006/main" noGrp="1"/>
          </p:cNvSpPr>
          <p:nvPr/>
        </p:nvSpPr>
        <p:spPr>
          <a:xfrm xmlns:a="http://schemas.openxmlformats.org/drawingml/2006/main">
            <a:off x="8138160" y="0"/>
            <a:ext cx="4050792" cy="6858000"/>
          </a:xfrm>
          <a:prstGeom xmlns:a="http://schemas.openxmlformats.org/drawingml/2006/main" prst="rect">
            <a:avLst/>
          </a:prstGeom>
          <a:solidFill xmlns:a="http://schemas.openxmlformats.org/drawingml/2006/main">
            <a:srgbClr val="6E1B12"/>
          </a:solidFill>
        </p:spPr>
      </p:sp>
      <p:sp>
        <p:nvSpPr>
          <p:cNvPr id="3" name="Shape 1">
            <a:extLst xmlns:a="http://schemas.openxmlformats.org/drawingml/2006/main">
              <a:ext uri="{FF2B5EF4-FFF2-40B4-BE49-F238E27FC236}">
                <a16:creationId xmlns:a16="http://schemas.microsoft.com/office/drawing/2014/main" id="{29B6B929-62E2-4568-8A75-1833BEB3DCF6}"/>
              </a:ext>
            </a:extLst>
          </p:cNvPr>
          <p:cNvSpPr>
            <a:spLocks xmlns:a="http://schemas.openxmlformats.org/drawingml/2006/main" noGrp="1"/>
          </p:cNvSpPr>
          <p:nvPr/>
        </p:nvSpPr>
        <p:spPr>
          <a:xfrm xmlns:a="http://schemas.openxmlformats.org/drawingml/2006/main">
            <a:off x="640080" y="548640"/>
            <a:ext cx="731520" cy="731520"/>
          </a:xfrm>
          <a:prstGeom xmlns:a="http://schemas.openxmlformats.org/drawingml/2006/main" prst="ellipse">
            <a:avLst/>
          </a:prstGeom>
          <a:solidFill xmlns:a="http://schemas.openxmlformats.org/drawingml/2006/main">
            <a:srgbClr val="6E1B12"/>
          </a:solidFill>
        </p:spPr>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c7381132027540de"/>
          <a:stretch xmlns:a="http://schemas.openxmlformats.org/drawingml/2006/main">
            <a:fillRect l="0" t="0" r="0" b="0"/>
          </a:stretch>
        </p:blipFill>
        <p:spPr>
          <a:xfrm xmlns:a="http://schemas.openxmlformats.org/drawingml/2006/main">
            <a:off x="804672" y="713232"/>
            <a:ext cx="402336" cy="402336"/>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62A61C0C-0439-4EEA-A0B6-145A1FA52FE2}"/>
              </a:ext>
            </a:extLst>
          </p:cNvPr>
          <p:cNvSpPr>
            <a:spLocks xmlns:a="http://schemas.openxmlformats.org/drawingml/2006/main" noGrp="1"/>
          </p:cNvSpPr>
          <p:nvPr/>
        </p:nvSpPr>
        <p:spPr>
          <a:xfrm xmlns:a="http://schemas.openxmlformats.org/drawingml/2006/main">
            <a:off x="1508760" y="566928"/>
            <a:ext cx="5486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FFFFFF"/>
                </a:solidFill>
                <a:latin typeface="Cambria"/>
                <a:ea typeface="Cambria"/>
                <a:cs typeface="Cambria"/>
              </a:rPr>
              <a:t>DİKKAT!</a:t>
            </a:r>
            <a:endParaRPr sz="3200"/>
          </a:p>
        </p:txBody>
      </p:sp>
      <p:sp>
        <p:nvSpPr>
          <p:cNvPr id="6" name="Text 3">
            <a:extLst xmlns:a="http://schemas.openxmlformats.org/drawingml/2006/main">
              <a:ext uri="{FF2B5EF4-FFF2-40B4-BE49-F238E27FC236}">
                <a16:creationId xmlns:a16="http://schemas.microsoft.com/office/drawing/2014/main" id="{C58BB994-CD95-4291-B6C2-8F043024420F}"/>
              </a:ext>
            </a:extLst>
          </p:cNvPr>
          <p:cNvSpPr>
            <a:spLocks xmlns:a="http://schemas.openxmlformats.org/drawingml/2006/main" noGrp="1"/>
          </p:cNvSpPr>
          <p:nvPr/>
        </p:nvSpPr>
        <p:spPr>
          <a:xfrm xmlns:a="http://schemas.openxmlformats.org/drawingml/2006/main">
            <a:off x="640080" y="1645920"/>
            <a:ext cx="1051560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i="1">
                <a:solidFill>
                  <a:srgbClr val="F5D6D0"/>
                </a:solidFill>
                <a:latin typeface="Calibri"/>
                <a:ea typeface="Calibri"/>
                <a:cs typeface="Calibri"/>
              </a:rPr>
              <a:t>Karşılaştırma ile Değerlendirme Karıştırılmasın!</a:t>
            </a:r>
            <a:endParaRPr sz="2100"/>
          </a:p>
        </p:txBody>
      </p:sp>
      <p:sp>
        <p:nvSpPr>
          <p:cNvPr id="7" name="Shape 4">
            <a:extLst xmlns:a="http://schemas.openxmlformats.org/drawingml/2006/main">
              <a:ext uri="{FF2B5EF4-FFF2-40B4-BE49-F238E27FC236}">
                <a16:creationId xmlns:a16="http://schemas.microsoft.com/office/drawing/2014/main" id="{CB6889C9-A215-4574-9CEC-036AB2BA98F3}"/>
              </a:ext>
            </a:extLst>
          </p:cNvPr>
          <p:cNvSpPr>
            <a:spLocks xmlns:a="http://schemas.openxmlformats.org/drawingml/2006/main" noGrp="1"/>
          </p:cNvSpPr>
          <p:nvPr/>
        </p:nvSpPr>
        <p:spPr>
          <a:xfrm xmlns:a="http://schemas.openxmlformats.org/drawingml/2006/main">
            <a:off x="640080" y="2177288"/>
            <a:ext cx="548640" cy="548640"/>
          </a:xfrm>
          <a:prstGeom xmlns:a="http://schemas.openxmlformats.org/drawingml/2006/main" prst="ellipse">
            <a:avLst/>
          </a:prstGeom>
          <a:solidFill xmlns:a="http://schemas.openxmlformats.org/drawingml/2006/main">
            <a:srgbClr val="FFFFFF"/>
          </a:solidFill>
        </p:spPr>
      </p:sp>
      <p:sp>
        <p:nvSpPr>
          <p:cNvPr id="8" name="Text 5">
            <a:extLst xmlns:a="http://schemas.openxmlformats.org/drawingml/2006/main">
              <a:ext uri="{FF2B5EF4-FFF2-40B4-BE49-F238E27FC236}">
                <a16:creationId xmlns:a16="http://schemas.microsoft.com/office/drawing/2014/main" id="{21A2869E-A098-4B69-886D-D2586549DBF4}"/>
              </a:ext>
            </a:extLst>
          </p:cNvPr>
          <p:cNvSpPr>
            <a:spLocks xmlns:a="http://schemas.openxmlformats.org/drawingml/2006/main" noGrp="1"/>
          </p:cNvSpPr>
          <p:nvPr/>
        </p:nvSpPr>
        <p:spPr>
          <a:xfrm xmlns:a="http://schemas.openxmlformats.org/drawingml/2006/main">
            <a:off x="640080" y="2177288"/>
            <a:ext cx="548640" cy="54864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200" b="1">
                <a:solidFill>
                  <a:srgbClr val="8E2318"/>
                </a:solidFill>
                <a:latin typeface="Cambria"/>
                <a:ea typeface="Cambria"/>
                <a:cs typeface="Cambria"/>
              </a:rPr>
              <a:t>1</a:t>
            </a:r>
            <a:endParaRPr sz="2200"/>
          </a:p>
        </p:txBody>
      </p:sp>
      <p:sp>
        <p:nvSpPr>
          <p:cNvPr id="9" name="Text 6">
            <a:extLst xmlns:a="http://schemas.openxmlformats.org/drawingml/2006/main">
              <a:ext uri="{FF2B5EF4-FFF2-40B4-BE49-F238E27FC236}">
                <a16:creationId xmlns:a16="http://schemas.microsoft.com/office/drawing/2014/main" id="{E4FFFF99-D47C-4782-8563-B67BC9ABA782}"/>
              </a:ext>
            </a:extLst>
          </p:cNvPr>
          <p:cNvSpPr>
            <a:spLocks xmlns:a="http://schemas.openxmlformats.org/drawingml/2006/main" noGrp="1"/>
          </p:cNvSpPr>
          <p:nvPr/>
        </p:nvSpPr>
        <p:spPr>
          <a:xfrm xmlns:a="http://schemas.openxmlformats.org/drawingml/2006/main">
            <a:off x="1371600" y="2253234"/>
            <a:ext cx="969264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FFFFFF"/>
                </a:solidFill>
                <a:latin typeface="Calibri"/>
                <a:ea typeface="Calibri"/>
                <a:cs typeface="Calibri"/>
              </a:rPr>
              <a:t>"Daha, en" görünce hemen karşılaştırma demek.</a:t>
            </a:r>
            <a:endParaRPr sz="2100"/>
          </a:p>
        </p:txBody>
      </p:sp>
      <p:sp>
        <p:nvSpPr>
          <p:cNvPr id="10" name="Text 7">
            <a:extLst xmlns:a="http://schemas.openxmlformats.org/drawingml/2006/main">
              <a:ext uri="{FF2B5EF4-FFF2-40B4-BE49-F238E27FC236}">
                <a16:creationId xmlns:a16="http://schemas.microsoft.com/office/drawing/2014/main" id="{FCA723E6-D4DD-4795-8EEA-F558070C9F4C}"/>
              </a:ext>
            </a:extLst>
          </p:cNvPr>
          <p:cNvSpPr>
            <a:spLocks xmlns:a="http://schemas.openxmlformats.org/drawingml/2006/main" noGrp="1"/>
          </p:cNvSpPr>
          <p:nvPr/>
        </p:nvSpPr>
        <p:spPr>
          <a:xfrm xmlns:a="http://schemas.openxmlformats.org/drawingml/2006/main">
            <a:off x="1371600" y="2695702"/>
            <a:ext cx="9692640" cy="14787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a:solidFill>
                  <a:srgbClr val="F5D6D0"/>
                </a:solidFill>
                <a:latin typeface="Calibri"/>
                <a:ea typeface="Calibri"/>
                <a:cs typeface="Calibri"/>
              </a:rPr>
              <a:t>"Bu, yazarın en başarılı romanıdır." cümlesinde "en" var ama İKİNCİ bir eser/kişi ile açıkça KIYASLANMIYOR — bu cümle bir DEĞERLENDİRMEDİR, karşılaştırma değil. Karşılaştırma için mutlaka İKİ AYRI öge birlikte anılmalıdır.</a:t>
            </a:r>
            <a:endParaRPr sz="2050"/>
          </a:p>
        </p:txBody>
      </p:sp>
      <p:sp>
        <p:nvSpPr>
          <p:cNvPr id="11" name="Shape 8">
            <a:extLst xmlns:a="http://schemas.openxmlformats.org/drawingml/2006/main">
              <a:ext uri="{FF2B5EF4-FFF2-40B4-BE49-F238E27FC236}">
                <a16:creationId xmlns:a16="http://schemas.microsoft.com/office/drawing/2014/main" id="{7313B3AF-B4C1-49BC-BC3B-38F94B0C46C0}"/>
              </a:ext>
            </a:extLst>
          </p:cNvPr>
          <p:cNvSpPr>
            <a:spLocks xmlns:a="http://schemas.openxmlformats.org/drawingml/2006/main" noGrp="1"/>
          </p:cNvSpPr>
          <p:nvPr/>
        </p:nvSpPr>
        <p:spPr>
          <a:xfrm xmlns:a="http://schemas.openxmlformats.org/drawingml/2006/main">
            <a:off x="640080" y="4217416"/>
            <a:ext cx="548640" cy="548640"/>
          </a:xfrm>
          <a:prstGeom xmlns:a="http://schemas.openxmlformats.org/drawingml/2006/main" prst="ellipse">
            <a:avLst/>
          </a:prstGeom>
          <a:solidFill xmlns:a="http://schemas.openxmlformats.org/drawingml/2006/main">
            <a:srgbClr val="FFFFFF"/>
          </a:solidFill>
        </p:spPr>
      </p:sp>
      <p:sp>
        <p:nvSpPr>
          <p:cNvPr id="12" name="Text 9">
            <a:extLst xmlns:a="http://schemas.openxmlformats.org/drawingml/2006/main">
              <a:ext uri="{FF2B5EF4-FFF2-40B4-BE49-F238E27FC236}">
                <a16:creationId xmlns:a16="http://schemas.microsoft.com/office/drawing/2014/main" id="{75C95003-CDD4-435B-BDBE-38271D3EEED3}"/>
              </a:ext>
            </a:extLst>
          </p:cNvPr>
          <p:cNvSpPr>
            <a:spLocks xmlns:a="http://schemas.openxmlformats.org/drawingml/2006/main" noGrp="1"/>
          </p:cNvSpPr>
          <p:nvPr/>
        </p:nvSpPr>
        <p:spPr>
          <a:xfrm xmlns:a="http://schemas.openxmlformats.org/drawingml/2006/main">
            <a:off x="640080" y="4217416"/>
            <a:ext cx="548640" cy="54864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200" b="1">
                <a:solidFill>
                  <a:srgbClr val="8E2318"/>
                </a:solidFill>
                <a:latin typeface="Cambria"/>
                <a:ea typeface="Cambria"/>
                <a:cs typeface="Cambria"/>
              </a:rPr>
              <a:t>2</a:t>
            </a:r>
            <a:endParaRPr sz="2200"/>
          </a:p>
        </p:txBody>
      </p:sp>
      <p:sp>
        <p:nvSpPr>
          <p:cNvPr id="13" name="Text 10">
            <a:extLst xmlns:a="http://schemas.openxmlformats.org/drawingml/2006/main">
              <a:ext uri="{FF2B5EF4-FFF2-40B4-BE49-F238E27FC236}">
                <a16:creationId xmlns:a16="http://schemas.microsoft.com/office/drawing/2014/main" id="{0A934567-BB0A-4DD8-A050-48AACC2C1112}"/>
              </a:ext>
            </a:extLst>
          </p:cNvPr>
          <p:cNvSpPr>
            <a:spLocks xmlns:a="http://schemas.openxmlformats.org/drawingml/2006/main" noGrp="1"/>
          </p:cNvSpPr>
          <p:nvPr/>
        </p:nvSpPr>
        <p:spPr>
          <a:xfrm xmlns:a="http://schemas.openxmlformats.org/drawingml/2006/main">
            <a:off x="1371600" y="4293362"/>
            <a:ext cx="969264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FFFFFF"/>
                </a:solidFill>
                <a:latin typeface="Calibri"/>
                <a:ea typeface="Calibri"/>
                <a:cs typeface="Calibri"/>
              </a:rPr>
              <a:t>Genel yargıyı değerlendirme sanmak.</a:t>
            </a:r>
            <a:endParaRPr sz="2100"/>
          </a:p>
        </p:txBody>
      </p:sp>
      <p:sp>
        <p:nvSpPr>
          <p:cNvPr id="14" name="Text 11">
            <a:extLst xmlns:a="http://schemas.openxmlformats.org/drawingml/2006/main">
              <a:ext uri="{FF2B5EF4-FFF2-40B4-BE49-F238E27FC236}">
                <a16:creationId xmlns:a16="http://schemas.microsoft.com/office/drawing/2014/main" id="{F1FFC259-8C8F-4AEA-841D-E33910EDC88D}"/>
              </a:ext>
            </a:extLst>
          </p:cNvPr>
          <p:cNvSpPr>
            <a:spLocks xmlns:a="http://schemas.openxmlformats.org/drawingml/2006/main" noGrp="1"/>
          </p:cNvSpPr>
          <p:nvPr/>
        </p:nvSpPr>
        <p:spPr>
          <a:xfrm xmlns:a="http://schemas.openxmlformats.org/drawingml/2006/main">
            <a:off x="1371600" y="4735830"/>
            <a:ext cx="9692640" cy="15148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a:solidFill>
                  <a:srgbClr val="F5D6D0"/>
                </a:solidFill>
                <a:latin typeface="Calibri"/>
                <a:ea typeface="Calibri"/>
                <a:cs typeface="Calibri"/>
              </a:rPr>
              <a:t>"Yazarların çoğu şiirle başlar." cümlesi GENEL bir gözlemdir, belirli bir esere/kişiye yönelik bir yargı içermez — bu nedenle DEĞERLENDİRME CÜMLESİ SAYILMAZ. Değerlendirme, mutlaka TEK BİR hedefe (bu eser, bu yazar, bu durum) yöneliktir.</a:t>
            </a:r>
            <a:endParaRPr sz="2100"/>
          </a:p>
        </p:txBody>
      </p:sp>
    </p:spTree>
    <p:extLst>
      <p:ext uri="{BB962C8B-B14F-4D97-AF65-F5344CB8AC3E}">
        <p14:creationId xmlns:p14="http://schemas.microsoft.com/office/powerpoint/2010/main" val="5756212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A6A5538-1299-4541-92EF-3E932D822C4E}"/>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29df1ef672a94639"/>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DA8F2226-E857-4403-B154-D03F71AD0881}"/>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SINIF ETKINLIĞI</a:t>
            </a:r>
            <a:endParaRPr sz="1300"/>
          </a:p>
        </p:txBody>
      </p:sp>
      <p:sp>
        <p:nvSpPr>
          <p:cNvPr id="5" name="Text 2">
            <a:extLst xmlns:a="http://schemas.openxmlformats.org/drawingml/2006/main">
              <a:ext uri="{FF2B5EF4-FFF2-40B4-BE49-F238E27FC236}">
                <a16:creationId xmlns:a16="http://schemas.microsoft.com/office/drawing/2014/main" id="{86D398C3-A0B1-435C-A142-4E354FDF4B45}"/>
              </a:ext>
            </a:extLst>
          </p:cNvPr>
          <p:cNvSpPr>
            <a:spLocks xmlns:a="http://schemas.openxmlformats.org/drawingml/2006/main" noGrp="1"/>
          </p:cNvSpPr>
          <p:nvPr/>
        </p:nvSpPr>
        <p:spPr>
          <a:xfrm xmlns:a="http://schemas.openxmlformats.org/drawingml/2006/main">
            <a:off x="1463040" y="841248"/>
            <a:ext cx="10058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Kavramı Tanıyın (3 Dakika)</a:t>
            </a:r>
            <a:endParaRPr sz="2800"/>
          </a:p>
        </p:txBody>
      </p:sp>
      <p:sp>
        <p:nvSpPr>
          <p:cNvPr id="6" name="Text 3">
            <a:extLst xmlns:a="http://schemas.openxmlformats.org/drawingml/2006/main">
              <a:ext uri="{FF2B5EF4-FFF2-40B4-BE49-F238E27FC236}">
                <a16:creationId xmlns:a16="http://schemas.microsoft.com/office/drawing/2014/main" id="{FB4A252A-C9E6-4FC3-88CB-D04421867FAA}"/>
              </a:ext>
            </a:extLst>
          </p:cNvPr>
          <p:cNvSpPr>
            <a:spLocks xmlns:a="http://schemas.openxmlformats.org/drawingml/2006/main" noGrp="1"/>
          </p:cNvSpPr>
          <p:nvPr/>
        </p:nvSpPr>
        <p:spPr>
          <a:xfrm xmlns:a="http://schemas.openxmlformats.org/drawingml/2006/main">
            <a:off x="640080" y="1645920"/>
            <a:ext cx="10881360" cy="102793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1E2761"/>
                </a:solidFill>
                <a:latin typeface="Calibri"/>
                <a:ea typeface="Calibri"/>
                <a:cs typeface="Calibri"/>
              </a:rPr>
              <a:t>Aşağıdaki 8 cümlenin her biri için hangi kavramla ilgili olduğunu belirleyin (öznel/nesnel, karşılaştırma, değerlendirme, kesin yargı/varsayım, sebep-sonuç/koşul-amaç). Süre: 3 dakika.</a:t>
            </a:r>
            <a:endParaRPr sz="1900"/>
          </a:p>
        </p:txBody>
      </p:sp>
      <p:sp>
        <p:nvSpPr>
          <p:cNvPr id="7" name="Shape 4">
            <a:extLst xmlns:a="http://schemas.openxmlformats.org/drawingml/2006/main">
              <a:ext uri="{FF2B5EF4-FFF2-40B4-BE49-F238E27FC236}">
                <a16:creationId xmlns:a16="http://schemas.microsoft.com/office/drawing/2014/main" id="{7B032782-8FA1-400E-A13E-6F7646A0EEAA}"/>
              </a:ext>
            </a:extLst>
          </p:cNvPr>
          <p:cNvSpPr>
            <a:spLocks xmlns:a="http://schemas.openxmlformats.org/drawingml/2006/main" noGrp="1"/>
          </p:cNvSpPr>
          <p:nvPr/>
        </p:nvSpPr>
        <p:spPr>
          <a:xfrm xmlns:a="http://schemas.openxmlformats.org/drawingml/2006/main">
            <a:off x="640080" y="2704643"/>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8" name="Text 5">
            <a:extLst xmlns:a="http://schemas.openxmlformats.org/drawingml/2006/main">
              <a:ext uri="{FF2B5EF4-FFF2-40B4-BE49-F238E27FC236}">
                <a16:creationId xmlns:a16="http://schemas.microsoft.com/office/drawing/2014/main" id="{F25B70B7-D750-4EBE-8BC3-765D0F02A7C8}"/>
              </a:ext>
            </a:extLst>
          </p:cNvPr>
          <p:cNvSpPr>
            <a:spLocks xmlns:a="http://schemas.openxmlformats.org/drawingml/2006/main" noGrp="1"/>
          </p:cNvSpPr>
          <p:nvPr/>
        </p:nvSpPr>
        <p:spPr>
          <a:xfrm xmlns:a="http://schemas.openxmlformats.org/drawingml/2006/main">
            <a:off x="822960" y="2704643"/>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D9A441"/>
                </a:solidFill>
                <a:latin typeface="Calibri"/>
                <a:ea typeface="Calibri"/>
                <a:cs typeface="Calibri"/>
              </a:rPr>
              <a:t>1.  </a:t>
            </a:r>
            <a:r>
              <a:rPr sz="1900">
                <a:solidFill>
                  <a:srgbClr val="142A44"/>
                </a:solidFill>
                <a:latin typeface="Calibri"/>
                <a:ea typeface="Calibri"/>
                <a:cs typeface="Calibri"/>
              </a:rPr>
              <a:t>"Bu tablo, ressamın en özgün eseri sayılır." — hangi kavram?</a:t>
            </a:r>
            <a:endParaRPr sz="1900"/>
          </a:p>
        </p:txBody>
      </p:sp>
      <p:sp>
        <p:nvSpPr>
          <p:cNvPr id="9" name="Shape 6">
            <a:extLst xmlns:a="http://schemas.openxmlformats.org/drawingml/2006/main">
              <a:ext uri="{FF2B5EF4-FFF2-40B4-BE49-F238E27FC236}">
                <a16:creationId xmlns:a16="http://schemas.microsoft.com/office/drawing/2014/main" id="{F22841EF-04D7-4D28-A16E-B9874E5FED46}"/>
              </a:ext>
            </a:extLst>
          </p:cNvPr>
          <p:cNvSpPr>
            <a:spLocks xmlns:a="http://schemas.openxmlformats.org/drawingml/2006/main" noGrp="1"/>
          </p:cNvSpPr>
          <p:nvPr/>
        </p:nvSpPr>
        <p:spPr>
          <a:xfrm xmlns:a="http://schemas.openxmlformats.org/drawingml/2006/main">
            <a:off x="6172200" y="2704643"/>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10" name="Text 7">
            <a:extLst xmlns:a="http://schemas.openxmlformats.org/drawingml/2006/main">
              <a:ext uri="{FF2B5EF4-FFF2-40B4-BE49-F238E27FC236}">
                <a16:creationId xmlns:a16="http://schemas.microsoft.com/office/drawing/2014/main" id="{0A681FA2-2F59-42FF-AAE5-5D75417AB707}"/>
              </a:ext>
            </a:extLst>
          </p:cNvPr>
          <p:cNvSpPr>
            <a:spLocks xmlns:a="http://schemas.openxmlformats.org/drawingml/2006/main" noGrp="1"/>
          </p:cNvSpPr>
          <p:nvPr/>
        </p:nvSpPr>
        <p:spPr>
          <a:xfrm xmlns:a="http://schemas.openxmlformats.org/drawingml/2006/main">
            <a:off x="6355080" y="2704643"/>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D9A441"/>
                </a:solidFill>
                <a:latin typeface="Calibri"/>
                <a:ea typeface="Calibri"/>
                <a:cs typeface="Calibri"/>
              </a:rPr>
              <a:t>2.  </a:t>
            </a:r>
            <a:r>
              <a:rPr sz="1900">
                <a:solidFill>
                  <a:srgbClr val="142A44"/>
                </a:solidFill>
                <a:latin typeface="Calibri"/>
                <a:ea typeface="Calibri"/>
                <a:cs typeface="Calibri"/>
              </a:rPr>
              <a:t>"Sergide 42 farklı tablo yer almaktadır." — hangi kavram?</a:t>
            </a:r>
            <a:endParaRPr sz="1900"/>
          </a:p>
        </p:txBody>
      </p:sp>
      <p:sp>
        <p:nvSpPr>
          <p:cNvPr id="11" name="Shape 8">
            <a:extLst xmlns:a="http://schemas.openxmlformats.org/drawingml/2006/main">
              <a:ext uri="{FF2B5EF4-FFF2-40B4-BE49-F238E27FC236}">
                <a16:creationId xmlns:a16="http://schemas.microsoft.com/office/drawing/2014/main" id="{15A61E2D-FDCF-48DF-BE7E-E229EB59521C}"/>
              </a:ext>
            </a:extLst>
          </p:cNvPr>
          <p:cNvSpPr>
            <a:spLocks xmlns:a="http://schemas.openxmlformats.org/drawingml/2006/main" noGrp="1"/>
          </p:cNvSpPr>
          <p:nvPr/>
        </p:nvSpPr>
        <p:spPr>
          <a:xfrm xmlns:a="http://schemas.openxmlformats.org/drawingml/2006/main">
            <a:off x="640080" y="3646475"/>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12" name="Text 9">
            <a:extLst xmlns:a="http://schemas.openxmlformats.org/drawingml/2006/main">
              <a:ext uri="{FF2B5EF4-FFF2-40B4-BE49-F238E27FC236}">
                <a16:creationId xmlns:a16="http://schemas.microsoft.com/office/drawing/2014/main" id="{BF418191-86DD-4AC0-B7E4-079C455F976A}"/>
              </a:ext>
            </a:extLst>
          </p:cNvPr>
          <p:cNvSpPr>
            <a:spLocks xmlns:a="http://schemas.openxmlformats.org/drawingml/2006/main" noGrp="1"/>
          </p:cNvSpPr>
          <p:nvPr/>
        </p:nvSpPr>
        <p:spPr>
          <a:xfrm xmlns:a="http://schemas.openxmlformats.org/drawingml/2006/main">
            <a:off x="822960" y="3646475"/>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D9A441"/>
                </a:solidFill>
                <a:latin typeface="Calibri"/>
                <a:ea typeface="Calibri"/>
                <a:cs typeface="Calibri"/>
              </a:rPr>
              <a:t>3.  </a:t>
            </a:r>
            <a:r>
              <a:rPr sz="1900">
                <a:solidFill>
                  <a:srgbClr val="142A44"/>
                </a:solidFill>
                <a:latin typeface="Calibri"/>
                <a:ea typeface="Calibri"/>
                <a:cs typeface="Calibri"/>
              </a:rPr>
              <a:t>"Roman, tiyatro oyunundan çok daha etkileyicidir." — hangi kavram?</a:t>
            </a:r>
            <a:endParaRPr sz="1900"/>
          </a:p>
        </p:txBody>
      </p:sp>
      <p:sp>
        <p:nvSpPr>
          <p:cNvPr id="13" name="Shape 10">
            <a:extLst xmlns:a="http://schemas.openxmlformats.org/drawingml/2006/main">
              <a:ext uri="{FF2B5EF4-FFF2-40B4-BE49-F238E27FC236}">
                <a16:creationId xmlns:a16="http://schemas.microsoft.com/office/drawing/2014/main" id="{0A84915F-FC92-462A-B317-6ECFED7F21F5}"/>
              </a:ext>
            </a:extLst>
          </p:cNvPr>
          <p:cNvSpPr>
            <a:spLocks xmlns:a="http://schemas.openxmlformats.org/drawingml/2006/main" noGrp="1"/>
          </p:cNvSpPr>
          <p:nvPr/>
        </p:nvSpPr>
        <p:spPr>
          <a:xfrm xmlns:a="http://schemas.openxmlformats.org/drawingml/2006/main">
            <a:off x="6172200" y="3646475"/>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14" name="Text 11">
            <a:extLst xmlns:a="http://schemas.openxmlformats.org/drawingml/2006/main">
              <a:ext uri="{FF2B5EF4-FFF2-40B4-BE49-F238E27FC236}">
                <a16:creationId xmlns:a16="http://schemas.microsoft.com/office/drawing/2014/main" id="{F2DBB8AE-E22D-45D3-95B0-8F6F221F7ACD}"/>
              </a:ext>
            </a:extLst>
          </p:cNvPr>
          <p:cNvSpPr>
            <a:spLocks xmlns:a="http://schemas.openxmlformats.org/drawingml/2006/main" noGrp="1"/>
          </p:cNvSpPr>
          <p:nvPr/>
        </p:nvSpPr>
        <p:spPr>
          <a:xfrm xmlns:a="http://schemas.openxmlformats.org/drawingml/2006/main">
            <a:off x="6355080" y="3646475"/>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D9A441"/>
                </a:solidFill>
                <a:latin typeface="Calibri"/>
                <a:ea typeface="Calibri"/>
                <a:cs typeface="Calibri"/>
              </a:rPr>
              <a:t>4.  </a:t>
            </a:r>
            <a:r>
              <a:rPr sz="1900">
                <a:solidFill>
                  <a:srgbClr val="142A44"/>
                </a:solidFill>
                <a:latin typeface="Calibri"/>
                <a:ea typeface="Calibri"/>
                <a:cs typeface="Calibri"/>
              </a:rPr>
              <a:t>"Yazarın bu eseri, önceki kitaplarına göre daha zayıf kalmış." — hangi kavram?</a:t>
            </a:r>
            <a:endParaRPr sz="1900"/>
          </a:p>
        </p:txBody>
      </p:sp>
      <p:sp>
        <p:nvSpPr>
          <p:cNvPr id="15" name="Shape 12">
            <a:extLst xmlns:a="http://schemas.openxmlformats.org/drawingml/2006/main">
              <a:ext uri="{FF2B5EF4-FFF2-40B4-BE49-F238E27FC236}">
                <a16:creationId xmlns:a16="http://schemas.microsoft.com/office/drawing/2014/main" id="{37124DDB-3083-4E6F-BE1B-26A2BADEC946}"/>
              </a:ext>
            </a:extLst>
          </p:cNvPr>
          <p:cNvSpPr>
            <a:spLocks xmlns:a="http://schemas.openxmlformats.org/drawingml/2006/main" noGrp="1"/>
          </p:cNvSpPr>
          <p:nvPr/>
        </p:nvSpPr>
        <p:spPr>
          <a:xfrm xmlns:a="http://schemas.openxmlformats.org/drawingml/2006/main">
            <a:off x="640080" y="4588307"/>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16" name="Text 13">
            <a:extLst xmlns:a="http://schemas.openxmlformats.org/drawingml/2006/main">
              <a:ext uri="{FF2B5EF4-FFF2-40B4-BE49-F238E27FC236}">
                <a16:creationId xmlns:a16="http://schemas.microsoft.com/office/drawing/2014/main" id="{3AEADE11-C317-4081-87C8-EA96D09B48F8}"/>
              </a:ext>
            </a:extLst>
          </p:cNvPr>
          <p:cNvSpPr>
            <a:spLocks xmlns:a="http://schemas.openxmlformats.org/drawingml/2006/main" noGrp="1"/>
          </p:cNvSpPr>
          <p:nvPr/>
        </p:nvSpPr>
        <p:spPr>
          <a:xfrm xmlns:a="http://schemas.openxmlformats.org/drawingml/2006/main">
            <a:off x="822960" y="4588307"/>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D9A441"/>
                </a:solidFill>
                <a:latin typeface="Calibri"/>
                <a:ea typeface="Calibri"/>
                <a:cs typeface="Calibri"/>
              </a:rPr>
              <a:t>5.  </a:t>
            </a:r>
            <a:r>
              <a:rPr sz="1900">
                <a:solidFill>
                  <a:srgbClr val="142A44"/>
                </a:solidFill>
                <a:latin typeface="Calibri"/>
                <a:ea typeface="Calibri"/>
                <a:cs typeface="Calibri"/>
              </a:rPr>
              <a:t>"Yağmur yağarsa saha ıslanacağı için maç ertelenebilir." — hangi kavram?</a:t>
            </a:r>
            <a:endParaRPr sz="1900"/>
          </a:p>
        </p:txBody>
      </p:sp>
      <p:sp>
        <p:nvSpPr>
          <p:cNvPr id="17" name="Shape 14">
            <a:extLst xmlns:a="http://schemas.openxmlformats.org/drawingml/2006/main">
              <a:ext uri="{FF2B5EF4-FFF2-40B4-BE49-F238E27FC236}">
                <a16:creationId xmlns:a16="http://schemas.microsoft.com/office/drawing/2014/main" id="{BF8F89D6-A632-4201-89D3-A55760CB1F19}"/>
              </a:ext>
            </a:extLst>
          </p:cNvPr>
          <p:cNvSpPr>
            <a:spLocks xmlns:a="http://schemas.openxmlformats.org/drawingml/2006/main" noGrp="1"/>
          </p:cNvSpPr>
          <p:nvPr/>
        </p:nvSpPr>
        <p:spPr>
          <a:xfrm xmlns:a="http://schemas.openxmlformats.org/drawingml/2006/main">
            <a:off x="6172200" y="4588307"/>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18" name="Text 15">
            <a:extLst xmlns:a="http://schemas.openxmlformats.org/drawingml/2006/main">
              <a:ext uri="{FF2B5EF4-FFF2-40B4-BE49-F238E27FC236}">
                <a16:creationId xmlns:a16="http://schemas.microsoft.com/office/drawing/2014/main" id="{660CAAAD-E07C-4A9D-BCE9-E3A2733A0425}"/>
              </a:ext>
            </a:extLst>
          </p:cNvPr>
          <p:cNvSpPr>
            <a:spLocks xmlns:a="http://schemas.openxmlformats.org/drawingml/2006/main" noGrp="1"/>
          </p:cNvSpPr>
          <p:nvPr/>
        </p:nvSpPr>
        <p:spPr>
          <a:xfrm xmlns:a="http://schemas.openxmlformats.org/drawingml/2006/main">
            <a:off x="6355080" y="4588307"/>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D9A441"/>
                </a:solidFill>
                <a:latin typeface="Calibri"/>
                <a:ea typeface="Calibri"/>
                <a:cs typeface="Calibri"/>
              </a:rPr>
              <a:t>6.  </a:t>
            </a:r>
            <a:r>
              <a:rPr sz="1900">
                <a:solidFill>
                  <a:srgbClr val="142A44"/>
                </a:solidFill>
                <a:latin typeface="Calibri"/>
                <a:ea typeface="Calibri"/>
                <a:cs typeface="Calibri"/>
              </a:rPr>
              <a:t>"Herkes bu şiiri mutlaka sevecektir." — hangi kavram?</a:t>
            </a:r>
            <a:endParaRPr sz="1900"/>
          </a:p>
        </p:txBody>
      </p:sp>
      <p:sp>
        <p:nvSpPr>
          <p:cNvPr id="19" name="Shape 16">
            <a:extLst xmlns:a="http://schemas.openxmlformats.org/drawingml/2006/main">
              <a:ext uri="{FF2B5EF4-FFF2-40B4-BE49-F238E27FC236}">
                <a16:creationId xmlns:a16="http://schemas.microsoft.com/office/drawing/2014/main" id="{44D57F32-1263-4CE5-9D53-B99F5A2C329A}"/>
              </a:ext>
            </a:extLst>
          </p:cNvPr>
          <p:cNvSpPr>
            <a:spLocks xmlns:a="http://schemas.openxmlformats.org/drawingml/2006/main" noGrp="1"/>
          </p:cNvSpPr>
          <p:nvPr/>
        </p:nvSpPr>
        <p:spPr>
          <a:xfrm xmlns:a="http://schemas.openxmlformats.org/drawingml/2006/main">
            <a:off x="640080" y="5530139"/>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20" name="Text 17">
            <a:extLst xmlns:a="http://schemas.openxmlformats.org/drawingml/2006/main">
              <a:ext uri="{FF2B5EF4-FFF2-40B4-BE49-F238E27FC236}">
                <a16:creationId xmlns:a16="http://schemas.microsoft.com/office/drawing/2014/main" id="{108BD9D7-0C48-47B8-A16F-A64BB70BB562}"/>
              </a:ext>
            </a:extLst>
          </p:cNvPr>
          <p:cNvSpPr>
            <a:spLocks xmlns:a="http://schemas.openxmlformats.org/drawingml/2006/main" noGrp="1"/>
          </p:cNvSpPr>
          <p:nvPr/>
        </p:nvSpPr>
        <p:spPr>
          <a:xfrm xmlns:a="http://schemas.openxmlformats.org/drawingml/2006/main">
            <a:off x="822960" y="5530139"/>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D9A441"/>
                </a:solidFill>
                <a:latin typeface="Calibri"/>
                <a:ea typeface="Calibri"/>
                <a:cs typeface="Calibri"/>
              </a:rPr>
              <a:t>7.  </a:t>
            </a:r>
            <a:r>
              <a:rPr sz="1900">
                <a:solidFill>
                  <a:srgbClr val="142A44"/>
                </a:solidFill>
                <a:latin typeface="Calibri"/>
                <a:ea typeface="Calibri"/>
                <a:cs typeface="Calibri"/>
              </a:rPr>
              <a:t>"Sanki bütün şehir o gece hiç uyumamış gibiydi." — hangi kavram?</a:t>
            </a:r>
            <a:endParaRPr sz="1900"/>
          </a:p>
        </p:txBody>
      </p:sp>
      <p:sp>
        <p:nvSpPr>
          <p:cNvPr id="21" name="Shape 18">
            <a:extLst xmlns:a="http://schemas.openxmlformats.org/drawingml/2006/main">
              <a:ext uri="{FF2B5EF4-FFF2-40B4-BE49-F238E27FC236}">
                <a16:creationId xmlns:a16="http://schemas.microsoft.com/office/drawing/2014/main" id="{E3D95E74-EA10-444E-95DE-A3CC6F68A2F5}"/>
              </a:ext>
            </a:extLst>
          </p:cNvPr>
          <p:cNvSpPr>
            <a:spLocks xmlns:a="http://schemas.openxmlformats.org/drawingml/2006/main" noGrp="1"/>
          </p:cNvSpPr>
          <p:nvPr/>
        </p:nvSpPr>
        <p:spPr>
          <a:xfrm xmlns:a="http://schemas.openxmlformats.org/drawingml/2006/main">
            <a:off x="6172200" y="5530139"/>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22" name="Text 19">
            <a:extLst xmlns:a="http://schemas.openxmlformats.org/drawingml/2006/main">
              <a:ext uri="{FF2B5EF4-FFF2-40B4-BE49-F238E27FC236}">
                <a16:creationId xmlns:a16="http://schemas.microsoft.com/office/drawing/2014/main" id="{86D56C91-3AE9-4B17-B18E-1655DBF95119}"/>
              </a:ext>
            </a:extLst>
          </p:cNvPr>
          <p:cNvSpPr>
            <a:spLocks xmlns:a="http://schemas.openxmlformats.org/drawingml/2006/main" noGrp="1"/>
          </p:cNvSpPr>
          <p:nvPr/>
        </p:nvSpPr>
        <p:spPr>
          <a:xfrm xmlns:a="http://schemas.openxmlformats.org/drawingml/2006/main">
            <a:off x="6355080" y="5530139"/>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D9A441"/>
                </a:solidFill>
                <a:latin typeface="Calibri"/>
                <a:ea typeface="Calibri"/>
                <a:cs typeface="Calibri"/>
              </a:rPr>
              <a:t>8.  </a:t>
            </a:r>
            <a:r>
              <a:rPr sz="1900">
                <a:solidFill>
                  <a:srgbClr val="142A44"/>
                </a:solidFill>
                <a:latin typeface="Calibri"/>
                <a:ea typeface="Calibri"/>
                <a:cs typeface="Calibri"/>
              </a:rPr>
              <a:t>"Başarılı olmak için düzenli çalışmak gerekir." — hangi kavram?</a:t>
            </a:r>
            <a:endParaRPr sz="1900"/>
          </a:p>
        </p:txBody>
      </p:sp>
      <p:sp>
        <p:nvSpPr>
          <p:cNvPr id="23" name="Text 20">
            <a:extLst xmlns:a="http://schemas.openxmlformats.org/drawingml/2006/main">
              <a:ext uri="{FF2B5EF4-FFF2-40B4-BE49-F238E27FC236}">
                <a16:creationId xmlns:a16="http://schemas.microsoft.com/office/drawing/2014/main" id="{9B71819C-CA92-4E76-A038-88A796CE3D28}"/>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Sınıf Etkinliği</a:t>
            </a:r>
            <a:endParaRPr sz="900"/>
          </a:p>
        </p:txBody>
      </p:sp>
      <p:sp>
        <p:nvSpPr>
          <p:cNvPr id="24" name="Text 21">
            <a:extLst xmlns:a="http://schemas.openxmlformats.org/drawingml/2006/main">
              <a:ext uri="{FF2B5EF4-FFF2-40B4-BE49-F238E27FC236}">
                <a16:creationId xmlns:a16="http://schemas.microsoft.com/office/drawing/2014/main" id="{E69CF7DF-A3CC-4F3E-BC61-19BCDF8C8160}"/>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9433451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2992DD1-B5AA-404F-B3CD-322B17283196}"/>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b921020d458e448c"/>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7C474E9A-4A8A-41A2-AB91-9329A6CA33E8}"/>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ETKINLIK</a:t>
            </a:r>
            <a:endParaRPr sz="1300"/>
          </a:p>
        </p:txBody>
      </p:sp>
      <p:sp>
        <p:nvSpPr>
          <p:cNvPr id="5" name="Text 2">
            <a:extLst xmlns:a="http://schemas.openxmlformats.org/drawingml/2006/main">
              <a:ext uri="{FF2B5EF4-FFF2-40B4-BE49-F238E27FC236}">
                <a16:creationId xmlns:a16="http://schemas.microsoft.com/office/drawing/2014/main" id="{9C21E95D-7465-4B00-92BD-57805E3F84E6}"/>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Cevap Anahtarı</a:t>
            </a:r>
            <a:endParaRPr sz="2800"/>
          </a:p>
        </p:txBody>
      </p:sp>
      <p:sp>
        <p:nvSpPr>
          <p:cNvPr id="6" name="Shape 3">
            <a:extLst xmlns:a="http://schemas.openxmlformats.org/drawingml/2006/main">
              <a:ext uri="{FF2B5EF4-FFF2-40B4-BE49-F238E27FC236}">
                <a16:creationId xmlns:a16="http://schemas.microsoft.com/office/drawing/2014/main" id="{4D259726-F272-4BED-A39A-5268AFE37CCA}"/>
              </a:ext>
            </a:extLst>
          </p:cNvPr>
          <p:cNvSpPr>
            <a:spLocks xmlns:a="http://schemas.openxmlformats.org/drawingml/2006/main" noGrp="1"/>
          </p:cNvSpPr>
          <p:nvPr/>
        </p:nvSpPr>
        <p:spPr>
          <a:xfrm xmlns:a="http://schemas.openxmlformats.org/drawingml/2006/main">
            <a:off x="640080" y="1828800"/>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7" name="Text 4">
            <a:extLst xmlns:a="http://schemas.openxmlformats.org/drawingml/2006/main">
              <a:ext uri="{FF2B5EF4-FFF2-40B4-BE49-F238E27FC236}">
                <a16:creationId xmlns:a16="http://schemas.microsoft.com/office/drawing/2014/main" id="{D42FB120-A07D-4E76-BF8C-0C6858D3F441}"/>
              </a:ext>
            </a:extLst>
          </p:cNvPr>
          <p:cNvSpPr>
            <a:spLocks xmlns:a="http://schemas.openxmlformats.org/drawingml/2006/main" noGrp="1"/>
          </p:cNvSpPr>
          <p:nvPr/>
        </p:nvSpPr>
        <p:spPr>
          <a:xfrm xmlns:a="http://schemas.openxmlformats.org/drawingml/2006/main">
            <a:off x="777240" y="196596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1.</a:t>
            </a:r>
            <a:endParaRPr sz="2000"/>
          </a:p>
        </p:txBody>
      </p:sp>
      <p:sp>
        <p:nvSpPr>
          <p:cNvPr id="8" name="Shape 5">
            <a:extLst xmlns:a="http://schemas.openxmlformats.org/drawingml/2006/main">
              <a:ext uri="{FF2B5EF4-FFF2-40B4-BE49-F238E27FC236}">
                <a16:creationId xmlns:a16="http://schemas.microsoft.com/office/drawing/2014/main" id="{180CCAF6-3131-46E3-A97F-FA5CE9D40CB7}"/>
              </a:ext>
            </a:extLst>
          </p:cNvPr>
          <p:cNvSpPr>
            <a:spLocks xmlns:a="http://schemas.openxmlformats.org/drawingml/2006/main" noGrp="1"/>
          </p:cNvSpPr>
          <p:nvPr/>
        </p:nvSpPr>
        <p:spPr>
          <a:xfrm xmlns:a="http://schemas.openxmlformats.org/drawingml/2006/main">
            <a:off x="777240" y="2377440"/>
            <a:ext cx="2286000" cy="685800"/>
          </a:xfrm>
          <a:prstGeom xmlns:a="http://schemas.openxmlformats.org/drawingml/2006/main" prst="roundRect">
            <a:avLst>
              <a:gd name="adj" fmla="val 10667"/>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9" name="Text 6">
            <a:extLst xmlns:a="http://schemas.openxmlformats.org/drawingml/2006/main">
              <a:ext uri="{FF2B5EF4-FFF2-40B4-BE49-F238E27FC236}">
                <a16:creationId xmlns:a16="http://schemas.microsoft.com/office/drawing/2014/main" id="{FE003B6E-2009-49B3-9400-B1496A17C922}"/>
              </a:ext>
            </a:extLst>
          </p:cNvPr>
          <p:cNvSpPr>
            <a:spLocks xmlns:a="http://schemas.openxmlformats.org/drawingml/2006/main" noGrp="1"/>
          </p:cNvSpPr>
          <p:nvPr/>
        </p:nvSpPr>
        <p:spPr>
          <a:xfrm xmlns:a="http://schemas.openxmlformats.org/drawingml/2006/main">
            <a:off x="777240" y="2377440"/>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ÖZNEL</a:t>
            </a:r>
            <a:endParaRPr sz="2100"/>
          </a:p>
        </p:txBody>
      </p:sp>
      <p:sp>
        <p:nvSpPr>
          <p:cNvPr id="10" name="Text 7">
            <a:extLst xmlns:a="http://schemas.openxmlformats.org/drawingml/2006/main">
              <a:ext uri="{FF2B5EF4-FFF2-40B4-BE49-F238E27FC236}">
                <a16:creationId xmlns:a16="http://schemas.microsoft.com/office/drawing/2014/main" id="{E6D67EF1-365B-42F2-BCB2-7EB0691D0755}"/>
              </a:ext>
            </a:extLst>
          </p:cNvPr>
          <p:cNvSpPr>
            <a:spLocks xmlns:a="http://schemas.openxmlformats.org/drawingml/2006/main" noGrp="1"/>
          </p:cNvSpPr>
          <p:nvPr/>
        </p:nvSpPr>
        <p:spPr>
          <a:xfrm xmlns:a="http://schemas.openxmlformats.org/drawingml/2006/main">
            <a:off x="777240" y="315468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6B7280"/>
                </a:solidFill>
                <a:latin typeface="Calibri"/>
                <a:ea typeface="Calibri"/>
                <a:cs typeface="Calibri"/>
              </a:rPr>
              <a:t>"en özgün" kanıtlanamaz, kişisel yargı</a:t>
            </a:r>
            <a:endParaRPr sz="900"/>
          </a:p>
        </p:txBody>
      </p:sp>
      <p:sp>
        <p:nvSpPr>
          <p:cNvPr id="11" name="Shape 8">
            <a:extLst xmlns:a="http://schemas.openxmlformats.org/drawingml/2006/main">
              <a:ext uri="{FF2B5EF4-FFF2-40B4-BE49-F238E27FC236}">
                <a16:creationId xmlns:a16="http://schemas.microsoft.com/office/drawing/2014/main" id="{50ADC80F-29CD-4605-BCD7-4A4DAC1478B4}"/>
              </a:ext>
            </a:extLst>
          </p:cNvPr>
          <p:cNvSpPr>
            <a:spLocks xmlns:a="http://schemas.openxmlformats.org/drawingml/2006/main" noGrp="1"/>
          </p:cNvSpPr>
          <p:nvPr/>
        </p:nvSpPr>
        <p:spPr>
          <a:xfrm xmlns:a="http://schemas.openxmlformats.org/drawingml/2006/main">
            <a:off x="3383280" y="1828800"/>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12" name="Text 9">
            <a:extLst xmlns:a="http://schemas.openxmlformats.org/drawingml/2006/main">
              <a:ext uri="{FF2B5EF4-FFF2-40B4-BE49-F238E27FC236}">
                <a16:creationId xmlns:a16="http://schemas.microsoft.com/office/drawing/2014/main" id="{0E5B3ECE-2AC2-44EF-8AEF-355A37611688}"/>
              </a:ext>
            </a:extLst>
          </p:cNvPr>
          <p:cNvSpPr>
            <a:spLocks xmlns:a="http://schemas.openxmlformats.org/drawingml/2006/main" noGrp="1"/>
          </p:cNvSpPr>
          <p:nvPr/>
        </p:nvSpPr>
        <p:spPr>
          <a:xfrm xmlns:a="http://schemas.openxmlformats.org/drawingml/2006/main">
            <a:off x="3520440" y="196596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2.</a:t>
            </a:r>
            <a:endParaRPr sz="2000"/>
          </a:p>
        </p:txBody>
      </p:sp>
      <p:sp>
        <p:nvSpPr>
          <p:cNvPr id="13" name="Shape 10">
            <a:extLst xmlns:a="http://schemas.openxmlformats.org/drawingml/2006/main">
              <a:ext uri="{FF2B5EF4-FFF2-40B4-BE49-F238E27FC236}">
                <a16:creationId xmlns:a16="http://schemas.microsoft.com/office/drawing/2014/main" id="{D5D9B334-D950-4529-8382-FB97C3788679}"/>
              </a:ext>
            </a:extLst>
          </p:cNvPr>
          <p:cNvSpPr>
            <a:spLocks xmlns:a="http://schemas.openxmlformats.org/drawingml/2006/main" noGrp="1"/>
          </p:cNvSpPr>
          <p:nvPr/>
        </p:nvSpPr>
        <p:spPr>
          <a:xfrm xmlns:a="http://schemas.openxmlformats.org/drawingml/2006/main">
            <a:off x="3520440" y="2377440"/>
            <a:ext cx="2286000" cy="685800"/>
          </a:xfrm>
          <a:prstGeom xmlns:a="http://schemas.openxmlformats.org/drawingml/2006/main" prst="roundRect">
            <a:avLst>
              <a:gd name="adj" fmla="val 10667"/>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14" name="Text 11">
            <a:extLst xmlns:a="http://schemas.openxmlformats.org/drawingml/2006/main">
              <a:ext uri="{FF2B5EF4-FFF2-40B4-BE49-F238E27FC236}">
                <a16:creationId xmlns:a16="http://schemas.microsoft.com/office/drawing/2014/main" id="{0F542FC4-5F30-4B3D-95BC-97B18BDF447A}"/>
              </a:ext>
            </a:extLst>
          </p:cNvPr>
          <p:cNvSpPr>
            <a:spLocks xmlns:a="http://schemas.openxmlformats.org/drawingml/2006/main" noGrp="1"/>
          </p:cNvSpPr>
          <p:nvPr/>
        </p:nvSpPr>
        <p:spPr>
          <a:xfrm xmlns:a="http://schemas.openxmlformats.org/drawingml/2006/main">
            <a:off x="3520440" y="2377440"/>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NESNEL</a:t>
            </a:r>
            <a:endParaRPr sz="2100"/>
          </a:p>
        </p:txBody>
      </p:sp>
      <p:sp>
        <p:nvSpPr>
          <p:cNvPr id="15" name="Text 12">
            <a:extLst xmlns:a="http://schemas.openxmlformats.org/drawingml/2006/main">
              <a:ext uri="{FF2B5EF4-FFF2-40B4-BE49-F238E27FC236}">
                <a16:creationId xmlns:a16="http://schemas.microsoft.com/office/drawing/2014/main" id="{EDBFC887-91D2-4237-A62A-0CA0777C2237}"/>
              </a:ext>
            </a:extLst>
          </p:cNvPr>
          <p:cNvSpPr>
            <a:spLocks xmlns:a="http://schemas.openxmlformats.org/drawingml/2006/main" noGrp="1"/>
          </p:cNvSpPr>
          <p:nvPr/>
        </p:nvSpPr>
        <p:spPr>
          <a:xfrm xmlns:a="http://schemas.openxmlformats.org/drawingml/2006/main">
            <a:off x="3520440" y="315468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6B7280"/>
                </a:solidFill>
                <a:latin typeface="Calibri"/>
                <a:ea typeface="Calibri"/>
                <a:cs typeface="Calibri"/>
              </a:rPr>
              <a:t>"42 tablo" sayısal, kanıtlanabilir</a:t>
            </a:r>
            <a:endParaRPr sz="900"/>
          </a:p>
        </p:txBody>
      </p:sp>
      <p:sp>
        <p:nvSpPr>
          <p:cNvPr id="16" name="Shape 13">
            <a:extLst xmlns:a="http://schemas.openxmlformats.org/drawingml/2006/main">
              <a:ext uri="{FF2B5EF4-FFF2-40B4-BE49-F238E27FC236}">
                <a16:creationId xmlns:a16="http://schemas.microsoft.com/office/drawing/2014/main" id="{AB464762-284F-4FF3-911F-5F444E2D99FC}"/>
              </a:ext>
            </a:extLst>
          </p:cNvPr>
          <p:cNvSpPr>
            <a:spLocks xmlns:a="http://schemas.openxmlformats.org/drawingml/2006/main" noGrp="1"/>
          </p:cNvSpPr>
          <p:nvPr/>
        </p:nvSpPr>
        <p:spPr>
          <a:xfrm xmlns:a="http://schemas.openxmlformats.org/drawingml/2006/main">
            <a:off x="6126480" y="1828800"/>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17" name="Text 14">
            <a:extLst xmlns:a="http://schemas.openxmlformats.org/drawingml/2006/main">
              <a:ext uri="{FF2B5EF4-FFF2-40B4-BE49-F238E27FC236}">
                <a16:creationId xmlns:a16="http://schemas.microsoft.com/office/drawing/2014/main" id="{1E07222A-29AD-4CB6-A389-80E4D12EFB78}"/>
              </a:ext>
            </a:extLst>
          </p:cNvPr>
          <p:cNvSpPr>
            <a:spLocks xmlns:a="http://schemas.openxmlformats.org/drawingml/2006/main" noGrp="1"/>
          </p:cNvSpPr>
          <p:nvPr/>
        </p:nvSpPr>
        <p:spPr>
          <a:xfrm xmlns:a="http://schemas.openxmlformats.org/drawingml/2006/main">
            <a:off x="6263640" y="196596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3.</a:t>
            </a:r>
            <a:endParaRPr sz="2000"/>
          </a:p>
        </p:txBody>
      </p:sp>
      <p:sp>
        <p:nvSpPr>
          <p:cNvPr id="18" name="Shape 15">
            <a:extLst xmlns:a="http://schemas.openxmlformats.org/drawingml/2006/main">
              <a:ext uri="{FF2B5EF4-FFF2-40B4-BE49-F238E27FC236}">
                <a16:creationId xmlns:a16="http://schemas.microsoft.com/office/drawing/2014/main" id="{EA1BAC29-423A-42D6-9C62-064B9C046155}"/>
              </a:ext>
            </a:extLst>
          </p:cNvPr>
          <p:cNvSpPr>
            <a:spLocks xmlns:a="http://schemas.openxmlformats.org/drawingml/2006/main" noGrp="1"/>
          </p:cNvSpPr>
          <p:nvPr/>
        </p:nvSpPr>
        <p:spPr>
          <a:xfrm xmlns:a="http://schemas.openxmlformats.org/drawingml/2006/main">
            <a:off x="6263640" y="2377440"/>
            <a:ext cx="2286000" cy="685800"/>
          </a:xfrm>
          <a:prstGeom xmlns:a="http://schemas.openxmlformats.org/drawingml/2006/main" prst="roundRect">
            <a:avLst>
              <a:gd name="adj" fmla="val 10667"/>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19" name="Text 16">
            <a:extLst xmlns:a="http://schemas.openxmlformats.org/drawingml/2006/main">
              <a:ext uri="{FF2B5EF4-FFF2-40B4-BE49-F238E27FC236}">
                <a16:creationId xmlns:a16="http://schemas.microsoft.com/office/drawing/2014/main" id="{5168FC5A-CCE0-444B-AF26-DD2EF75173F3}"/>
              </a:ext>
            </a:extLst>
          </p:cNvPr>
          <p:cNvSpPr>
            <a:spLocks xmlns:a="http://schemas.openxmlformats.org/drawingml/2006/main" noGrp="1"/>
          </p:cNvSpPr>
          <p:nvPr/>
        </p:nvSpPr>
        <p:spPr>
          <a:xfrm xmlns:a="http://schemas.openxmlformats.org/drawingml/2006/main">
            <a:off x="6263640" y="2377440"/>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KARŞILAŞTIRMA</a:t>
            </a:r>
            <a:endParaRPr sz="2100"/>
          </a:p>
        </p:txBody>
      </p:sp>
      <p:sp>
        <p:nvSpPr>
          <p:cNvPr id="20" name="Text 17">
            <a:extLst xmlns:a="http://schemas.openxmlformats.org/drawingml/2006/main">
              <a:ext uri="{FF2B5EF4-FFF2-40B4-BE49-F238E27FC236}">
                <a16:creationId xmlns:a16="http://schemas.microsoft.com/office/drawing/2014/main" id="{1B53A453-CC13-40FF-94B9-996FDFFF56FE}"/>
              </a:ext>
            </a:extLst>
          </p:cNvPr>
          <p:cNvSpPr>
            <a:spLocks xmlns:a="http://schemas.openxmlformats.org/drawingml/2006/main" noGrp="1"/>
          </p:cNvSpPr>
          <p:nvPr/>
        </p:nvSpPr>
        <p:spPr>
          <a:xfrm xmlns:a="http://schemas.openxmlformats.org/drawingml/2006/main">
            <a:off x="6263640" y="315468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6B7280"/>
                </a:solidFill>
                <a:latin typeface="Calibri"/>
                <a:ea typeface="Calibri"/>
                <a:cs typeface="Calibri"/>
              </a:rPr>
              <a:t>roman ile oyun "daha" ile kıyaslanıyor</a:t>
            </a:r>
            <a:endParaRPr sz="900"/>
          </a:p>
        </p:txBody>
      </p:sp>
      <p:sp>
        <p:nvSpPr>
          <p:cNvPr id="21" name="Shape 18">
            <a:extLst xmlns:a="http://schemas.openxmlformats.org/drawingml/2006/main">
              <a:ext uri="{FF2B5EF4-FFF2-40B4-BE49-F238E27FC236}">
                <a16:creationId xmlns:a16="http://schemas.microsoft.com/office/drawing/2014/main" id="{846E39ED-8AFF-4ACF-8D0F-CCB1596E5B6F}"/>
              </a:ext>
            </a:extLst>
          </p:cNvPr>
          <p:cNvSpPr>
            <a:spLocks xmlns:a="http://schemas.openxmlformats.org/drawingml/2006/main" noGrp="1"/>
          </p:cNvSpPr>
          <p:nvPr/>
        </p:nvSpPr>
        <p:spPr>
          <a:xfrm xmlns:a="http://schemas.openxmlformats.org/drawingml/2006/main">
            <a:off x="8869680" y="1828800"/>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22" name="Text 19">
            <a:extLst xmlns:a="http://schemas.openxmlformats.org/drawingml/2006/main">
              <a:ext uri="{FF2B5EF4-FFF2-40B4-BE49-F238E27FC236}">
                <a16:creationId xmlns:a16="http://schemas.microsoft.com/office/drawing/2014/main" id="{9AA7CFB6-F72B-447B-99ED-0FD1D0E78FD3}"/>
              </a:ext>
            </a:extLst>
          </p:cNvPr>
          <p:cNvSpPr>
            <a:spLocks xmlns:a="http://schemas.openxmlformats.org/drawingml/2006/main" noGrp="1"/>
          </p:cNvSpPr>
          <p:nvPr/>
        </p:nvSpPr>
        <p:spPr>
          <a:xfrm xmlns:a="http://schemas.openxmlformats.org/drawingml/2006/main">
            <a:off x="9006840" y="196596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4.</a:t>
            </a:r>
            <a:endParaRPr sz="2000"/>
          </a:p>
        </p:txBody>
      </p:sp>
      <p:sp>
        <p:nvSpPr>
          <p:cNvPr id="23" name="Shape 20">
            <a:extLst xmlns:a="http://schemas.openxmlformats.org/drawingml/2006/main">
              <a:ext uri="{FF2B5EF4-FFF2-40B4-BE49-F238E27FC236}">
                <a16:creationId xmlns:a16="http://schemas.microsoft.com/office/drawing/2014/main" id="{0DE7D8BF-73DE-4FCA-BFF3-A9450E2B6B3E}"/>
              </a:ext>
            </a:extLst>
          </p:cNvPr>
          <p:cNvSpPr>
            <a:spLocks xmlns:a="http://schemas.openxmlformats.org/drawingml/2006/main" noGrp="1"/>
          </p:cNvSpPr>
          <p:nvPr/>
        </p:nvSpPr>
        <p:spPr>
          <a:xfrm xmlns:a="http://schemas.openxmlformats.org/drawingml/2006/main">
            <a:off x="9006840" y="2377440"/>
            <a:ext cx="2286000" cy="685800"/>
          </a:xfrm>
          <a:prstGeom xmlns:a="http://schemas.openxmlformats.org/drawingml/2006/main" prst="roundRect">
            <a:avLst>
              <a:gd name="adj" fmla="val 10667"/>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24" name="Text 21">
            <a:extLst xmlns:a="http://schemas.openxmlformats.org/drawingml/2006/main">
              <a:ext uri="{FF2B5EF4-FFF2-40B4-BE49-F238E27FC236}">
                <a16:creationId xmlns:a16="http://schemas.microsoft.com/office/drawing/2014/main" id="{F3B6C795-EFBC-48EE-B4B0-DFB2702DDFC2}"/>
              </a:ext>
            </a:extLst>
          </p:cNvPr>
          <p:cNvSpPr>
            <a:spLocks xmlns:a="http://schemas.openxmlformats.org/drawingml/2006/main" noGrp="1"/>
          </p:cNvSpPr>
          <p:nvPr/>
        </p:nvSpPr>
        <p:spPr>
          <a:xfrm xmlns:a="http://schemas.openxmlformats.org/drawingml/2006/main">
            <a:off x="9006840" y="2377440"/>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DEĞERLENDİRME</a:t>
            </a:r>
            <a:endParaRPr sz="2100"/>
          </a:p>
        </p:txBody>
      </p:sp>
      <p:sp>
        <p:nvSpPr>
          <p:cNvPr id="25" name="Text 22">
            <a:extLst xmlns:a="http://schemas.openxmlformats.org/drawingml/2006/main">
              <a:ext uri="{FF2B5EF4-FFF2-40B4-BE49-F238E27FC236}">
                <a16:creationId xmlns:a16="http://schemas.microsoft.com/office/drawing/2014/main" id="{901A7DD2-3788-4443-AC8A-CD6D2EE39944}"/>
              </a:ext>
            </a:extLst>
          </p:cNvPr>
          <p:cNvSpPr>
            <a:spLocks xmlns:a="http://schemas.openxmlformats.org/drawingml/2006/main" noGrp="1"/>
          </p:cNvSpPr>
          <p:nvPr/>
        </p:nvSpPr>
        <p:spPr>
          <a:xfrm xmlns:a="http://schemas.openxmlformats.org/drawingml/2006/main">
            <a:off x="9006840" y="315468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6B7280"/>
                </a:solidFill>
                <a:latin typeface="Calibri"/>
                <a:ea typeface="Calibri"/>
                <a:cs typeface="Calibri"/>
              </a:rPr>
              <a:t>tek bir esere yönelik olumsuz yargı</a:t>
            </a:r>
            <a:endParaRPr sz="900"/>
          </a:p>
        </p:txBody>
      </p:sp>
      <p:sp>
        <p:nvSpPr>
          <p:cNvPr id="26" name="Shape 23">
            <a:extLst xmlns:a="http://schemas.openxmlformats.org/drawingml/2006/main">
              <a:ext uri="{FF2B5EF4-FFF2-40B4-BE49-F238E27FC236}">
                <a16:creationId xmlns:a16="http://schemas.microsoft.com/office/drawing/2014/main" id="{2C946B8E-1E54-438A-9312-0EBA9B56CC3A}"/>
              </a:ext>
            </a:extLst>
          </p:cNvPr>
          <p:cNvSpPr>
            <a:spLocks xmlns:a="http://schemas.openxmlformats.org/drawingml/2006/main" noGrp="1"/>
          </p:cNvSpPr>
          <p:nvPr/>
        </p:nvSpPr>
        <p:spPr>
          <a:xfrm xmlns:a="http://schemas.openxmlformats.org/drawingml/2006/main">
            <a:off x="640080" y="4238244"/>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27" name="Text 24">
            <a:extLst xmlns:a="http://schemas.openxmlformats.org/drawingml/2006/main">
              <a:ext uri="{FF2B5EF4-FFF2-40B4-BE49-F238E27FC236}">
                <a16:creationId xmlns:a16="http://schemas.microsoft.com/office/drawing/2014/main" id="{C424E960-7388-4249-9516-980F584A41ED}"/>
              </a:ext>
            </a:extLst>
          </p:cNvPr>
          <p:cNvSpPr>
            <a:spLocks xmlns:a="http://schemas.openxmlformats.org/drawingml/2006/main" noGrp="1"/>
          </p:cNvSpPr>
          <p:nvPr/>
        </p:nvSpPr>
        <p:spPr>
          <a:xfrm xmlns:a="http://schemas.openxmlformats.org/drawingml/2006/main">
            <a:off x="777240" y="4375404"/>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5.</a:t>
            </a:r>
            <a:endParaRPr sz="2000"/>
          </a:p>
        </p:txBody>
      </p:sp>
      <p:sp>
        <p:nvSpPr>
          <p:cNvPr id="28" name="Shape 25">
            <a:extLst xmlns:a="http://schemas.openxmlformats.org/drawingml/2006/main">
              <a:ext uri="{FF2B5EF4-FFF2-40B4-BE49-F238E27FC236}">
                <a16:creationId xmlns:a16="http://schemas.microsoft.com/office/drawing/2014/main" id="{36855D9E-4EBE-4A5D-8FE4-9963ADB057BD}"/>
              </a:ext>
            </a:extLst>
          </p:cNvPr>
          <p:cNvSpPr>
            <a:spLocks xmlns:a="http://schemas.openxmlformats.org/drawingml/2006/main" noGrp="1"/>
          </p:cNvSpPr>
          <p:nvPr/>
        </p:nvSpPr>
        <p:spPr>
          <a:xfrm xmlns:a="http://schemas.openxmlformats.org/drawingml/2006/main">
            <a:off x="777240" y="4786884"/>
            <a:ext cx="2286000" cy="685800"/>
          </a:xfrm>
          <a:prstGeom xmlns:a="http://schemas.openxmlformats.org/drawingml/2006/main" prst="roundRect">
            <a:avLst>
              <a:gd name="adj" fmla="val 10667"/>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29" name="Text 26">
            <a:extLst xmlns:a="http://schemas.openxmlformats.org/drawingml/2006/main">
              <a:ext uri="{FF2B5EF4-FFF2-40B4-BE49-F238E27FC236}">
                <a16:creationId xmlns:a16="http://schemas.microsoft.com/office/drawing/2014/main" id="{B1EA6CB3-63BA-492C-B59F-34E9F46B598D}"/>
              </a:ext>
            </a:extLst>
          </p:cNvPr>
          <p:cNvSpPr>
            <a:spLocks xmlns:a="http://schemas.openxmlformats.org/drawingml/2006/main" noGrp="1"/>
          </p:cNvSpPr>
          <p:nvPr/>
        </p:nvSpPr>
        <p:spPr>
          <a:xfrm xmlns:a="http://schemas.openxmlformats.org/drawingml/2006/main">
            <a:off x="777240" y="4786884"/>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Calibri"/>
                <a:ea typeface="Calibri"/>
                <a:cs typeface="Calibri"/>
              </a:rPr>
              <a:t>SEBEP-SONUÇ / KOŞUL</a:t>
            </a:r>
            <a:endParaRPr sz="1900"/>
          </a:p>
        </p:txBody>
      </p:sp>
      <p:sp>
        <p:nvSpPr>
          <p:cNvPr id="30" name="Text 27">
            <a:extLst xmlns:a="http://schemas.openxmlformats.org/drawingml/2006/main">
              <a:ext uri="{FF2B5EF4-FFF2-40B4-BE49-F238E27FC236}">
                <a16:creationId xmlns:a16="http://schemas.microsoft.com/office/drawing/2014/main" id="{F500E0C7-BDF5-4C39-8C5E-27D3B27A8F37}"/>
              </a:ext>
            </a:extLst>
          </p:cNvPr>
          <p:cNvSpPr>
            <a:spLocks xmlns:a="http://schemas.openxmlformats.org/drawingml/2006/main" noGrp="1"/>
          </p:cNvSpPr>
          <p:nvPr/>
        </p:nvSpPr>
        <p:spPr>
          <a:xfrm xmlns:a="http://schemas.openxmlformats.org/drawingml/2006/main">
            <a:off x="777240" y="5564124"/>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6B7280"/>
                </a:solidFill>
                <a:latin typeface="Calibri"/>
                <a:ea typeface="Calibri"/>
                <a:cs typeface="Calibri"/>
              </a:rPr>
              <a:t>"yağarsa" koşul, "ıslanacağı için" sebep-sonuç</a:t>
            </a:r>
            <a:endParaRPr sz="900"/>
          </a:p>
        </p:txBody>
      </p:sp>
      <p:sp>
        <p:nvSpPr>
          <p:cNvPr id="31" name="Shape 28">
            <a:extLst xmlns:a="http://schemas.openxmlformats.org/drawingml/2006/main">
              <a:ext uri="{FF2B5EF4-FFF2-40B4-BE49-F238E27FC236}">
                <a16:creationId xmlns:a16="http://schemas.microsoft.com/office/drawing/2014/main" id="{0C8AE4A8-8C53-481B-AE74-0C44DB7A48C2}"/>
              </a:ext>
            </a:extLst>
          </p:cNvPr>
          <p:cNvSpPr>
            <a:spLocks xmlns:a="http://schemas.openxmlformats.org/drawingml/2006/main" noGrp="1"/>
          </p:cNvSpPr>
          <p:nvPr/>
        </p:nvSpPr>
        <p:spPr>
          <a:xfrm xmlns:a="http://schemas.openxmlformats.org/drawingml/2006/main">
            <a:off x="3383280" y="4238244"/>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32" name="Text 29">
            <a:extLst xmlns:a="http://schemas.openxmlformats.org/drawingml/2006/main">
              <a:ext uri="{FF2B5EF4-FFF2-40B4-BE49-F238E27FC236}">
                <a16:creationId xmlns:a16="http://schemas.microsoft.com/office/drawing/2014/main" id="{E0AEB6BF-23C4-4C84-9290-B741B95684DD}"/>
              </a:ext>
            </a:extLst>
          </p:cNvPr>
          <p:cNvSpPr>
            <a:spLocks xmlns:a="http://schemas.openxmlformats.org/drawingml/2006/main" noGrp="1"/>
          </p:cNvSpPr>
          <p:nvPr/>
        </p:nvSpPr>
        <p:spPr>
          <a:xfrm xmlns:a="http://schemas.openxmlformats.org/drawingml/2006/main">
            <a:off x="3520440" y="4375404"/>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6.</a:t>
            </a:r>
            <a:endParaRPr sz="2000"/>
          </a:p>
        </p:txBody>
      </p:sp>
      <p:sp>
        <p:nvSpPr>
          <p:cNvPr id="33" name="Shape 30">
            <a:extLst xmlns:a="http://schemas.openxmlformats.org/drawingml/2006/main">
              <a:ext uri="{FF2B5EF4-FFF2-40B4-BE49-F238E27FC236}">
                <a16:creationId xmlns:a16="http://schemas.microsoft.com/office/drawing/2014/main" id="{CEAE24E8-A82D-4AE9-945C-EE1AEC3D6BE3}"/>
              </a:ext>
            </a:extLst>
          </p:cNvPr>
          <p:cNvSpPr>
            <a:spLocks xmlns:a="http://schemas.openxmlformats.org/drawingml/2006/main" noGrp="1"/>
          </p:cNvSpPr>
          <p:nvPr/>
        </p:nvSpPr>
        <p:spPr>
          <a:xfrm xmlns:a="http://schemas.openxmlformats.org/drawingml/2006/main">
            <a:off x="3520440" y="4786884"/>
            <a:ext cx="2286000" cy="685800"/>
          </a:xfrm>
          <a:prstGeom xmlns:a="http://schemas.openxmlformats.org/drawingml/2006/main" prst="roundRect">
            <a:avLst>
              <a:gd name="adj" fmla="val 10667"/>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34" name="Text 31">
            <a:extLst xmlns:a="http://schemas.openxmlformats.org/drawingml/2006/main">
              <a:ext uri="{FF2B5EF4-FFF2-40B4-BE49-F238E27FC236}">
                <a16:creationId xmlns:a16="http://schemas.microsoft.com/office/drawing/2014/main" id="{6850A52A-F8E0-424A-90D2-68336EE1FE63}"/>
              </a:ext>
            </a:extLst>
          </p:cNvPr>
          <p:cNvSpPr>
            <a:spLocks xmlns:a="http://schemas.openxmlformats.org/drawingml/2006/main" noGrp="1"/>
          </p:cNvSpPr>
          <p:nvPr/>
        </p:nvSpPr>
        <p:spPr>
          <a:xfrm xmlns:a="http://schemas.openxmlformats.org/drawingml/2006/main">
            <a:off x="3520440" y="4786884"/>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KESİN YARGI</a:t>
            </a:r>
            <a:endParaRPr sz="2100"/>
          </a:p>
        </p:txBody>
      </p:sp>
      <p:sp>
        <p:nvSpPr>
          <p:cNvPr id="35" name="Text 32">
            <a:extLst xmlns:a="http://schemas.openxmlformats.org/drawingml/2006/main">
              <a:ext uri="{FF2B5EF4-FFF2-40B4-BE49-F238E27FC236}">
                <a16:creationId xmlns:a16="http://schemas.microsoft.com/office/drawing/2014/main" id="{93F5CE12-CFD9-4993-95B8-C0A483BF5672}"/>
              </a:ext>
            </a:extLst>
          </p:cNvPr>
          <p:cNvSpPr>
            <a:spLocks xmlns:a="http://schemas.openxmlformats.org/drawingml/2006/main" noGrp="1"/>
          </p:cNvSpPr>
          <p:nvPr/>
        </p:nvSpPr>
        <p:spPr>
          <a:xfrm xmlns:a="http://schemas.openxmlformats.org/drawingml/2006/main">
            <a:off x="3520440" y="5564124"/>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6B7280"/>
                </a:solidFill>
                <a:latin typeface="Calibri"/>
                <a:ea typeface="Calibri"/>
                <a:cs typeface="Calibri"/>
              </a:rPr>
              <a:t>"mutlaka" istisna tanımaz</a:t>
            </a:r>
            <a:endParaRPr sz="900"/>
          </a:p>
        </p:txBody>
      </p:sp>
      <p:sp>
        <p:nvSpPr>
          <p:cNvPr id="36" name="Shape 33">
            <a:extLst xmlns:a="http://schemas.openxmlformats.org/drawingml/2006/main">
              <a:ext uri="{FF2B5EF4-FFF2-40B4-BE49-F238E27FC236}">
                <a16:creationId xmlns:a16="http://schemas.microsoft.com/office/drawing/2014/main" id="{39BCB915-4D50-4051-AB89-78FC4815FD74}"/>
              </a:ext>
            </a:extLst>
          </p:cNvPr>
          <p:cNvSpPr>
            <a:spLocks xmlns:a="http://schemas.openxmlformats.org/drawingml/2006/main" noGrp="1"/>
          </p:cNvSpPr>
          <p:nvPr/>
        </p:nvSpPr>
        <p:spPr>
          <a:xfrm xmlns:a="http://schemas.openxmlformats.org/drawingml/2006/main">
            <a:off x="6126480" y="4238244"/>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37" name="Text 34">
            <a:extLst xmlns:a="http://schemas.openxmlformats.org/drawingml/2006/main">
              <a:ext uri="{FF2B5EF4-FFF2-40B4-BE49-F238E27FC236}">
                <a16:creationId xmlns:a16="http://schemas.microsoft.com/office/drawing/2014/main" id="{1BCADDBD-CAEE-4C0A-A1F9-8637BFA6E60F}"/>
              </a:ext>
            </a:extLst>
          </p:cNvPr>
          <p:cNvSpPr>
            <a:spLocks xmlns:a="http://schemas.openxmlformats.org/drawingml/2006/main" noGrp="1"/>
          </p:cNvSpPr>
          <p:nvPr/>
        </p:nvSpPr>
        <p:spPr>
          <a:xfrm xmlns:a="http://schemas.openxmlformats.org/drawingml/2006/main">
            <a:off x="6263640" y="4375404"/>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7.</a:t>
            </a:r>
            <a:endParaRPr sz="2000"/>
          </a:p>
        </p:txBody>
      </p:sp>
      <p:sp>
        <p:nvSpPr>
          <p:cNvPr id="38" name="Shape 35">
            <a:extLst xmlns:a="http://schemas.openxmlformats.org/drawingml/2006/main">
              <a:ext uri="{FF2B5EF4-FFF2-40B4-BE49-F238E27FC236}">
                <a16:creationId xmlns:a16="http://schemas.microsoft.com/office/drawing/2014/main" id="{E39C6F30-CDB0-4E2A-8D27-36FD9B8CCE55}"/>
              </a:ext>
            </a:extLst>
          </p:cNvPr>
          <p:cNvSpPr>
            <a:spLocks xmlns:a="http://schemas.openxmlformats.org/drawingml/2006/main" noGrp="1"/>
          </p:cNvSpPr>
          <p:nvPr/>
        </p:nvSpPr>
        <p:spPr>
          <a:xfrm xmlns:a="http://schemas.openxmlformats.org/drawingml/2006/main">
            <a:off x="6263640" y="4786884"/>
            <a:ext cx="2286000" cy="685800"/>
          </a:xfrm>
          <a:prstGeom xmlns:a="http://schemas.openxmlformats.org/drawingml/2006/main" prst="roundRect">
            <a:avLst>
              <a:gd name="adj" fmla="val 10667"/>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39" name="Text 36">
            <a:extLst xmlns:a="http://schemas.openxmlformats.org/drawingml/2006/main">
              <a:ext uri="{FF2B5EF4-FFF2-40B4-BE49-F238E27FC236}">
                <a16:creationId xmlns:a16="http://schemas.microsoft.com/office/drawing/2014/main" id="{E9B20F8C-775C-4EB6-8AFC-0EA0176C669B}"/>
              </a:ext>
            </a:extLst>
          </p:cNvPr>
          <p:cNvSpPr>
            <a:spLocks xmlns:a="http://schemas.openxmlformats.org/drawingml/2006/main" noGrp="1"/>
          </p:cNvSpPr>
          <p:nvPr/>
        </p:nvSpPr>
        <p:spPr>
          <a:xfrm xmlns:a="http://schemas.openxmlformats.org/drawingml/2006/main">
            <a:off x="6263640" y="4786884"/>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VARSAYIM</a:t>
            </a:r>
            <a:endParaRPr sz="2100"/>
          </a:p>
        </p:txBody>
      </p:sp>
      <p:sp>
        <p:nvSpPr>
          <p:cNvPr id="40" name="Text 37">
            <a:extLst xmlns:a="http://schemas.openxmlformats.org/drawingml/2006/main">
              <a:ext uri="{FF2B5EF4-FFF2-40B4-BE49-F238E27FC236}">
                <a16:creationId xmlns:a16="http://schemas.microsoft.com/office/drawing/2014/main" id="{A0CCC414-ED96-4B36-AC6C-422AFE8CBE18}"/>
              </a:ext>
            </a:extLst>
          </p:cNvPr>
          <p:cNvSpPr>
            <a:spLocks xmlns:a="http://schemas.openxmlformats.org/drawingml/2006/main" noGrp="1"/>
          </p:cNvSpPr>
          <p:nvPr/>
        </p:nvSpPr>
        <p:spPr>
          <a:xfrm xmlns:a="http://schemas.openxmlformats.org/drawingml/2006/main">
            <a:off x="6263640" y="5564124"/>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6B7280"/>
                </a:solidFill>
                <a:latin typeface="Calibri"/>
                <a:ea typeface="Calibri"/>
                <a:cs typeface="Calibri"/>
              </a:rPr>
              <a:t>"sanki, gibiydi" olasılık/varsayım bildirir</a:t>
            </a:r>
            <a:endParaRPr sz="900"/>
          </a:p>
        </p:txBody>
      </p:sp>
      <p:sp>
        <p:nvSpPr>
          <p:cNvPr id="41" name="Shape 38">
            <a:extLst xmlns:a="http://schemas.openxmlformats.org/drawingml/2006/main">
              <a:ext uri="{FF2B5EF4-FFF2-40B4-BE49-F238E27FC236}">
                <a16:creationId xmlns:a16="http://schemas.microsoft.com/office/drawing/2014/main" id="{55838706-FD6E-4873-A8A6-F339AA7AF8A9}"/>
              </a:ext>
            </a:extLst>
          </p:cNvPr>
          <p:cNvSpPr>
            <a:spLocks xmlns:a="http://schemas.openxmlformats.org/drawingml/2006/main" noGrp="1"/>
          </p:cNvSpPr>
          <p:nvPr/>
        </p:nvSpPr>
        <p:spPr>
          <a:xfrm xmlns:a="http://schemas.openxmlformats.org/drawingml/2006/main">
            <a:off x="8869680" y="4238244"/>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42" name="Text 39">
            <a:extLst xmlns:a="http://schemas.openxmlformats.org/drawingml/2006/main">
              <a:ext uri="{FF2B5EF4-FFF2-40B4-BE49-F238E27FC236}">
                <a16:creationId xmlns:a16="http://schemas.microsoft.com/office/drawing/2014/main" id="{00E755F1-A59C-47F9-85A8-4B821D6AAD26}"/>
              </a:ext>
            </a:extLst>
          </p:cNvPr>
          <p:cNvSpPr>
            <a:spLocks xmlns:a="http://schemas.openxmlformats.org/drawingml/2006/main" noGrp="1"/>
          </p:cNvSpPr>
          <p:nvPr/>
        </p:nvSpPr>
        <p:spPr>
          <a:xfrm xmlns:a="http://schemas.openxmlformats.org/drawingml/2006/main">
            <a:off x="9006840" y="4375404"/>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8.</a:t>
            </a:r>
            <a:endParaRPr sz="2000"/>
          </a:p>
        </p:txBody>
      </p:sp>
      <p:sp>
        <p:nvSpPr>
          <p:cNvPr id="43" name="Shape 40">
            <a:extLst xmlns:a="http://schemas.openxmlformats.org/drawingml/2006/main">
              <a:ext uri="{FF2B5EF4-FFF2-40B4-BE49-F238E27FC236}">
                <a16:creationId xmlns:a16="http://schemas.microsoft.com/office/drawing/2014/main" id="{DA9FD6F0-9A32-4CA7-8203-4B530E83EAC8}"/>
              </a:ext>
            </a:extLst>
          </p:cNvPr>
          <p:cNvSpPr>
            <a:spLocks xmlns:a="http://schemas.openxmlformats.org/drawingml/2006/main" noGrp="1"/>
          </p:cNvSpPr>
          <p:nvPr/>
        </p:nvSpPr>
        <p:spPr>
          <a:xfrm xmlns:a="http://schemas.openxmlformats.org/drawingml/2006/main">
            <a:off x="9006840" y="4786884"/>
            <a:ext cx="2286000" cy="685800"/>
          </a:xfrm>
          <a:prstGeom xmlns:a="http://schemas.openxmlformats.org/drawingml/2006/main" prst="roundRect">
            <a:avLst>
              <a:gd name="adj" fmla="val 10667"/>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44" name="Text 41">
            <a:extLst xmlns:a="http://schemas.openxmlformats.org/drawingml/2006/main">
              <a:ext uri="{FF2B5EF4-FFF2-40B4-BE49-F238E27FC236}">
                <a16:creationId xmlns:a16="http://schemas.microsoft.com/office/drawing/2014/main" id="{858C73A6-3407-4BBE-B777-BAD50AF483BC}"/>
              </a:ext>
            </a:extLst>
          </p:cNvPr>
          <p:cNvSpPr>
            <a:spLocks xmlns:a="http://schemas.openxmlformats.org/drawingml/2006/main" noGrp="1"/>
          </p:cNvSpPr>
          <p:nvPr/>
        </p:nvSpPr>
        <p:spPr>
          <a:xfrm xmlns:a="http://schemas.openxmlformats.org/drawingml/2006/main">
            <a:off x="9006840" y="4786884"/>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KOŞUL-AMAÇ</a:t>
            </a:r>
            <a:endParaRPr sz="2100"/>
          </a:p>
        </p:txBody>
      </p:sp>
      <p:sp>
        <p:nvSpPr>
          <p:cNvPr id="45" name="Text 42">
            <a:extLst xmlns:a="http://schemas.openxmlformats.org/drawingml/2006/main">
              <a:ext uri="{FF2B5EF4-FFF2-40B4-BE49-F238E27FC236}">
                <a16:creationId xmlns:a16="http://schemas.microsoft.com/office/drawing/2014/main" id="{57D30BFD-4286-4110-8054-74B65AD23904}"/>
              </a:ext>
            </a:extLst>
          </p:cNvPr>
          <p:cNvSpPr>
            <a:spLocks xmlns:a="http://schemas.openxmlformats.org/drawingml/2006/main" noGrp="1"/>
          </p:cNvSpPr>
          <p:nvPr/>
        </p:nvSpPr>
        <p:spPr>
          <a:xfrm xmlns:a="http://schemas.openxmlformats.org/drawingml/2006/main">
            <a:off x="9006840" y="5564124"/>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6B7280"/>
                </a:solidFill>
                <a:latin typeface="Calibri"/>
                <a:ea typeface="Calibri"/>
                <a:cs typeface="Calibri"/>
              </a:rPr>
              <a:t>"için" ile amaç bildiriliyor</a:t>
            </a:r>
            <a:endParaRPr sz="900"/>
          </a:p>
        </p:txBody>
      </p:sp>
      <p:sp>
        <p:nvSpPr>
          <p:cNvPr id="46" name="Text 43">
            <a:extLst xmlns:a="http://schemas.openxmlformats.org/drawingml/2006/main">
              <a:ext uri="{FF2B5EF4-FFF2-40B4-BE49-F238E27FC236}">
                <a16:creationId xmlns:a16="http://schemas.microsoft.com/office/drawing/2014/main" id="{95736630-7070-4206-8742-3105D66E531B}"/>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Etkinlik Cevapları</a:t>
            </a:r>
            <a:endParaRPr sz="900"/>
          </a:p>
        </p:txBody>
      </p:sp>
      <p:sp>
        <p:nvSpPr>
          <p:cNvPr id="47" name="Text 44">
            <a:extLst xmlns:a="http://schemas.openxmlformats.org/drawingml/2006/main">
              <a:ext uri="{FF2B5EF4-FFF2-40B4-BE49-F238E27FC236}">
                <a16:creationId xmlns:a16="http://schemas.microsoft.com/office/drawing/2014/main" id="{D5746183-E872-4CC2-A4A3-95025E069CD9}"/>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3688842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A86C77D-C50D-416B-9A41-15408399056A}"/>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e8766e99eefe4a08"/>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7E56EF13-617C-4761-86C9-957CB1726F84}"/>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HIZLI HATIRLATMA</a:t>
            </a:r>
            <a:endParaRPr sz="1300"/>
          </a:p>
        </p:txBody>
      </p:sp>
      <p:sp>
        <p:nvSpPr>
          <p:cNvPr id="5" name="Text 2">
            <a:extLst xmlns:a="http://schemas.openxmlformats.org/drawingml/2006/main">
              <a:ext uri="{FF2B5EF4-FFF2-40B4-BE49-F238E27FC236}">
                <a16:creationId xmlns:a16="http://schemas.microsoft.com/office/drawing/2014/main" id="{9E8C59C7-8402-482D-A660-DF93AFC78896}"/>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Kaldığımız Yer</a:t>
            </a:r>
            <a:endParaRPr sz="2800"/>
          </a:p>
        </p:txBody>
      </p:sp>
      <p:sp>
        <p:nvSpPr>
          <p:cNvPr id="6" name="Shape 3">
            <a:extLst xmlns:a="http://schemas.openxmlformats.org/drawingml/2006/main">
              <a:ext uri="{FF2B5EF4-FFF2-40B4-BE49-F238E27FC236}">
                <a16:creationId xmlns:a16="http://schemas.microsoft.com/office/drawing/2014/main" id="{183B69F2-7A9A-489E-B3DC-DB8E320AD289}"/>
              </a:ext>
            </a:extLst>
          </p:cNvPr>
          <p:cNvSpPr>
            <a:spLocks xmlns:a="http://schemas.openxmlformats.org/drawingml/2006/main" noGrp="1"/>
          </p:cNvSpPr>
          <p:nvPr/>
        </p:nvSpPr>
        <p:spPr>
          <a:xfrm xmlns:a="http://schemas.openxmlformats.org/drawingml/2006/main">
            <a:off x="822960" y="1965960"/>
            <a:ext cx="3337560" cy="2377440"/>
          </a:xfrm>
          <a:prstGeom xmlns:a="http://schemas.openxmlformats.org/drawingml/2006/main" prst="roundRect">
            <a:avLst>
              <a:gd name="adj" fmla="val 4615"/>
            </a:avLst>
          </a:prstGeom>
          <a:solidFill xmlns:a="http://schemas.openxmlformats.org/drawingml/2006/main">
            <a:srgbClr val="EEF3F8"/>
          </a:solidFill>
        </p:spPr>
      </p:sp>
      <p:sp>
        <p:nvSpPr>
          <p:cNvPr id="7" name="Text 4">
            <a:extLst xmlns:a="http://schemas.openxmlformats.org/drawingml/2006/main">
              <a:ext uri="{FF2B5EF4-FFF2-40B4-BE49-F238E27FC236}">
                <a16:creationId xmlns:a16="http://schemas.microsoft.com/office/drawing/2014/main" id="{2B50EBFF-DC8A-4D27-BF35-D47649570BD4}"/>
              </a:ext>
            </a:extLst>
          </p:cNvPr>
          <p:cNvSpPr>
            <a:spLocks xmlns:a="http://schemas.openxmlformats.org/drawingml/2006/main" noGrp="1"/>
          </p:cNvSpPr>
          <p:nvPr/>
        </p:nvSpPr>
        <p:spPr>
          <a:xfrm xmlns:a="http://schemas.openxmlformats.org/drawingml/2006/main">
            <a:off x="1051560" y="2148840"/>
            <a:ext cx="288036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E3A5F"/>
                </a:solidFill>
                <a:latin typeface="Cambria"/>
                <a:ea typeface="Cambria"/>
                <a:cs typeface="Cambria"/>
              </a:rPr>
              <a:t>Öznel / Nesnel</a:t>
            </a:r>
            <a:endParaRPr sz="2100"/>
          </a:p>
        </p:txBody>
      </p:sp>
      <p:sp>
        <p:nvSpPr>
          <p:cNvPr id="8" name="Text 5">
            <a:extLst xmlns:a="http://schemas.openxmlformats.org/drawingml/2006/main">
              <a:ext uri="{FF2B5EF4-FFF2-40B4-BE49-F238E27FC236}">
                <a16:creationId xmlns:a16="http://schemas.microsoft.com/office/drawing/2014/main" id="{19B371B4-DFA7-4B58-9257-876D793DE68B}"/>
              </a:ext>
            </a:extLst>
          </p:cNvPr>
          <p:cNvSpPr>
            <a:spLocks xmlns:a="http://schemas.openxmlformats.org/drawingml/2006/main" noGrp="1"/>
          </p:cNvSpPr>
          <p:nvPr/>
        </p:nvSpPr>
        <p:spPr>
          <a:xfrm xmlns:a="http://schemas.openxmlformats.org/drawingml/2006/main">
            <a:off x="1051560" y="2573274"/>
            <a:ext cx="2880360" cy="12832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Kanıtlanabilir mi</a:t>
            </a:r>
            <a:endParaRPr sz="2000"/>
          </a:p>
          <a:p xmlns:a="http://schemas.openxmlformats.org/drawingml/2006/main">
            <a:pPr marL="0" indent="0">
              <a:buNone/>
            </a:pPr>
            <a:r>
              <a:rPr sz="2000">
                <a:solidFill>
                  <a:srgbClr val="1E2761"/>
                </a:solidFill>
                <a:latin typeface="Calibri"/>
                <a:ea typeface="Calibri"/>
                <a:cs typeface="Calibri"/>
              </a:rPr>
              <a:t>değil mi — bu</a:t>
            </a:r>
            <a:endParaRPr sz="2000"/>
          </a:p>
          <a:p xmlns:a="http://schemas.openxmlformats.org/drawingml/2006/main">
            <a:pPr marL="0" indent="0">
              <a:buNone/>
            </a:pPr>
            <a:r>
              <a:rPr sz="2000">
                <a:solidFill>
                  <a:srgbClr val="1E2761"/>
                </a:solidFill>
                <a:latin typeface="Calibri"/>
                <a:ea typeface="Calibri"/>
                <a:cs typeface="Calibri"/>
              </a:rPr>
              <a:t>soruyu sorun.</a:t>
            </a:r>
            <a:endParaRPr sz="2000"/>
          </a:p>
        </p:txBody>
      </p:sp>
      <p:sp>
        <p:nvSpPr>
          <p:cNvPr id="9" name="Shape 6">
            <a:extLst xmlns:a="http://schemas.openxmlformats.org/drawingml/2006/main">
              <a:ext uri="{FF2B5EF4-FFF2-40B4-BE49-F238E27FC236}">
                <a16:creationId xmlns:a16="http://schemas.microsoft.com/office/drawing/2014/main" id="{562C72A0-CA65-4FA3-B281-8EDC451E5D1F}"/>
              </a:ext>
            </a:extLst>
          </p:cNvPr>
          <p:cNvSpPr>
            <a:spLocks xmlns:a="http://schemas.openxmlformats.org/drawingml/2006/main" noGrp="1"/>
          </p:cNvSpPr>
          <p:nvPr/>
        </p:nvSpPr>
        <p:spPr>
          <a:xfrm xmlns:a="http://schemas.openxmlformats.org/drawingml/2006/main">
            <a:off x="4526280" y="1965960"/>
            <a:ext cx="3337560" cy="2831592"/>
          </a:xfrm>
          <a:prstGeom xmlns:a="http://schemas.openxmlformats.org/drawingml/2006/main" prst="roundRect">
            <a:avLst>
              <a:gd name="adj" fmla="val 4615"/>
            </a:avLst>
          </a:prstGeom>
          <a:solidFill xmlns:a="http://schemas.openxmlformats.org/drawingml/2006/main">
            <a:srgbClr val="EEF3F8"/>
          </a:solidFill>
        </p:spPr>
      </p:sp>
      <p:sp>
        <p:nvSpPr>
          <p:cNvPr id="10" name="Text 7">
            <a:extLst xmlns:a="http://schemas.openxmlformats.org/drawingml/2006/main">
              <a:ext uri="{FF2B5EF4-FFF2-40B4-BE49-F238E27FC236}">
                <a16:creationId xmlns:a16="http://schemas.microsoft.com/office/drawing/2014/main" id="{0B2E7193-E53C-4DD0-96FE-42B81397C1A3}"/>
              </a:ext>
            </a:extLst>
          </p:cNvPr>
          <p:cNvSpPr>
            <a:spLocks xmlns:a="http://schemas.openxmlformats.org/drawingml/2006/main" noGrp="1"/>
          </p:cNvSpPr>
          <p:nvPr/>
        </p:nvSpPr>
        <p:spPr>
          <a:xfrm xmlns:a="http://schemas.openxmlformats.org/drawingml/2006/main">
            <a:off x="4754880" y="2148840"/>
            <a:ext cx="2880360" cy="8219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E3A5F"/>
                </a:solidFill>
                <a:latin typeface="Cambria"/>
                <a:ea typeface="Cambria"/>
                <a:cs typeface="Cambria"/>
              </a:rPr>
              <a:t>Karşılaştırma /</a:t>
            </a:r>
            <a:endParaRPr sz="2000"/>
          </a:p>
          <a:p xmlns:a="http://schemas.openxmlformats.org/drawingml/2006/main">
            <a:pPr marL="0" indent="0">
              <a:buNone/>
            </a:pPr>
            <a:r>
              <a:rPr sz="2000" b="1">
                <a:solidFill>
                  <a:srgbClr val="1E3A5F"/>
                </a:solidFill>
                <a:latin typeface="Cambria"/>
                <a:ea typeface="Cambria"/>
                <a:cs typeface="Cambria"/>
              </a:rPr>
              <a:t>Değerlendirme</a:t>
            </a:r>
            <a:endParaRPr sz="2000"/>
          </a:p>
        </p:txBody>
      </p:sp>
      <p:sp>
        <p:nvSpPr>
          <p:cNvPr id="11" name="Text 8">
            <a:extLst xmlns:a="http://schemas.openxmlformats.org/drawingml/2006/main">
              <a:ext uri="{FF2B5EF4-FFF2-40B4-BE49-F238E27FC236}">
                <a16:creationId xmlns:a16="http://schemas.microsoft.com/office/drawing/2014/main" id="{C1F0BAC4-62B7-4012-99ED-4D6C3A01E886}"/>
              </a:ext>
            </a:extLst>
          </p:cNvPr>
          <p:cNvSpPr>
            <a:spLocks xmlns:a="http://schemas.openxmlformats.org/drawingml/2006/main" noGrp="1"/>
          </p:cNvSpPr>
          <p:nvPr/>
        </p:nvSpPr>
        <p:spPr>
          <a:xfrm xmlns:a="http://schemas.openxmlformats.org/drawingml/2006/main">
            <a:off x="4754880" y="3016504"/>
            <a:ext cx="2880360" cy="16438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İki öge mi kıyaslanıyor,</a:t>
            </a:r>
            <a:endParaRPr sz="2000"/>
          </a:p>
          <a:p xmlns:a="http://schemas.openxmlformats.org/drawingml/2006/main">
            <a:pPr marL="0" indent="0">
              <a:buNone/>
            </a:pPr>
            <a:r>
              <a:rPr sz="2000">
                <a:solidFill>
                  <a:srgbClr val="1E2761"/>
                </a:solidFill>
                <a:latin typeface="Calibri"/>
                <a:ea typeface="Calibri"/>
                <a:cs typeface="Calibri"/>
              </a:rPr>
              <a:t>tek hedefe mi</a:t>
            </a:r>
            <a:endParaRPr sz="2000"/>
          </a:p>
          <a:p xmlns:a="http://schemas.openxmlformats.org/drawingml/2006/main">
            <a:pPr marL="0" indent="0">
              <a:buNone/>
            </a:pPr>
            <a:r>
              <a:rPr sz="2000">
                <a:solidFill>
                  <a:srgbClr val="1E2761"/>
                </a:solidFill>
                <a:latin typeface="Calibri"/>
                <a:ea typeface="Calibri"/>
                <a:cs typeface="Calibri"/>
              </a:rPr>
              <a:t>yargı veriliyor?</a:t>
            </a:r>
            <a:endParaRPr sz="2000"/>
          </a:p>
        </p:txBody>
      </p:sp>
      <p:sp>
        <p:nvSpPr>
          <p:cNvPr id="12" name="Shape 9">
            <a:extLst xmlns:a="http://schemas.openxmlformats.org/drawingml/2006/main">
              <a:ext uri="{FF2B5EF4-FFF2-40B4-BE49-F238E27FC236}">
                <a16:creationId xmlns:a16="http://schemas.microsoft.com/office/drawing/2014/main" id="{4AED8CB1-1EC7-48C4-A901-121EDC9CCA72}"/>
              </a:ext>
            </a:extLst>
          </p:cNvPr>
          <p:cNvSpPr>
            <a:spLocks xmlns:a="http://schemas.openxmlformats.org/drawingml/2006/main" noGrp="1"/>
          </p:cNvSpPr>
          <p:nvPr/>
        </p:nvSpPr>
        <p:spPr>
          <a:xfrm xmlns:a="http://schemas.openxmlformats.org/drawingml/2006/main">
            <a:off x="8229600" y="1965960"/>
            <a:ext cx="3337560" cy="3192272"/>
          </a:xfrm>
          <a:prstGeom xmlns:a="http://schemas.openxmlformats.org/drawingml/2006/main" prst="roundRect">
            <a:avLst>
              <a:gd name="adj" fmla="val 4615"/>
            </a:avLst>
          </a:prstGeom>
          <a:solidFill xmlns:a="http://schemas.openxmlformats.org/drawingml/2006/main">
            <a:srgbClr val="EEF3F8"/>
          </a:solidFill>
        </p:spPr>
      </p:sp>
      <p:sp>
        <p:nvSpPr>
          <p:cNvPr id="13" name="Text 10">
            <a:extLst xmlns:a="http://schemas.openxmlformats.org/drawingml/2006/main">
              <a:ext uri="{FF2B5EF4-FFF2-40B4-BE49-F238E27FC236}">
                <a16:creationId xmlns:a16="http://schemas.microsoft.com/office/drawing/2014/main" id="{EDDF8E4E-8340-44A3-8E40-6E9086CE954F}"/>
              </a:ext>
            </a:extLst>
          </p:cNvPr>
          <p:cNvSpPr>
            <a:spLocks xmlns:a="http://schemas.openxmlformats.org/drawingml/2006/main" noGrp="1"/>
          </p:cNvSpPr>
          <p:nvPr/>
        </p:nvSpPr>
        <p:spPr>
          <a:xfrm xmlns:a="http://schemas.openxmlformats.org/drawingml/2006/main">
            <a:off x="8458200" y="2148840"/>
            <a:ext cx="2880360" cy="1543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E3A5F"/>
                </a:solidFill>
                <a:latin typeface="Cambria"/>
                <a:ea typeface="Cambria"/>
                <a:cs typeface="Cambria"/>
              </a:rPr>
              <a:t>Kesin Yargı / Varsayım /</a:t>
            </a:r>
            <a:endParaRPr sz="2000"/>
          </a:p>
          <a:p xmlns:a="http://schemas.openxmlformats.org/drawingml/2006/main">
            <a:pPr marL="0" indent="0">
              <a:buNone/>
            </a:pPr>
            <a:r>
              <a:rPr sz="2000" b="1">
                <a:solidFill>
                  <a:srgbClr val="1E3A5F"/>
                </a:solidFill>
                <a:latin typeface="Cambria"/>
                <a:ea typeface="Cambria"/>
                <a:cs typeface="Cambria"/>
              </a:rPr>
              <a:t>Sebep-Sonuç / Koşul-Amaç</a:t>
            </a:r>
            <a:endParaRPr sz="2000"/>
          </a:p>
        </p:txBody>
      </p:sp>
      <p:sp>
        <p:nvSpPr>
          <p:cNvPr id="14" name="Text 11">
            <a:extLst xmlns:a="http://schemas.openxmlformats.org/drawingml/2006/main">
              <a:ext uri="{FF2B5EF4-FFF2-40B4-BE49-F238E27FC236}">
                <a16:creationId xmlns:a16="http://schemas.microsoft.com/office/drawing/2014/main" id="{773DE89A-1C51-4BD8-8266-E64BAA268ABE}"/>
              </a:ext>
            </a:extLst>
          </p:cNvPr>
          <p:cNvSpPr>
            <a:spLocks xmlns:a="http://schemas.openxmlformats.org/drawingml/2006/main" noGrp="1"/>
          </p:cNvSpPr>
          <p:nvPr/>
        </p:nvSpPr>
        <p:spPr>
          <a:xfrm xmlns:a="http://schemas.openxmlformats.org/drawingml/2006/main">
            <a:off x="8458200" y="3737864"/>
            <a:ext cx="2880360" cy="12832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Bağlaç ve belirteçlere</a:t>
            </a:r>
            <a:endParaRPr sz="2000"/>
          </a:p>
          <a:p xmlns:a="http://schemas.openxmlformats.org/drawingml/2006/main">
            <a:pPr marL="0" indent="0">
              <a:buNone/>
            </a:pPr>
            <a:r>
              <a:rPr sz="2000">
                <a:solidFill>
                  <a:srgbClr val="1E2761"/>
                </a:solidFill>
                <a:latin typeface="Calibri"/>
                <a:ea typeface="Calibri"/>
                <a:cs typeface="Calibri"/>
              </a:rPr>
              <a:t>dikkat: için, sanki,</a:t>
            </a:r>
            <a:endParaRPr sz="2000"/>
          </a:p>
          <a:p xmlns:a="http://schemas.openxmlformats.org/drawingml/2006/main">
            <a:pPr marL="0" indent="0">
              <a:buNone/>
            </a:pPr>
            <a:r>
              <a:rPr sz="2000">
                <a:solidFill>
                  <a:srgbClr val="1E2761"/>
                </a:solidFill>
                <a:latin typeface="Calibri"/>
                <a:ea typeface="Calibri"/>
                <a:cs typeface="Calibri"/>
              </a:rPr>
              <a:t>mutlaka, -se/-sa.</a:t>
            </a:r>
            <a:endParaRPr sz="2000"/>
          </a:p>
        </p:txBody>
      </p:sp>
      <p:sp>
        <p:nvSpPr>
          <p:cNvPr id="15" name="Text 12">
            <a:extLst xmlns:a="http://schemas.openxmlformats.org/drawingml/2006/main">
              <a:ext uri="{FF2B5EF4-FFF2-40B4-BE49-F238E27FC236}">
                <a16:creationId xmlns:a16="http://schemas.microsoft.com/office/drawing/2014/main" id="{80A1B7F0-D787-4C62-AAD9-BD9C8A931D0F}"/>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Hızlı Hatırlatma</a:t>
            </a:r>
            <a:endParaRPr sz="900"/>
          </a:p>
        </p:txBody>
      </p:sp>
      <p:sp>
        <p:nvSpPr>
          <p:cNvPr id="16" name="Text 13">
            <a:extLst xmlns:a="http://schemas.openxmlformats.org/drawingml/2006/main">
              <a:ext uri="{FF2B5EF4-FFF2-40B4-BE49-F238E27FC236}">
                <a16:creationId xmlns:a16="http://schemas.microsoft.com/office/drawing/2014/main" id="{DFDF1FA8-86BC-42FE-815A-A5500DA11FD9}"/>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208157635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AC73236-4C9D-476F-891F-06BEF6A3697A}"/>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5c93109a28ac4268"/>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CFD64A7B-1FAE-4400-BCFB-FD9D12573C2E}"/>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DERINLEŞME · 1/2</a:t>
            </a:r>
            <a:endParaRPr sz="1300"/>
          </a:p>
        </p:txBody>
      </p:sp>
      <p:sp>
        <p:nvSpPr>
          <p:cNvPr id="5" name="Text 2">
            <a:extLst xmlns:a="http://schemas.openxmlformats.org/drawingml/2006/main">
              <a:ext uri="{FF2B5EF4-FFF2-40B4-BE49-F238E27FC236}">
                <a16:creationId xmlns:a16="http://schemas.microsoft.com/office/drawing/2014/main" id="{9303937D-5ABC-4615-97B7-4CF75044294B}"/>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Öznel mi, Nesnel mi? İnce Çizgi</a:t>
            </a:r>
            <a:endParaRPr sz="2800"/>
          </a:p>
        </p:txBody>
      </p:sp>
      <p:sp>
        <p:nvSpPr>
          <p:cNvPr id="6" name="Shape 3">
            <a:extLst xmlns:a="http://schemas.openxmlformats.org/drawingml/2006/main">
              <a:ext uri="{FF2B5EF4-FFF2-40B4-BE49-F238E27FC236}">
                <a16:creationId xmlns:a16="http://schemas.microsoft.com/office/drawing/2014/main" id="{E4A5A6C4-C079-49C6-8B12-381567EFEF18}"/>
              </a:ext>
            </a:extLst>
          </p:cNvPr>
          <p:cNvSpPr>
            <a:spLocks xmlns:a="http://schemas.openxmlformats.org/drawingml/2006/main" noGrp="1"/>
          </p:cNvSpPr>
          <p:nvPr/>
        </p:nvSpPr>
        <p:spPr>
          <a:xfrm xmlns:a="http://schemas.openxmlformats.org/drawingml/2006/main">
            <a:off x="640080" y="1645920"/>
            <a:ext cx="10881360" cy="1173480"/>
          </a:xfrm>
          <a:prstGeom xmlns:a="http://schemas.openxmlformats.org/drawingml/2006/main" prst="roundRect">
            <a:avLst>
              <a:gd name="adj" fmla="val 9524"/>
            </a:avLst>
          </a:prstGeom>
          <a:solidFill xmlns:a="http://schemas.openxmlformats.org/drawingml/2006/main">
            <a:srgbClr val="EEF3F8"/>
          </a:solidFill>
        </p:spPr>
      </p:sp>
      <p:sp>
        <p:nvSpPr>
          <p:cNvPr id="7" name="Text 4">
            <a:extLst xmlns:a="http://schemas.openxmlformats.org/drawingml/2006/main">
              <a:ext uri="{FF2B5EF4-FFF2-40B4-BE49-F238E27FC236}">
                <a16:creationId xmlns:a16="http://schemas.microsoft.com/office/drawing/2014/main" id="{1E64AA7F-1C6F-42A7-812F-8A54D7E3B68D}"/>
              </a:ext>
            </a:extLst>
          </p:cNvPr>
          <p:cNvSpPr>
            <a:spLocks xmlns:a="http://schemas.openxmlformats.org/drawingml/2006/main" noGrp="1"/>
          </p:cNvSpPr>
          <p:nvPr/>
        </p:nvSpPr>
        <p:spPr>
          <a:xfrm xmlns:a="http://schemas.openxmlformats.org/drawingml/2006/main">
            <a:off x="914400" y="1645920"/>
            <a:ext cx="10332720" cy="1082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E3A5F"/>
                </a:solidFill>
                <a:latin typeface="Calibri"/>
                <a:ea typeface="Calibri"/>
                <a:cs typeface="Calibri"/>
              </a:rPr>
              <a:t>Gözlem:  </a:t>
            </a:r>
            <a:r>
              <a:rPr sz="2000">
                <a:solidFill>
                  <a:srgbClr val="1E2761"/>
                </a:solidFill>
                <a:latin typeface="Calibri"/>
                <a:ea typeface="Calibri"/>
                <a:cs typeface="Calibri"/>
              </a:rPr>
              <a:t>Bir cümlede hem sayısal/kanıtlanabilir bir bilgi HEM DE kişisel bir yorum bir arada bulunabilir. Böyle durumlarda cümlenin YARGI (asıl iddia) kısmına bakılmalı, ara bilgiye değil.</a:t>
            </a:r>
            <a:endParaRPr sz="2000"/>
          </a:p>
        </p:txBody>
      </p:sp>
      <p:sp>
        <p:nvSpPr>
          <p:cNvPr id="8" name="Shape 5">
            <a:extLst xmlns:a="http://schemas.openxmlformats.org/drawingml/2006/main">
              <a:ext uri="{FF2B5EF4-FFF2-40B4-BE49-F238E27FC236}">
                <a16:creationId xmlns:a16="http://schemas.microsoft.com/office/drawing/2014/main" id="{95611DC0-B6B6-47F9-947C-484BD55A78D8}"/>
              </a:ext>
            </a:extLst>
          </p:cNvPr>
          <p:cNvSpPr>
            <a:spLocks xmlns:a="http://schemas.openxmlformats.org/drawingml/2006/main" noGrp="1"/>
          </p:cNvSpPr>
          <p:nvPr/>
        </p:nvSpPr>
        <p:spPr>
          <a:xfrm xmlns:a="http://schemas.openxmlformats.org/drawingml/2006/main">
            <a:off x="640080" y="2974848"/>
            <a:ext cx="10881360" cy="1173480"/>
          </a:xfrm>
          <a:prstGeom xmlns:a="http://schemas.openxmlformats.org/drawingml/2006/main" prst="roundRect">
            <a:avLst>
              <a:gd name="adj" fmla="val 8696"/>
            </a:avLst>
          </a:prstGeom>
          <a:solidFill xmlns:a="http://schemas.openxmlformats.org/drawingml/2006/main">
            <a:srgbClr val="EEF3F8"/>
          </a:solidFill>
        </p:spPr>
      </p:sp>
      <p:sp>
        <p:nvSpPr>
          <p:cNvPr id="9" name="Text 6">
            <a:extLst xmlns:a="http://schemas.openxmlformats.org/drawingml/2006/main">
              <a:ext uri="{FF2B5EF4-FFF2-40B4-BE49-F238E27FC236}">
                <a16:creationId xmlns:a16="http://schemas.microsoft.com/office/drawing/2014/main" id="{6C8363DB-44BC-4D9A-A264-B71349FF889A}"/>
              </a:ext>
            </a:extLst>
          </p:cNvPr>
          <p:cNvSpPr>
            <a:spLocks xmlns:a="http://schemas.openxmlformats.org/drawingml/2006/main" noGrp="1"/>
          </p:cNvSpPr>
          <p:nvPr/>
        </p:nvSpPr>
        <p:spPr>
          <a:xfrm xmlns:a="http://schemas.openxmlformats.org/drawingml/2006/main">
            <a:off x="822960" y="2974848"/>
            <a:ext cx="4279392" cy="721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142A44"/>
                </a:solidFill>
                <a:latin typeface="Calibri"/>
                <a:ea typeface="Calibri"/>
                <a:cs typeface="Calibri"/>
              </a:rPr>
              <a:t>"Roman, 1980'de yayımlanan ve 500 sayfa olan bir eserdir."</a:t>
            </a:r>
            <a:endParaRPr sz="2000"/>
          </a:p>
        </p:txBody>
      </p:sp>
      <p:sp>
        <p:nvSpPr>
          <p:cNvPr id="10" name="Text 7">
            <a:extLst xmlns:a="http://schemas.openxmlformats.org/drawingml/2006/main">
              <a:ext uri="{FF2B5EF4-FFF2-40B4-BE49-F238E27FC236}">
                <a16:creationId xmlns:a16="http://schemas.microsoft.com/office/drawing/2014/main" id="{53EF7DD9-CB10-4EA8-80AE-1850D2916FF8}"/>
              </a:ext>
            </a:extLst>
          </p:cNvPr>
          <p:cNvSpPr>
            <a:spLocks xmlns:a="http://schemas.openxmlformats.org/drawingml/2006/main" noGrp="1"/>
          </p:cNvSpPr>
          <p:nvPr/>
        </p:nvSpPr>
        <p:spPr>
          <a:xfrm xmlns:a="http://schemas.openxmlformats.org/drawingml/2006/main">
            <a:off x="5212080" y="2974848"/>
            <a:ext cx="6126480" cy="1082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Sadece kanıtlanabilir bilgiler (tarih, sayfa sayısı) verilmiş — yargı içermiyor, bu cümle NESNELDİR.</a:t>
            </a:r>
            <a:endParaRPr sz="2000"/>
          </a:p>
        </p:txBody>
      </p:sp>
      <p:sp>
        <p:nvSpPr>
          <p:cNvPr id="11" name="Shape 8">
            <a:extLst xmlns:a="http://schemas.openxmlformats.org/drawingml/2006/main">
              <a:ext uri="{FF2B5EF4-FFF2-40B4-BE49-F238E27FC236}">
                <a16:creationId xmlns:a16="http://schemas.microsoft.com/office/drawing/2014/main" id="{58E723BE-E3E6-4242-8D08-125C3BD78ABF}"/>
              </a:ext>
            </a:extLst>
          </p:cNvPr>
          <p:cNvSpPr>
            <a:spLocks xmlns:a="http://schemas.openxmlformats.org/drawingml/2006/main" noGrp="1"/>
          </p:cNvSpPr>
          <p:nvPr/>
        </p:nvSpPr>
        <p:spPr>
          <a:xfrm xmlns:a="http://schemas.openxmlformats.org/drawingml/2006/main">
            <a:off x="640080" y="4249369"/>
            <a:ext cx="10881360" cy="1173480"/>
          </a:xfrm>
          <a:prstGeom xmlns:a="http://schemas.openxmlformats.org/drawingml/2006/main" prst="roundRect">
            <a:avLst>
              <a:gd name="adj" fmla="val 8696"/>
            </a:avLst>
          </a:prstGeom>
          <a:solidFill xmlns:a="http://schemas.openxmlformats.org/drawingml/2006/main">
            <a:srgbClr val="EEF3F8"/>
          </a:solidFill>
        </p:spPr>
      </p:sp>
      <p:sp>
        <p:nvSpPr>
          <p:cNvPr id="12" name="Text 9">
            <a:extLst xmlns:a="http://schemas.openxmlformats.org/drawingml/2006/main">
              <a:ext uri="{FF2B5EF4-FFF2-40B4-BE49-F238E27FC236}">
                <a16:creationId xmlns:a16="http://schemas.microsoft.com/office/drawing/2014/main" id="{78FE0AFA-43AA-4826-98D5-78A5FA3E1477}"/>
              </a:ext>
            </a:extLst>
          </p:cNvPr>
          <p:cNvSpPr>
            <a:spLocks xmlns:a="http://schemas.openxmlformats.org/drawingml/2006/main" noGrp="1"/>
          </p:cNvSpPr>
          <p:nvPr/>
        </p:nvSpPr>
        <p:spPr>
          <a:xfrm xmlns:a="http://schemas.openxmlformats.org/drawingml/2006/main">
            <a:off x="822960" y="4249369"/>
            <a:ext cx="4279392" cy="721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142A44"/>
                </a:solidFill>
                <a:latin typeface="Calibri"/>
                <a:ea typeface="Calibri"/>
                <a:cs typeface="Calibri"/>
              </a:rPr>
              <a:t>"1980'de yayımlanan bu roman, yazarın en iyi eseridir."</a:t>
            </a:r>
            <a:endParaRPr sz="2000"/>
          </a:p>
        </p:txBody>
      </p:sp>
      <p:sp>
        <p:nvSpPr>
          <p:cNvPr id="13" name="Text 10">
            <a:extLst xmlns:a="http://schemas.openxmlformats.org/drawingml/2006/main">
              <a:ext uri="{FF2B5EF4-FFF2-40B4-BE49-F238E27FC236}">
                <a16:creationId xmlns:a16="http://schemas.microsoft.com/office/drawing/2014/main" id="{9A3DE6F0-FBCA-4BCC-BF64-35773899DE74}"/>
              </a:ext>
            </a:extLst>
          </p:cNvPr>
          <p:cNvSpPr>
            <a:spLocks xmlns:a="http://schemas.openxmlformats.org/drawingml/2006/main" noGrp="1"/>
          </p:cNvSpPr>
          <p:nvPr/>
        </p:nvSpPr>
        <p:spPr>
          <a:xfrm xmlns:a="http://schemas.openxmlformats.org/drawingml/2006/main">
            <a:off x="5212080" y="4249369"/>
            <a:ext cx="6126480" cy="1082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Tarih nesnel bir bilgi olsa da cümlenin ASIL YARGISI "en iyi eseri" — bu kanıtlanamaz, cümle ÖZNELDİR.</a:t>
            </a:r>
            <a:endParaRPr sz="2000"/>
          </a:p>
        </p:txBody>
      </p:sp>
      <p:sp>
        <p:nvSpPr>
          <p:cNvPr id="14" name="Shape 11">
            <a:extLst xmlns:a="http://schemas.openxmlformats.org/drawingml/2006/main">
              <a:ext uri="{FF2B5EF4-FFF2-40B4-BE49-F238E27FC236}">
                <a16:creationId xmlns:a16="http://schemas.microsoft.com/office/drawing/2014/main" id="{F0C8DD13-42D5-4451-AC9D-A8ADD28FD66F}"/>
              </a:ext>
            </a:extLst>
          </p:cNvPr>
          <p:cNvSpPr>
            <a:spLocks xmlns:a="http://schemas.openxmlformats.org/drawingml/2006/main" noGrp="1"/>
          </p:cNvSpPr>
          <p:nvPr/>
        </p:nvSpPr>
        <p:spPr>
          <a:xfrm xmlns:a="http://schemas.openxmlformats.org/drawingml/2006/main">
            <a:off x="640080" y="5632704"/>
            <a:ext cx="10881360" cy="812800"/>
          </a:xfrm>
          <a:prstGeom xmlns:a="http://schemas.openxmlformats.org/drawingml/2006/main" prst="roundRect">
            <a:avLst>
              <a:gd name="adj" fmla="val 16667"/>
            </a:avLst>
          </a:prstGeom>
          <a:solidFill xmlns:a="http://schemas.openxmlformats.org/drawingml/2006/main">
            <a:srgbClr val="FBF3E3"/>
          </a:solidFill>
        </p:spPr>
      </p:sp>
      <p:sp>
        <p:nvSpPr>
          <p:cNvPr id="15" name="Text 12">
            <a:extLst xmlns:a="http://schemas.openxmlformats.org/drawingml/2006/main">
              <a:ext uri="{FF2B5EF4-FFF2-40B4-BE49-F238E27FC236}">
                <a16:creationId xmlns:a16="http://schemas.microsoft.com/office/drawing/2014/main" id="{E8B4DCD5-CA61-4E6A-A9E4-B82166C39D36}"/>
              </a:ext>
            </a:extLst>
          </p:cNvPr>
          <p:cNvSpPr>
            <a:spLocks xmlns:a="http://schemas.openxmlformats.org/drawingml/2006/main" noGrp="1"/>
          </p:cNvSpPr>
          <p:nvPr/>
        </p:nvSpPr>
        <p:spPr>
          <a:xfrm xmlns:a="http://schemas.openxmlformats.org/drawingml/2006/main">
            <a:off x="914400" y="5632704"/>
            <a:ext cx="10332720" cy="721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Önemli: ara cümlecikteki bilgiye değil, cümlenin ASIL YARGISINA (yükleme yakın kısma) odaklanın.</a:t>
            </a:r>
            <a:endParaRPr sz="2000"/>
          </a:p>
        </p:txBody>
      </p:sp>
      <p:sp>
        <p:nvSpPr>
          <p:cNvPr id="16" name="Text 13">
            <a:extLst xmlns:a="http://schemas.openxmlformats.org/drawingml/2006/main">
              <a:ext uri="{FF2B5EF4-FFF2-40B4-BE49-F238E27FC236}">
                <a16:creationId xmlns:a16="http://schemas.microsoft.com/office/drawing/2014/main" id="{2C9EB948-14DC-4569-8D7C-0FB12784584D}"/>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Derinleşme — Öznel/Nesnel İnce Çizgi</a:t>
            </a:r>
            <a:endParaRPr sz="900"/>
          </a:p>
        </p:txBody>
      </p:sp>
      <p:sp>
        <p:nvSpPr>
          <p:cNvPr id="17" name="Text 14">
            <a:extLst xmlns:a="http://schemas.openxmlformats.org/drawingml/2006/main">
              <a:ext uri="{FF2B5EF4-FFF2-40B4-BE49-F238E27FC236}">
                <a16:creationId xmlns:a16="http://schemas.microsoft.com/office/drawing/2014/main" id="{48AC9037-BCB8-45FF-AD46-4B104DFAB968}"/>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18953344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6937313-5B99-4B17-90AE-3C9DED27810A}"/>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b65f0a20e6f94efb"/>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B3F13C93-3AA1-4065-8FB5-BC7AF3FBEB48}"/>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DERINLEŞME · 2/2</a:t>
            </a:r>
            <a:endParaRPr sz="1300"/>
          </a:p>
        </p:txBody>
      </p:sp>
      <p:sp>
        <p:nvSpPr>
          <p:cNvPr id="5" name="Text 2">
            <a:extLst xmlns:a="http://schemas.openxmlformats.org/drawingml/2006/main">
              <a:ext uri="{FF2B5EF4-FFF2-40B4-BE49-F238E27FC236}">
                <a16:creationId xmlns:a16="http://schemas.microsoft.com/office/drawing/2014/main" id="{FC990B0A-F34C-4BFC-9821-1BFFF67A4DAA}"/>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Karşılaştırma ve Değerlendirmeyi Ayırt Etme</a:t>
            </a:r>
            <a:endParaRPr sz="2800"/>
          </a:p>
        </p:txBody>
      </p:sp>
      <p:sp>
        <p:nvSpPr>
          <p:cNvPr id="6" name="Shape 3">
            <a:extLst xmlns:a="http://schemas.openxmlformats.org/drawingml/2006/main">
              <a:ext uri="{FF2B5EF4-FFF2-40B4-BE49-F238E27FC236}">
                <a16:creationId xmlns:a16="http://schemas.microsoft.com/office/drawing/2014/main" id="{57858D67-A052-4DF8-BED9-AC00709EFFD6}"/>
              </a:ext>
            </a:extLst>
          </p:cNvPr>
          <p:cNvSpPr>
            <a:spLocks xmlns:a="http://schemas.openxmlformats.org/drawingml/2006/main" noGrp="1"/>
          </p:cNvSpPr>
          <p:nvPr/>
        </p:nvSpPr>
        <p:spPr>
          <a:xfrm xmlns:a="http://schemas.openxmlformats.org/drawingml/2006/main">
            <a:off x="640080" y="1737360"/>
            <a:ext cx="10881360" cy="1051560"/>
          </a:xfrm>
          <a:prstGeom xmlns:a="http://schemas.openxmlformats.org/drawingml/2006/main" prst="roundRect">
            <a:avLst>
              <a:gd name="adj" fmla="val 8696"/>
            </a:avLst>
          </a:prstGeom>
          <a:solidFill xmlns:a="http://schemas.openxmlformats.org/drawingml/2006/main">
            <a:srgbClr val="EEF3F8"/>
          </a:solidFill>
        </p:spPr>
      </p:sp>
      <p:sp>
        <p:nvSpPr>
          <p:cNvPr id="7" name="Text 4">
            <a:extLst xmlns:a="http://schemas.openxmlformats.org/drawingml/2006/main">
              <a:ext uri="{FF2B5EF4-FFF2-40B4-BE49-F238E27FC236}">
                <a16:creationId xmlns:a16="http://schemas.microsoft.com/office/drawing/2014/main" id="{123E2EA5-BDBC-4B90-8E5B-25CCC2858B54}"/>
              </a:ext>
            </a:extLst>
          </p:cNvPr>
          <p:cNvSpPr>
            <a:spLocks xmlns:a="http://schemas.openxmlformats.org/drawingml/2006/main" noGrp="1"/>
          </p:cNvSpPr>
          <p:nvPr/>
        </p:nvSpPr>
        <p:spPr>
          <a:xfrm xmlns:a="http://schemas.openxmlformats.org/drawingml/2006/main">
            <a:off x="914400" y="1737360"/>
            <a:ext cx="1033272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1E3A5F"/>
                </a:solidFill>
                <a:latin typeface="Calibri"/>
                <a:ea typeface="Calibri"/>
                <a:cs typeface="Calibri"/>
              </a:rPr>
              <a:t>Gözlem:  </a:t>
            </a:r>
            <a:r>
              <a:rPr sz="1900">
                <a:solidFill>
                  <a:srgbClr val="1E2761"/>
                </a:solidFill>
                <a:latin typeface="Calibri"/>
                <a:ea typeface="Calibri"/>
                <a:cs typeface="Calibri"/>
              </a:rPr>
              <a:t>ÖSYM, numaralanmış cümle sorularında sıklıkla karşılaştırma ile değerlendirmeyi aynı parçada birlikte kullanır. İkisini ayırmanın anahtarı: karşılaştırmada İKİ AYRI öge, değerlendirmede TEK BİR hedef vardır.</a:t>
            </a:r>
            <a:endParaRPr sz="1900"/>
          </a:p>
        </p:txBody>
      </p:sp>
      <p:sp>
        <p:nvSpPr>
          <p:cNvPr id="8" name="Shape 5">
            <a:extLst xmlns:a="http://schemas.openxmlformats.org/drawingml/2006/main">
              <a:ext uri="{FF2B5EF4-FFF2-40B4-BE49-F238E27FC236}">
                <a16:creationId xmlns:a16="http://schemas.microsoft.com/office/drawing/2014/main" id="{B4FB6E77-FD75-4D73-ADBC-E61B645AA0A0}"/>
              </a:ext>
            </a:extLst>
          </p:cNvPr>
          <p:cNvSpPr>
            <a:spLocks xmlns:a="http://schemas.openxmlformats.org/drawingml/2006/main" noGrp="1"/>
          </p:cNvSpPr>
          <p:nvPr/>
        </p:nvSpPr>
        <p:spPr>
          <a:xfrm xmlns:a="http://schemas.openxmlformats.org/drawingml/2006/main">
            <a:off x="640080" y="2971800"/>
            <a:ext cx="10881360" cy="868680"/>
          </a:xfrm>
          <a:prstGeom xmlns:a="http://schemas.openxmlformats.org/drawingml/2006/main" prst="roundRect">
            <a:avLst>
              <a:gd name="adj" fmla="val 8421"/>
            </a:avLst>
          </a:prstGeom>
          <a:solidFill xmlns:a="http://schemas.openxmlformats.org/drawingml/2006/main">
            <a:srgbClr val="EEF3F8"/>
          </a:solidFill>
        </p:spPr>
      </p:sp>
      <p:sp>
        <p:nvSpPr>
          <p:cNvPr id="9" name="Text 6">
            <a:extLst xmlns:a="http://schemas.openxmlformats.org/drawingml/2006/main">
              <a:ext uri="{FF2B5EF4-FFF2-40B4-BE49-F238E27FC236}">
                <a16:creationId xmlns:a16="http://schemas.microsoft.com/office/drawing/2014/main" id="{25C1EB6D-C6B7-4C59-9809-2E6B26AF11A7}"/>
              </a:ext>
            </a:extLst>
          </p:cNvPr>
          <p:cNvSpPr>
            <a:spLocks xmlns:a="http://schemas.openxmlformats.org/drawingml/2006/main" noGrp="1"/>
          </p:cNvSpPr>
          <p:nvPr/>
        </p:nvSpPr>
        <p:spPr>
          <a:xfrm xmlns:a="http://schemas.openxmlformats.org/drawingml/2006/main">
            <a:off x="822960" y="3044952"/>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i="1">
                <a:solidFill>
                  <a:srgbClr val="142A44"/>
                </a:solidFill>
                <a:latin typeface="Calibri"/>
                <a:ea typeface="Calibri"/>
                <a:cs typeface="Calibri"/>
              </a:rPr>
              <a:t>"Şiir, romandan daha çok okunur."</a:t>
            </a:r>
            <a:endParaRPr sz="1600"/>
          </a:p>
        </p:txBody>
      </p:sp>
      <p:sp>
        <p:nvSpPr>
          <p:cNvPr id="10" name="Text 7">
            <a:extLst xmlns:a="http://schemas.openxmlformats.org/drawingml/2006/main">
              <a:ext uri="{FF2B5EF4-FFF2-40B4-BE49-F238E27FC236}">
                <a16:creationId xmlns:a16="http://schemas.microsoft.com/office/drawing/2014/main" id="{ABC5B76A-A34C-4072-B830-8D9790ACAEC5}"/>
              </a:ext>
            </a:extLst>
          </p:cNvPr>
          <p:cNvSpPr>
            <a:spLocks xmlns:a="http://schemas.openxmlformats.org/drawingml/2006/main" noGrp="1"/>
          </p:cNvSpPr>
          <p:nvPr/>
        </p:nvSpPr>
        <p:spPr>
          <a:xfrm xmlns:a="http://schemas.openxmlformats.org/drawingml/2006/main">
            <a:off x="4251960" y="3044952"/>
            <a:ext cx="49377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E2761"/>
                </a:solidFill>
                <a:latin typeface="Calibri"/>
                <a:ea typeface="Calibri"/>
                <a:cs typeface="Calibri"/>
              </a:rPr>
              <a:t>İKİ öge (şiir – roman) birlikte anılıyor, biri diğerine göre konumlanıyor →</a:t>
            </a:r>
            <a:endParaRPr sz="1600"/>
          </a:p>
        </p:txBody>
      </p:sp>
      <p:sp>
        <p:nvSpPr>
          <p:cNvPr id="11" name="Shape 8">
            <a:extLst xmlns:a="http://schemas.openxmlformats.org/drawingml/2006/main">
              <a:ext uri="{FF2B5EF4-FFF2-40B4-BE49-F238E27FC236}">
                <a16:creationId xmlns:a16="http://schemas.microsoft.com/office/drawing/2014/main" id="{8034C082-62E7-401F-B21B-B71E409A0F29}"/>
              </a:ext>
            </a:extLst>
          </p:cNvPr>
          <p:cNvSpPr>
            <a:spLocks xmlns:a="http://schemas.openxmlformats.org/drawingml/2006/main" noGrp="1"/>
          </p:cNvSpPr>
          <p:nvPr/>
        </p:nvSpPr>
        <p:spPr>
          <a:xfrm xmlns:a="http://schemas.openxmlformats.org/drawingml/2006/main">
            <a:off x="9326880" y="3127248"/>
            <a:ext cx="2057400" cy="548640"/>
          </a:xfrm>
          <a:prstGeom xmlns:a="http://schemas.openxmlformats.org/drawingml/2006/main" prst="roundRect">
            <a:avLst>
              <a:gd name="adj" fmla="val 13333"/>
            </a:avLst>
          </a:prstGeom>
          <a:solidFill xmlns:a="http://schemas.openxmlformats.org/drawingml/2006/main">
            <a:srgbClr val="D9A441"/>
          </a:solidFill>
          <a:effectLst xmlns:a="http://schemas.openxmlformats.org/drawingml/2006/main">
            <a:outerShdw blurRad="76200" dist="25400" dir="5400000" sx="100000" sy="100000" kx="0" ky="0" algn="bl" rotWithShape="0">
              <a:srgbClr val="1E2761">
                <a:alpha val="18000"/>
              </a:srgbClr>
            </a:outerShdw>
          </a:effectLst>
        </p:spPr>
      </p:sp>
      <p:sp>
        <p:nvSpPr>
          <p:cNvPr id="12" name="Text 9">
            <a:extLst xmlns:a="http://schemas.openxmlformats.org/drawingml/2006/main">
              <a:ext uri="{FF2B5EF4-FFF2-40B4-BE49-F238E27FC236}">
                <a16:creationId xmlns:a16="http://schemas.microsoft.com/office/drawing/2014/main" id="{05F54DDA-1B32-455D-AC0B-3B5F30563AB7}"/>
              </a:ext>
            </a:extLst>
          </p:cNvPr>
          <p:cNvSpPr>
            <a:spLocks xmlns:a="http://schemas.openxmlformats.org/drawingml/2006/main" noGrp="1"/>
          </p:cNvSpPr>
          <p:nvPr/>
        </p:nvSpPr>
        <p:spPr>
          <a:xfrm xmlns:a="http://schemas.openxmlformats.org/drawingml/2006/main">
            <a:off x="9326880" y="3127248"/>
            <a:ext cx="2057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142A44"/>
                </a:solidFill>
                <a:latin typeface="Calibri"/>
                <a:ea typeface="Calibri"/>
                <a:cs typeface="Calibri"/>
              </a:rPr>
              <a:t>KARŞILAŞTIRMA</a:t>
            </a:r>
            <a:endParaRPr sz="2000"/>
          </a:p>
        </p:txBody>
      </p:sp>
      <p:sp>
        <p:nvSpPr>
          <p:cNvPr id="13" name="Shape 10">
            <a:extLst xmlns:a="http://schemas.openxmlformats.org/drawingml/2006/main">
              <a:ext uri="{FF2B5EF4-FFF2-40B4-BE49-F238E27FC236}">
                <a16:creationId xmlns:a16="http://schemas.microsoft.com/office/drawing/2014/main" id="{1ABD765F-4F09-4142-9744-8F5C6D1DC992}"/>
              </a:ext>
            </a:extLst>
          </p:cNvPr>
          <p:cNvSpPr>
            <a:spLocks xmlns:a="http://schemas.openxmlformats.org/drawingml/2006/main" noGrp="1"/>
          </p:cNvSpPr>
          <p:nvPr/>
        </p:nvSpPr>
        <p:spPr>
          <a:xfrm xmlns:a="http://schemas.openxmlformats.org/drawingml/2006/main">
            <a:off x="640080" y="3959352"/>
            <a:ext cx="10881360" cy="868680"/>
          </a:xfrm>
          <a:prstGeom xmlns:a="http://schemas.openxmlformats.org/drawingml/2006/main" prst="roundRect">
            <a:avLst>
              <a:gd name="adj" fmla="val 8421"/>
            </a:avLst>
          </a:prstGeom>
          <a:solidFill xmlns:a="http://schemas.openxmlformats.org/drawingml/2006/main">
            <a:srgbClr val="EEF3F8"/>
          </a:solidFill>
        </p:spPr>
      </p:sp>
      <p:sp>
        <p:nvSpPr>
          <p:cNvPr id="14" name="Text 11">
            <a:extLst xmlns:a="http://schemas.openxmlformats.org/drawingml/2006/main">
              <a:ext uri="{FF2B5EF4-FFF2-40B4-BE49-F238E27FC236}">
                <a16:creationId xmlns:a16="http://schemas.microsoft.com/office/drawing/2014/main" id="{183944D9-DC1D-4B56-9046-B661C9F1A3D0}"/>
              </a:ext>
            </a:extLst>
          </p:cNvPr>
          <p:cNvSpPr>
            <a:spLocks xmlns:a="http://schemas.openxmlformats.org/drawingml/2006/main" noGrp="1"/>
          </p:cNvSpPr>
          <p:nvPr/>
        </p:nvSpPr>
        <p:spPr>
          <a:xfrm xmlns:a="http://schemas.openxmlformats.org/drawingml/2006/main">
            <a:off x="822960" y="4032504"/>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i="1">
                <a:solidFill>
                  <a:srgbClr val="142A44"/>
                </a:solidFill>
                <a:latin typeface="Calibri"/>
                <a:ea typeface="Calibri"/>
                <a:cs typeface="Calibri"/>
              </a:rPr>
              <a:t>"Bu şiir, şairin en güçlü eseridir."</a:t>
            </a:r>
            <a:endParaRPr sz="1600"/>
          </a:p>
        </p:txBody>
      </p:sp>
      <p:sp>
        <p:nvSpPr>
          <p:cNvPr id="15" name="Text 12">
            <a:extLst xmlns:a="http://schemas.openxmlformats.org/drawingml/2006/main">
              <a:ext uri="{FF2B5EF4-FFF2-40B4-BE49-F238E27FC236}">
                <a16:creationId xmlns:a16="http://schemas.microsoft.com/office/drawing/2014/main" id="{6911A614-8AC4-46CB-AD49-51BB8214523C}"/>
              </a:ext>
            </a:extLst>
          </p:cNvPr>
          <p:cNvSpPr>
            <a:spLocks xmlns:a="http://schemas.openxmlformats.org/drawingml/2006/main" noGrp="1"/>
          </p:cNvSpPr>
          <p:nvPr/>
        </p:nvSpPr>
        <p:spPr>
          <a:xfrm xmlns:a="http://schemas.openxmlformats.org/drawingml/2006/main">
            <a:off x="4251960" y="4032504"/>
            <a:ext cx="49377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761"/>
                </a:solidFill>
                <a:latin typeface="Calibri"/>
                <a:ea typeface="Calibri"/>
                <a:cs typeface="Calibri"/>
              </a:rPr>
              <a:t>TEK bir eser (bu şiir) hakkında olumlu bir yargı veriliyor, başka bir eserle açıkça kıyaslanmıyor →</a:t>
            </a:r>
            <a:endParaRPr sz="1500"/>
          </a:p>
        </p:txBody>
      </p:sp>
      <p:sp>
        <p:nvSpPr>
          <p:cNvPr id="16" name="Shape 13">
            <a:extLst xmlns:a="http://schemas.openxmlformats.org/drawingml/2006/main">
              <a:ext uri="{FF2B5EF4-FFF2-40B4-BE49-F238E27FC236}">
                <a16:creationId xmlns:a16="http://schemas.microsoft.com/office/drawing/2014/main" id="{F218605F-7618-404C-A720-B17AE04BC7F2}"/>
              </a:ext>
            </a:extLst>
          </p:cNvPr>
          <p:cNvSpPr>
            <a:spLocks xmlns:a="http://schemas.openxmlformats.org/drawingml/2006/main" noGrp="1"/>
          </p:cNvSpPr>
          <p:nvPr/>
        </p:nvSpPr>
        <p:spPr>
          <a:xfrm xmlns:a="http://schemas.openxmlformats.org/drawingml/2006/main">
            <a:off x="9326880" y="4114800"/>
            <a:ext cx="2057400" cy="548640"/>
          </a:xfrm>
          <a:prstGeom xmlns:a="http://schemas.openxmlformats.org/drawingml/2006/main" prst="roundRect">
            <a:avLst>
              <a:gd name="adj" fmla="val 13333"/>
            </a:avLst>
          </a:prstGeom>
          <a:solidFill xmlns:a="http://schemas.openxmlformats.org/drawingml/2006/main">
            <a:srgbClr val="D9A441"/>
          </a:solidFill>
          <a:effectLst xmlns:a="http://schemas.openxmlformats.org/drawingml/2006/main">
            <a:outerShdw blurRad="76200" dist="25400" dir="5400000" sx="100000" sy="100000" kx="0" ky="0" algn="bl" rotWithShape="0">
              <a:srgbClr val="1E2761">
                <a:alpha val="18000"/>
              </a:srgbClr>
            </a:outerShdw>
          </a:effectLst>
        </p:spPr>
      </p:sp>
      <p:sp>
        <p:nvSpPr>
          <p:cNvPr id="17" name="Text 14">
            <a:extLst xmlns:a="http://schemas.openxmlformats.org/drawingml/2006/main">
              <a:ext uri="{FF2B5EF4-FFF2-40B4-BE49-F238E27FC236}">
                <a16:creationId xmlns:a16="http://schemas.microsoft.com/office/drawing/2014/main" id="{799666D3-56A2-4A01-9D6E-B9EEC4D3BF53}"/>
              </a:ext>
            </a:extLst>
          </p:cNvPr>
          <p:cNvSpPr>
            <a:spLocks xmlns:a="http://schemas.openxmlformats.org/drawingml/2006/main" noGrp="1"/>
          </p:cNvSpPr>
          <p:nvPr/>
        </p:nvSpPr>
        <p:spPr>
          <a:xfrm xmlns:a="http://schemas.openxmlformats.org/drawingml/2006/main">
            <a:off x="9326880" y="4114800"/>
            <a:ext cx="2057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142A44"/>
                </a:solidFill>
                <a:latin typeface="Calibri"/>
                <a:ea typeface="Calibri"/>
                <a:cs typeface="Calibri"/>
              </a:rPr>
              <a:t>DEĞERLENDİRME</a:t>
            </a:r>
            <a:endParaRPr sz="2000"/>
          </a:p>
        </p:txBody>
      </p:sp>
      <p:sp>
        <p:nvSpPr>
          <p:cNvPr id="18" name="Shape 15">
            <a:extLst xmlns:a="http://schemas.openxmlformats.org/drawingml/2006/main">
              <a:ext uri="{FF2B5EF4-FFF2-40B4-BE49-F238E27FC236}">
                <a16:creationId xmlns:a16="http://schemas.microsoft.com/office/drawing/2014/main" id="{FBDE87B8-DEFA-4D56-B850-AA7EA7979CB6}"/>
              </a:ext>
            </a:extLst>
          </p:cNvPr>
          <p:cNvSpPr>
            <a:spLocks xmlns:a="http://schemas.openxmlformats.org/drawingml/2006/main" noGrp="1"/>
          </p:cNvSpPr>
          <p:nvPr/>
        </p:nvSpPr>
        <p:spPr>
          <a:xfrm xmlns:a="http://schemas.openxmlformats.org/drawingml/2006/main">
            <a:off x="640080" y="4946904"/>
            <a:ext cx="10881360" cy="868680"/>
          </a:xfrm>
          <a:prstGeom xmlns:a="http://schemas.openxmlformats.org/drawingml/2006/main" prst="roundRect">
            <a:avLst>
              <a:gd name="adj" fmla="val 8421"/>
            </a:avLst>
          </a:prstGeom>
          <a:solidFill xmlns:a="http://schemas.openxmlformats.org/drawingml/2006/main">
            <a:srgbClr val="EEF3F8"/>
          </a:solidFill>
        </p:spPr>
      </p:sp>
      <p:sp>
        <p:nvSpPr>
          <p:cNvPr id="19" name="Text 16">
            <a:extLst xmlns:a="http://schemas.openxmlformats.org/drawingml/2006/main">
              <a:ext uri="{FF2B5EF4-FFF2-40B4-BE49-F238E27FC236}">
                <a16:creationId xmlns:a16="http://schemas.microsoft.com/office/drawing/2014/main" id="{D28262C6-79D9-4B14-90EF-7BA270D80B99}"/>
              </a:ext>
            </a:extLst>
          </p:cNvPr>
          <p:cNvSpPr>
            <a:spLocks xmlns:a="http://schemas.openxmlformats.org/drawingml/2006/main" noGrp="1"/>
          </p:cNvSpPr>
          <p:nvPr/>
        </p:nvSpPr>
        <p:spPr>
          <a:xfrm xmlns:a="http://schemas.openxmlformats.org/drawingml/2006/main">
            <a:off x="822960" y="5020056"/>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i="1">
                <a:solidFill>
                  <a:srgbClr val="142A44"/>
                </a:solidFill>
                <a:latin typeface="Calibri"/>
                <a:ea typeface="Calibri"/>
                <a:cs typeface="Calibri"/>
              </a:rPr>
              <a:t>"Yazarların çoğu önce şiirle başlar."</a:t>
            </a:r>
            <a:endParaRPr sz="1600"/>
          </a:p>
        </p:txBody>
      </p:sp>
      <p:sp>
        <p:nvSpPr>
          <p:cNvPr id="20" name="Text 17">
            <a:extLst xmlns:a="http://schemas.openxmlformats.org/drawingml/2006/main">
              <a:ext uri="{FF2B5EF4-FFF2-40B4-BE49-F238E27FC236}">
                <a16:creationId xmlns:a16="http://schemas.microsoft.com/office/drawing/2014/main" id="{51C23CC0-E07B-4EA0-994C-8DE249619A1C}"/>
              </a:ext>
            </a:extLst>
          </p:cNvPr>
          <p:cNvSpPr>
            <a:spLocks xmlns:a="http://schemas.openxmlformats.org/drawingml/2006/main" noGrp="1"/>
          </p:cNvSpPr>
          <p:nvPr/>
        </p:nvSpPr>
        <p:spPr>
          <a:xfrm xmlns:a="http://schemas.openxmlformats.org/drawingml/2006/main">
            <a:off x="4251960" y="5020056"/>
            <a:ext cx="49377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E2761"/>
                </a:solidFill>
                <a:latin typeface="Calibri"/>
                <a:ea typeface="Calibri"/>
                <a:cs typeface="Calibri"/>
              </a:rPr>
              <a:t>Belirli bir esere/kişiye değil, GENEL bir gözleme dayanıyor →</a:t>
            </a:r>
            <a:endParaRPr sz="1600"/>
          </a:p>
        </p:txBody>
      </p:sp>
      <p:sp>
        <p:nvSpPr>
          <p:cNvPr id="21" name="Shape 18">
            <a:extLst xmlns:a="http://schemas.openxmlformats.org/drawingml/2006/main">
              <a:ext uri="{FF2B5EF4-FFF2-40B4-BE49-F238E27FC236}">
                <a16:creationId xmlns:a16="http://schemas.microsoft.com/office/drawing/2014/main" id="{32F969B3-B349-4766-ACFB-894E551D6E4F}"/>
              </a:ext>
            </a:extLst>
          </p:cNvPr>
          <p:cNvSpPr>
            <a:spLocks xmlns:a="http://schemas.openxmlformats.org/drawingml/2006/main" noGrp="1"/>
          </p:cNvSpPr>
          <p:nvPr/>
        </p:nvSpPr>
        <p:spPr>
          <a:xfrm xmlns:a="http://schemas.openxmlformats.org/drawingml/2006/main">
            <a:off x="9326880" y="5102352"/>
            <a:ext cx="2057400" cy="548640"/>
          </a:xfrm>
          <a:prstGeom xmlns:a="http://schemas.openxmlformats.org/drawingml/2006/main" prst="roundRect">
            <a:avLst>
              <a:gd name="adj" fmla="val 13333"/>
            </a:avLst>
          </a:prstGeom>
          <a:solidFill xmlns:a="http://schemas.openxmlformats.org/drawingml/2006/main">
            <a:srgbClr val="D9A441"/>
          </a:solidFill>
          <a:effectLst xmlns:a="http://schemas.openxmlformats.org/drawingml/2006/main">
            <a:outerShdw blurRad="76200" dist="25400" dir="5400000" sx="100000" sy="100000" kx="0" ky="0" algn="bl" rotWithShape="0">
              <a:srgbClr val="1E2761">
                <a:alpha val="18000"/>
              </a:srgbClr>
            </a:outerShdw>
          </a:effectLst>
        </p:spPr>
      </p:sp>
      <p:sp>
        <p:nvSpPr>
          <p:cNvPr id="22" name="Text 19">
            <a:extLst xmlns:a="http://schemas.openxmlformats.org/drawingml/2006/main">
              <a:ext uri="{FF2B5EF4-FFF2-40B4-BE49-F238E27FC236}">
                <a16:creationId xmlns:a16="http://schemas.microsoft.com/office/drawing/2014/main" id="{8F1F80E6-2C6E-456F-9ECF-9183E1FCE331}"/>
              </a:ext>
            </a:extLst>
          </p:cNvPr>
          <p:cNvSpPr>
            <a:spLocks xmlns:a="http://schemas.openxmlformats.org/drawingml/2006/main" noGrp="1"/>
          </p:cNvSpPr>
          <p:nvPr/>
        </p:nvSpPr>
        <p:spPr>
          <a:xfrm xmlns:a="http://schemas.openxmlformats.org/drawingml/2006/main">
            <a:off x="9326880" y="5102352"/>
            <a:ext cx="2057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142A44"/>
                </a:solidFill>
                <a:latin typeface="Calibri"/>
                <a:ea typeface="Calibri"/>
                <a:cs typeface="Calibri"/>
              </a:rPr>
              <a:t>NE İKİSİ NE DE</a:t>
            </a:r>
            <a:endParaRPr sz="2000"/>
          </a:p>
        </p:txBody>
      </p:sp>
      <p:sp>
        <p:nvSpPr>
          <p:cNvPr id="23" name="Shape 20">
            <a:extLst xmlns:a="http://schemas.openxmlformats.org/drawingml/2006/main">
              <a:ext uri="{FF2B5EF4-FFF2-40B4-BE49-F238E27FC236}">
                <a16:creationId xmlns:a16="http://schemas.microsoft.com/office/drawing/2014/main" id="{979E7D75-B868-4660-B369-9208BF141B24}"/>
              </a:ext>
            </a:extLst>
          </p:cNvPr>
          <p:cNvSpPr>
            <a:spLocks xmlns:a="http://schemas.openxmlformats.org/drawingml/2006/main" noGrp="1"/>
          </p:cNvSpPr>
          <p:nvPr/>
        </p:nvSpPr>
        <p:spPr>
          <a:xfrm xmlns:a="http://schemas.openxmlformats.org/drawingml/2006/main">
            <a:off x="640080" y="5943600"/>
            <a:ext cx="10881360" cy="502920"/>
          </a:xfrm>
          <a:prstGeom xmlns:a="http://schemas.openxmlformats.org/drawingml/2006/main" prst="roundRect">
            <a:avLst>
              <a:gd name="adj" fmla="val 18182"/>
            </a:avLst>
          </a:prstGeom>
          <a:solidFill xmlns:a="http://schemas.openxmlformats.org/drawingml/2006/main">
            <a:srgbClr val="FBF3E3"/>
          </a:solidFill>
        </p:spPr>
      </p:sp>
      <p:sp>
        <p:nvSpPr>
          <p:cNvPr id="24" name="Text 21">
            <a:extLst xmlns:a="http://schemas.openxmlformats.org/drawingml/2006/main">
              <a:ext uri="{FF2B5EF4-FFF2-40B4-BE49-F238E27FC236}">
                <a16:creationId xmlns:a16="http://schemas.microsoft.com/office/drawing/2014/main" id="{FEB2CD5A-D1D3-4EAB-B2D5-82A6B0F959A7}"/>
              </a:ext>
            </a:extLst>
          </p:cNvPr>
          <p:cNvSpPr>
            <a:spLocks xmlns:a="http://schemas.openxmlformats.org/drawingml/2006/main" noGrp="1"/>
          </p:cNvSpPr>
          <p:nvPr/>
        </p:nvSpPr>
        <p:spPr>
          <a:xfrm xmlns:a="http://schemas.openxmlformats.org/drawingml/2006/main">
            <a:off x="914400" y="5943600"/>
            <a:ext cx="10332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a:solidFill>
                  <a:srgbClr val="1E2761"/>
                </a:solidFill>
                <a:latin typeface="Calibri"/>
                <a:ea typeface="Calibri"/>
                <a:cs typeface="Calibri"/>
              </a:rPr>
              <a:t>Pratik ipucu: "İki ayrı şey mi kıyaslanıyor, yoksa tek bir şey mi değerlendiriliyor?" diye sorun.</a:t>
            </a:r>
            <a:endParaRPr sz="1650"/>
          </a:p>
        </p:txBody>
      </p:sp>
      <p:sp>
        <p:nvSpPr>
          <p:cNvPr id="25" name="Text 22">
            <a:extLst xmlns:a="http://schemas.openxmlformats.org/drawingml/2006/main">
              <a:ext uri="{FF2B5EF4-FFF2-40B4-BE49-F238E27FC236}">
                <a16:creationId xmlns:a16="http://schemas.microsoft.com/office/drawing/2014/main" id="{3B7BA124-E3C3-4D40-A5D3-4E4EA153FBEF}"/>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Derinleşme — Karşılaştırma/Değerlendirme</a:t>
            </a:r>
            <a:endParaRPr sz="900"/>
          </a:p>
        </p:txBody>
      </p:sp>
      <p:sp>
        <p:nvSpPr>
          <p:cNvPr id="26" name="Text 23">
            <a:extLst xmlns:a="http://schemas.openxmlformats.org/drawingml/2006/main">
              <a:ext uri="{FF2B5EF4-FFF2-40B4-BE49-F238E27FC236}">
                <a16:creationId xmlns:a16="http://schemas.microsoft.com/office/drawing/2014/main" id="{D4E6D713-96CB-4C5B-9070-86607F55B814}"/>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62906837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52A4601-018B-441F-9B24-6609F96C7C37}"/>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8077f3dd41034469"/>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9F6E030D-8C2D-4749-9395-917AD99E9191}"/>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ÖRNEK SORU · 1/3</a:t>
            </a:r>
            <a:endParaRPr sz="1300"/>
          </a:p>
        </p:txBody>
      </p:sp>
      <p:sp>
        <p:nvSpPr>
          <p:cNvPr id="5" name="Text 2">
            <a:extLst xmlns:a="http://schemas.openxmlformats.org/drawingml/2006/main">
              <a:ext uri="{FF2B5EF4-FFF2-40B4-BE49-F238E27FC236}">
                <a16:creationId xmlns:a16="http://schemas.microsoft.com/office/drawing/2014/main" id="{E78D655C-B551-4B51-8911-14119155D926}"/>
              </a:ext>
            </a:extLst>
          </p:cNvPr>
          <p:cNvSpPr>
            <a:spLocks xmlns:a="http://schemas.openxmlformats.org/drawingml/2006/main" noGrp="1"/>
          </p:cNvSpPr>
          <p:nvPr/>
        </p:nvSpPr>
        <p:spPr>
          <a:xfrm xmlns:a="http://schemas.openxmlformats.org/drawingml/2006/main">
            <a:off x="1463040" y="841248"/>
            <a:ext cx="7863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Soru Çözümü</a:t>
            </a:r>
            <a:endParaRPr sz="2800"/>
          </a:p>
        </p:txBody>
      </p:sp>
      <p:sp>
        <p:nvSpPr>
          <p:cNvPr id="6" name="Shape 3">
            <a:extLst xmlns:a="http://schemas.openxmlformats.org/drawingml/2006/main">
              <a:ext uri="{FF2B5EF4-FFF2-40B4-BE49-F238E27FC236}">
                <a16:creationId xmlns:a16="http://schemas.microsoft.com/office/drawing/2014/main" id="{7DAD5AB2-8E1A-4284-9372-07E0D9BC9BA8}"/>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D9A441"/>
            </a:solidFill>
            <a:prstDash val="solid"/>
          </a:ln>
        </p:spPr>
      </p:sp>
      <p:sp>
        <p:nvSpPr>
          <p:cNvPr id="7" name="Text 4">
            <a:extLst xmlns:a="http://schemas.openxmlformats.org/drawingml/2006/main">
              <a:ext uri="{FF2B5EF4-FFF2-40B4-BE49-F238E27FC236}">
                <a16:creationId xmlns:a16="http://schemas.microsoft.com/office/drawing/2014/main" id="{6AB94607-4CCF-4B83-B0E3-002B09C3DC2A}"/>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3A5F"/>
                </a:solidFill>
                <a:latin typeface="Calibri"/>
                <a:ea typeface="Calibri"/>
                <a:cs typeface="Calibri"/>
              </a:rPr>
              <a:t>ÖSYM (ÖSS - 1995)</a:t>
            </a:r>
            <a:endParaRPr sz="1050"/>
          </a:p>
        </p:txBody>
      </p:sp>
      <p:sp>
        <p:nvSpPr>
          <p:cNvPr id="8" name="Shape 5">
            <a:extLst xmlns:a="http://schemas.openxmlformats.org/drawingml/2006/main">
              <a:ext uri="{FF2B5EF4-FFF2-40B4-BE49-F238E27FC236}">
                <a16:creationId xmlns:a16="http://schemas.microsoft.com/office/drawing/2014/main" id="{F33D6B14-3354-4BE8-AE30-C293632FD5B4}"/>
              </a:ext>
            </a:extLst>
          </p:cNvPr>
          <p:cNvSpPr>
            <a:spLocks xmlns:a="http://schemas.openxmlformats.org/drawingml/2006/main" noGrp="1"/>
          </p:cNvSpPr>
          <p:nvPr/>
        </p:nvSpPr>
        <p:spPr>
          <a:xfrm xmlns:a="http://schemas.openxmlformats.org/drawingml/2006/main">
            <a:off x="640080" y="1645920"/>
            <a:ext cx="10908792" cy="4653502"/>
          </a:xfrm>
          <a:prstGeom xmlns:a="http://schemas.openxmlformats.org/drawingml/2006/main" prst="roundRect">
            <a:avLst>
              <a:gd name="adj" fmla="val 2474"/>
            </a:avLst>
          </a:prstGeom>
          <a:solidFill xmlns:a="http://schemas.openxmlformats.org/drawingml/2006/main">
            <a:srgbClr val="EEF3F8"/>
          </a:solidFill>
        </p:spPr>
      </p:sp>
      <p:sp>
        <p:nvSpPr>
          <p:cNvPr id="9" name="Text 6">
            <a:extLst xmlns:a="http://schemas.openxmlformats.org/drawingml/2006/main">
              <a:ext uri="{FF2B5EF4-FFF2-40B4-BE49-F238E27FC236}">
                <a16:creationId xmlns:a16="http://schemas.microsoft.com/office/drawing/2014/main" id="{E0114EAA-1F66-4AC4-BC74-BF7945BA0842}"/>
              </a:ext>
            </a:extLst>
          </p:cNvPr>
          <p:cNvSpPr>
            <a:spLocks xmlns:a="http://schemas.openxmlformats.org/drawingml/2006/main" noGrp="1"/>
          </p:cNvSpPr>
          <p:nvPr/>
        </p:nvSpPr>
        <p:spPr>
          <a:xfrm xmlns:a="http://schemas.openxmlformats.org/drawingml/2006/main">
            <a:off x="914400" y="1828800"/>
            <a:ext cx="10360152" cy="36969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50" b="1">
                <a:solidFill>
                  <a:srgbClr val="1E3A5F"/>
                </a:solidFill>
                <a:latin typeface="Calibri"/>
                <a:ea typeface="Calibri"/>
                <a:cs typeface="Calibri"/>
              </a:rPr>
              <a:t>Aşağıdaki cümlelerin hangisi öznel bir yargıdır?</a:t>
            </a:r>
            <a:endParaRPr sz="2050"/>
          </a:p>
        </p:txBody>
      </p:sp>
      <p:sp>
        <p:nvSpPr>
          <p:cNvPr id="10" name="Text 7">
            <a:extLst xmlns:a="http://schemas.openxmlformats.org/drawingml/2006/main">
              <a:ext uri="{FF2B5EF4-FFF2-40B4-BE49-F238E27FC236}">
                <a16:creationId xmlns:a16="http://schemas.microsoft.com/office/drawing/2014/main" id="{3DE3807F-282A-4ACF-A7F2-D8343FF12894}"/>
              </a:ext>
            </a:extLst>
          </p:cNvPr>
          <p:cNvSpPr>
            <a:spLocks xmlns:a="http://schemas.openxmlformats.org/drawingml/2006/main" noGrp="1"/>
          </p:cNvSpPr>
          <p:nvPr/>
        </p:nvSpPr>
        <p:spPr>
          <a:xfrm xmlns:a="http://schemas.openxmlformats.org/drawingml/2006/main">
            <a:off x="914400" y="2436241"/>
            <a:ext cx="10360152" cy="6492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E3A5F"/>
                </a:solidFill>
                <a:latin typeface="Calibri"/>
                <a:ea typeface="Calibri"/>
                <a:cs typeface="Calibri"/>
              </a:rPr>
              <a:t>A)  </a:t>
            </a:r>
            <a:r>
              <a:rPr sz="1800">
                <a:solidFill>
                  <a:srgbClr val="1E2761"/>
                </a:solidFill>
                <a:latin typeface="Calibri"/>
                <a:ea typeface="Calibri"/>
                <a:cs typeface="Calibri"/>
              </a:rPr>
              <a:t>Yunus Emre'nin bu şiirinde "bulut"un gizli gizli ağlamasından söz edilerek buluta insan niteliği verilmektedir.</a:t>
            </a:r>
            <a:endParaRPr sz="1800"/>
          </a:p>
        </p:txBody>
      </p:sp>
      <p:sp>
        <p:nvSpPr>
          <p:cNvPr id="11" name="Text 8">
            <a:extLst xmlns:a="http://schemas.openxmlformats.org/drawingml/2006/main">
              <a:ext uri="{FF2B5EF4-FFF2-40B4-BE49-F238E27FC236}">
                <a16:creationId xmlns:a16="http://schemas.microsoft.com/office/drawing/2014/main" id="{424EE166-F93F-4D4C-B120-45BB2380ED78}"/>
              </a:ext>
            </a:extLst>
          </p:cNvPr>
          <p:cNvSpPr>
            <a:spLocks xmlns:a="http://schemas.openxmlformats.org/drawingml/2006/main" noGrp="1"/>
          </p:cNvSpPr>
          <p:nvPr/>
        </p:nvSpPr>
        <p:spPr>
          <a:xfrm xmlns:a="http://schemas.openxmlformats.org/drawingml/2006/main">
            <a:off x="914400" y="3228080"/>
            <a:ext cx="10360152" cy="6492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E3A5F"/>
                </a:solidFill>
                <a:latin typeface="Calibri"/>
                <a:ea typeface="Calibri"/>
                <a:cs typeface="Calibri"/>
              </a:rPr>
              <a:t>B)  </a:t>
            </a:r>
            <a:r>
              <a:rPr sz="1800">
                <a:solidFill>
                  <a:srgbClr val="1E2761"/>
                </a:solidFill>
                <a:latin typeface="Calibri"/>
                <a:ea typeface="Calibri"/>
                <a:cs typeface="Calibri"/>
              </a:rPr>
              <a:t>Bedri Rahmi Eyüboğlu'nun bu şiirinde doğadaki nesnelerin özellikleri insanlar için kullanılmıştır.</a:t>
            </a:r>
            <a:endParaRPr sz="1800"/>
          </a:p>
        </p:txBody>
      </p:sp>
      <p:sp>
        <p:nvSpPr>
          <p:cNvPr id="12" name="Text 9">
            <a:extLst xmlns:a="http://schemas.openxmlformats.org/drawingml/2006/main">
              <a:ext uri="{FF2B5EF4-FFF2-40B4-BE49-F238E27FC236}">
                <a16:creationId xmlns:a16="http://schemas.microsoft.com/office/drawing/2014/main" id="{D0948EF2-BAB4-4DC5-A14E-0554CF3B4F6A}"/>
              </a:ext>
            </a:extLst>
          </p:cNvPr>
          <p:cNvSpPr>
            <a:spLocks xmlns:a="http://schemas.openxmlformats.org/drawingml/2006/main" noGrp="1"/>
          </p:cNvSpPr>
          <p:nvPr/>
        </p:nvSpPr>
        <p:spPr>
          <a:xfrm xmlns:a="http://schemas.openxmlformats.org/drawingml/2006/main">
            <a:off x="914400" y="4019918"/>
            <a:ext cx="10360152" cy="6492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E3A5F"/>
                </a:solidFill>
                <a:latin typeface="Calibri"/>
                <a:ea typeface="Calibri"/>
                <a:cs typeface="Calibri"/>
              </a:rPr>
              <a:t>C)  </a:t>
            </a:r>
            <a:r>
              <a:rPr sz="1800">
                <a:solidFill>
                  <a:srgbClr val="1E2761"/>
                </a:solidFill>
                <a:latin typeface="Calibri"/>
                <a:ea typeface="Calibri"/>
                <a:cs typeface="Calibri"/>
              </a:rPr>
              <a:t>Faruk Nafiz Çamlıbel'in "Han Duvarları"nda birçok kez kişileştirmeye başvurduğu görülmektedir.</a:t>
            </a:r>
            <a:endParaRPr sz="1800"/>
          </a:p>
        </p:txBody>
      </p:sp>
      <p:sp>
        <p:nvSpPr>
          <p:cNvPr id="13" name="Text 10">
            <a:extLst xmlns:a="http://schemas.openxmlformats.org/drawingml/2006/main">
              <a:ext uri="{FF2B5EF4-FFF2-40B4-BE49-F238E27FC236}">
                <a16:creationId xmlns:a16="http://schemas.microsoft.com/office/drawing/2014/main" id="{6ED993F4-03DF-44E6-A585-9E648D1FB524}"/>
              </a:ext>
            </a:extLst>
          </p:cNvPr>
          <p:cNvSpPr>
            <a:spLocks xmlns:a="http://schemas.openxmlformats.org/drawingml/2006/main" noGrp="1"/>
          </p:cNvSpPr>
          <p:nvPr/>
        </p:nvSpPr>
        <p:spPr>
          <a:xfrm xmlns:a="http://schemas.openxmlformats.org/drawingml/2006/main">
            <a:off x="914400" y="4811757"/>
            <a:ext cx="10360152" cy="3246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E3A5F"/>
                </a:solidFill>
                <a:latin typeface="Calibri"/>
                <a:ea typeface="Calibri"/>
                <a:cs typeface="Calibri"/>
              </a:rPr>
              <a:t>D)  </a:t>
            </a:r>
            <a:r>
              <a:rPr sz="1800">
                <a:solidFill>
                  <a:srgbClr val="1E2761"/>
                </a:solidFill>
                <a:latin typeface="Calibri"/>
                <a:ea typeface="Calibri"/>
                <a:cs typeface="Calibri"/>
              </a:rPr>
              <a:t>Ahmet Haşim'in "Sonbahar" şiirindeki kişileştirme de çok ilgi çekicidir.</a:t>
            </a:r>
            <a:endParaRPr sz="1800"/>
          </a:p>
        </p:txBody>
      </p:sp>
      <p:sp>
        <p:nvSpPr>
          <p:cNvPr id="14" name="Text 11">
            <a:extLst xmlns:a="http://schemas.openxmlformats.org/drawingml/2006/main">
              <a:ext uri="{FF2B5EF4-FFF2-40B4-BE49-F238E27FC236}">
                <a16:creationId xmlns:a16="http://schemas.microsoft.com/office/drawing/2014/main" id="{03373391-56A1-46BC-A0C6-DF735E0BF483}"/>
              </a:ext>
            </a:extLst>
          </p:cNvPr>
          <p:cNvSpPr>
            <a:spLocks xmlns:a="http://schemas.openxmlformats.org/drawingml/2006/main" noGrp="1"/>
          </p:cNvSpPr>
          <p:nvPr/>
        </p:nvSpPr>
        <p:spPr>
          <a:xfrm xmlns:a="http://schemas.openxmlformats.org/drawingml/2006/main">
            <a:off x="914400" y="5278983"/>
            <a:ext cx="10360152" cy="6492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E3A5F"/>
                </a:solidFill>
                <a:latin typeface="Calibri"/>
                <a:ea typeface="Calibri"/>
                <a:cs typeface="Calibri"/>
              </a:rPr>
              <a:t>E)  </a:t>
            </a:r>
            <a:r>
              <a:rPr sz="1800">
                <a:solidFill>
                  <a:srgbClr val="1E2761"/>
                </a:solidFill>
                <a:latin typeface="Calibri"/>
                <a:ea typeface="Calibri"/>
                <a:cs typeface="Calibri"/>
              </a:rPr>
              <a:t>Behçet Necatigil'in bu dizelerinde sokaklar için "gülümseyen" sözcüğü kullanılarak kişileştirme yapılmıştır.</a:t>
            </a:r>
            <a:endParaRPr sz="1800"/>
          </a:p>
        </p:txBody>
      </p:sp>
      <p:sp>
        <p:nvSpPr>
          <p:cNvPr id="21" name="Text 18">
            <a:extLst xmlns:a="http://schemas.openxmlformats.org/drawingml/2006/main">
              <a:ext uri="{FF2B5EF4-FFF2-40B4-BE49-F238E27FC236}">
                <a16:creationId xmlns:a16="http://schemas.microsoft.com/office/drawing/2014/main" id="{C84029FF-720C-4633-ACD7-FACC4590EED5}"/>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Örnek Soru 1 — gerçek ÖSYM sorusu (Öznellik)</a:t>
            </a:r>
            <a:endParaRPr sz="900"/>
          </a:p>
        </p:txBody>
      </p:sp>
      <p:sp>
        <p:nvSpPr>
          <p:cNvPr id="22" name="Text 19">
            <a:extLst xmlns:a="http://schemas.openxmlformats.org/drawingml/2006/main">
              <a:ext uri="{FF2B5EF4-FFF2-40B4-BE49-F238E27FC236}">
                <a16:creationId xmlns:a16="http://schemas.microsoft.com/office/drawing/2014/main" id="{B59A28E8-C7A2-4EA6-A103-0CA0EEF98655}"/>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79371083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1C33EB3-0D76-4ED3-83FF-A2E82535EF0D}"/>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c1488845a5a74b76"/>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3031867A-BFD9-4177-BE3C-56C0E3465F73}"/>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ÖRNEK SORU · 1/3  ·  ÇÖZÜM</a:t>
            </a:r>
            <a:endParaRPr sz="1300"/>
          </a:p>
        </p:txBody>
      </p:sp>
      <p:sp>
        <p:nvSpPr>
          <p:cNvPr id="5" name="Text 2">
            <a:extLst xmlns:a="http://schemas.openxmlformats.org/drawingml/2006/main">
              <a:ext uri="{FF2B5EF4-FFF2-40B4-BE49-F238E27FC236}">
                <a16:creationId xmlns:a16="http://schemas.microsoft.com/office/drawing/2014/main" id="{8CB6E3CC-58C7-4BFB-A1D9-56AE54A8ACD8}"/>
              </a:ext>
            </a:extLst>
          </p:cNvPr>
          <p:cNvSpPr>
            <a:spLocks xmlns:a="http://schemas.openxmlformats.org/drawingml/2006/main" noGrp="1"/>
          </p:cNvSpPr>
          <p:nvPr/>
        </p:nvSpPr>
        <p:spPr>
          <a:xfrm xmlns:a="http://schemas.openxmlformats.org/drawingml/2006/main">
            <a:off x="1463040" y="841248"/>
            <a:ext cx="7863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Çözüm</a:t>
            </a:r>
            <a:endParaRPr sz="2800"/>
          </a:p>
        </p:txBody>
      </p:sp>
      <p:sp>
        <p:nvSpPr>
          <p:cNvPr id="6" name="Shape 3">
            <a:extLst xmlns:a="http://schemas.openxmlformats.org/drawingml/2006/main">
              <a:ext uri="{FF2B5EF4-FFF2-40B4-BE49-F238E27FC236}">
                <a16:creationId xmlns:a16="http://schemas.microsoft.com/office/drawing/2014/main" id="{DF512A79-50EB-4B79-87A5-A323F0B01823}"/>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D9A441"/>
            </a:solidFill>
            <a:prstDash val="solid"/>
          </a:ln>
        </p:spPr>
      </p:sp>
      <p:sp>
        <p:nvSpPr>
          <p:cNvPr id="7" name="Text 4">
            <a:extLst xmlns:a="http://schemas.openxmlformats.org/drawingml/2006/main">
              <a:ext uri="{FF2B5EF4-FFF2-40B4-BE49-F238E27FC236}">
                <a16:creationId xmlns:a16="http://schemas.microsoft.com/office/drawing/2014/main" id="{DFF08A55-E60B-4E44-9F34-BB00BCF83699}"/>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3A5F"/>
                </a:solidFill>
                <a:latin typeface="Calibri"/>
                <a:ea typeface="Calibri"/>
                <a:cs typeface="Calibri"/>
              </a:rPr>
              <a:t>ÖSYM (ÖSS - 1995)</a:t>
            </a:r>
            <a:endParaRPr sz="1050"/>
          </a:p>
        </p:txBody>
      </p:sp>
      <p:sp>
        <p:nvSpPr>
          <p:cNvPr id="15" name="Shape 12">
            <a:extLst xmlns:a="http://schemas.openxmlformats.org/drawingml/2006/main">
              <a:ext uri="{FF2B5EF4-FFF2-40B4-BE49-F238E27FC236}">
                <a16:creationId xmlns:a16="http://schemas.microsoft.com/office/drawing/2014/main" id="{674F1C3B-C88C-4C91-972E-8C801536C616}"/>
              </a:ext>
            </a:extLst>
          </p:cNvPr>
          <p:cNvSpPr>
            <a:spLocks xmlns:a="http://schemas.openxmlformats.org/drawingml/2006/main" noGrp="1"/>
          </p:cNvSpPr>
          <p:nvPr/>
        </p:nvSpPr>
        <p:spPr>
          <a:xfrm xmlns:a="http://schemas.openxmlformats.org/drawingml/2006/main">
            <a:off x="640080" y="1783080"/>
            <a:ext cx="10908792" cy="4434840"/>
          </a:xfrm>
          <a:prstGeom xmlns:a="http://schemas.openxmlformats.org/drawingml/2006/main" prst="roundRect">
            <a:avLst>
              <a:gd name="adj" fmla="val 2526"/>
            </a:avLst>
          </a:prstGeom>
          <a:solidFill xmlns:a="http://schemas.openxmlformats.org/drawingml/2006/main">
            <a:srgbClr val="1E3A5F"/>
          </a:solidFill>
        </p:spPr>
      </p:sp>
      <p:sp>
        <p:nvSpPr>
          <p:cNvPr id="16" name="Text 13">
            <a:extLst xmlns:a="http://schemas.openxmlformats.org/drawingml/2006/main">
              <a:ext uri="{FF2B5EF4-FFF2-40B4-BE49-F238E27FC236}">
                <a16:creationId xmlns:a16="http://schemas.microsoft.com/office/drawing/2014/main" id="{8D965AB1-920B-4234-99F9-19488B568B4A}"/>
              </a:ext>
            </a:extLst>
          </p:cNvPr>
          <p:cNvSpPr>
            <a:spLocks xmlns:a="http://schemas.openxmlformats.org/drawingml/2006/main" noGrp="1"/>
          </p:cNvSpPr>
          <p:nvPr/>
        </p:nvSpPr>
        <p:spPr>
          <a:xfrm xmlns:a="http://schemas.openxmlformats.org/drawingml/2006/main">
            <a:off x="914400" y="1965960"/>
            <a:ext cx="103601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200">
                <a:solidFill>
                  <a:srgbClr val="D9A441"/>
                </a:solidFill>
                <a:latin typeface="Calibri"/>
                <a:ea typeface="Calibri"/>
                <a:cs typeface="Calibri"/>
              </a:rPr>
              <a:t>ÇÖZÜM</a:t>
            </a:r>
            <a:endParaRPr sz="1600"/>
          </a:p>
        </p:txBody>
      </p:sp>
      <p:sp>
        <p:nvSpPr>
          <p:cNvPr id="17" name="Shape 14">
            <a:extLst xmlns:a="http://schemas.openxmlformats.org/drawingml/2006/main">
              <a:ext uri="{FF2B5EF4-FFF2-40B4-BE49-F238E27FC236}">
                <a16:creationId xmlns:a16="http://schemas.microsoft.com/office/drawing/2014/main" id="{68AA5D64-12CD-4514-BE03-E900FB980017}"/>
              </a:ext>
            </a:extLst>
          </p:cNvPr>
          <p:cNvSpPr>
            <a:spLocks xmlns:a="http://schemas.openxmlformats.org/drawingml/2006/main" noGrp="1"/>
          </p:cNvSpPr>
          <p:nvPr/>
        </p:nvSpPr>
        <p:spPr>
          <a:xfrm xmlns:a="http://schemas.openxmlformats.org/drawingml/2006/main">
            <a:off x="914400" y="2514600"/>
            <a:ext cx="777240" cy="777240"/>
          </a:xfrm>
          <a:prstGeom xmlns:a="http://schemas.openxmlformats.org/drawingml/2006/main" prst="ellipse">
            <a:avLst/>
          </a:prstGeom>
          <a:solidFill xmlns:a="http://schemas.openxmlformats.org/drawingml/2006/main">
            <a:srgbClr val="D9A441"/>
          </a:solidFill>
        </p:spPr>
      </p:sp>
      <p:sp>
        <p:nvSpPr>
          <p:cNvPr id="18" name="Text 15">
            <a:extLst xmlns:a="http://schemas.openxmlformats.org/drawingml/2006/main">
              <a:ext uri="{FF2B5EF4-FFF2-40B4-BE49-F238E27FC236}">
                <a16:creationId xmlns:a16="http://schemas.microsoft.com/office/drawing/2014/main" id="{7514DE04-7850-4329-AE91-4A09D26B3CAA}"/>
              </a:ext>
            </a:extLst>
          </p:cNvPr>
          <p:cNvSpPr>
            <a:spLocks xmlns:a="http://schemas.openxmlformats.org/drawingml/2006/main" noGrp="1"/>
          </p:cNvSpPr>
          <p:nvPr/>
        </p:nvSpPr>
        <p:spPr>
          <a:xfrm xmlns:a="http://schemas.openxmlformats.org/drawingml/2006/main">
            <a:off x="914400" y="2514600"/>
            <a:ext cx="777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700" b="1">
                <a:solidFill>
                  <a:srgbClr val="1E3A5F"/>
                </a:solidFill>
                <a:latin typeface="Cambria"/>
                <a:ea typeface="Cambria"/>
                <a:cs typeface="Cambria"/>
              </a:rPr>
              <a:t>D</a:t>
            </a:r>
            <a:endParaRPr sz="2700"/>
          </a:p>
        </p:txBody>
      </p:sp>
      <p:sp>
        <p:nvSpPr>
          <p:cNvPr id="19" name="Text 16">
            <a:extLst xmlns:a="http://schemas.openxmlformats.org/drawingml/2006/main">
              <a:ext uri="{FF2B5EF4-FFF2-40B4-BE49-F238E27FC236}">
                <a16:creationId xmlns:a16="http://schemas.microsoft.com/office/drawing/2014/main" id="{23C65C67-158B-439D-865D-BBEF4BFF92BB}"/>
              </a:ext>
            </a:extLst>
          </p:cNvPr>
          <p:cNvSpPr>
            <a:spLocks xmlns:a="http://schemas.openxmlformats.org/drawingml/2006/main" noGrp="1"/>
          </p:cNvSpPr>
          <p:nvPr/>
        </p:nvSpPr>
        <p:spPr>
          <a:xfrm xmlns:a="http://schemas.openxmlformats.org/drawingml/2006/main">
            <a:off x="1874520" y="2514600"/>
            <a:ext cx="4572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CADCFC"/>
                </a:solidFill>
                <a:latin typeface="Calibri"/>
                <a:ea typeface="Calibri"/>
                <a:cs typeface="Calibri"/>
              </a:rPr>
              <a:t>Doğru cevap</a:t>
            </a:r>
            <a:endParaRPr sz="1900"/>
          </a:p>
        </p:txBody>
      </p:sp>
      <p:sp>
        <p:nvSpPr>
          <p:cNvPr id="20" name="Text 17">
            <a:extLst xmlns:a="http://schemas.openxmlformats.org/drawingml/2006/main">
              <a:ext uri="{FF2B5EF4-FFF2-40B4-BE49-F238E27FC236}">
                <a16:creationId xmlns:a16="http://schemas.microsoft.com/office/drawing/2014/main" id="{6FDB349E-828D-4A2C-B23B-1232EDABB4A6}"/>
              </a:ext>
            </a:extLst>
          </p:cNvPr>
          <p:cNvSpPr>
            <a:spLocks xmlns:a="http://schemas.openxmlformats.org/drawingml/2006/main" noGrp="1"/>
          </p:cNvSpPr>
          <p:nvPr/>
        </p:nvSpPr>
        <p:spPr>
          <a:xfrm xmlns:a="http://schemas.openxmlformats.org/drawingml/2006/main">
            <a:off x="914400" y="3566160"/>
            <a:ext cx="10360152" cy="2423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50" b="1">
                <a:solidFill>
                  <a:srgbClr val="D9A441"/>
                </a:solidFill>
                <a:latin typeface="Calibri"/>
                <a:ea typeface="Calibri"/>
                <a:cs typeface="Calibri"/>
              </a:rPr>
              <a:t>D  </a:t>
            </a:r>
            <a:r>
              <a:rPr sz="1850" b="1">
                <a:solidFill>
                  <a:srgbClr val="FFFFFF"/>
                </a:solidFill>
                <a:latin typeface="Calibri"/>
                <a:ea typeface="Calibri"/>
                <a:cs typeface="Calibri"/>
              </a:rPr>
              <a:t>→ doğru cevap.
</a:t>
            </a:r>
            <a:r>
              <a:rPr sz="1850">
                <a:solidFill>
                  <a:srgbClr val="CADCFC"/>
                </a:solidFill>
                <a:latin typeface="Calibri"/>
                <a:ea typeface="Calibri"/>
                <a:cs typeface="Calibri"/>
              </a:rPr>
              <a:t>A, B, C ve E seçenekleri, ilgili şiirlerde kişileştirme yapıldığını GÖZLEMLENEBİLİR/ispatlanabilir bir olgu olarak bildirir — bu nedenle NESNELDİR. D seçeneğinde ise "çok ilgi çekicidir" ifadesi kanıtlanamayan, kişiden kişiye değişen bir yargıdır ("bana göre ilgi çekici" olan "sana göre" olmayabilir) — bu nedenle ÖZNELDİR.</a:t>
            </a:r>
            <a:endParaRPr sz="1850"/>
          </a:p>
        </p:txBody>
      </p:sp>
      <p:sp>
        <p:nvSpPr>
          <p:cNvPr id="21" name="Text 18">
            <a:extLst xmlns:a="http://schemas.openxmlformats.org/drawingml/2006/main">
              <a:ext uri="{FF2B5EF4-FFF2-40B4-BE49-F238E27FC236}">
                <a16:creationId xmlns:a16="http://schemas.microsoft.com/office/drawing/2014/main" id="{99BB2C0B-39DE-4303-909A-15B0FCFC1B47}"/>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Örnek Soru 1 — çözüm — gerçek ÖSYM sorusu (Öznellik)</a:t>
            </a:r>
            <a:endParaRPr sz="900"/>
          </a:p>
        </p:txBody>
      </p:sp>
      <p:sp>
        <p:nvSpPr>
          <p:cNvPr id="22" name="Text 19">
            <a:extLst xmlns:a="http://schemas.openxmlformats.org/drawingml/2006/main">
              <a:ext uri="{FF2B5EF4-FFF2-40B4-BE49-F238E27FC236}">
                <a16:creationId xmlns:a16="http://schemas.microsoft.com/office/drawing/2014/main" id="{58EFE5AE-1A00-4061-8225-249AB6CF6385}"/>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3431386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D0EA6C6-CA1F-44B5-B254-0DF4607D834D}"/>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83f15ebc7a884fd2"/>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84E76E7F-1FF3-4062-AB15-72890FA219D8}"/>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ÖRNEK SORU · 2/3</a:t>
            </a:r>
            <a:endParaRPr sz="1300"/>
          </a:p>
        </p:txBody>
      </p:sp>
      <p:sp>
        <p:nvSpPr>
          <p:cNvPr id="5" name="Text 2">
            <a:extLst xmlns:a="http://schemas.openxmlformats.org/drawingml/2006/main">
              <a:ext uri="{FF2B5EF4-FFF2-40B4-BE49-F238E27FC236}">
                <a16:creationId xmlns:a16="http://schemas.microsoft.com/office/drawing/2014/main" id="{3E4C4E1D-2960-4328-94AA-56EF7CD6D4BA}"/>
              </a:ext>
            </a:extLst>
          </p:cNvPr>
          <p:cNvSpPr>
            <a:spLocks xmlns:a="http://schemas.openxmlformats.org/drawingml/2006/main" noGrp="1"/>
          </p:cNvSpPr>
          <p:nvPr/>
        </p:nvSpPr>
        <p:spPr>
          <a:xfrm xmlns:a="http://schemas.openxmlformats.org/drawingml/2006/main">
            <a:off x="1463040" y="841248"/>
            <a:ext cx="7863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Soru Çözümü</a:t>
            </a:r>
            <a:endParaRPr sz="2800"/>
          </a:p>
        </p:txBody>
      </p:sp>
      <p:sp>
        <p:nvSpPr>
          <p:cNvPr id="6" name="Shape 3">
            <a:extLst xmlns:a="http://schemas.openxmlformats.org/drawingml/2006/main">
              <a:ext uri="{FF2B5EF4-FFF2-40B4-BE49-F238E27FC236}">
                <a16:creationId xmlns:a16="http://schemas.microsoft.com/office/drawing/2014/main" id="{F0F84342-78F0-48A0-A509-DF8D6959F137}"/>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D9A441"/>
            </a:solidFill>
            <a:prstDash val="solid"/>
          </a:ln>
        </p:spPr>
      </p:sp>
      <p:sp>
        <p:nvSpPr>
          <p:cNvPr id="7" name="Text 4">
            <a:extLst xmlns:a="http://schemas.openxmlformats.org/drawingml/2006/main">
              <a:ext uri="{FF2B5EF4-FFF2-40B4-BE49-F238E27FC236}">
                <a16:creationId xmlns:a16="http://schemas.microsoft.com/office/drawing/2014/main" id="{2C34F39E-EF1B-475E-A9E7-2624A5403E54}"/>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3A5F"/>
                </a:solidFill>
                <a:latin typeface="Calibri"/>
                <a:ea typeface="Calibri"/>
                <a:cs typeface="Calibri"/>
              </a:rPr>
              <a:t>ÖSYM (ÖSS - 2001)</a:t>
            </a:r>
            <a:endParaRPr sz="1050"/>
          </a:p>
        </p:txBody>
      </p:sp>
      <p:sp>
        <p:nvSpPr>
          <p:cNvPr id="8" name="Shape 5">
            <a:extLst xmlns:a="http://schemas.openxmlformats.org/drawingml/2006/main">
              <a:ext uri="{FF2B5EF4-FFF2-40B4-BE49-F238E27FC236}">
                <a16:creationId xmlns:a16="http://schemas.microsoft.com/office/drawing/2014/main" id="{2FBBE4F0-BF32-4BCB-9B69-9A8964E0EB2B}"/>
              </a:ext>
            </a:extLst>
          </p:cNvPr>
          <p:cNvSpPr>
            <a:spLocks xmlns:a="http://schemas.openxmlformats.org/drawingml/2006/main" noGrp="1"/>
          </p:cNvSpPr>
          <p:nvPr/>
        </p:nvSpPr>
        <p:spPr>
          <a:xfrm xmlns:a="http://schemas.openxmlformats.org/drawingml/2006/main">
            <a:off x="640080" y="1783080"/>
            <a:ext cx="10908792" cy="4434840"/>
          </a:xfrm>
          <a:prstGeom xmlns:a="http://schemas.openxmlformats.org/drawingml/2006/main" prst="roundRect">
            <a:avLst>
              <a:gd name="adj" fmla="val 2474"/>
            </a:avLst>
          </a:prstGeom>
          <a:solidFill xmlns:a="http://schemas.openxmlformats.org/drawingml/2006/main">
            <a:srgbClr val="EEF3F8"/>
          </a:solidFill>
        </p:spPr>
      </p:sp>
      <p:sp>
        <p:nvSpPr>
          <p:cNvPr id="9" name="Text 6">
            <a:extLst xmlns:a="http://schemas.openxmlformats.org/drawingml/2006/main">
              <a:ext uri="{FF2B5EF4-FFF2-40B4-BE49-F238E27FC236}">
                <a16:creationId xmlns:a16="http://schemas.microsoft.com/office/drawing/2014/main" id="{82896099-72A9-4162-A73E-EB202C2FED50}"/>
              </a:ext>
            </a:extLst>
          </p:cNvPr>
          <p:cNvSpPr>
            <a:spLocks xmlns:a="http://schemas.openxmlformats.org/drawingml/2006/main" noGrp="1"/>
          </p:cNvSpPr>
          <p:nvPr/>
        </p:nvSpPr>
        <p:spPr>
          <a:xfrm xmlns:a="http://schemas.openxmlformats.org/drawingml/2006/main">
            <a:off x="914400" y="1965960"/>
            <a:ext cx="10360152" cy="155232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E3A5F"/>
                </a:solidFill>
                <a:latin typeface="Calibri"/>
                <a:ea typeface="Calibri"/>
                <a:cs typeface="Calibri"/>
              </a:rPr>
              <a:t>(I) Roman yazarken konuşmalara yer vermek çoğunlukla kaçınılmazdır. (II) Hatta salt konuşmalardan oluşan romanlar bile vardır. (III) Bu romanlarda herhâlde amaç, tip yaratmaktır. (IV) İki satırlık bir konuşma, bir karakteri on sayfalık bir betimlemeden daha başarılı bir biçimde çizebilir. (V) Bunun başarılı örneklerine M.Ş. Esendal'ın Ayaşlı ve Kiracıları adlı yapıtında rastlıyoruz.</a:t>
            </a:r>
            <a:endParaRPr sz="1600"/>
          </a:p>
          <a:p xmlns:a="http://schemas.openxmlformats.org/drawingml/2006/main">
            <a:pPr marL="0" indent="0">
              <a:buNone/>
            </a:pPr>
            <a:endParaRPr sz="1600"/>
          </a:p>
          <a:p xmlns:a="http://schemas.openxmlformats.org/drawingml/2006/main">
            <a:pPr marL="0" indent="0">
              <a:buNone/>
            </a:pPr>
            <a:r>
              <a:rPr sz="1600" b="1">
                <a:solidFill>
                  <a:srgbClr val="1E3A5F"/>
                </a:solidFill>
                <a:latin typeface="Calibri"/>
                <a:ea typeface="Calibri"/>
                <a:cs typeface="Calibri"/>
              </a:rPr>
              <a:t>Bu parçadaki numaralanmış cümlelerin hangisinde "karşılaştırma" yapılmıştır?</a:t>
            </a:r>
            <a:endParaRPr sz="1600"/>
          </a:p>
        </p:txBody>
      </p:sp>
      <p:sp>
        <p:nvSpPr>
          <p:cNvPr id="10" name="Text 7">
            <a:extLst xmlns:a="http://schemas.openxmlformats.org/drawingml/2006/main">
              <a:ext uri="{FF2B5EF4-FFF2-40B4-BE49-F238E27FC236}">
                <a16:creationId xmlns:a16="http://schemas.microsoft.com/office/drawing/2014/main" id="{5A9C6C28-522A-46F6-949E-DF2480CC68DD}"/>
              </a:ext>
            </a:extLst>
          </p:cNvPr>
          <p:cNvSpPr>
            <a:spLocks xmlns:a="http://schemas.openxmlformats.org/drawingml/2006/main" noGrp="1"/>
          </p:cNvSpPr>
          <p:nvPr/>
        </p:nvSpPr>
        <p:spPr>
          <a:xfrm xmlns:a="http://schemas.openxmlformats.org/drawingml/2006/main">
            <a:off x="914400" y="3756025"/>
            <a:ext cx="10360152" cy="30297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E3A5F"/>
                </a:solidFill>
                <a:latin typeface="Calibri"/>
                <a:ea typeface="Calibri"/>
                <a:cs typeface="Calibri"/>
              </a:rPr>
              <a:t>A)  </a:t>
            </a:r>
            <a:r>
              <a:rPr sz="1700">
                <a:solidFill>
                  <a:srgbClr val="1E2761"/>
                </a:solidFill>
                <a:latin typeface="Calibri"/>
                <a:ea typeface="Calibri"/>
                <a:cs typeface="Calibri"/>
              </a:rPr>
              <a:t>I.</a:t>
            </a:r>
            <a:endParaRPr sz="1700"/>
          </a:p>
        </p:txBody>
      </p:sp>
      <p:sp>
        <p:nvSpPr>
          <p:cNvPr id="11" name="Text 8">
            <a:extLst xmlns:a="http://schemas.openxmlformats.org/drawingml/2006/main">
              <a:ext uri="{FF2B5EF4-FFF2-40B4-BE49-F238E27FC236}">
                <a16:creationId xmlns:a16="http://schemas.microsoft.com/office/drawing/2014/main" id="{905FA442-252E-405B-A76F-7D942540267C}"/>
              </a:ext>
            </a:extLst>
          </p:cNvPr>
          <p:cNvSpPr>
            <a:spLocks xmlns:a="http://schemas.openxmlformats.org/drawingml/2006/main" noGrp="1"/>
          </p:cNvSpPr>
          <p:nvPr/>
        </p:nvSpPr>
        <p:spPr>
          <a:xfrm xmlns:a="http://schemas.openxmlformats.org/drawingml/2006/main">
            <a:off x="914400" y="4202684"/>
            <a:ext cx="10360152" cy="30297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E3A5F"/>
                </a:solidFill>
                <a:latin typeface="Calibri"/>
                <a:ea typeface="Calibri"/>
                <a:cs typeface="Calibri"/>
              </a:rPr>
              <a:t>B)  </a:t>
            </a:r>
            <a:r>
              <a:rPr sz="1700">
                <a:solidFill>
                  <a:srgbClr val="1E2761"/>
                </a:solidFill>
                <a:latin typeface="Calibri"/>
                <a:ea typeface="Calibri"/>
                <a:cs typeface="Calibri"/>
              </a:rPr>
              <a:t>II.</a:t>
            </a:r>
            <a:endParaRPr sz="1700"/>
          </a:p>
        </p:txBody>
      </p:sp>
      <p:sp>
        <p:nvSpPr>
          <p:cNvPr id="12" name="Text 9">
            <a:extLst xmlns:a="http://schemas.openxmlformats.org/drawingml/2006/main">
              <a:ext uri="{FF2B5EF4-FFF2-40B4-BE49-F238E27FC236}">
                <a16:creationId xmlns:a16="http://schemas.microsoft.com/office/drawing/2014/main" id="{3A4ADF13-A62F-4782-8F70-047AED0D72CF}"/>
              </a:ext>
            </a:extLst>
          </p:cNvPr>
          <p:cNvSpPr>
            <a:spLocks xmlns:a="http://schemas.openxmlformats.org/drawingml/2006/main" noGrp="1"/>
          </p:cNvSpPr>
          <p:nvPr/>
        </p:nvSpPr>
        <p:spPr>
          <a:xfrm xmlns:a="http://schemas.openxmlformats.org/drawingml/2006/main">
            <a:off x="914400" y="4649343"/>
            <a:ext cx="10360152" cy="30297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E3A5F"/>
                </a:solidFill>
                <a:latin typeface="Calibri"/>
                <a:ea typeface="Calibri"/>
                <a:cs typeface="Calibri"/>
              </a:rPr>
              <a:t>C)  </a:t>
            </a:r>
            <a:r>
              <a:rPr sz="1700">
                <a:solidFill>
                  <a:srgbClr val="1E2761"/>
                </a:solidFill>
                <a:latin typeface="Calibri"/>
                <a:ea typeface="Calibri"/>
                <a:cs typeface="Calibri"/>
              </a:rPr>
              <a:t>III.</a:t>
            </a:r>
            <a:endParaRPr sz="1700"/>
          </a:p>
        </p:txBody>
      </p:sp>
      <p:sp>
        <p:nvSpPr>
          <p:cNvPr id="13" name="Text 10">
            <a:extLst xmlns:a="http://schemas.openxmlformats.org/drawingml/2006/main">
              <a:ext uri="{FF2B5EF4-FFF2-40B4-BE49-F238E27FC236}">
                <a16:creationId xmlns:a16="http://schemas.microsoft.com/office/drawing/2014/main" id="{AD9D6924-939F-42C7-B6F9-00F1AE66F5F8}"/>
              </a:ext>
            </a:extLst>
          </p:cNvPr>
          <p:cNvSpPr>
            <a:spLocks xmlns:a="http://schemas.openxmlformats.org/drawingml/2006/main" noGrp="1"/>
          </p:cNvSpPr>
          <p:nvPr/>
        </p:nvSpPr>
        <p:spPr>
          <a:xfrm xmlns:a="http://schemas.openxmlformats.org/drawingml/2006/main">
            <a:off x="914400" y="5096002"/>
            <a:ext cx="10360152" cy="30297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E3A5F"/>
                </a:solidFill>
                <a:latin typeface="Calibri"/>
                <a:ea typeface="Calibri"/>
                <a:cs typeface="Calibri"/>
              </a:rPr>
              <a:t>D)  </a:t>
            </a:r>
            <a:r>
              <a:rPr sz="1700">
                <a:solidFill>
                  <a:srgbClr val="1E2761"/>
                </a:solidFill>
                <a:latin typeface="Calibri"/>
                <a:ea typeface="Calibri"/>
                <a:cs typeface="Calibri"/>
              </a:rPr>
              <a:t>IV.</a:t>
            </a:r>
            <a:endParaRPr sz="1700"/>
          </a:p>
        </p:txBody>
      </p:sp>
      <p:sp>
        <p:nvSpPr>
          <p:cNvPr id="14" name="Text 11">
            <a:extLst xmlns:a="http://schemas.openxmlformats.org/drawingml/2006/main">
              <a:ext uri="{FF2B5EF4-FFF2-40B4-BE49-F238E27FC236}">
                <a16:creationId xmlns:a16="http://schemas.microsoft.com/office/drawing/2014/main" id="{A900A293-C289-47F8-BEE4-9F1F386BD088}"/>
              </a:ext>
            </a:extLst>
          </p:cNvPr>
          <p:cNvSpPr>
            <a:spLocks xmlns:a="http://schemas.openxmlformats.org/drawingml/2006/main" noGrp="1"/>
          </p:cNvSpPr>
          <p:nvPr/>
        </p:nvSpPr>
        <p:spPr>
          <a:xfrm xmlns:a="http://schemas.openxmlformats.org/drawingml/2006/main">
            <a:off x="914400" y="5542661"/>
            <a:ext cx="10360152" cy="30297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E3A5F"/>
                </a:solidFill>
                <a:latin typeface="Calibri"/>
                <a:ea typeface="Calibri"/>
                <a:cs typeface="Calibri"/>
              </a:rPr>
              <a:t>E)  </a:t>
            </a:r>
            <a:r>
              <a:rPr sz="1700">
                <a:solidFill>
                  <a:srgbClr val="1E2761"/>
                </a:solidFill>
                <a:latin typeface="Calibri"/>
                <a:ea typeface="Calibri"/>
                <a:cs typeface="Calibri"/>
              </a:rPr>
              <a:t>V.</a:t>
            </a:r>
            <a:endParaRPr sz="1700"/>
          </a:p>
        </p:txBody>
      </p:sp>
      <p:sp>
        <p:nvSpPr>
          <p:cNvPr id="21" name="Text 18">
            <a:extLst xmlns:a="http://schemas.openxmlformats.org/drawingml/2006/main">
              <a:ext uri="{FF2B5EF4-FFF2-40B4-BE49-F238E27FC236}">
                <a16:creationId xmlns:a16="http://schemas.microsoft.com/office/drawing/2014/main" id="{D22B04B8-19E2-4044-98EE-70C501150DBB}"/>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Örnek Soru 2 — gerçek ÖSYM sorusu (Karşılaştırma)</a:t>
            </a:r>
            <a:endParaRPr sz="900"/>
          </a:p>
        </p:txBody>
      </p:sp>
      <p:sp>
        <p:nvSpPr>
          <p:cNvPr id="22" name="Text 19">
            <a:extLst xmlns:a="http://schemas.openxmlformats.org/drawingml/2006/main">
              <a:ext uri="{FF2B5EF4-FFF2-40B4-BE49-F238E27FC236}">
                <a16:creationId xmlns:a16="http://schemas.microsoft.com/office/drawing/2014/main" id="{B6B1C2D3-98F8-46CE-B686-1F5CC07FE196}"/>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63324370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9F773DE-11CF-4F42-AB9D-976B09F78FEE}"/>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eac28801a4d34ab0"/>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D5DEB1E3-C81D-41FE-865F-E0EB0DDBE1E8}"/>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ÖRNEK SORU · 2/3  ·  ÇÖZÜM</a:t>
            </a:r>
            <a:endParaRPr sz="1300"/>
          </a:p>
        </p:txBody>
      </p:sp>
      <p:sp>
        <p:nvSpPr>
          <p:cNvPr id="5" name="Text 2">
            <a:extLst xmlns:a="http://schemas.openxmlformats.org/drawingml/2006/main">
              <a:ext uri="{FF2B5EF4-FFF2-40B4-BE49-F238E27FC236}">
                <a16:creationId xmlns:a16="http://schemas.microsoft.com/office/drawing/2014/main" id="{8345E10E-41DD-4B56-B5D6-6D2329F135A4}"/>
              </a:ext>
            </a:extLst>
          </p:cNvPr>
          <p:cNvSpPr>
            <a:spLocks xmlns:a="http://schemas.openxmlformats.org/drawingml/2006/main" noGrp="1"/>
          </p:cNvSpPr>
          <p:nvPr/>
        </p:nvSpPr>
        <p:spPr>
          <a:xfrm xmlns:a="http://schemas.openxmlformats.org/drawingml/2006/main">
            <a:off x="1463040" y="841248"/>
            <a:ext cx="7863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Çözüm</a:t>
            </a:r>
            <a:endParaRPr sz="2800"/>
          </a:p>
        </p:txBody>
      </p:sp>
      <p:sp>
        <p:nvSpPr>
          <p:cNvPr id="6" name="Shape 3">
            <a:extLst xmlns:a="http://schemas.openxmlformats.org/drawingml/2006/main">
              <a:ext uri="{FF2B5EF4-FFF2-40B4-BE49-F238E27FC236}">
                <a16:creationId xmlns:a16="http://schemas.microsoft.com/office/drawing/2014/main" id="{0D482837-C06D-4823-AD5C-4577B8D5F2B0}"/>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D9A441"/>
            </a:solidFill>
            <a:prstDash val="solid"/>
          </a:ln>
        </p:spPr>
      </p:sp>
      <p:sp>
        <p:nvSpPr>
          <p:cNvPr id="7" name="Text 4">
            <a:extLst xmlns:a="http://schemas.openxmlformats.org/drawingml/2006/main">
              <a:ext uri="{FF2B5EF4-FFF2-40B4-BE49-F238E27FC236}">
                <a16:creationId xmlns:a16="http://schemas.microsoft.com/office/drawing/2014/main" id="{E9264FA6-EFA4-4425-BEE2-6D1B3DB52A58}"/>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3A5F"/>
                </a:solidFill>
                <a:latin typeface="Calibri"/>
                <a:ea typeface="Calibri"/>
                <a:cs typeface="Calibri"/>
              </a:rPr>
              <a:t>ÖSYM (ÖSS - 2001)</a:t>
            </a:r>
            <a:endParaRPr sz="1050"/>
          </a:p>
        </p:txBody>
      </p:sp>
      <p:sp>
        <p:nvSpPr>
          <p:cNvPr id="15" name="Shape 12">
            <a:extLst xmlns:a="http://schemas.openxmlformats.org/drawingml/2006/main">
              <a:ext uri="{FF2B5EF4-FFF2-40B4-BE49-F238E27FC236}">
                <a16:creationId xmlns:a16="http://schemas.microsoft.com/office/drawing/2014/main" id="{5532997E-7256-490D-B25F-3F961EFADC74}"/>
              </a:ext>
            </a:extLst>
          </p:cNvPr>
          <p:cNvSpPr>
            <a:spLocks xmlns:a="http://schemas.openxmlformats.org/drawingml/2006/main" noGrp="1"/>
          </p:cNvSpPr>
          <p:nvPr/>
        </p:nvSpPr>
        <p:spPr>
          <a:xfrm xmlns:a="http://schemas.openxmlformats.org/drawingml/2006/main">
            <a:off x="640080" y="1783080"/>
            <a:ext cx="10908792" cy="4434840"/>
          </a:xfrm>
          <a:prstGeom xmlns:a="http://schemas.openxmlformats.org/drawingml/2006/main" prst="roundRect">
            <a:avLst>
              <a:gd name="adj" fmla="val 2526"/>
            </a:avLst>
          </a:prstGeom>
          <a:solidFill xmlns:a="http://schemas.openxmlformats.org/drawingml/2006/main">
            <a:srgbClr val="1E3A5F"/>
          </a:solidFill>
        </p:spPr>
      </p:sp>
      <p:sp>
        <p:nvSpPr>
          <p:cNvPr id="16" name="Text 13">
            <a:extLst xmlns:a="http://schemas.openxmlformats.org/drawingml/2006/main">
              <a:ext uri="{FF2B5EF4-FFF2-40B4-BE49-F238E27FC236}">
                <a16:creationId xmlns:a16="http://schemas.microsoft.com/office/drawing/2014/main" id="{7F528095-D08E-4912-B228-76E706FF5707}"/>
              </a:ext>
            </a:extLst>
          </p:cNvPr>
          <p:cNvSpPr>
            <a:spLocks xmlns:a="http://schemas.openxmlformats.org/drawingml/2006/main" noGrp="1"/>
          </p:cNvSpPr>
          <p:nvPr/>
        </p:nvSpPr>
        <p:spPr>
          <a:xfrm xmlns:a="http://schemas.openxmlformats.org/drawingml/2006/main">
            <a:off x="914400" y="1965960"/>
            <a:ext cx="103601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200">
                <a:solidFill>
                  <a:srgbClr val="D9A441"/>
                </a:solidFill>
                <a:latin typeface="Calibri"/>
                <a:ea typeface="Calibri"/>
                <a:cs typeface="Calibri"/>
              </a:rPr>
              <a:t>ÇÖZÜM</a:t>
            </a:r>
            <a:endParaRPr sz="1600"/>
          </a:p>
        </p:txBody>
      </p:sp>
      <p:sp>
        <p:nvSpPr>
          <p:cNvPr id="17" name="Shape 14">
            <a:extLst xmlns:a="http://schemas.openxmlformats.org/drawingml/2006/main">
              <a:ext uri="{FF2B5EF4-FFF2-40B4-BE49-F238E27FC236}">
                <a16:creationId xmlns:a16="http://schemas.microsoft.com/office/drawing/2014/main" id="{8D2CA121-9364-479D-8843-1D66689F7DB5}"/>
              </a:ext>
            </a:extLst>
          </p:cNvPr>
          <p:cNvSpPr>
            <a:spLocks xmlns:a="http://schemas.openxmlformats.org/drawingml/2006/main" noGrp="1"/>
          </p:cNvSpPr>
          <p:nvPr/>
        </p:nvSpPr>
        <p:spPr>
          <a:xfrm xmlns:a="http://schemas.openxmlformats.org/drawingml/2006/main">
            <a:off x="914400" y="2514600"/>
            <a:ext cx="777240" cy="777240"/>
          </a:xfrm>
          <a:prstGeom xmlns:a="http://schemas.openxmlformats.org/drawingml/2006/main" prst="ellipse">
            <a:avLst/>
          </a:prstGeom>
          <a:solidFill xmlns:a="http://schemas.openxmlformats.org/drawingml/2006/main">
            <a:srgbClr val="D9A441"/>
          </a:solidFill>
        </p:spPr>
      </p:sp>
      <p:sp>
        <p:nvSpPr>
          <p:cNvPr id="18" name="Text 15">
            <a:extLst xmlns:a="http://schemas.openxmlformats.org/drawingml/2006/main">
              <a:ext uri="{FF2B5EF4-FFF2-40B4-BE49-F238E27FC236}">
                <a16:creationId xmlns:a16="http://schemas.microsoft.com/office/drawing/2014/main" id="{F69A2120-BE5A-4FC5-866A-69A00270EDB2}"/>
              </a:ext>
            </a:extLst>
          </p:cNvPr>
          <p:cNvSpPr>
            <a:spLocks xmlns:a="http://schemas.openxmlformats.org/drawingml/2006/main" noGrp="1"/>
          </p:cNvSpPr>
          <p:nvPr/>
        </p:nvSpPr>
        <p:spPr>
          <a:xfrm xmlns:a="http://schemas.openxmlformats.org/drawingml/2006/main">
            <a:off x="914400" y="2514600"/>
            <a:ext cx="777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700" b="1">
                <a:solidFill>
                  <a:srgbClr val="1E3A5F"/>
                </a:solidFill>
                <a:latin typeface="Cambria"/>
                <a:ea typeface="Cambria"/>
                <a:cs typeface="Cambria"/>
              </a:rPr>
              <a:t>D</a:t>
            </a:r>
            <a:endParaRPr sz="2700"/>
          </a:p>
        </p:txBody>
      </p:sp>
      <p:sp>
        <p:nvSpPr>
          <p:cNvPr id="19" name="Text 16">
            <a:extLst xmlns:a="http://schemas.openxmlformats.org/drawingml/2006/main">
              <a:ext uri="{FF2B5EF4-FFF2-40B4-BE49-F238E27FC236}">
                <a16:creationId xmlns:a16="http://schemas.microsoft.com/office/drawing/2014/main" id="{2876C688-3BE1-4F68-B351-846963119120}"/>
              </a:ext>
            </a:extLst>
          </p:cNvPr>
          <p:cNvSpPr>
            <a:spLocks xmlns:a="http://schemas.openxmlformats.org/drawingml/2006/main" noGrp="1"/>
          </p:cNvSpPr>
          <p:nvPr/>
        </p:nvSpPr>
        <p:spPr>
          <a:xfrm xmlns:a="http://schemas.openxmlformats.org/drawingml/2006/main">
            <a:off x="1874520" y="2514600"/>
            <a:ext cx="4572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CADCFC"/>
                </a:solidFill>
                <a:latin typeface="Calibri"/>
                <a:ea typeface="Calibri"/>
                <a:cs typeface="Calibri"/>
              </a:rPr>
              <a:t>Doğru cevap</a:t>
            </a:r>
            <a:endParaRPr sz="1900"/>
          </a:p>
        </p:txBody>
      </p:sp>
      <p:sp>
        <p:nvSpPr>
          <p:cNvPr id="20" name="Text 17">
            <a:extLst xmlns:a="http://schemas.openxmlformats.org/drawingml/2006/main">
              <a:ext uri="{FF2B5EF4-FFF2-40B4-BE49-F238E27FC236}">
                <a16:creationId xmlns:a16="http://schemas.microsoft.com/office/drawing/2014/main" id="{3391B17A-1613-40FA-A28B-40AB4139663A}"/>
              </a:ext>
            </a:extLst>
          </p:cNvPr>
          <p:cNvSpPr>
            <a:spLocks xmlns:a="http://schemas.openxmlformats.org/drawingml/2006/main" noGrp="1"/>
          </p:cNvSpPr>
          <p:nvPr/>
        </p:nvSpPr>
        <p:spPr>
          <a:xfrm xmlns:a="http://schemas.openxmlformats.org/drawingml/2006/main">
            <a:off x="914400" y="3566160"/>
            <a:ext cx="10360152" cy="2423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50" b="1">
                <a:solidFill>
                  <a:srgbClr val="D9A441"/>
                </a:solidFill>
                <a:latin typeface="Calibri"/>
                <a:ea typeface="Calibri"/>
                <a:cs typeface="Calibri"/>
              </a:rPr>
              <a:t>D  </a:t>
            </a:r>
            <a:r>
              <a:rPr sz="1850" b="1">
                <a:solidFill>
                  <a:srgbClr val="FFFFFF"/>
                </a:solidFill>
                <a:latin typeface="Calibri"/>
                <a:ea typeface="Calibri"/>
                <a:cs typeface="Calibri"/>
              </a:rPr>
              <a:t>→ doğru cevap.
</a:t>
            </a:r>
            <a:r>
              <a:rPr sz="1850">
                <a:solidFill>
                  <a:srgbClr val="CADCFC"/>
                </a:solidFill>
                <a:latin typeface="Calibri"/>
                <a:ea typeface="Calibri"/>
                <a:cs typeface="Calibri"/>
              </a:rPr>
              <a:t>IV. cümlede "İki satırlık bir konuşma, bir karakteri on sayfalık bir betimlemeden DAHA BAŞARILI bir biçimde çizebilir." yargısında İKİ AYRI ÖGE (iki satırlık konuşma – on sayfalık betimleme) "daha" belirteciyle başarılı olma yönüyle birbiriyle KIYASLANMIŞTIR. Diğer cümlelerde böyle bir ikili kıyas yoktur.</a:t>
            </a:r>
            <a:endParaRPr sz="1850"/>
          </a:p>
        </p:txBody>
      </p:sp>
      <p:sp>
        <p:nvSpPr>
          <p:cNvPr id="21" name="Text 18">
            <a:extLst xmlns:a="http://schemas.openxmlformats.org/drawingml/2006/main">
              <a:ext uri="{FF2B5EF4-FFF2-40B4-BE49-F238E27FC236}">
                <a16:creationId xmlns:a16="http://schemas.microsoft.com/office/drawing/2014/main" id="{33F68F2C-AEAF-43EC-A7CC-A3BFF8948847}"/>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Örnek Soru 2 — çözüm — gerçek ÖSYM sorusu (Karşılaştırma)</a:t>
            </a:r>
            <a:endParaRPr sz="900"/>
          </a:p>
        </p:txBody>
      </p:sp>
      <p:sp>
        <p:nvSpPr>
          <p:cNvPr id="22" name="Text 19">
            <a:extLst xmlns:a="http://schemas.openxmlformats.org/drawingml/2006/main">
              <a:ext uri="{FF2B5EF4-FFF2-40B4-BE49-F238E27FC236}">
                <a16:creationId xmlns:a16="http://schemas.microsoft.com/office/drawing/2014/main" id="{B165A373-3FA5-4A7A-8326-A7CEA5C03A71}"/>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209661788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FA1B614-0F7C-4930-9CC2-7ADC57050E2A}"/>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64d3ab1398374dcf"/>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A60258D1-5475-4BBF-9ACC-45C6C49F41F1}"/>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ÖRNEK SORU · 3/3</a:t>
            </a:r>
            <a:endParaRPr sz="1300"/>
          </a:p>
        </p:txBody>
      </p:sp>
      <p:sp>
        <p:nvSpPr>
          <p:cNvPr id="5" name="Text 2">
            <a:extLst xmlns:a="http://schemas.openxmlformats.org/drawingml/2006/main">
              <a:ext uri="{FF2B5EF4-FFF2-40B4-BE49-F238E27FC236}">
                <a16:creationId xmlns:a16="http://schemas.microsoft.com/office/drawing/2014/main" id="{D0DBF79D-7A73-445B-B7B8-80B163DEFEE7}"/>
              </a:ext>
            </a:extLst>
          </p:cNvPr>
          <p:cNvSpPr>
            <a:spLocks xmlns:a="http://schemas.openxmlformats.org/drawingml/2006/main" noGrp="1"/>
          </p:cNvSpPr>
          <p:nvPr/>
        </p:nvSpPr>
        <p:spPr>
          <a:xfrm xmlns:a="http://schemas.openxmlformats.org/drawingml/2006/main">
            <a:off x="1463040" y="841248"/>
            <a:ext cx="7863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Soru Çözümü</a:t>
            </a:r>
            <a:endParaRPr sz="2800"/>
          </a:p>
        </p:txBody>
      </p:sp>
      <p:sp>
        <p:nvSpPr>
          <p:cNvPr id="6" name="Shape 3">
            <a:extLst xmlns:a="http://schemas.openxmlformats.org/drawingml/2006/main">
              <a:ext uri="{FF2B5EF4-FFF2-40B4-BE49-F238E27FC236}">
                <a16:creationId xmlns:a16="http://schemas.microsoft.com/office/drawing/2014/main" id="{8168BCDB-623E-4A72-A5E1-A3FFB1B55FE1}"/>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D9A441"/>
            </a:solidFill>
            <a:prstDash val="solid"/>
          </a:ln>
        </p:spPr>
      </p:sp>
      <p:sp>
        <p:nvSpPr>
          <p:cNvPr id="7" name="Text 4">
            <a:extLst xmlns:a="http://schemas.openxmlformats.org/drawingml/2006/main">
              <a:ext uri="{FF2B5EF4-FFF2-40B4-BE49-F238E27FC236}">
                <a16:creationId xmlns:a16="http://schemas.microsoft.com/office/drawing/2014/main" id="{3A4CBA88-0FBC-4442-8B57-84251897EB1B}"/>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3A5F"/>
                </a:solidFill>
                <a:latin typeface="Calibri"/>
                <a:ea typeface="Calibri"/>
                <a:cs typeface="Calibri"/>
              </a:rPr>
              <a:t>ÖSYM (YGS - 2011)</a:t>
            </a:r>
            <a:endParaRPr sz="1050"/>
          </a:p>
        </p:txBody>
      </p:sp>
      <p:sp>
        <p:nvSpPr>
          <p:cNvPr id="8" name="Shape 5">
            <a:extLst xmlns:a="http://schemas.openxmlformats.org/drawingml/2006/main">
              <a:ext uri="{FF2B5EF4-FFF2-40B4-BE49-F238E27FC236}">
                <a16:creationId xmlns:a16="http://schemas.microsoft.com/office/drawing/2014/main" id="{24377C78-D97E-4BAC-9E90-7D2C0501F925}"/>
              </a:ext>
            </a:extLst>
          </p:cNvPr>
          <p:cNvSpPr>
            <a:spLocks xmlns:a="http://schemas.openxmlformats.org/drawingml/2006/main" noGrp="1"/>
          </p:cNvSpPr>
          <p:nvPr/>
        </p:nvSpPr>
        <p:spPr>
          <a:xfrm xmlns:a="http://schemas.openxmlformats.org/drawingml/2006/main">
            <a:off x="640080" y="1783080"/>
            <a:ext cx="10908792" cy="4434840"/>
          </a:xfrm>
          <a:prstGeom xmlns:a="http://schemas.openxmlformats.org/drawingml/2006/main" prst="roundRect">
            <a:avLst>
              <a:gd name="adj" fmla="val 2474"/>
            </a:avLst>
          </a:prstGeom>
          <a:solidFill xmlns:a="http://schemas.openxmlformats.org/drawingml/2006/main">
            <a:srgbClr val="EEF3F8"/>
          </a:solidFill>
        </p:spPr>
      </p:sp>
      <p:sp>
        <p:nvSpPr>
          <p:cNvPr id="9" name="Text 6">
            <a:extLst xmlns:a="http://schemas.openxmlformats.org/drawingml/2006/main">
              <a:ext uri="{FF2B5EF4-FFF2-40B4-BE49-F238E27FC236}">
                <a16:creationId xmlns:a16="http://schemas.microsoft.com/office/drawing/2014/main" id="{C17E660D-3440-4570-ADCA-5AEBB6DA93E4}"/>
              </a:ext>
            </a:extLst>
          </p:cNvPr>
          <p:cNvSpPr>
            <a:spLocks xmlns:a="http://schemas.openxmlformats.org/drawingml/2006/main" noGrp="1"/>
          </p:cNvSpPr>
          <p:nvPr/>
        </p:nvSpPr>
        <p:spPr>
          <a:xfrm xmlns:a="http://schemas.openxmlformats.org/drawingml/2006/main">
            <a:off x="914400" y="1965960"/>
            <a:ext cx="10360152" cy="175745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E3A5F"/>
                </a:solidFill>
                <a:latin typeface="Calibri"/>
                <a:ea typeface="Calibri"/>
                <a:cs typeface="Calibri"/>
              </a:rPr>
              <a:t>(I) Berna Moran'ın deyişiyle "huzursuzluğun romanı", Fethi Naci'ye göre de "Türkçenin en güzel aşk romanı" olan Huzur'un yayımlanışının üzerinden yaklaşık elli yıl geçti. (II) Bu romanda olaylar, bir ağustos günü başlar ve radyodan İkinci Dünya Savaşı'nın başladığını haber veren bir anonsla biter. (III) Her ne kadar ilk bakışta aşk romanı gibi görünse de günahın ve kavuşmanın değil, Doğu'yla Batı'nın, huzursuzluğun, zaman ve müziğin romanı olarak kabul edilir. (IV) Huzur, hiçbir zaman Madam Bovary'nin yarattığı etkiye benzer bir etki yaratmamıştır. (V) Madam Bovary gibi can sıkıcı taşranın romanı değildir Huzur; tam tersine çok eski, çok köklü bir kentin, İstanbul'un, Boğaziçi'nin romanıdır.</a:t>
            </a:r>
            <a:endParaRPr sz="1300"/>
          </a:p>
          <a:p xmlns:a="http://schemas.openxmlformats.org/drawingml/2006/main">
            <a:pPr marL="0" indent="0">
              <a:buNone/>
            </a:pPr>
            <a:endParaRPr sz="1300"/>
          </a:p>
          <a:p xmlns:a="http://schemas.openxmlformats.org/drawingml/2006/main">
            <a:pPr marL="0" indent="0">
              <a:buNone/>
            </a:pPr>
            <a:r>
              <a:rPr sz="1300" b="1">
                <a:solidFill>
                  <a:srgbClr val="1E3A5F"/>
                </a:solidFill>
                <a:latin typeface="Calibri"/>
                <a:ea typeface="Calibri"/>
                <a:cs typeface="Calibri"/>
              </a:rPr>
              <a:t>Bu parçadaki numaralanmış cümlelerin hangisinde değerlendirme söz konusu değildir?</a:t>
            </a:r>
            <a:endParaRPr sz="1300"/>
          </a:p>
        </p:txBody>
      </p:sp>
      <p:sp>
        <p:nvSpPr>
          <p:cNvPr id="10" name="Text 7">
            <a:extLst xmlns:a="http://schemas.openxmlformats.org/drawingml/2006/main">
              <a:ext uri="{FF2B5EF4-FFF2-40B4-BE49-F238E27FC236}">
                <a16:creationId xmlns:a16="http://schemas.microsoft.com/office/drawing/2014/main" id="{14537047-B23B-4B9F-9E8C-AF8954C45E4E}"/>
              </a:ext>
            </a:extLst>
          </p:cNvPr>
          <p:cNvSpPr>
            <a:spLocks xmlns:a="http://schemas.openxmlformats.org/drawingml/2006/main" noGrp="1"/>
          </p:cNvSpPr>
          <p:nvPr/>
        </p:nvSpPr>
        <p:spPr>
          <a:xfrm xmlns:a="http://schemas.openxmlformats.org/drawingml/2006/main">
            <a:off x="914400" y="3961162"/>
            <a:ext cx="10360152" cy="27051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3A5F"/>
                </a:solidFill>
                <a:latin typeface="Calibri"/>
                <a:ea typeface="Calibri"/>
                <a:cs typeface="Calibri"/>
              </a:rPr>
              <a:t>A)  </a:t>
            </a:r>
            <a:r>
              <a:rPr sz="1500">
                <a:solidFill>
                  <a:srgbClr val="1E2761"/>
                </a:solidFill>
                <a:latin typeface="Calibri"/>
                <a:ea typeface="Calibri"/>
                <a:cs typeface="Calibri"/>
              </a:rPr>
              <a:t>I.</a:t>
            </a:r>
            <a:endParaRPr sz="1500"/>
          </a:p>
        </p:txBody>
      </p:sp>
      <p:sp>
        <p:nvSpPr>
          <p:cNvPr id="11" name="Text 8">
            <a:extLst xmlns:a="http://schemas.openxmlformats.org/drawingml/2006/main">
              <a:ext uri="{FF2B5EF4-FFF2-40B4-BE49-F238E27FC236}">
                <a16:creationId xmlns:a16="http://schemas.microsoft.com/office/drawing/2014/main" id="{8100A1E7-99E2-40BC-B21B-48AD22A30BBF}"/>
              </a:ext>
            </a:extLst>
          </p:cNvPr>
          <p:cNvSpPr>
            <a:spLocks xmlns:a="http://schemas.openxmlformats.org/drawingml/2006/main" noGrp="1"/>
          </p:cNvSpPr>
          <p:nvPr/>
        </p:nvSpPr>
        <p:spPr>
          <a:xfrm xmlns:a="http://schemas.openxmlformats.org/drawingml/2006/main">
            <a:off x="914400" y="4366793"/>
            <a:ext cx="10360152" cy="27051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3A5F"/>
                </a:solidFill>
                <a:latin typeface="Calibri"/>
                <a:ea typeface="Calibri"/>
                <a:cs typeface="Calibri"/>
              </a:rPr>
              <a:t>B)  </a:t>
            </a:r>
            <a:r>
              <a:rPr sz="1500">
                <a:solidFill>
                  <a:srgbClr val="1E2761"/>
                </a:solidFill>
                <a:latin typeface="Calibri"/>
                <a:ea typeface="Calibri"/>
                <a:cs typeface="Calibri"/>
              </a:rPr>
              <a:t>II.</a:t>
            </a:r>
            <a:endParaRPr sz="1500"/>
          </a:p>
        </p:txBody>
      </p:sp>
      <p:sp>
        <p:nvSpPr>
          <p:cNvPr id="12" name="Text 9">
            <a:extLst xmlns:a="http://schemas.openxmlformats.org/drawingml/2006/main">
              <a:ext uri="{FF2B5EF4-FFF2-40B4-BE49-F238E27FC236}">
                <a16:creationId xmlns:a16="http://schemas.microsoft.com/office/drawing/2014/main" id="{7326D9AC-1989-4EAD-9047-42E2F217F9EF}"/>
              </a:ext>
            </a:extLst>
          </p:cNvPr>
          <p:cNvSpPr>
            <a:spLocks xmlns:a="http://schemas.openxmlformats.org/drawingml/2006/main" noGrp="1"/>
          </p:cNvSpPr>
          <p:nvPr/>
        </p:nvSpPr>
        <p:spPr>
          <a:xfrm xmlns:a="http://schemas.openxmlformats.org/drawingml/2006/main">
            <a:off x="914400" y="4772425"/>
            <a:ext cx="10360152" cy="27051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3A5F"/>
                </a:solidFill>
                <a:latin typeface="Calibri"/>
                <a:ea typeface="Calibri"/>
                <a:cs typeface="Calibri"/>
              </a:rPr>
              <a:t>C)  </a:t>
            </a:r>
            <a:r>
              <a:rPr sz="1500">
                <a:solidFill>
                  <a:srgbClr val="1E2761"/>
                </a:solidFill>
                <a:latin typeface="Calibri"/>
                <a:ea typeface="Calibri"/>
                <a:cs typeface="Calibri"/>
              </a:rPr>
              <a:t>III.</a:t>
            </a:r>
            <a:endParaRPr sz="1500"/>
          </a:p>
        </p:txBody>
      </p:sp>
      <p:sp>
        <p:nvSpPr>
          <p:cNvPr id="13" name="Text 10">
            <a:extLst xmlns:a="http://schemas.openxmlformats.org/drawingml/2006/main">
              <a:ext uri="{FF2B5EF4-FFF2-40B4-BE49-F238E27FC236}">
                <a16:creationId xmlns:a16="http://schemas.microsoft.com/office/drawing/2014/main" id="{F7520698-EB49-4F9A-A5D4-A94A5AF51C81}"/>
              </a:ext>
            </a:extLst>
          </p:cNvPr>
          <p:cNvSpPr>
            <a:spLocks xmlns:a="http://schemas.openxmlformats.org/drawingml/2006/main" noGrp="1"/>
          </p:cNvSpPr>
          <p:nvPr/>
        </p:nvSpPr>
        <p:spPr>
          <a:xfrm xmlns:a="http://schemas.openxmlformats.org/drawingml/2006/main">
            <a:off x="914400" y="5178057"/>
            <a:ext cx="10360152" cy="27051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3A5F"/>
                </a:solidFill>
                <a:latin typeface="Calibri"/>
                <a:ea typeface="Calibri"/>
                <a:cs typeface="Calibri"/>
              </a:rPr>
              <a:t>D)  </a:t>
            </a:r>
            <a:r>
              <a:rPr sz="1500">
                <a:solidFill>
                  <a:srgbClr val="1E2761"/>
                </a:solidFill>
                <a:latin typeface="Calibri"/>
                <a:ea typeface="Calibri"/>
                <a:cs typeface="Calibri"/>
              </a:rPr>
              <a:t>IV.</a:t>
            </a:r>
            <a:endParaRPr sz="1500"/>
          </a:p>
        </p:txBody>
      </p:sp>
      <p:sp>
        <p:nvSpPr>
          <p:cNvPr id="14" name="Text 11">
            <a:extLst xmlns:a="http://schemas.openxmlformats.org/drawingml/2006/main">
              <a:ext uri="{FF2B5EF4-FFF2-40B4-BE49-F238E27FC236}">
                <a16:creationId xmlns:a16="http://schemas.microsoft.com/office/drawing/2014/main" id="{77BAA268-24BC-4453-831B-098C4FD1050B}"/>
              </a:ext>
            </a:extLst>
          </p:cNvPr>
          <p:cNvSpPr>
            <a:spLocks xmlns:a="http://schemas.openxmlformats.org/drawingml/2006/main" noGrp="1"/>
          </p:cNvSpPr>
          <p:nvPr/>
        </p:nvSpPr>
        <p:spPr>
          <a:xfrm xmlns:a="http://schemas.openxmlformats.org/drawingml/2006/main">
            <a:off x="914400" y="5583688"/>
            <a:ext cx="10360152" cy="27051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3A5F"/>
                </a:solidFill>
                <a:latin typeface="Calibri"/>
                <a:ea typeface="Calibri"/>
                <a:cs typeface="Calibri"/>
              </a:rPr>
              <a:t>E)  </a:t>
            </a:r>
            <a:r>
              <a:rPr sz="1500">
                <a:solidFill>
                  <a:srgbClr val="1E2761"/>
                </a:solidFill>
                <a:latin typeface="Calibri"/>
                <a:ea typeface="Calibri"/>
                <a:cs typeface="Calibri"/>
              </a:rPr>
              <a:t>V.</a:t>
            </a:r>
            <a:endParaRPr sz="1500"/>
          </a:p>
        </p:txBody>
      </p:sp>
      <p:sp>
        <p:nvSpPr>
          <p:cNvPr id="21" name="Text 18">
            <a:extLst xmlns:a="http://schemas.openxmlformats.org/drawingml/2006/main">
              <a:ext uri="{FF2B5EF4-FFF2-40B4-BE49-F238E27FC236}">
                <a16:creationId xmlns:a16="http://schemas.microsoft.com/office/drawing/2014/main" id="{D92DA134-7A7F-40B0-A321-2F9950E08856}"/>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Örnek Soru 3 — gerçek ÖSYM sorusu (Değerlendirme)</a:t>
            </a:r>
            <a:endParaRPr sz="900"/>
          </a:p>
        </p:txBody>
      </p:sp>
      <p:sp>
        <p:nvSpPr>
          <p:cNvPr id="22" name="Text 19">
            <a:extLst xmlns:a="http://schemas.openxmlformats.org/drawingml/2006/main">
              <a:ext uri="{FF2B5EF4-FFF2-40B4-BE49-F238E27FC236}">
                <a16:creationId xmlns:a16="http://schemas.microsoft.com/office/drawing/2014/main" id="{26F64D38-A59B-4D16-8CE5-54F979AC0166}"/>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156698547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D7663AE-6777-4F47-8317-C3E2C69C8518}"/>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5801b8a063fa4327"/>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D32AA028-142D-4DDD-A90F-7BDEAD26AB9D}"/>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ÖRNEK SORU · 3/3  ·  ÇÖZÜM</a:t>
            </a:r>
            <a:endParaRPr sz="1300"/>
          </a:p>
        </p:txBody>
      </p:sp>
      <p:sp>
        <p:nvSpPr>
          <p:cNvPr id="5" name="Text 2">
            <a:extLst xmlns:a="http://schemas.openxmlformats.org/drawingml/2006/main">
              <a:ext uri="{FF2B5EF4-FFF2-40B4-BE49-F238E27FC236}">
                <a16:creationId xmlns:a16="http://schemas.microsoft.com/office/drawing/2014/main" id="{D82AB287-EEF7-4D5B-AD2B-AA247F524C57}"/>
              </a:ext>
            </a:extLst>
          </p:cNvPr>
          <p:cNvSpPr>
            <a:spLocks xmlns:a="http://schemas.openxmlformats.org/drawingml/2006/main" noGrp="1"/>
          </p:cNvSpPr>
          <p:nvPr/>
        </p:nvSpPr>
        <p:spPr>
          <a:xfrm xmlns:a="http://schemas.openxmlformats.org/drawingml/2006/main">
            <a:off x="1463040" y="841248"/>
            <a:ext cx="7863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Çözüm</a:t>
            </a:r>
            <a:endParaRPr sz="2800"/>
          </a:p>
        </p:txBody>
      </p:sp>
      <p:sp>
        <p:nvSpPr>
          <p:cNvPr id="6" name="Shape 3">
            <a:extLst xmlns:a="http://schemas.openxmlformats.org/drawingml/2006/main">
              <a:ext uri="{FF2B5EF4-FFF2-40B4-BE49-F238E27FC236}">
                <a16:creationId xmlns:a16="http://schemas.microsoft.com/office/drawing/2014/main" id="{CA51C7D7-B2A4-48C8-B58B-53EF7C59D022}"/>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D9A441"/>
            </a:solidFill>
            <a:prstDash val="solid"/>
          </a:ln>
        </p:spPr>
      </p:sp>
      <p:sp>
        <p:nvSpPr>
          <p:cNvPr id="7" name="Text 4">
            <a:extLst xmlns:a="http://schemas.openxmlformats.org/drawingml/2006/main">
              <a:ext uri="{FF2B5EF4-FFF2-40B4-BE49-F238E27FC236}">
                <a16:creationId xmlns:a16="http://schemas.microsoft.com/office/drawing/2014/main" id="{14F6FF9F-6407-4A9F-AD8A-7CF7628AAC7B}"/>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3A5F"/>
                </a:solidFill>
                <a:latin typeface="Calibri"/>
                <a:ea typeface="Calibri"/>
                <a:cs typeface="Calibri"/>
              </a:rPr>
              <a:t>ÖSYM (YGS - 2011)</a:t>
            </a:r>
            <a:endParaRPr sz="1050"/>
          </a:p>
        </p:txBody>
      </p:sp>
      <p:sp>
        <p:nvSpPr>
          <p:cNvPr id="15" name="Shape 12">
            <a:extLst xmlns:a="http://schemas.openxmlformats.org/drawingml/2006/main">
              <a:ext uri="{FF2B5EF4-FFF2-40B4-BE49-F238E27FC236}">
                <a16:creationId xmlns:a16="http://schemas.microsoft.com/office/drawing/2014/main" id="{2976193D-3B3D-403E-AFD5-F96F03ADCABC}"/>
              </a:ext>
            </a:extLst>
          </p:cNvPr>
          <p:cNvSpPr>
            <a:spLocks xmlns:a="http://schemas.openxmlformats.org/drawingml/2006/main" noGrp="1"/>
          </p:cNvSpPr>
          <p:nvPr/>
        </p:nvSpPr>
        <p:spPr>
          <a:xfrm xmlns:a="http://schemas.openxmlformats.org/drawingml/2006/main">
            <a:off x="640080" y="1783080"/>
            <a:ext cx="10908792" cy="4434840"/>
          </a:xfrm>
          <a:prstGeom xmlns:a="http://schemas.openxmlformats.org/drawingml/2006/main" prst="roundRect">
            <a:avLst>
              <a:gd name="adj" fmla="val 2526"/>
            </a:avLst>
          </a:prstGeom>
          <a:solidFill xmlns:a="http://schemas.openxmlformats.org/drawingml/2006/main">
            <a:srgbClr val="1E3A5F"/>
          </a:solidFill>
        </p:spPr>
      </p:sp>
      <p:sp>
        <p:nvSpPr>
          <p:cNvPr id="16" name="Text 13">
            <a:extLst xmlns:a="http://schemas.openxmlformats.org/drawingml/2006/main">
              <a:ext uri="{FF2B5EF4-FFF2-40B4-BE49-F238E27FC236}">
                <a16:creationId xmlns:a16="http://schemas.microsoft.com/office/drawing/2014/main" id="{EBD78025-4791-4E52-850D-CE8616A587D9}"/>
              </a:ext>
            </a:extLst>
          </p:cNvPr>
          <p:cNvSpPr>
            <a:spLocks xmlns:a="http://schemas.openxmlformats.org/drawingml/2006/main" noGrp="1"/>
          </p:cNvSpPr>
          <p:nvPr/>
        </p:nvSpPr>
        <p:spPr>
          <a:xfrm xmlns:a="http://schemas.openxmlformats.org/drawingml/2006/main">
            <a:off x="914400" y="1965960"/>
            <a:ext cx="103601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200">
                <a:solidFill>
                  <a:srgbClr val="D9A441"/>
                </a:solidFill>
                <a:latin typeface="Calibri"/>
                <a:ea typeface="Calibri"/>
                <a:cs typeface="Calibri"/>
              </a:rPr>
              <a:t>ÇÖZÜM</a:t>
            </a:r>
            <a:endParaRPr sz="1600"/>
          </a:p>
        </p:txBody>
      </p:sp>
      <p:sp>
        <p:nvSpPr>
          <p:cNvPr id="17" name="Shape 14">
            <a:extLst xmlns:a="http://schemas.openxmlformats.org/drawingml/2006/main">
              <a:ext uri="{FF2B5EF4-FFF2-40B4-BE49-F238E27FC236}">
                <a16:creationId xmlns:a16="http://schemas.microsoft.com/office/drawing/2014/main" id="{99731B25-1A76-44FD-993F-56E56A9B18B4}"/>
              </a:ext>
            </a:extLst>
          </p:cNvPr>
          <p:cNvSpPr>
            <a:spLocks xmlns:a="http://schemas.openxmlformats.org/drawingml/2006/main" noGrp="1"/>
          </p:cNvSpPr>
          <p:nvPr/>
        </p:nvSpPr>
        <p:spPr>
          <a:xfrm xmlns:a="http://schemas.openxmlformats.org/drawingml/2006/main">
            <a:off x="914400" y="2514600"/>
            <a:ext cx="777240" cy="777240"/>
          </a:xfrm>
          <a:prstGeom xmlns:a="http://schemas.openxmlformats.org/drawingml/2006/main" prst="ellipse">
            <a:avLst/>
          </a:prstGeom>
          <a:solidFill xmlns:a="http://schemas.openxmlformats.org/drawingml/2006/main">
            <a:srgbClr val="D9A441"/>
          </a:solidFill>
        </p:spPr>
      </p:sp>
      <p:sp>
        <p:nvSpPr>
          <p:cNvPr id="18" name="Text 15">
            <a:extLst xmlns:a="http://schemas.openxmlformats.org/drawingml/2006/main">
              <a:ext uri="{FF2B5EF4-FFF2-40B4-BE49-F238E27FC236}">
                <a16:creationId xmlns:a16="http://schemas.microsoft.com/office/drawing/2014/main" id="{399FC62C-9D36-47A9-969E-9C51865239C7}"/>
              </a:ext>
            </a:extLst>
          </p:cNvPr>
          <p:cNvSpPr>
            <a:spLocks xmlns:a="http://schemas.openxmlformats.org/drawingml/2006/main" noGrp="1"/>
          </p:cNvSpPr>
          <p:nvPr/>
        </p:nvSpPr>
        <p:spPr>
          <a:xfrm xmlns:a="http://schemas.openxmlformats.org/drawingml/2006/main">
            <a:off x="914400" y="2514600"/>
            <a:ext cx="777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700" b="1">
                <a:solidFill>
                  <a:srgbClr val="1E3A5F"/>
                </a:solidFill>
                <a:latin typeface="Cambria"/>
                <a:ea typeface="Cambria"/>
                <a:cs typeface="Cambria"/>
              </a:rPr>
              <a:t>B</a:t>
            </a:r>
            <a:endParaRPr sz="2700"/>
          </a:p>
        </p:txBody>
      </p:sp>
      <p:sp>
        <p:nvSpPr>
          <p:cNvPr id="19" name="Text 16">
            <a:extLst xmlns:a="http://schemas.openxmlformats.org/drawingml/2006/main">
              <a:ext uri="{FF2B5EF4-FFF2-40B4-BE49-F238E27FC236}">
                <a16:creationId xmlns:a16="http://schemas.microsoft.com/office/drawing/2014/main" id="{A36FA4DF-CB6E-4FCF-89CC-0D4B9044C183}"/>
              </a:ext>
            </a:extLst>
          </p:cNvPr>
          <p:cNvSpPr>
            <a:spLocks xmlns:a="http://schemas.openxmlformats.org/drawingml/2006/main" noGrp="1"/>
          </p:cNvSpPr>
          <p:nvPr/>
        </p:nvSpPr>
        <p:spPr>
          <a:xfrm xmlns:a="http://schemas.openxmlformats.org/drawingml/2006/main">
            <a:off x="1874520" y="2514600"/>
            <a:ext cx="4572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CADCFC"/>
                </a:solidFill>
                <a:latin typeface="Calibri"/>
                <a:ea typeface="Calibri"/>
                <a:cs typeface="Calibri"/>
              </a:rPr>
              <a:t>Doğru cevap</a:t>
            </a:r>
            <a:endParaRPr sz="1900"/>
          </a:p>
        </p:txBody>
      </p:sp>
      <p:sp>
        <p:nvSpPr>
          <p:cNvPr id="20" name="Text 17">
            <a:extLst xmlns:a="http://schemas.openxmlformats.org/drawingml/2006/main">
              <a:ext uri="{FF2B5EF4-FFF2-40B4-BE49-F238E27FC236}">
                <a16:creationId xmlns:a16="http://schemas.microsoft.com/office/drawing/2014/main" id="{9FBCC1CF-D724-4BBD-B08B-6893CE2A3BC9}"/>
              </a:ext>
            </a:extLst>
          </p:cNvPr>
          <p:cNvSpPr>
            <a:spLocks xmlns:a="http://schemas.openxmlformats.org/drawingml/2006/main" noGrp="1"/>
          </p:cNvSpPr>
          <p:nvPr/>
        </p:nvSpPr>
        <p:spPr>
          <a:xfrm xmlns:a="http://schemas.openxmlformats.org/drawingml/2006/main">
            <a:off x="914400" y="3566160"/>
            <a:ext cx="10360152" cy="2423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50" b="1">
                <a:solidFill>
                  <a:srgbClr val="D9A441"/>
                </a:solidFill>
                <a:latin typeface="Calibri"/>
                <a:ea typeface="Calibri"/>
                <a:cs typeface="Calibri"/>
              </a:rPr>
              <a:t>B  </a:t>
            </a:r>
            <a:r>
              <a:rPr sz="1850" b="1">
                <a:solidFill>
                  <a:srgbClr val="FFFFFF"/>
                </a:solidFill>
                <a:latin typeface="Calibri"/>
                <a:ea typeface="Calibri"/>
                <a:cs typeface="Calibri"/>
              </a:rPr>
              <a:t>→ doğru cevap.
</a:t>
            </a:r>
            <a:r>
              <a:rPr sz="1850">
                <a:solidFill>
                  <a:srgbClr val="CADCFC"/>
                </a:solidFill>
                <a:latin typeface="Calibri"/>
                <a:ea typeface="Calibri"/>
                <a:cs typeface="Calibri"/>
              </a:rPr>
              <a:t>II. cümle, romanın olay örgüsünü NESNEL biçimde aktarır ("bir ağustos günü başlar... bir anonsla biter") — herhangi bir kişisel yorum/yargı içermez. Diğer cümlelerde (I, III, IV, V) eleştirmen görüşleri, karşılaştırmalar ve kişisel değerlendirmeler yer alır.</a:t>
            </a:r>
            <a:endParaRPr sz="1850"/>
          </a:p>
        </p:txBody>
      </p:sp>
      <p:sp>
        <p:nvSpPr>
          <p:cNvPr id="21" name="Text 18">
            <a:extLst xmlns:a="http://schemas.openxmlformats.org/drawingml/2006/main">
              <a:ext uri="{FF2B5EF4-FFF2-40B4-BE49-F238E27FC236}">
                <a16:creationId xmlns:a16="http://schemas.microsoft.com/office/drawing/2014/main" id="{C30EC292-A53F-4A69-B9BD-BC945AA93BA7}"/>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Örnek Soru 3 — çözüm — gerçek ÖSYM sorusu (Değerlendirme)</a:t>
            </a:r>
            <a:endParaRPr sz="900"/>
          </a:p>
        </p:txBody>
      </p:sp>
      <p:sp>
        <p:nvSpPr>
          <p:cNvPr id="22" name="Text 19">
            <a:extLst xmlns:a="http://schemas.openxmlformats.org/drawingml/2006/main">
              <a:ext uri="{FF2B5EF4-FFF2-40B4-BE49-F238E27FC236}">
                <a16:creationId xmlns:a16="http://schemas.microsoft.com/office/drawing/2014/main" id="{C1495ADE-EAB7-42E5-B9B1-6B9E3AD5BCD3}"/>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136914710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969E444-278B-434C-AF22-E468EA92CEDB}"/>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1996158cd8114f7d"/>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D3698290-7BD5-44EA-99AF-4FD14D1D0084}"/>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DERS SONU KONTROL</a:t>
            </a:r>
            <a:endParaRPr sz="1300"/>
          </a:p>
        </p:txBody>
      </p:sp>
      <p:sp>
        <p:nvSpPr>
          <p:cNvPr id="5" name="Text 2">
            <a:extLst xmlns:a="http://schemas.openxmlformats.org/drawingml/2006/main">
              <a:ext uri="{FF2B5EF4-FFF2-40B4-BE49-F238E27FC236}">
                <a16:creationId xmlns:a16="http://schemas.microsoft.com/office/drawing/2014/main" id="{82BE07DA-91FF-4262-BCED-254C31243E32}"/>
              </a:ext>
            </a:extLst>
          </p:cNvPr>
          <p:cNvSpPr>
            <a:spLocks xmlns:a="http://schemas.openxmlformats.org/drawingml/2006/main" noGrp="1"/>
          </p:cNvSpPr>
          <p:nvPr/>
        </p:nvSpPr>
        <p:spPr>
          <a:xfrm xmlns:a="http://schemas.openxmlformats.org/drawingml/2006/main">
            <a:off x="1463040" y="841248"/>
            <a:ext cx="10058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Hızlı Kontrol</a:t>
            </a:r>
            <a:endParaRPr sz="2800"/>
          </a:p>
        </p:txBody>
      </p:sp>
      <p:sp>
        <p:nvSpPr>
          <p:cNvPr id="6" name="Text 3">
            <a:extLst xmlns:a="http://schemas.openxmlformats.org/drawingml/2006/main">
              <a:ext uri="{FF2B5EF4-FFF2-40B4-BE49-F238E27FC236}">
                <a16:creationId xmlns:a16="http://schemas.microsoft.com/office/drawing/2014/main" id="{C7726C3A-A250-4CF8-A94F-54DD35A639B8}"/>
              </a:ext>
            </a:extLst>
          </p:cNvPr>
          <p:cNvSpPr>
            <a:spLocks xmlns:a="http://schemas.openxmlformats.org/drawingml/2006/main" noGrp="1"/>
          </p:cNvSpPr>
          <p:nvPr/>
        </p:nvSpPr>
        <p:spPr>
          <a:xfrm xmlns:a="http://schemas.openxmlformats.org/drawingml/2006/main">
            <a:off x="640080" y="1645920"/>
            <a:ext cx="10881360" cy="7574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a:solidFill>
                  <a:srgbClr val="1E2761"/>
                </a:solidFill>
                <a:latin typeface="Calibri"/>
                <a:ea typeface="Calibri"/>
                <a:cs typeface="Calibri"/>
              </a:rPr>
              <a:t>Aşağıdaki dört ipucunu birlikte hızlıca tanıyalım — hangi KAVRAM olduğunu söyleyin:</a:t>
            </a:r>
            <a:endParaRPr sz="2100"/>
          </a:p>
        </p:txBody>
      </p:sp>
      <p:sp>
        <p:nvSpPr>
          <p:cNvPr id="7" name="Shape 4">
            <a:extLst xmlns:a="http://schemas.openxmlformats.org/drawingml/2006/main">
              <a:ext uri="{FF2B5EF4-FFF2-40B4-BE49-F238E27FC236}">
                <a16:creationId xmlns:a16="http://schemas.microsoft.com/office/drawing/2014/main" id="{83B56A37-41FF-4150-B281-A7EA84EE01C1}"/>
              </a:ext>
            </a:extLst>
          </p:cNvPr>
          <p:cNvSpPr>
            <a:spLocks xmlns:a="http://schemas.openxmlformats.org/drawingml/2006/main" noGrp="1"/>
          </p:cNvSpPr>
          <p:nvPr/>
        </p:nvSpPr>
        <p:spPr>
          <a:xfrm xmlns:a="http://schemas.openxmlformats.org/drawingml/2006/main">
            <a:off x="777240" y="2439924"/>
            <a:ext cx="2514600" cy="2438400"/>
          </a:xfrm>
          <a:prstGeom xmlns:a="http://schemas.openxmlformats.org/drawingml/2006/main" prst="roundRect">
            <a:avLst>
              <a:gd name="adj" fmla="val 6250"/>
            </a:avLst>
          </a:prstGeom>
          <a:solidFill xmlns:a="http://schemas.openxmlformats.org/drawingml/2006/main">
            <a:srgbClr val="EEF3F8"/>
          </a:solidFill>
        </p:spPr>
      </p:sp>
      <p:sp>
        <p:nvSpPr>
          <p:cNvPr id="8" name="Text 5">
            <a:extLst xmlns:a="http://schemas.openxmlformats.org/drawingml/2006/main">
              <a:ext uri="{FF2B5EF4-FFF2-40B4-BE49-F238E27FC236}">
                <a16:creationId xmlns:a16="http://schemas.microsoft.com/office/drawing/2014/main" id="{20847A35-1033-4582-A6CA-4FC46A48BB2D}"/>
              </a:ext>
            </a:extLst>
          </p:cNvPr>
          <p:cNvSpPr>
            <a:spLocks xmlns:a="http://schemas.openxmlformats.org/drawingml/2006/main" noGrp="1"/>
          </p:cNvSpPr>
          <p:nvPr/>
        </p:nvSpPr>
        <p:spPr>
          <a:xfrm xmlns:a="http://schemas.openxmlformats.org/drawingml/2006/main">
            <a:off x="868680" y="2531364"/>
            <a:ext cx="2331720" cy="1442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i="1">
                <a:solidFill>
                  <a:srgbClr val="6B7280"/>
                </a:solidFill>
                <a:latin typeface="Calibri"/>
                <a:ea typeface="Calibri"/>
                <a:cs typeface="Calibri"/>
              </a:rPr>
              <a:t>"En güzel, en iyi, ilgi çekici" gibi kanıtlanamaz sözler geçiyor.</a:t>
            </a:r>
            <a:endParaRPr sz="2000"/>
          </a:p>
        </p:txBody>
      </p:sp>
      <p:sp>
        <p:nvSpPr>
          <p:cNvPr id="9" name="Text 6">
            <a:extLst xmlns:a="http://schemas.openxmlformats.org/drawingml/2006/main">
              <a:ext uri="{FF2B5EF4-FFF2-40B4-BE49-F238E27FC236}">
                <a16:creationId xmlns:a16="http://schemas.microsoft.com/office/drawing/2014/main" id="{B24022F8-75D6-4A33-A56A-CD4F0E6FB73D}"/>
              </a:ext>
            </a:extLst>
          </p:cNvPr>
          <p:cNvSpPr>
            <a:spLocks xmlns:a="http://schemas.openxmlformats.org/drawingml/2006/main" noGrp="1"/>
          </p:cNvSpPr>
          <p:nvPr/>
        </p:nvSpPr>
        <p:spPr>
          <a:xfrm xmlns:a="http://schemas.openxmlformats.org/drawingml/2006/main">
            <a:off x="777240" y="4019804"/>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D9A441"/>
                </a:solidFill>
                <a:latin typeface="Calibri"/>
                <a:ea typeface="Calibri"/>
                <a:cs typeface="Calibri"/>
              </a:rPr>
              <a:t>↓</a:t>
            </a:r>
            <a:endParaRPr sz="2000"/>
          </a:p>
        </p:txBody>
      </p:sp>
      <p:sp>
        <p:nvSpPr>
          <p:cNvPr id="10" name="Text 7">
            <a:extLst xmlns:a="http://schemas.openxmlformats.org/drawingml/2006/main">
              <a:ext uri="{FF2B5EF4-FFF2-40B4-BE49-F238E27FC236}">
                <a16:creationId xmlns:a16="http://schemas.microsoft.com/office/drawing/2014/main" id="{B9052858-DE44-498E-8733-B694BB8E3B6F}"/>
              </a:ext>
            </a:extLst>
          </p:cNvPr>
          <p:cNvSpPr>
            <a:spLocks xmlns:a="http://schemas.openxmlformats.org/drawingml/2006/main" noGrp="1"/>
          </p:cNvSpPr>
          <p:nvPr/>
        </p:nvSpPr>
        <p:spPr>
          <a:xfrm xmlns:a="http://schemas.openxmlformats.org/drawingml/2006/main">
            <a:off x="777240" y="4426204"/>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1E3A5F"/>
                </a:solidFill>
                <a:latin typeface="Cambria"/>
                <a:ea typeface="Cambria"/>
                <a:cs typeface="Cambria"/>
              </a:rPr>
              <a:t>ÖZNEL</a:t>
            </a:r>
            <a:endParaRPr sz="2000"/>
          </a:p>
        </p:txBody>
      </p:sp>
      <p:sp>
        <p:nvSpPr>
          <p:cNvPr id="11" name="Shape 8">
            <a:extLst xmlns:a="http://schemas.openxmlformats.org/drawingml/2006/main">
              <a:ext uri="{FF2B5EF4-FFF2-40B4-BE49-F238E27FC236}">
                <a16:creationId xmlns:a16="http://schemas.microsoft.com/office/drawing/2014/main" id="{4501B947-8E1A-4EA9-8F7F-ED84B9455223}"/>
              </a:ext>
            </a:extLst>
          </p:cNvPr>
          <p:cNvSpPr>
            <a:spLocks xmlns:a="http://schemas.openxmlformats.org/drawingml/2006/main" noGrp="1"/>
          </p:cNvSpPr>
          <p:nvPr/>
        </p:nvSpPr>
        <p:spPr>
          <a:xfrm xmlns:a="http://schemas.openxmlformats.org/drawingml/2006/main">
            <a:off x="3474720" y="2439924"/>
            <a:ext cx="2514600" cy="2438400"/>
          </a:xfrm>
          <a:prstGeom xmlns:a="http://schemas.openxmlformats.org/drawingml/2006/main" prst="roundRect">
            <a:avLst>
              <a:gd name="adj" fmla="val 6250"/>
            </a:avLst>
          </a:prstGeom>
          <a:solidFill xmlns:a="http://schemas.openxmlformats.org/drawingml/2006/main">
            <a:srgbClr val="EEF3F8"/>
          </a:solidFill>
        </p:spPr>
      </p:sp>
      <p:sp>
        <p:nvSpPr>
          <p:cNvPr id="12" name="Text 9">
            <a:extLst xmlns:a="http://schemas.openxmlformats.org/drawingml/2006/main">
              <a:ext uri="{FF2B5EF4-FFF2-40B4-BE49-F238E27FC236}">
                <a16:creationId xmlns:a16="http://schemas.microsoft.com/office/drawing/2014/main" id="{E945BE40-23C1-49BC-B35C-A66895D97318}"/>
              </a:ext>
            </a:extLst>
          </p:cNvPr>
          <p:cNvSpPr>
            <a:spLocks xmlns:a="http://schemas.openxmlformats.org/drawingml/2006/main" noGrp="1"/>
          </p:cNvSpPr>
          <p:nvPr/>
        </p:nvSpPr>
        <p:spPr>
          <a:xfrm xmlns:a="http://schemas.openxmlformats.org/drawingml/2006/main">
            <a:off x="3566160" y="2531364"/>
            <a:ext cx="2331720" cy="1442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i="1">
                <a:solidFill>
                  <a:srgbClr val="6B7280"/>
                </a:solidFill>
                <a:latin typeface="Calibri"/>
                <a:ea typeface="Calibri"/>
                <a:cs typeface="Calibri"/>
              </a:rPr>
              <a:t>"Daha, kadar, gibi" ile iki ayrı öge birlikte anılıyor.</a:t>
            </a:r>
            <a:endParaRPr sz="2000"/>
          </a:p>
        </p:txBody>
      </p:sp>
      <p:sp>
        <p:nvSpPr>
          <p:cNvPr id="13" name="Text 10">
            <a:extLst xmlns:a="http://schemas.openxmlformats.org/drawingml/2006/main">
              <a:ext uri="{FF2B5EF4-FFF2-40B4-BE49-F238E27FC236}">
                <a16:creationId xmlns:a16="http://schemas.microsoft.com/office/drawing/2014/main" id="{8326569A-6F8C-402F-BBC4-CD838999562F}"/>
              </a:ext>
            </a:extLst>
          </p:cNvPr>
          <p:cNvSpPr>
            <a:spLocks xmlns:a="http://schemas.openxmlformats.org/drawingml/2006/main" noGrp="1"/>
          </p:cNvSpPr>
          <p:nvPr/>
        </p:nvSpPr>
        <p:spPr>
          <a:xfrm xmlns:a="http://schemas.openxmlformats.org/drawingml/2006/main">
            <a:off x="3474720" y="4019804"/>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D9A441"/>
                </a:solidFill>
                <a:latin typeface="Calibri"/>
                <a:ea typeface="Calibri"/>
                <a:cs typeface="Calibri"/>
              </a:rPr>
              <a:t>↓</a:t>
            </a:r>
            <a:endParaRPr sz="2000"/>
          </a:p>
        </p:txBody>
      </p:sp>
      <p:sp>
        <p:nvSpPr>
          <p:cNvPr id="14" name="Text 11">
            <a:extLst xmlns:a="http://schemas.openxmlformats.org/drawingml/2006/main">
              <a:ext uri="{FF2B5EF4-FFF2-40B4-BE49-F238E27FC236}">
                <a16:creationId xmlns:a16="http://schemas.microsoft.com/office/drawing/2014/main" id="{B75B09E6-396E-4F67-AB05-6EEAE42B6C9A}"/>
              </a:ext>
            </a:extLst>
          </p:cNvPr>
          <p:cNvSpPr>
            <a:spLocks xmlns:a="http://schemas.openxmlformats.org/drawingml/2006/main" noGrp="1"/>
          </p:cNvSpPr>
          <p:nvPr/>
        </p:nvSpPr>
        <p:spPr>
          <a:xfrm xmlns:a="http://schemas.openxmlformats.org/drawingml/2006/main">
            <a:off x="3474720" y="4426204"/>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1E3A5F"/>
                </a:solidFill>
                <a:latin typeface="Cambria"/>
                <a:ea typeface="Cambria"/>
                <a:cs typeface="Cambria"/>
              </a:rPr>
              <a:t>KARŞILAŞTIRMA</a:t>
            </a:r>
            <a:endParaRPr sz="2000"/>
          </a:p>
        </p:txBody>
      </p:sp>
      <p:sp>
        <p:nvSpPr>
          <p:cNvPr id="15" name="Shape 12">
            <a:extLst xmlns:a="http://schemas.openxmlformats.org/drawingml/2006/main">
              <a:ext uri="{FF2B5EF4-FFF2-40B4-BE49-F238E27FC236}">
                <a16:creationId xmlns:a16="http://schemas.microsoft.com/office/drawing/2014/main" id="{3290C9FB-6A22-4219-8D21-AB68ACE104AB}"/>
              </a:ext>
            </a:extLst>
          </p:cNvPr>
          <p:cNvSpPr>
            <a:spLocks xmlns:a="http://schemas.openxmlformats.org/drawingml/2006/main" noGrp="1"/>
          </p:cNvSpPr>
          <p:nvPr/>
        </p:nvSpPr>
        <p:spPr>
          <a:xfrm xmlns:a="http://schemas.openxmlformats.org/drawingml/2006/main">
            <a:off x="6172200" y="2439924"/>
            <a:ext cx="2514600" cy="2077720"/>
          </a:xfrm>
          <a:prstGeom xmlns:a="http://schemas.openxmlformats.org/drawingml/2006/main" prst="roundRect">
            <a:avLst>
              <a:gd name="adj" fmla="val 6250"/>
            </a:avLst>
          </a:prstGeom>
          <a:solidFill xmlns:a="http://schemas.openxmlformats.org/drawingml/2006/main">
            <a:srgbClr val="EEF3F8"/>
          </a:solidFill>
        </p:spPr>
      </p:sp>
      <p:sp>
        <p:nvSpPr>
          <p:cNvPr id="16" name="Text 13">
            <a:extLst xmlns:a="http://schemas.openxmlformats.org/drawingml/2006/main">
              <a:ext uri="{FF2B5EF4-FFF2-40B4-BE49-F238E27FC236}">
                <a16:creationId xmlns:a16="http://schemas.microsoft.com/office/drawing/2014/main" id="{C4AF35B6-B00E-465E-942D-16D6B3E5829D}"/>
              </a:ext>
            </a:extLst>
          </p:cNvPr>
          <p:cNvSpPr>
            <a:spLocks xmlns:a="http://schemas.openxmlformats.org/drawingml/2006/main" noGrp="1"/>
          </p:cNvSpPr>
          <p:nvPr/>
        </p:nvSpPr>
        <p:spPr>
          <a:xfrm xmlns:a="http://schemas.openxmlformats.org/drawingml/2006/main">
            <a:off x="6263640" y="2531364"/>
            <a:ext cx="2331720" cy="1082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i="1">
                <a:solidFill>
                  <a:srgbClr val="6B7280"/>
                </a:solidFill>
                <a:latin typeface="Calibri"/>
                <a:ea typeface="Calibri"/>
                <a:cs typeface="Calibri"/>
              </a:rPr>
              <a:t>Tek bir esere/kişiye yönelik olumlu-olumsuz yargı var.</a:t>
            </a:r>
            <a:endParaRPr sz="2000"/>
          </a:p>
        </p:txBody>
      </p:sp>
      <p:sp>
        <p:nvSpPr>
          <p:cNvPr id="17" name="Text 14">
            <a:extLst xmlns:a="http://schemas.openxmlformats.org/drawingml/2006/main">
              <a:ext uri="{FF2B5EF4-FFF2-40B4-BE49-F238E27FC236}">
                <a16:creationId xmlns:a16="http://schemas.microsoft.com/office/drawing/2014/main" id="{F00A0D36-4E1C-4548-AFBE-8823A83F3460}"/>
              </a:ext>
            </a:extLst>
          </p:cNvPr>
          <p:cNvSpPr>
            <a:spLocks xmlns:a="http://schemas.openxmlformats.org/drawingml/2006/main" noGrp="1"/>
          </p:cNvSpPr>
          <p:nvPr/>
        </p:nvSpPr>
        <p:spPr>
          <a:xfrm xmlns:a="http://schemas.openxmlformats.org/drawingml/2006/main">
            <a:off x="6172200" y="3659124"/>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D9A441"/>
                </a:solidFill>
                <a:latin typeface="Calibri"/>
                <a:ea typeface="Calibri"/>
                <a:cs typeface="Calibri"/>
              </a:rPr>
              <a:t>↓</a:t>
            </a:r>
            <a:endParaRPr sz="2000"/>
          </a:p>
        </p:txBody>
      </p:sp>
      <p:sp>
        <p:nvSpPr>
          <p:cNvPr id="18" name="Text 15">
            <a:extLst xmlns:a="http://schemas.openxmlformats.org/drawingml/2006/main">
              <a:ext uri="{FF2B5EF4-FFF2-40B4-BE49-F238E27FC236}">
                <a16:creationId xmlns:a16="http://schemas.microsoft.com/office/drawing/2014/main" id="{42186858-F9D5-41C2-851C-9E4CBC6297DF}"/>
              </a:ext>
            </a:extLst>
          </p:cNvPr>
          <p:cNvSpPr>
            <a:spLocks xmlns:a="http://schemas.openxmlformats.org/drawingml/2006/main" noGrp="1"/>
          </p:cNvSpPr>
          <p:nvPr/>
        </p:nvSpPr>
        <p:spPr>
          <a:xfrm xmlns:a="http://schemas.openxmlformats.org/drawingml/2006/main">
            <a:off x="6172200" y="4065524"/>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1E3A5F"/>
                </a:solidFill>
                <a:latin typeface="Cambria"/>
                <a:ea typeface="Cambria"/>
                <a:cs typeface="Cambria"/>
              </a:rPr>
              <a:t>DEĞERLENDİRME</a:t>
            </a:r>
            <a:endParaRPr sz="2000"/>
          </a:p>
        </p:txBody>
      </p:sp>
      <p:sp>
        <p:nvSpPr>
          <p:cNvPr id="19" name="Shape 16">
            <a:extLst xmlns:a="http://schemas.openxmlformats.org/drawingml/2006/main">
              <a:ext uri="{FF2B5EF4-FFF2-40B4-BE49-F238E27FC236}">
                <a16:creationId xmlns:a16="http://schemas.microsoft.com/office/drawing/2014/main" id="{3E4C630D-B040-4B62-AFF0-E7846623D16D}"/>
              </a:ext>
            </a:extLst>
          </p:cNvPr>
          <p:cNvSpPr>
            <a:spLocks xmlns:a="http://schemas.openxmlformats.org/drawingml/2006/main" noGrp="1"/>
          </p:cNvSpPr>
          <p:nvPr/>
        </p:nvSpPr>
        <p:spPr>
          <a:xfrm xmlns:a="http://schemas.openxmlformats.org/drawingml/2006/main">
            <a:off x="8869680" y="2439924"/>
            <a:ext cx="2514600" cy="2899664"/>
          </a:xfrm>
          <a:prstGeom xmlns:a="http://schemas.openxmlformats.org/drawingml/2006/main" prst="roundRect">
            <a:avLst>
              <a:gd name="adj" fmla="val 6250"/>
            </a:avLst>
          </a:prstGeom>
          <a:solidFill xmlns:a="http://schemas.openxmlformats.org/drawingml/2006/main">
            <a:srgbClr val="EEF3F8"/>
          </a:solidFill>
        </p:spPr>
      </p:sp>
      <p:sp>
        <p:nvSpPr>
          <p:cNvPr id="20" name="Text 17">
            <a:extLst xmlns:a="http://schemas.openxmlformats.org/drawingml/2006/main">
              <a:ext uri="{FF2B5EF4-FFF2-40B4-BE49-F238E27FC236}">
                <a16:creationId xmlns:a16="http://schemas.microsoft.com/office/drawing/2014/main" id="{2F26F6A9-94AE-4AD8-8DB5-D447C8F1EF4D}"/>
              </a:ext>
            </a:extLst>
          </p:cNvPr>
          <p:cNvSpPr>
            <a:spLocks xmlns:a="http://schemas.openxmlformats.org/drawingml/2006/main" noGrp="1"/>
          </p:cNvSpPr>
          <p:nvPr/>
        </p:nvSpPr>
        <p:spPr>
          <a:xfrm xmlns:a="http://schemas.openxmlformats.org/drawingml/2006/main">
            <a:off x="8961120" y="2531364"/>
            <a:ext cx="2331720" cy="1442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i="1">
                <a:solidFill>
                  <a:srgbClr val="6B7280"/>
                </a:solidFill>
                <a:latin typeface="Calibri"/>
                <a:ea typeface="Calibri"/>
                <a:cs typeface="Calibri"/>
              </a:rPr>
              <a:t>"İçin, çünkü, -se/-sa" bağlaçlarıyla nedeni ya da şartı bildiriyor.</a:t>
            </a:r>
            <a:endParaRPr sz="2000"/>
          </a:p>
        </p:txBody>
      </p:sp>
      <p:sp>
        <p:nvSpPr>
          <p:cNvPr id="21" name="Text 18">
            <a:extLst xmlns:a="http://schemas.openxmlformats.org/drawingml/2006/main">
              <a:ext uri="{FF2B5EF4-FFF2-40B4-BE49-F238E27FC236}">
                <a16:creationId xmlns:a16="http://schemas.microsoft.com/office/drawing/2014/main" id="{D4B01A25-6FBD-4D8B-A1C6-C6980FBB02BD}"/>
              </a:ext>
            </a:extLst>
          </p:cNvPr>
          <p:cNvSpPr>
            <a:spLocks xmlns:a="http://schemas.openxmlformats.org/drawingml/2006/main" noGrp="1"/>
          </p:cNvSpPr>
          <p:nvPr/>
        </p:nvSpPr>
        <p:spPr>
          <a:xfrm xmlns:a="http://schemas.openxmlformats.org/drawingml/2006/main">
            <a:off x="8869680" y="4019804"/>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D9A441"/>
                </a:solidFill>
                <a:latin typeface="Calibri"/>
                <a:ea typeface="Calibri"/>
                <a:cs typeface="Calibri"/>
              </a:rPr>
              <a:t>↓</a:t>
            </a:r>
            <a:endParaRPr sz="2000"/>
          </a:p>
        </p:txBody>
      </p:sp>
      <p:sp>
        <p:nvSpPr>
          <p:cNvPr id="22" name="Text 19">
            <a:extLst xmlns:a="http://schemas.openxmlformats.org/drawingml/2006/main">
              <a:ext uri="{FF2B5EF4-FFF2-40B4-BE49-F238E27FC236}">
                <a16:creationId xmlns:a16="http://schemas.microsoft.com/office/drawing/2014/main" id="{8C9AF3C3-D0B4-4398-8003-87E33E0691CA}"/>
              </a:ext>
            </a:extLst>
          </p:cNvPr>
          <p:cNvSpPr>
            <a:spLocks xmlns:a="http://schemas.openxmlformats.org/drawingml/2006/main" noGrp="1"/>
          </p:cNvSpPr>
          <p:nvPr/>
        </p:nvSpPr>
        <p:spPr>
          <a:xfrm xmlns:a="http://schemas.openxmlformats.org/drawingml/2006/main">
            <a:off x="8869680" y="4426204"/>
            <a:ext cx="2514600" cy="8219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1E3A5F"/>
                </a:solidFill>
                <a:latin typeface="Cambria"/>
                <a:ea typeface="Cambria"/>
                <a:cs typeface="Cambria"/>
              </a:rPr>
              <a:t>SEBEP-SONUÇ /</a:t>
            </a:r>
            <a:endParaRPr sz="2000"/>
          </a:p>
          <a:p xmlns:a="http://schemas.openxmlformats.org/drawingml/2006/main">
            <a:pPr marL="0" indent="0" algn="ctr">
              <a:buNone/>
            </a:pPr>
            <a:r>
              <a:rPr sz="2000" b="1">
                <a:solidFill>
                  <a:srgbClr val="1E3A5F"/>
                </a:solidFill>
                <a:latin typeface="Cambria"/>
                <a:ea typeface="Cambria"/>
                <a:cs typeface="Cambria"/>
              </a:rPr>
              <a:t>KOŞUL-AMAÇ</a:t>
            </a:r>
            <a:endParaRPr sz="2000"/>
          </a:p>
        </p:txBody>
      </p:sp>
      <p:sp>
        <p:nvSpPr>
          <p:cNvPr id="23" name="Shape 20">
            <a:extLst xmlns:a="http://schemas.openxmlformats.org/drawingml/2006/main">
              <a:ext uri="{FF2B5EF4-FFF2-40B4-BE49-F238E27FC236}">
                <a16:creationId xmlns:a16="http://schemas.microsoft.com/office/drawing/2014/main" id="{520B5887-C4F7-4654-A43A-4C49B94D0380}"/>
              </a:ext>
            </a:extLst>
          </p:cNvPr>
          <p:cNvSpPr>
            <a:spLocks xmlns:a="http://schemas.openxmlformats.org/drawingml/2006/main" noGrp="1"/>
          </p:cNvSpPr>
          <p:nvPr/>
        </p:nvSpPr>
        <p:spPr>
          <a:xfrm xmlns:a="http://schemas.openxmlformats.org/drawingml/2006/main">
            <a:off x="640080" y="5632196"/>
            <a:ext cx="10881360" cy="812800"/>
          </a:xfrm>
          <a:prstGeom xmlns:a="http://schemas.openxmlformats.org/drawingml/2006/main" prst="roundRect">
            <a:avLst>
              <a:gd name="adj" fmla="val 16667"/>
            </a:avLst>
          </a:prstGeom>
          <a:solidFill xmlns:a="http://schemas.openxmlformats.org/drawingml/2006/main">
            <a:srgbClr val="FBF3E3"/>
          </a:solidFill>
        </p:spPr>
      </p:sp>
      <p:sp>
        <p:nvSpPr>
          <p:cNvPr id="24" name="Text 21">
            <a:extLst xmlns:a="http://schemas.openxmlformats.org/drawingml/2006/main">
              <a:ext uri="{FF2B5EF4-FFF2-40B4-BE49-F238E27FC236}">
                <a16:creationId xmlns:a16="http://schemas.microsoft.com/office/drawing/2014/main" id="{959792CE-6C3A-4D6D-841D-7AC1D09832CB}"/>
              </a:ext>
            </a:extLst>
          </p:cNvPr>
          <p:cNvSpPr>
            <a:spLocks xmlns:a="http://schemas.openxmlformats.org/drawingml/2006/main" noGrp="1"/>
          </p:cNvSpPr>
          <p:nvPr/>
        </p:nvSpPr>
        <p:spPr>
          <a:xfrm xmlns:a="http://schemas.openxmlformats.org/drawingml/2006/main">
            <a:off x="914400" y="5632196"/>
            <a:ext cx="10332720" cy="721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Bu kavramları hızlıca tanıyabiliyorsanız, sıradaki 3 ders için sağlam bir temele sahipsiniz!</a:t>
            </a:r>
            <a:endParaRPr sz="2000"/>
          </a:p>
        </p:txBody>
      </p:sp>
      <p:sp>
        <p:nvSpPr>
          <p:cNvPr id="25" name="Text 22">
            <a:extLst xmlns:a="http://schemas.openxmlformats.org/drawingml/2006/main">
              <a:ext uri="{FF2B5EF4-FFF2-40B4-BE49-F238E27FC236}">
                <a16:creationId xmlns:a16="http://schemas.microsoft.com/office/drawing/2014/main" id="{909EAFA3-E036-435E-AF34-46E4F3F5BCAE}"/>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Hızlı Kontrol</a:t>
            </a:r>
            <a:endParaRPr sz="900"/>
          </a:p>
        </p:txBody>
      </p:sp>
      <p:sp>
        <p:nvSpPr>
          <p:cNvPr id="26" name="Text 23">
            <a:extLst xmlns:a="http://schemas.openxmlformats.org/drawingml/2006/main">
              <a:ext uri="{FF2B5EF4-FFF2-40B4-BE49-F238E27FC236}">
                <a16:creationId xmlns:a16="http://schemas.microsoft.com/office/drawing/2014/main" id="{3D64CECB-9FAE-4BA1-B4F6-5FE89A2643B2}"/>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643108693"/>
      </p:ext>
    </p:extLst>
  </p:cSld>
</p:sld>
</file>

<file path=ppt/slides/slide22.xml><?xml version="1.0" encoding="utf-8"?>
<p:sld xmlns:p="http://schemas.openxmlformats.org/presentationml/2006/main">
  <p:cSld>
    <p:bg>
      <p:bgPr>
        <a:solidFill xmlns:a="http://schemas.openxmlformats.org/drawingml/2006/main">
          <a:srgbClr val="1E3A5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918B080-1B51-4520-A582-6169F21CA3E2}"/>
              </a:ext>
            </a:extLst>
          </p:cNvPr>
          <p:cNvSpPr>
            <a:spLocks xmlns:a="http://schemas.openxmlformats.org/drawingml/2006/main" noGrp="1"/>
          </p:cNvSpPr>
          <p:nvPr/>
        </p:nvSpPr>
        <p:spPr>
          <a:xfrm xmlns:a="http://schemas.openxmlformats.org/drawingml/2006/main">
            <a:off x="0" y="0"/>
            <a:ext cx="4206240" cy="6858000"/>
          </a:xfrm>
          <a:prstGeom xmlns:a="http://schemas.openxmlformats.org/drawingml/2006/main" prst="rect">
            <a:avLst/>
          </a:prstGeom>
          <a:solidFill xmlns:a="http://schemas.openxmlformats.org/drawingml/2006/main">
            <a:srgbClr val="142A44"/>
          </a:solidFill>
        </p:spPr>
      </p:sp>
      <p:sp>
        <p:nvSpPr>
          <p:cNvPr id="3" name="Shape 1">
            <a:extLst xmlns:a="http://schemas.openxmlformats.org/drawingml/2006/main">
              <a:ext uri="{FF2B5EF4-FFF2-40B4-BE49-F238E27FC236}">
                <a16:creationId xmlns:a16="http://schemas.microsoft.com/office/drawing/2014/main" id="{D047856C-777F-476B-AAB2-A8E35BACD47F}"/>
              </a:ext>
            </a:extLst>
          </p:cNvPr>
          <p:cNvSpPr>
            <a:spLocks xmlns:a="http://schemas.openxmlformats.org/drawingml/2006/main" noGrp="1"/>
          </p:cNvSpPr>
          <p:nvPr/>
        </p:nvSpPr>
        <p:spPr>
          <a:xfrm xmlns:a="http://schemas.openxmlformats.org/drawingml/2006/main">
            <a:off x="822960" y="1005840"/>
            <a:ext cx="822960" cy="822960"/>
          </a:xfrm>
          <a:prstGeom xmlns:a="http://schemas.openxmlformats.org/drawingml/2006/main" prst="ellipse">
            <a:avLst/>
          </a:prstGeom>
          <a:solidFill xmlns:a="http://schemas.openxmlformats.org/drawingml/2006/main">
            <a:srgbClr val="254B78"/>
          </a:solidFill>
        </p:spPr>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0e5d088ef6a14a86"/>
          <a:stretch xmlns:a="http://schemas.openxmlformats.org/drawingml/2006/main">
            <a:fillRect l="0" t="0" r="0" b="0"/>
          </a:stretch>
        </p:blipFill>
        <p:spPr>
          <a:xfrm xmlns:a="http://schemas.openxmlformats.org/drawingml/2006/main">
            <a:off x="1008126" y="1191006"/>
            <a:ext cx="452628" cy="452628"/>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F2198D38-C61C-459F-AE0B-4F53DD4DD462}"/>
              </a:ext>
            </a:extLst>
          </p:cNvPr>
          <p:cNvSpPr>
            <a:spLocks xmlns:a="http://schemas.openxmlformats.org/drawingml/2006/main" noGrp="1"/>
          </p:cNvSpPr>
          <p:nvPr/>
        </p:nvSpPr>
        <p:spPr>
          <a:xfrm xmlns:a="http://schemas.openxmlformats.org/drawingml/2006/main">
            <a:off x="640080" y="2103120"/>
            <a:ext cx="3200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FFFFFF"/>
                </a:solidFill>
                <a:latin typeface="Cambria"/>
                <a:ea typeface="Cambria"/>
                <a:cs typeface="Cambria"/>
              </a:rPr>
              <a:t>Ders Özeti</a:t>
            </a:r>
            <a:endParaRPr sz="2400"/>
          </a:p>
        </p:txBody>
      </p:sp>
      <p:sp>
        <p:nvSpPr>
          <p:cNvPr id="6" name="Text 3">
            <a:extLst xmlns:a="http://schemas.openxmlformats.org/drawingml/2006/main">
              <a:ext uri="{FF2B5EF4-FFF2-40B4-BE49-F238E27FC236}">
                <a16:creationId xmlns:a16="http://schemas.microsoft.com/office/drawing/2014/main" id="{547EB267-8994-4356-8480-5A98E3DDD741}"/>
              </a:ext>
            </a:extLst>
          </p:cNvPr>
          <p:cNvSpPr>
            <a:spLocks xmlns:a="http://schemas.openxmlformats.org/drawingml/2006/main" noGrp="1"/>
          </p:cNvSpPr>
          <p:nvPr/>
        </p:nvSpPr>
        <p:spPr>
          <a:xfrm xmlns:a="http://schemas.openxmlformats.org/drawingml/2006/main">
            <a:off x="640080" y="2743200"/>
            <a:ext cx="32918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9FB8D6"/>
                </a:solidFill>
                <a:latin typeface="Calibri"/>
                <a:ea typeface="Calibri"/>
                <a:cs typeface="Calibri"/>
              </a:rPr>
              <a:t>Cümlede Anlam'a Giriş: Temel Kavramlar — Ders 1/4</a:t>
            </a:r>
            <a:endParaRPr sz="1350"/>
          </a:p>
        </p:txBody>
      </p:sp>
      <p:sp>
        <p:nvSpPr>
          <p:cNvPr id="7" name="Text 4">
            <a:extLst xmlns:a="http://schemas.openxmlformats.org/drawingml/2006/main">
              <a:ext uri="{FF2B5EF4-FFF2-40B4-BE49-F238E27FC236}">
                <a16:creationId xmlns:a16="http://schemas.microsoft.com/office/drawing/2014/main" id="{478E5BE1-2F7D-4569-8681-75120D84C55F}"/>
              </a:ext>
            </a:extLst>
          </p:cNvPr>
          <p:cNvSpPr>
            <a:spLocks xmlns:a="http://schemas.openxmlformats.org/drawingml/2006/main" noGrp="1"/>
          </p:cNvSpPr>
          <p:nvPr/>
        </p:nvSpPr>
        <p:spPr>
          <a:xfrm xmlns:a="http://schemas.openxmlformats.org/drawingml/2006/main">
            <a:off x="640080" y="3337560"/>
            <a:ext cx="3291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100">
                <a:solidFill>
                  <a:srgbClr val="D9A441"/>
                </a:solidFill>
                <a:latin typeface="Calibri"/>
                <a:ea typeface="Calibri"/>
                <a:cs typeface="Calibri"/>
              </a:rPr>
              <a:t>CÜMLEDE ANLAM KONUSU BAŞLADI</a:t>
            </a:r>
            <a:endParaRPr sz="1600"/>
          </a:p>
        </p:txBody>
      </p:sp>
      <p:sp>
        <p:nvSpPr>
          <p:cNvPr id="8" name="Text 5">
            <a:extLst xmlns:a="http://schemas.openxmlformats.org/drawingml/2006/main">
              <a:ext uri="{FF2B5EF4-FFF2-40B4-BE49-F238E27FC236}">
                <a16:creationId xmlns:a16="http://schemas.microsoft.com/office/drawing/2014/main" id="{51C7DEDA-0DCC-4E4B-85FE-C52164158335}"/>
              </a:ext>
            </a:extLst>
          </p:cNvPr>
          <p:cNvSpPr>
            <a:spLocks xmlns:a="http://schemas.openxmlformats.org/drawingml/2006/main" noGrp="1"/>
          </p:cNvSpPr>
          <p:nvPr/>
        </p:nvSpPr>
        <p:spPr>
          <a:xfrm xmlns:a="http://schemas.openxmlformats.org/drawingml/2006/main">
            <a:off x="4663440" y="77724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BUGÜN ÖĞRENDIKLERIMIZ</a:t>
            </a:r>
            <a:endParaRPr sz="1300"/>
          </a:p>
        </p:txBody>
      </p:sp>
      <p:sp>
        <p:nvSpPr>
          <p:cNvPr id="9" name="Shape 6">
            <a:extLst xmlns:a="http://schemas.openxmlformats.org/drawingml/2006/main">
              <a:ext uri="{FF2B5EF4-FFF2-40B4-BE49-F238E27FC236}">
                <a16:creationId xmlns:a16="http://schemas.microsoft.com/office/drawing/2014/main" id="{35B46186-03A2-47F7-BB5A-0DD2EA20D92B}"/>
              </a:ext>
            </a:extLst>
          </p:cNvPr>
          <p:cNvSpPr>
            <a:spLocks xmlns:a="http://schemas.openxmlformats.org/drawingml/2006/main" noGrp="1"/>
          </p:cNvSpPr>
          <p:nvPr/>
        </p:nvSpPr>
        <p:spPr>
          <a:xfrm xmlns:a="http://schemas.openxmlformats.org/drawingml/2006/main">
            <a:off x="4663440" y="1234440"/>
            <a:ext cx="2468880" cy="457200"/>
          </a:xfrm>
          <a:prstGeom xmlns:a="http://schemas.openxmlformats.org/drawingml/2006/main" prst="roundRect">
            <a:avLst>
              <a:gd name="adj" fmla="val 50000"/>
            </a:avLst>
          </a:prstGeom>
          <a:solidFill xmlns:a="http://schemas.openxmlformats.org/drawingml/2006/main">
            <a:srgbClr val="254B78"/>
          </a:solidFill>
        </p:spPr>
      </p:sp>
      <p:sp>
        <p:nvSpPr>
          <p:cNvPr id="10" name="Text 7">
            <a:extLst xmlns:a="http://schemas.openxmlformats.org/drawingml/2006/main">
              <a:ext uri="{FF2B5EF4-FFF2-40B4-BE49-F238E27FC236}">
                <a16:creationId xmlns:a16="http://schemas.microsoft.com/office/drawing/2014/main" id="{9635D3F0-6517-4659-9E15-731A2B2FF596}"/>
              </a:ext>
            </a:extLst>
          </p:cNvPr>
          <p:cNvSpPr>
            <a:spLocks xmlns:a="http://schemas.openxmlformats.org/drawingml/2006/main" noGrp="1"/>
          </p:cNvSpPr>
          <p:nvPr/>
        </p:nvSpPr>
        <p:spPr>
          <a:xfrm xmlns:a="http://schemas.openxmlformats.org/drawingml/2006/main">
            <a:off x="4663440" y="1234440"/>
            <a:ext cx="2468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FFFFFF"/>
                </a:solidFill>
                <a:latin typeface="Calibri"/>
                <a:ea typeface="Calibri"/>
                <a:cs typeface="Calibri"/>
              </a:rPr>
              <a:t>Öznel / Nesnel</a:t>
            </a:r>
            <a:endParaRPr sz="2000"/>
          </a:p>
        </p:txBody>
      </p:sp>
      <p:sp>
        <p:nvSpPr>
          <p:cNvPr id="11" name="Shape 8">
            <a:extLst xmlns:a="http://schemas.openxmlformats.org/drawingml/2006/main">
              <a:ext uri="{FF2B5EF4-FFF2-40B4-BE49-F238E27FC236}">
                <a16:creationId xmlns:a16="http://schemas.microsoft.com/office/drawing/2014/main" id="{F0B7BC86-575F-4016-90A4-B630E3F250CC}"/>
              </a:ext>
            </a:extLst>
          </p:cNvPr>
          <p:cNvSpPr>
            <a:spLocks xmlns:a="http://schemas.openxmlformats.org/drawingml/2006/main" noGrp="1"/>
          </p:cNvSpPr>
          <p:nvPr/>
        </p:nvSpPr>
        <p:spPr>
          <a:xfrm xmlns:a="http://schemas.openxmlformats.org/drawingml/2006/main">
            <a:off x="7315200" y="1234440"/>
            <a:ext cx="2331720" cy="457200"/>
          </a:xfrm>
          <a:prstGeom xmlns:a="http://schemas.openxmlformats.org/drawingml/2006/main" prst="roundRect">
            <a:avLst>
              <a:gd name="adj" fmla="val 50000"/>
            </a:avLst>
          </a:prstGeom>
          <a:solidFill xmlns:a="http://schemas.openxmlformats.org/drawingml/2006/main">
            <a:srgbClr val="254B78"/>
          </a:solidFill>
        </p:spPr>
      </p:sp>
      <p:sp>
        <p:nvSpPr>
          <p:cNvPr id="12" name="Text 9">
            <a:extLst xmlns:a="http://schemas.openxmlformats.org/drawingml/2006/main">
              <a:ext uri="{FF2B5EF4-FFF2-40B4-BE49-F238E27FC236}">
                <a16:creationId xmlns:a16="http://schemas.microsoft.com/office/drawing/2014/main" id="{3383EEA9-107B-4064-84AE-405B3FE3CED0}"/>
              </a:ext>
            </a:extLst>
          </p:cNvPr>
          <p:cNvSpPr>
            <a:spLocks xmlns:a="http://schemas.openxmlformats.org/drawingml/2006/main" noGrp="1"/>
          </p:cNvSpPr>
          <p:nvPr/>
        </p:nvSpPr>
        <p:spPr>
          <a:xfrm xmlns:a="http://schemas.openxmlformats.org/drawingml/2006/main">
            <a:off x="7315200" y="123444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FFFFFF"/>
                </a:solidFill>
                <a:latin typeface="Calibri"/>
                <a:ea typeface="Calibri"/>
                <a:cs typeface="Calibri"/>
              </a:rPr>
              <a:t>Karşılaştırma</a:t>
            </a:r>
            <a:endParaRPr sz="2000"/>
          </a:p>
        </p:txBody>
      </p:sp>
      <p:sp>
        <p:nvSpPr>
          <p:cNvPr id="13" name="Shape 10">
            <a:extLst xmlns:a="http://schemas.openxmlformats.org/drawingml/2006/main">
              <a:ext uri="{FF2B5EF4-FFF2-40B4-BE49-F238E27FC236}">
                <a16:creationId xmlns:a16="http://schemas.microsoft.com/office/drawing/2014/main" id="{B2D6B2A4-0DFC-4166-BD08-A0839288AE50}"/>
              </a:ext>
            </a:extLst>
          </p:cNvPr>
          <p:cNvSpPr>
            <a:spLocks xmlns:a="http://schemas.openxmlformats.org/drawingml/2006/main" noGrp="1"/>
          </p:cNvSpPr>
          <p:nvPr/>
        </p:nvSpPr>
        <p:spPr>
          <a:xfrm xmlns:a="http://schemas.openxmlformats.org/drawingml/2006/main">
            <a:off x="4663440" y="1828800"/>
            <a:ext cx="2331720" cy="457200"/>
          </a:xfrm>
          <a:prstGeom xmlns:a="http://schemas.openxmlformats.org/drawingml/2006/main" prst="roundRect">
            <a:avLst>
              <a:gd name="adj" fmla="val 50000"/>
            </a:avLst>
          </a:prstGeom>
          <a:solidFill xmlns:a="http://schemas.openxmlformats.org/drawingml/2006/main">
            <a:srgbClr val="254B78"/>
          </a:solidFill>
        </p:spPr>
      </p:sp>
      <p:sp>
        <p:nvSpPr>
          <p:cNvPr id="14" name="Text 11">
            <a:extLst xmlns:a="http://schemas.openxmlformats.org/drawingml/2006/main">
              <a:ext uri="{FF2B5EF4-FFF2-40B4-BE49-F238E27FC236}">
                <a16:creationId xmlns:a16="http://schemas.microsoft.com/office/drawing/2014/main" id="{0139E788-99B0-4411-BD04-4024846D8BC1}"/>
              </a:ext>
            </a:extLst>
          </p:cNvPr>
          <p:cNvSpPr>
            <a:spLocks xmlns:a="http://schemas.openxmlformats.org/drawingml/2006/main" noGrp="1"/>
          </p:cNvSpPr>
          <p:nvPr/>
        </p:nvSpPr>
        <p:spPr>
          <a:xfrm xmlns:a="http://schemas.openxmlformats.org/drawingml/2006/main">
            <a:off x="4663440" y="182880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FFFFFF"/>
                </a:solidFill>
                <a:latin typeface="Calibri"/>
                <a:ea typeface="Calibri"/>
                <a:cs typeface="Calibri"/>
              </a:rPr>
              <a:t>Değerlendirme</a:t>
            </a:r>
            <a:endParaRPr sz="2000"/>
          </a:p>
        </p:txBody>
      </p:sp>
      <p:sp>
        <p:nvSpPr>
          <p:cNvPr id="15" name="Shape 12">
            <a:extLst xmlns:a="http://schemas.openxmlformats.org/drawingml/2006/main">
              <a:ext uri="{FF2B5EF4-FFF2-40B4-BE49-F238E27FC236}">
                <a16:creationId xmlns:a16="http://schemas.microsoft.com/office/drawing/2014/main" id="{5AB7D28C-F8AE-4F59-A531-D8F3D51A2725}"/>
              </a:ext>
            </a:extLst>
          </p:cNvPr>
          <p:cNvSpPr>
            <a:spLocks xmlns:a="http://schemas.openxmlformats.org/drawingml/2006/main" noGrp="1"/>
          </p:cNvSpPr>
          <p:nvPr/>
        </p:nvSpPr>
        <p:spPr>
          <a:xfrm xmlns:a="http://schemas.openxmlformats.org/drawingml/2006/main">
            <a:off x="7178040" y="1828800"/>
            <a:ext cx="3566160" cy="457200"/>
          </a:xfrm>
          <a:prstGeom xmlns:a="http://schemas.openxmlformats.org/drawingml/2006/main" prst="roundRect">
            <a:avLst>
              <a:gd name="adj" fmla="val 50000"/>
            </a:avLst>
          </a:prstGeom>
          <a:solidFill xmlns:a="http://schemas.openxmlformats.org/drawingml/2006/main">
            <a:srgbClr val="254B78"/>
          </a:solidFill>
        </p:spPr>
      </p:sp>
      <p:sp>
        <p:nvSpPr>
          <p:cNvPr id="16" name="Text 13">
            <a:extLst xmlns:a="http://schemas.openxmlformats.org/drawingml/2006/main">
              <a:ext uri="{FF2B5EF4-FFF2-40B4-BE49-F238E27FC236}">
                <a16:creationId xmlns:a16="http://schemas.microsoft.com/office/drawing/2014/main" id="{D75E221A-83B5-4DD2-A5A8-39E52B18F2F0}"/>
              </a:ext>
            </a:extLst>
          </p:cNvPr>
          <p:cNvSpPr>
            <a:spLocks xmlns:a="http://schemas.openxmlformats.org/drawingml/2006/main" noGrp="1"/>
          </p:cNvSpPr>
          <p:nvPr/>
        </p:nvSpPr>
        <p:spPr>
          <a:xfrm xmlns:a="http://schemas.openxmlformats.org/drawingml/2006/main">
            <a:off x="7178040" y="1828800"/>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FFFFFF"/>
                </a:solidFill>
                <a:latin typeface="Calibri"/>
                <a:ea typeface="Calibri"/>
                <a:cs typeface="Calibri"/>
              </a:rPr>
              <a:t>Kesin Yargı / Varsayım</a:t>
            </a:r>
            <a:endParaRPr sz="2000"/>
          </a:p>
        </p:txBody>
      </p:sp>
      <p:sp>
        <p:nvSpPr>
          <p:cNvPr id="17" name="Shape 14">
            <a:extLst xmlns:a="http://schemas.openxmlformats.org/drawingml/2006/main">
              <a:ext uri="{FF2B5EF4-FFF2-40B4-BE49-F238E27FC236}">
                <a16:creationId xmlns:a16="http://schemas.microsoft.com/office/drawing/2014/main" id="{86B6994B-59AE-4DA1-92D3-D76393CE9DA2}"/>
              </a:ext>
            </a:extLst>
          </p:cNvPr>
          <p:cNvSpPr>
            <a:spLocks xmlns:a="http://schemas.openxmlformats.org/drawingml/2006/main" noGrp="1"/>
          </p:cNvSpPr>
          <p:nvPr/>
        </p:nvSpPr>
        <p:spPr>
          <a:xfrm xmlns:a="http://schemas.openxmlformats.org/drawingml/2006/main">
            <a:off x="4663440" y="2423160"/>
            <a:ext cx="3840480" cy="457200"/>
          </a:xfrm>
          <a:prstGeom xmlns:a="http://schemas.openxmlformats.org/drawingml/2006/main" prst="roundRect">
            <a:avLst>
              <a:gd name="adj" fmla="val 50000"/>
            </a:avLst>
          </a:prstGeom>
          <a:solidFill xmlns:a="http://schemas.openxmlformats.org/drawingml/2006/main">
            <a:srgbClr val="254B78"/>
          </a:solidFill>
        </p:spPr>
      </p:sp>
      <p:sp>
        <p:nvSpPr>
          <p:cNvPr id="18" name="Text 15">
            <a:extLst xmlns:a="http://schemas.openxmlformats.org/drawingml/2006/main">
              <a:ext uri="{FF2B5EF4-FFF2-40B4-BE49-F238E27FC236}">
                <a16:creationId xmlns:a16="http://schemas.microsoft.com/office/drawing/2014/main" id="{60CD059E-B92C-431B-949B-FEC8DE196938}"/>
              </a:ext>
            </a:extLst>
          </p:cNvPr>
          <p:cNvSpPr>
            <a:spLocks xmlns:a="http://schemas.openxmlformats.org/drawingml/2006/main" noGrp="1"/>
          </p:cNvSpPr>
          <p:nvPr/>
        </p:nvSpPr>
        <p:spPr>
          <a:xfrm xmlns:a="http://schemas.openxmlformats.org/drawingml/2006/main">
            <a:off x="4663440" y="2423160"/>
            <a:ext cx="38404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FFFFFF"/>
                </a:solidFill>
                <a:latin typeface="Calibri"/>
                <a:ea typeface="Calibri"/>
                <a:cs typeface="Calibri"/>
              </a:rPr>
              <a:t>Sebep-Sonuç / Koşul-Amaç</a:t>
            </a:r>
            <a:endParaRPr sz="2000"/>
          </a:p>
        </p:txBody>
      </p:sp>
      <p:sp>
        <p:nvSpPr>
          <p:cNvPr id="19" name="Shape 16">
            <a:extLst xmlns:a="http://schemas.openxmlformats.org/drawingml/2006/main">
              <a:ext uri="{FF2B5EF4-FFF2-40B4-BE49-F238E27FC236}">
                <a16:creationId xmlns:a16="http://schemas.microsoft.com/office/drawing/2014/main" id="{FFDCBD6F-FA94-48C3-9DE6-A0676E271121}"/>
              </a:ext>
            </a:extLst>
          </p:cNvPr>
          <p:cNvSpPr>
            <a:spLocks xmlns:a="http://schemas.openxmlformats.org/drawingml/2006/main" noGrp="1"/>
          </p:cNvSpPr>
          <p:nvPr/>
        </p:nvSpPr>
        <p:spPr>
          <a:xfrm xmlns:a="http://schemas.openxmlformats.org/drawingml/2006/main">
            <a:off x="4663440" y="2606040"/>
            <a:ext cx="6903720" cy="1554480"/>
          </a:xfrm>
          <a:prstGeom xmlns:a="http://schemas.openxmlformats.org/drawingml/2006/main" prst="roundRect">
            <a:avLst>
              <a:gd name="adj" fmla="val 7059"/>
            </a:avLst>
          </a:prstGeom>
          <a:solidFill xmlns:a="http://schemas.openxmlformats.org/drawingml/2006/main">
            <a:srgbClr val="254B78"/>
          </a:solidFill>
        </p:spPr>
      </p:sp>
      <p:sp>
        <p:nvSpPr>
          <p:cNvPr id="20" name="Text 17">
            <a:extLst xmlns:a="http://schemas.openxmlformats.org/drawingml/2006/main">
              <a:ext uri="{FF2B5EF4-FFF2-40B4-BE49-F238E27FC236}">
                <a16:creationId xmlns:a16="http://schemas.microsoft.com/office/drawing/2014/main" id="{B759B566-4DD1-4BBD-8B08-62768B8D7019}"/>
              </a:ext>
            </a:extLst>
          </p:cNvPr>
          <p:cNvSpPr>
            <a:spLocks xmlns:a="http://schemas.openxmlformats.org/drawingml/2006/main" noGrp="1"/>
          </p:cNvSpPr>
          <p:nvPr/>
        </p:nvSpPr>
        <p:spPr>
          <a:xfrm xmlns:a="http://schemas.openxmlformats.org/drawingml/2006/main">
            <a:off x="4937760" y="2743200"/>
            <a:ext cx="64008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D9A441"/>
                </a:solidFill>
                <a:latin typeface="Calibri"/>
                <a:ea typeface="Calibri"/>
                <a:cs typeface="Calibri"/>
              </a:rPr>
              <a:t>Bu derste Cümlede Anlam'ın temel yapı taşlarını gördük: </a:t>
            </a:r>
            <a:r>
              <a:rPr sz="1400">
                <a:solidFill>
                  <a:srgbClr val="FFFFFF"/>
                </a:solidFill>
                <a:latin typeface="Calibri"/>
                <a:ea typeface="Calibri"/>
                <a:cs typeface="Calibri"/>
              </a:rPr>
              <a:t>öznellik-nesnellik, karşılaştırma, değerlendirme, kesin yargı/varsayım ve sebep-sonuç/koşul-amaç kavramları — hepsi gerçek ÖSYM sorularıyla desteklendi. Bu kavramlar sıradaki 3 derste öğreneceğimiz "anlamca eşdeğer cümle bulma" becerisinin temelini oluşturuyor.</a:t>
            </a:r>
            <a:endParaRPr sz="1400"/>
          </a:p>
        </p:txBody>
      </p:sp>
      <p:sp>
        <p:nvSpPr>
          <p:cNvPr id="21" name="Shape 18">
            <a:extLst xmlns:a="http://schemas.openxmlformats.org/drawingml/2006/main">
              <a:ext uri="{FF2B5EF4-FFF2-40B4-BE49-F238E27FC236}">
                <a16:creationId xmlns:a16="http://schemas.microsoft.com/office/drawing/2014/main" id="{FD2AAC2D-453B-40A7-BB66-F937BFF16253}"/>
              </a:ext>
            </a:extLst>
          </p:cNvPr>
          <p:cNvSpPr>
            <a:spLocks xmlns:a="http://schemas.openxmlformats.org/drawingml/2006/main" noGrp="1"/>
          </p:cNvSpPr>
          <p:nvPr/>
        </p:nvSpPr>
        <p:spPr>
          <a:xfrm xmlns:a="http://schemas.openxmlformats.org/drawingml/2006/main">
            <a:off x="4663440" y="4434840"/>
            <a:ext cx="6903720" cy="1051560"/>
          </a:xfrm>
          <a:prstGeom xmlns:a="http://schemas.openxmlformats.org/drawingml/2006/main" prst="roundRect">
            <a:avLst>
              <a:gd name="adj" fmla="val 10435"/>
            </a:avLst>
          </a:prstGeom>
          <a:solidFill xmlns:a="http://schemas.openxmlformats.org/drawingml/2006/main">
            <a:srgbClr val="D9A441"/>
          </a:solidFill>
        </p:spPr>
      </p:sp>
      <p:sp>
        <p:nvSpPr>
          <p:cNvPr id="22" name="Text 19">
            <a:extLst xmlns:a="http://schemas.openxmlformats.org/drawingml/2006/main">
              <a:ext uri="{FF2B5EF4-FFF2-40B4-BE49-F238E27FC236}">
                <a16:creationId xmlns:a16="http://schemas.microsoft.com/office/drawing/2014/main" id="{3D580DE3-F049-49E2-A3C7-98B919D44083}"/>
              </a:ext>
            </a:extLst>
          </p:cNvPr>
          <p:cNvSpPr>
            <a:spLocks xmlns:a="http://schemas.openxmlformats.org/drawingml/2006/main" noGrp="1"/>
          </p:cNvSpPr>
          <p:nvPr/>
        </p:nvSpPr>
        <p:spPr>
          <a:xfrm xmlns:a="http://schemas.openxmlformats.org/drawingml/2006/main">
            <a:off x="4937760" y="4590288"/>
            <a:ext cx="5943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200">
                <a:solidFill>
                  <a:srgbClr val="142A44"/>
                </a:solidFill>
                <a:latin typeface="Calibri"/>
                <a:ea typeface="Calibri"/>
                <a:cs typeface="Calibri"/>
              </a:rPr>
              <a:t>SIRADAKİ DERS</a:t>
            </a:r>
            <a:endParaRPr sz="1600"/>
          </a:p>
        </p:txBody>
      </p:sp>
      <p:sp>
        <p:nvSpPr>
          <p:cNvPr id="23" name="Text 20">
            <a:extLst xmlns:a="http://schemas.openxmlformats.org/drawingml/2006/main">
              <a:ext uri="{FF2B5EF4-FFF2-40B4-BE49-F238E27FC236}">
                <a16:creationId xmlns:a16="http://schemas.microsoft.com/office/drawing/2014/main" id="{BFB0C000-2D6C-4036-80F3-DC022A30172A}"/>
              </a:ext>
            </a:extLst>
          </p:cNvPr>
          <p:cNvSpPr>
            <a:spLocks xmlns:a="http://schemas.openxmlformats.org/drawingml/2006/main" noGrp="1"/>
          </p:cNvSpPr>
          <p:nvPr/>
        </p:nvSpPr>
        <p:spPr>
          <a:xfrm xmlns:a="http://schemas.openxmlformats.org/drawingml/2006/main">
            <a:off x="4937760" y="4864608"/>
            <a:ext cx="6309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42A44"/>
                </a:solidFill>
                <a:latin typeface="Cambria"/>
                <a:ea typeface="Cambria"/>
                <a:cs typeface="Cambria"/>
              </a:rPr>
              <a:t>Anlamca Eşdeğer Cümle Bulma (Ders 2/4)  →</a:t>
            </a:r>
            <a:endParaRPr sz="2100"/>
          </a:p>
        </p:txBody>
      </p:sp>
    </p:spTree>
    <p:extLst>
      <p:ext uri="{BB962C8B-B14F-4D97-AF65-F5344CB8AC3E}">
        <p14:creationId xmlns:p14="http://schemas.microsoft.com/office/powerpoint/2010/main" val="166914589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2CE3C63-EB09-4FF2-B6C6-CACA49A566D1}"/>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3c40b204635b4a8c"/>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9C71D07A-4ABC-4D6E-AF61-015C075693AE}"/>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PEKIŞTIRME</a:t>
            </a:r>
            <a:endParaRPr sz="1300"/>
          </a:p>
        </p:txBody>
      </p:sp>
      <p:sp>
        <p:nvSpPr>
          <p:cNvPr id="5" name="Text 2">
            <a:extLst xmlns:a="http://schemas.openxmlformats.org/drawingml/2006/main">
              <a:ext uri="{FF2B5EF4-FFF2-40B4-BE49-F238E27FC236}">
                <a16:creationId xmlns:a16="http://schemas.microsoft.com/office/drawing/2014/main" id="{41E6F293-D8FA-4B43-B6EE-5ADDCA4E2BA6}"/>
              </a:ext>
            </a:extLst>
          </p:cNvPr>
          <p:cNvSpPr>
            <a:spLocks xmlns:a="http://schemas.openxmlformats.org/drawingml/2006/main" noGrp="1"/>
          </p:cNvSpPr>
          <p:nvPr/>
        </p:nvSpPr>
        <p:spPr>
          <a:xfrm xmlns:a="http://schemas.openxmlformats.org/drawingml/2006/main">
            <a:off x="1463040" y="841248"/>
            <a:ext cx="10058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Ödev: Kavramı Belirle</a:t>
            </a:r>
            <a:endParaRPr sz="2800"/>
          </a:p>
        </p:txBody>
      </p:sp>
      <p:sp>
        <p:nvSpPr>
          <p:cNvPr id="6" name="Text 3">
            <a:extLst xmlns:a="http://schemas.openxmlformats.org/drawingml/2006/main">
              <a:ext uri="{FF2B5EF4-FFF2-40B4-BE49-F238E27FC236}">
                <a16:creationId xmlns:a16="http://schemas.microsoft.com/office/drawing/2014/main" id="{9F8C4DAB-A9D4-4E83-B6CC-C55C64C48D6A}"/>
              </a:ext>
            </a:extLst>
          </p:cNvPr>
          <p:cNvSpPr>
            <a:spLocks xmlns:a="http://schemas.openxmlformats.org/drawingml/2006/main" noGrp="1"/>
          </p:cNvSpPr>
          <p:nvPr/>
        </p:nvSpPr>
        <p:spPr>
          <a:xfrm xmlns:a="http://schemas.openxmlformats.org/drawingml/2006/main">
            <a:off x="640080" y="1645920"/>
            <a:ext cx="1088136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1E2761"/>
                </a:solidFill>
                <a:latin typeface="Calibri"/>
                <a:ea typeface="Calibri"/>
                <a:cs typeface="Calibri"/>
              </a:rPr>
              <a:t>Sıradaki derse kadar aşağıdaki 8 cümlenin hangi kavramla ilgili olduğunu belirleyip defterinize yazın:</a:t>
            </a:r>
            <a:endParaRPr sz="1900"/>
          </a:p>
        </p:txBody>
      </p:sp>
      <p:sp>
        <p:nvSpPr>
          <p:cNvPr id="7" name="Shape 4">
            <a:extLst xmlns:a="http://schemas.openxmlformats.org/drawingml/2006/main">
              <a:ext uri="{FF2B5EF4-FFF2-40B4-BE49-F238E27FC236}">
                <a16:creationId xmlns:a16="http://schemas.microsoft.com/office/drawing/2014/main" id="{E27C65E6-558C-4032-ADB4-5B66157921FB}"/>
              </a:ext>
            </a:extLst>
          </p:cNvPr>
          <p:cNvSpPr>
            <a:spLocks xmlns:a="http://schemas.openxmlformats.org/drawingml/2006/main" noGrp="1"/>
          </p:cNvSpPr>
          <p:nvPr/>
        </p:nvSpPr>
        <p:spPr>
          <a:xfrm xmlns:a="http://schemas.openxmlformats.org/drawingml/2006/main">
            <a:off x="640080" y="2372360"/>
            <a:ext cx="5349240" cy="776732"/>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8" name="Text 5">
            <a:extLst xmlns:a="http://schemas.openxmlformats.org/drawingml/2006/main">
              <a:ext uri="{FF2B5EF4-FFF2-40B4-BE49-F238E27FC236}">
                <a16:creationId xmlns:a16="http://schemas.microsoft.com/office/drawing/2014/main" id="{60F281B9-6E89-487F-B951-0C67C3409CB8}"/>
              </a:ext>
            </a:extLst>
          </p:cNvPr>
          <p:cNvSpPr>
            <a:spLocks xmlns:a="http://schemas.openxmlformats.org/drawingml/2006/main" noGrp="1"/>
          </p:cNvSpPr>
          <p:nvPr/>
        </p:nvSpPr>
        <p:spPr>
          <a:xfrm xmlns:a="http://schemas.openxmlformats.org/drawingml/2006/main">
            <a:off x="822960" y="2372360"/>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1E3A5F"/>
                </a:solidFill>
                <a:latin typeface="Calibri"/>
                <a:ea typeface="Calibri"/>
                <a:cs typeface="Calibri"/>
              </a:rPr>
              <a:t>1. "Bu şair, kuşağının en özgün sesi kabul edilir." — hangi kavram?</a:t>
            </a:r>
            <a:endParaRPr sz="1900"/>
          </a:p>
        </p:txBody>
      </p:sp>
      <p:sp>
        <p:nvSpPr>
          <p:cNvPr id="9" name="Shape 6">
            <a:extLst xmlns:a="http://schemas.openxmlformats.org/drawingml/2006/main">
              <a:ext uri="{FF2B5EF4-FFF2-40B4-BE49-F238E27FC236}">
                <a16:creationId xmlns:a16="http://schemas.microsoft.com/office/drawing/2014/main" id="{EA1F1579-0372-478E-AB35-84EFA2D403A5}"/>
              </a:ext>
            </a:extLst>
          </p:cNvPr>
          <p:cNvSpPr>
            <a:spLocks xmlns:a="http://schemas.openxmlformats.org/drawingml/2006/main" noGrp="1"/>
          </p:cNvSpPr>
          <p:nvPr/>
        </p:nvSpPr>
        <p:spPr>
          <a:xfrm xmlns:a="http://schemas.openxmlformats.org/drawingml/2006/main">
            <a:off x="6172200" y="2372360"/>
            <a:ext cx="5349240" cy="776732"/>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10" name="Text 7">
            <a:extLst xmlns:a="http://schemas.openxmlformats.org/drawingml/2006/main">
              <a:ext uri="{FF2B5EF4-FFF2-40B4-BE49-F238E27FC236}">
                <a16:creationId xmlns:a16="http://schemas.microsoft.com/office/drawing/2014/main" id="{4635DE49-105D-46F7-99A8-67B68C78C121}"/>
              </a:ext>
            </a:extLst>
          </p:cNvPr>
          <p:cNvSpPr>
            <a:spLocks xmlns:a="http://schemas.openxmlformats.org/drawingml/2006/main" noGrp="1"/>
          </p:cNvSpPr>
          <p:nvPr/>
        </p:nvSpPr>
        <p:spPr>
          <a:xfrm xmlns:a="http://schemas.openxmlformats.org/drawingml/2006/main">
            <a:off x="6355080" y="2372360"/>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1E3A5F"/>
                </a:solidFill>
                <a:latin typeface="Calibri"/>
                <a:ea typeface="Calibri"/>
                <a:cs typeface="Calibri"/>
              </a:rPr>
              <a:t>2. "Kitap, 1968 yılında ilk baskısını yapmıştır." — hangi kavram?</a:t>
            </a:r>
            <a:endParaRPr sz="1900"/>
          </a:p>
        </p:txBody>
      </p:sp>
      <p:sp>
        <p:nvSpPr>
          <p:cNvPr id="11" name="Shape 8">
            <a:extLst xmlns:a="http://schemas.openxmlformats.org/drawingml/2006/main">
              <a:ext uri="{FF2B5EF4-FFF2-40B4-BE49-F238E27FC236}">
                <a16:creationId xmlns:a16="http://schemas.microsoft.com/office/drawing/2014/main" id="{8DB5FF40-52C7-4AE6-A862-F95C5D073203}"/>
              </a:ext>
            </a:extLst>
          </p:cNvPr>
          <p:cNvSpPr>
            <a:spLocks xmlns:a="http://schemas.openxmlformats.org/drawingml/2006/main" noGrp="1"/>
          </p:cNvSpPr>
          <p:nvPr/>
        </p:nvSpPr>
        <p:spPr>
          <a:xfrm xmlns:a="http://schemas.openxmlformats.org/drawingml/2006/main">
            <a:off x="640080" y="3182010"/>
            <a:ext cx="5349240" cy="776732"/>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12" name="Text 9">
            <a:extLst xmlns:a="http://schemas.openxmlformats.org/drawingml/2006/main">
              <a:ext uri="{FF2B5EF4-FFF2-40B4-BE49-F238E27FC236}">
                <a16:creationId xmlns:a16="http://schemas.microsoft.com/office/drawing/2014/main" id="{F28F4300-4EDF-4BBF-86CF-8835587F0A7D}"/>
              </a:ext>
            </a:extLst>
          </p:cNvPr>
          <p:cNvSpPr>
            <a:spLocks xmlns:a="http://schemas.openxmlformats.org/drawingml/2006/main" noGrp="1"/>
          </p:cNvSpPr>
          <p:nvPr/>
        </p:nvSpPr>
        <p:spPr>
          <a:xfrm xmlns:a="http://schemas.openxmlformats.org/drawingml/2006/main">
            <a:off x="822960" y="3182010"/>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1E3A5F"/>
                </a:solidFill>
                <a:latin typeface="Calibri"/>
                <a:ea typeface="Calibri"/>
                <a:cs typeface="Calibri"/>
              </a:rPr>
              <a:t>3. "Bu öykü, önceki öyküsünden çok daha güçlü kurgulanmış." — hangi kavram?</a:t>
            </a:r>
            <a:endParaRPr sz="1900"/>
          </a:p>
        </p:txBody>
      </p:sp>
      <p:sp>
        <p:nvSpPr>
          <p:cNvPr id="13" name="Shape 10">
            <a:extLst xmlns:a="http://schemas.openxmlformats.org/drawingml/2006/main">
              <a:ext uri="{FF2B5EF4-FFF2-40B4-BE49-F238E27FC236}">
                <a16:creationId xmlns:a16="http://schemas.microsoft.com/office/drawing/2014/main" id="{E015A923-944B-4802-9DD5-74E98193F5DA}"/>
              </a:ext>
            </a:extLst>
          </p:cNvPr>
          <p:cNvSpPr>
            <a:spLocks xmlns:a="http://schemas.openxmlformats.org/drawingml/2006/main" noGrp="1"/>
          </p:cNvSpPr>
          <p:nvPr/>
        </p:nvSpPr>
        <p:spPr>
          <a:xfrm xmlns:a="http://schemas.openxmlformats.org/drawingml/2006/main">
            <a:off x="6172200" y="3182010"/>
            <a:ext cx="5349240" cy="776732"/>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14" name="Text 11">
            <a:extLst xmlns:a="http://schemas.openxmlformats.org/drawingml/2006/main">
              <a:ext uri="{FF2B5EF4-FFF2-40B4-BE49-F238E27FC236}">
                <a16:creationId xmlns:a16="http://schemas.microsoft.com/office/drawing/2014/main" id="{DCBD3D89-05ED-4DB2-9ADA-00B2DB1DFE7F}"/>
              </a:ext>
            </a:extLst>
          </p:cNvPr>
          <p:cNvSpPr>
            <a:spLocks xmlns:a="http://schemas.openxmlformats.org/drawingml/2006/main" noGrp="1"/>
          </p:cNvSpPr>
          <p:nvPr/>
        </p:nvSpPr>
        <p:spPr>
          <a:xfrm xmlns:a="http://schemas.openxmlformats.org/drawingml/2006/main">
            <a:off x="6355080" y="3182010"/>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1E3A5F"/>
                </a:solidFill>
                <a:latin typeface="Calibri"/>
                <a:ea typeface="Calibri"/>
                <a:cs typeface="Calibri"/>
              </a:rPr>
              <a:t>4. "Yazarın bu son romanı, kariyerinin zirvesidir." — hangi kavram?</a:t>
            </a:r>
            <a:endParaRPr sz="1900"/>
          </a:p>
        </p:txBody>
      </p:sp>
      <p:sp>
        <p:nvSpPr>
          <p:cNvPr id="15" name="Shape 12">
            <a:extLst xmlns:a="http://schemas.openxmlformats.org/drawingml/2006/main">
              <a:ext uri="{FF2B5EF4-FFF2-40B4-BE49-F238E27FC236}">
                <a16:creationId xmlns:a16="http://schemas.microsoft.com/office/drawing/2014/main" id="{13FAF332-DAC2-4B81-A2E5-1079FA27BACC}"/>
              </a:ext>
            </a:extLst>
          </p:cNvPr>
          <p:cNvSpPr>
            <a:spLocks xmlns:a="http://schemas.openxmlformats.org/drawingml/2006/main" noGrp="1"/>
          </p:cNvSpPr>
          <p:nvPr/>
        </p:nvSpPr>
        <p:spPr>
          <a:xfrm xmlns:a="http://schemas.openxmlformats.org/drawingml/2006/main">
            <a:off x="640080" y="3991661"/>
            <a:ext cx="5349240" cy="776732"/>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16" name="Text 13">
            <a:extLst xmlns:a="http://schemas.openxmlformats.org/drawingml/2006/main">
              <a:ext uri="{FF2B5EF4-FFF2-40B4-BE49-F238E27FC236}">
                <a16:creationId xmlns:a16="http://schemas.microsoft.com/office/drawing/2014/main" id="{AC4DE144-6834-4B6D-B05A-CDA0BD01F33E}"/>
              </a:ext>
            </a:extLst>
          </p:cNvPr>
          <p:cNvSpPr>
            <a:spLocks xmlns:a="http://schemas.openxmlformats.org/drawingml/2006/main" noGrp="1"/>
          </p:cNvSpPr>
          <p:nvPr/>
        </p:nvSpPr>
        <p:spPr>
          <a:xfrm xmlns:a="http://schemas.openxmlformats.org/drawingml/2006/main">
            <a:off x="822960" y="3991661"/>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1E3A5F"/>
                </a:solidFill>
                <a:latin typeface="Calibri"/>
                <a:ea typeface="Calibri"/>
                <a:cs typeface="Calibri"/>
              </a:rPr>
              <a:t>5. "Kar yağarsa yollar kapanacağı için okullar tatil edilebilir." — hangi kavram?</a:t>
            </a:r>
            <a:endParaRPr sz="1900"/>
          </a:p>
        </p:txBody>
      </p:sp>
      <p:sp>
        <p:nvSpPr>
          <p:cNvPr id="17" name="Shape 14">
            <a:extLst xmlns:a="http://schemas.openxmlformats.org/drawingml/2006/main">
              <a:ext uri="{FF2B5EF4-FFF2-40B4-BE49-F238E27FC236}">
                <a16:creationId xmlns:a16="http://schemas.microsoft.com/office/drawing/2014/main" id="{1FF18A54-52CF-4180-B8E2-C74CF4A2B5D8}"/>
              </a:ext>
            </a:extLst>
          </p:cNvPr>
          <p:cNvSpPr>
            <a:spLocks xmlns:a="http://schemas.openxmlformats.org/drawingml/2006/main" noGrp="1"/>
          </p:cNvSpPr>
          <p:nvPr/>
        </p:nvSpPr>
        <p:spPr>
          <a:xfrm xmlns:a="http://schemas.openxmlformats.org/drawingml/2006/main">
            <a:off x="6172200" y="3991661"/>
            <a:ext cx="5349240" cy="776732"/>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18" name="Text 15">
            <a:extLst xmlns:a="http://schemas.openxmlformats.org/drawingml/2006/main">
              <a:ext uri="{FF2B5EF4-FFF2-40B4-BE49-F238E27FC236}">
                <a16:creationId xmlns:a16="http://schemas.microsoft.com/office/drawing/2014/main" id="{EBAF23D7-75F4-409B-9127-5DCF79AC21C8}"/>
              </a:ext>
            </a:extLst>
          </p:cNvPr>
          <p:cNvSpPr>
            <a:spLocks xmlns:a="http://schemas.openxmlformats.org/drawingml/2006/main" noGrp="1"/>
          </p:cNvSpPr>
          <p:nvPr/>
        </p:nvSpPr>
        <p:spPr>
          <a:xfrm xmlns:a="http://schemas.openxmlformats.org/drawingml/2006/main">
            <a:off x="6355080" y="3991661"/>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1E3A5F"/>
                </a:solidFill>
                <a:latin typeface="Calibri"/>
                <a:ea typeface="Calibri"/>
                <a:cs typeface="Calibri"/>
              </a:rPr>
              <a:t>6. "Bu tür eserler asla okurunu yanıltmaz." — hangi kavram?</a:t>
            </a:r>
            <a:endParaRPr sz="1900"/>
          </a:p>
        </p:txBody>
      </p:sp>
      <p:sp>
        <p:nvSpPr>
          <p:cNvPr id="19" name="Shape 16">
            <a:extLst xmlns:a="http://schemas.openxmlformats.org/drawingml/2006/main">
              <a:ext uri="{FF2B5EF4-FFF2-40B4-BE49-F238E27FC236}">
                <a16:creationId xmlns:a16="http://schemas.microsoft.com/office/drawing/2014/main" id="{E2928C69-D04A-43C0-B3AC-546FC4072AA0}"/>
              </a:ext>
            </a:extLst>
          </p:cNvPr>
          <p:cNvSpPr>
            <a:spLocks xmlns:a="http://schemas.openxmlformats.org/drawingml/2006/main" noGrp="1"/>
          </p:cNvSpPr>
          <p:nvPr/>
        </p:nvSpPr>
        <p:spPr>
          <a:xfrm xmlns:a="http://schemas.openxmlformats.org/drawingml/2006/main">
            <a:off x="640080" y="4801311"/>
            <a:ext cx="5349240" cy="776732"/>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20" name="Text 17">
            <a:extLst xmlns:a="http://schemas.openxmlformats.org/drawingml/2006/main">
              <a:ext uri="{FF2B5EF4-FFF2-40B4-BE49-F238E27FC236}">
                <a16:creationId xmlns:a16="http://schemas.microsoft.com/office/drawing/2014/main" id="{41F66B1D-4FDE-4E60-A576-4E62352A003D}"/>
              </a:ext>
            </a:extLst>
          </p:cNvPr>
          <p:cNvSpPr>
            <a:spLocks xmlns:a="http://schemas.openxmlformats.org/drawingml/2006/main" noGrp="1"/>
          </p:cNvSpPr>
          <p:nvPr/>
        </p:nvSpPr>
        <p:spPr>
          <a:xfrm xmlns:a="http://schemas.openxmlformats.org/drawingml/2006/main">
            <a:off x="822960" y="4801311"/>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1E3A5F"/>
                </a:solidFill>
                <a:latin typeface="Calibri"/>
                <a:ea typeface="Calibri"/>
                <a:cs typeface="Calibri"/>
              </a:rPr>
              <a:t>7. "Belki de bu roman, yazarın en kişisel eseriydi." — hangi kavram?</a:t>
            </a:r>
            <a:endParaRPr sz="1900"/>
          </a:p>
        </p:txBody>
      </p:sp>
      <p:sp>
        <p:nvSpPr>
          <p:cNvPr id="21" name="Shape 18">
            <a:extLst xmlns:a="http://schemas.openxmlformats.org/drawingml/2006/main">
              <a:ext uri="{FF2B5EF4-FFF2-40B4-BE49-F238E27FC236}">
                <a16:creationId xmlns:a16="http://schemas.microsoft.com/office/drawing/2014/main" id="{256262BB-1E50-43A2-8555-4051E1B3B44D}"/>
              </a:ext>
            </a:extLst>
          </p:cNvPr>
          <p:cNvSpPr>
            <a:spLocks xmlns:a="http://schemas.openxmlformats.org/drawingml/2006/main" noGrp="1"/>
          </p:cNvSpPr>
          <p:nvPr/>
        </p:nvSpPr>
        <p:spPr>
          <a:xfrm xmlns:a="http://schemas.openxmlformats.org/drawingml/2006/main">
            <a:off x="6172200" y="4801311"/>
            <a:ext cx="5349240" cy="776732"/>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22" name="Text 19">
            <a:extLst xmlns:a="http://schemas.openxmlformats.org/drawingml/2006/main">
              <a:ext uri="{FF2B5EF4-FFF2-40B4-BE49-F238E27FC236}">
                <a16:creationId xmlns:a16="http://schemas.microsoft.com/office/drawing/2014/main" id="{096E0F15-9EFC-4D41-9EF8-C6CECC7BC493}"/>
              </a:ext>
            </a:extLst>
          </p:cNvPr>
          <p:cNvSpPr>
            <a:spLocks xmlns:a="http://schemas.openxmlformats.org/drawingml/2006/main" noGrp="1"/>
          </p:cNvSpPr>
          <p:nvPr/>
        </p:nvSpPr>
        <p:spPr>
          <a:xfrm xmlns:a="http://schemas.openxmlformats.org/drawingml/2006/main">
            <a:off x="6355080" y="4801311"/>
            <a:ext cx="502920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1E3A5F"/>
                </a:solidFill>
                <a:latin typeface="Calibri"/>
                <a:ea typeface="Calibri"/>
                <a:cs typeface="Calibri"/>
              </a:rPr>
              <a:t>8. "Ödülü kazanmak için özgün bir eser ortaya koymak gerekir." — hangi kavram?</a:t>
            </a:r>
            <a:endParaRPr sz="1900"/>
          </a:p>
        </p:txBody>
      </p:sp>
      <p:sp>
        <p:nvSpPr>
          <p:cNvPr id="23" name="Shape 20">
            <a:extLst xmlns:a="http://schemas.openxmlformats.org/drawingml/2006/main">
              <a:ext uri="{FF2B5EF4-FFF2-40B4-BE49-F238E27FC236}">
                <a16:creationId xmlns:a16="http://schemas.microsoft.com/office/drawing/2014/main" id="{FDD7F2FF-0A21-45EF-AFD3-947D9C071511}"/>
              </a:ext>
            </a:extLst>
          </p:cNvPr>
          <p:cNvSpPr>
            <a:spLocks xmlns:a="http://schemas.openxmlformats.org/drawingml/2006/main" noGrp="1"/>
          </p:cNvSpPr>
          <p:nvPr/>
        </p:nvSpPr>
        <p:spPr>
          <a:xfrm xmlns:a="http://schemas.openxmlformats.org/drawingml/2006/main">
            <a:off x="640080" y="5672684"/>
            <a:ext cx="10881360" cy="776732"/>
          </a:xfrm>
          <a:prstGeom xmlns:a="http://schemas.openxmlformats.org/drawingml/2006/main" prst="roundRect">
            <a:avLst>
              <a:gd name="adj" fmla="val 15385"/>
            </a:avLst>
          </a:prstGeom>
          <a:solidFill xmlns:a="http://schemas.openxmlformats.org/drawingml/2006/main">
            <a:srgbClr val="FBF3E3"/>
          </a:solidFill>
        </p:spPr>
      </p:sp>
      <p:sp>
        <p:nvSpPr>
          <p:cNvPr id="24" name="Text 21">
            <a:extLst xmlns:a="http://schemas.openxmlformats.org/drawingml/2006/main">
              <a:ext uri="{FF2B5EF4-FFF2-40B4-BE49-F238E27FC236}">
                <a16:creationId xmlns:a16="http://schemas.microsoft.com/office/drawing/2014/main" id="{98384FC4-F308-4A35-827D-00FB5EAE7B26}"/>
              </a:ext>
            </a:extLst>
          </p:cNvPr>
          <p:cNvSpPr>
            <a:spLocks xmlns:a="http://schemas.openxmlformats.org/drawingml/2006/main" noGrp="1"/>
          </p:cNvSpPr>
          <p:nvPr/>
        </p:nvSpPr>
        <p:spPr>
          <a:xfrm xmlns:a="http://schemas.openxmlformats.org/drawingml/2006/main">
            <a:off x="914400" y="5672684"/>
            <a:ext cx="10332720" cy="6852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1E2761"/>
                </a:solidFill>
                <a:latin typeface="Calibri"/>
                <a:ea typeface="Calibri"/>
                <a:cs typeface="Calibri"/>
              </a:rPr>
              <a:t>Not: Bazı cümlelerde birden fazla kavram birlikte bulunabilir (ör. koşul + sebep-sonuç) — hepsini belirtin.</a:t>
            </a:r>
            <a:endParaRPr sz="1900"/>
          </a:p>
        </p:txBody>
      </p:sp>
      <p:sp>
        <p:nvSpPr>
          <p:cNvPr id="25" name="Text 22">
            <a:extLst xmlns:a="http://schemas.openxmlformats.org/drawingml/2006/main">
              <a:ext uri="{FF2B5EF4-FFF2-40B4-BE49-F238E27FC236}">
                <a16:creationId xmlns:a16="http://schemas.microsoft.com/office/drawing/2014/main" id="{3EA2B92E-4747-4F2F-937A-C193F60C1B56}"/>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CÜMLEDE ANLAM  ·  Ödev</a:t>
            </a:r>
            <a:endParaRPr sz="900"/>
          </a:p>
        </p:txBody>
      </p:sp>
      <p:sp>
        <p:nvSpPr>
          <p:cNvPr id="26" name="Text 23">
            <a:extLst xmlns:a="http://schemas.openxmlformats.org/drawingml/2006/main">
              <a:ext uri="{FF2B5EF4-FFF2-40B4-BE49-F238E27FC236}">
                <a16:creationId xmlns:a16="http://schemas.microsoft.com/office/drawing/2014/main" id="{D4C191FC-E1B1-4E79-9959-21996AFBC824}"/>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1 / 4</a:t>
            </a:r>
            <a:endParaRPr sz="900"/>
          </a:p>
        </p:txBody>
      </p:sp>
    </p:spTree>
    <p:extLst>
      <p:ext uri="{BB962C8B-B14F-4D97-AF65-F5344CB8AC3E}">
        <p14:creationId xmlns:p14="http://schemas.microsoft.com/office/powerpoint/2010/main" val="549545419"/>
      </p:ext>
    </p:extLst>
  </p:cSld>
</p:sld>
</file>

<file path=ppt/slides/slide24.xml><?xml version="1.0" encoding="utf-8"?>
<p:sld xmlns:p="http://schemas.openxmlformats.org/presentationml/2006/main">
  <p:cSld>
    <p:bg>
      <p:bgPr>
        <a:solidFill xmlns:a="http://schemas.openxmlformats.org/drawingml/2006/main">
          <a:srgbClr val="1E3A5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F705C7B-9C85-4A1B-A535-A0A6771702B9}"/>
              </a:ext>
            </a:extLst>
          </p:cNvPr>
          <p:cNvSpPr>
            <a:spLocks xmlns:a="http://schemas.openxmlformats.org/drawingml/2006/main" noGrp="1"/>
          </p:cNvSpPr>
          <p:nvPr/>
        </p:nvSpPr>
        <p:spPr>
          <a:xfrm xmlns:a="http://schemas.openxmlformats.org/drawingml/2006/main">
            <a:off x="8138160" y="0"/>
            <a:ext cx="4050792" cy="6858000"/>
          </a:xfrm>
          <a:prstGeom xmlns:a="http://schemas.openxmlformats.org/drawingml/2006/main" prst="rect">
            <a:avLst/>
          </a:prstGeom>
          <a:solidFill xmlns:a="http://schemas.openxmlformats.org/drawingml/2006/main">
            <a:srgbClr val="142A44"/>
          </a:solidFill>
        </p:spPr>
      </p:sp>
      <p:sp>
        <p:nvSpPr>
          <p:cNvPr id="3" name="Shape 1">
            <a:extLst xmlns:a="http://schemas.openxmlformats.org/drawingml/2006/main">
              <a:ext uri="{FF2B5EF4-FFF2-40B4-BE49-F238E27FC236}">
                <a16:creationId xmlns:a16="http://schemas.microsoft.com/office/drawing/2014/main" id="{D4D7B8A2-A6D3-48E4-AEDE-5EDDF26EF965}"/>
              </a:ext>
            </a:extLst>
          </p:cNvPr>
          <p:cNvSpPr>
            <a:spLocks xmlns:a="http://schemas.openxmlformats.org/drawingml/2006/main" noGrp="1"/>
          </p:cNvSpPr>
          <p:nvPr/>
        </p:nvSpPr>
        <p:spPr>
          <a:xfrm xmlns:a="http://schemas.openxmlformats.org/drawingml/2006/main">
            <a:off x="640080" y="548640"/>
            <a:ext cx="731520" cy="731520"/>
          </a:xfrm>
          <a:prstGeom xmlns:a="http://schemas.openxmlformats.org/drawingml/2006/main" prst="ellipse">
            <a:avLst/>
          </a:prstGeom>
          <a:solidFill xmlns:a="http://schemas.openxmlformats.org/drawingml/2006/main">
            <a:srgbClr val="254B78"/>
          </a:solidFill>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8114be1820c4448e"/>
          <a:stretch xmlns:a="http://schemas.openxmlformats.org/drawingml/2006/main">
            <a:fillRect l="0" t="0" r="0" b="0"/>
          </a:stretch>
        </p:blipFill>
        <p:spPr>
          <a:xfrm xmlns:a="http://schemas.openxmlformats.org/drawingml/2006/main">
            <a:off x="804672" y="713232"/>
            <a:ext cx="402336" cy="402336"/>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DAA2FF71-E80B-40BE-96B5-EF57EA2BC4B5}"/>
              </a:ext>
            </a:extLst>
          </p:cNvPr>
          <p:cNvSpPr>
            <a:spLocks xmlns:a="http://schemas.openxmlformats.org/drawingml/2006/main" noGrp="1"/>
          </p:cNvSpPr>
          <p:nvPr/>
        </p:nvSpPr>
        <p:spPr>
          <a:xfrm xmlns:a="http://schemas.openxmlformats.org/drawingml/2006/main">
            <a:off x="1508760" y="594360"/>
            <a:ext cx="64008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FFFFF"/>
                </a:solidFill>
                <a:latin typeface="Cambria"/>
                <a:ea typeface="Cambria"/>
                <a:cs typeface="Cambria"/>
              </a:rPr>
              <a:t>Ders Tamamlandı</a:t>
            </a:r>
            <a:endParaRPr sz="2800"/>
          </a:p>
        </p:txBody>
      </p:sp>
      <p:sp>
        <p:nvSpPr>
          <p:cNvPr id="6" name="Text 3">
            <a:extLst xmlns:a="http://schemas.openxmlformats.org/drawingml/2006/main">
              <a:ext uri="{FF2B5EF4-FFF2-40B4-BE49-F238E27FC236}">
                <a16:creationId xmlns:a16="http://schemas.microsoft.com/office/drawing/2014/main" id="{C419B631-8026-4661-82AC-8050E2939A87}"/>
              </a:ext>
            </a:extLst>
          </p:cNvPr>
          <p:cNvSpPr>
            <a:spLocks xmlns:a="http://schemas.openxmlformats.org/drawingml/2006/main" noGrp="1"/>
          </p:cNvSpPr>
          <p:nvPr/>
        </p:nvSpPr>
        <p:spPr>
          <a:xfrm xmlns:a="http://schemas.openxmlformats.org/drawingml/2006/main">
            <a:off x="640080" y="1371600"/>
            <a:ext cx="7315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9FB8D6"/>
                </a:solidFill>
                <a:latin typeface="Calibri"/>
                <a:ea typeface="Calibri"/>
                <a:cs typeface="Calibri"/>
              </a:rPr>
              <a:t>Cümlede Anlam'a Giriş: Temel Kavramlar — Ders 1/4</a:t>
            </a:r>
            <a:endParaRPr sz="1300"/>
          </a:p>
        </p:txBody>
      </p:sp>
      <p:sp>
        <p:nvSpPr>
          <p:cNvPr id="7" name="Shape 4">
            <a:extLst xmlns:a="http://schemas.openxmlformats.org/drawingml/2006/main">
              <a:ext uri="{FF2B5EF4-FFF2-40B4-BE49-F238E27FC236}">
                <a16:creationId xmlns:a16="http://schemas.microsoft.com/office/drawing/2014/main" id="{6D4171E0-6157-469A-9A92-EB4E89349E11}"/>
              </a:ext>
            </a:extLst>
          </p:cNvPr>
          <p:cNvSpPr>
            <a:spLocks xmlns:a="http://schemas.openxmlformats.org/drawingml/2006/main" noGrp="1"/>
          </p:cNvSpPr>
          <p:nvPr/>
        </p:nvSpPr>
        <p:spPr>
          <a:xfrm xmlns:a="http://schemas.openxmlformats.org/drawingml/2006/main">
            <a:off x="640080" y="2103120"/>
            <a:ext cx="7040880" cy="1828800"/>
          </a:xfrm>
          <a:prstGeom xmlns:a="http://schemas.openxmlformats.org/drawingml/2006/main" prst="roundRect">
            <a:avLst>
              <a:gd name="adj" fmla="val 6000"/>
            </a:avLst>
          </a:prstGeom>
          <a:solidFill xmlns:a="http://schemas.openxmlformats.org/drawingml/2006/main">
            <a:srgbClr val="254B78"/>
          </a:solidFill>
        </p:spPr>
      </p:sp>
      <p:sp>
        <p:nvSpPr>
          <p:cNvPr id="8" name="Text 5">
            <a:extLst xmlns:a="http://schemas.openxmlformats.org/drawingml/2006/main">
              <a:ext uri="{FF2B5EF4-FFF2-40B4-BE49-F238E27FC236}">
                <a16:creationId xmlns:a16="http://schemas.microsoft.com/office/drawing/2014/main" id="{D629E642-9FC3-4936-B7E4-4710699CE5DB}"/>
              </a:ext>
            </a:extLst>
          </p:cNvPr>
          <p:cNvSpPr>
            <a:spLocks xmlns:a="http://schemas.openxmlformats.org/drawingml/2006/main" noGrp="1"/>
          </p:cNvSpPr>
          <p:nvPr/>
        </p:nvSpPr>
        <p:spPr>
          <a:xfrm xmlns:a="http://schemas.openxmlformats.org/drawingml/2006/main">
            <a:off x="914400" y="2331720"/>
            <a:ext cx="64922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D9A441"/>
                </a:solidFill>
                <a:latin typeface="Calibri"/>
                <a:ea typeface="Calibri"/>
                <a:cs typeface="Calibri"/>
              </a:rPr>
              <a:t>Bugün öğrendik:  </a:t>
            </a:r>
            <a:endParaRPr sz="1550"/>
          </a:p>
          <a:p xmlns:a="http://schemas.openxmlformats.org/drawingml/2006/main">
            <a:pPr marL="0" indent="0">
              <a:buNone/>
            </a:pPr>
            <a:r>
              <a:rPr sz="1550">
                <a:solidFill>
                  <a:srgbClr val="FFFFFF"/>
                </a:solidFill>
                <a:latin typeface="Calibri"/>
                <a:ea typeface="Calibri"/>
                <a:cs typeface="Calibri"/>
              </a:rPr>
              <a:t>Öznellik-nesnellik, karşılaştırma, değerlendirme, kesin yargı/varsayım ve sebep-sonuç/koşul-amaç kavramlarını gerçek ÖSYM sorularıyla gördük. Cümlede Anlam konusuna sağlam bir temelle başladık.</a:t>
            </a:r>
            <a:endParaRPr sz="1550"/>
          </a:p>
        </p:txBody>
      </p:sp>
      <p:sp>
        <p:nvSpPr>
          <p:cNvPr id="9" name="Shape 6">
            <a:extLst xmlns:a="http://schemas.openxmlformats.org/drawingml/2006/main">
              <a:ext uri="{FF2B5EF4-FFF2-40B4-BE49-F238E27FC236}">
                <a16:creationId xmlns:a16="http://schemas.microsoft.com/office/drawing/2014/main" id="{5C5B69D3-1CEF-40AE-B2A3-E60ABD43CD39}"/>
              </a:ext>
            </a:extLst>
          </p:cNvPr>
          <p:cNvSpPr>
            <a:spLocks xmlns:a="http://schemas.openxmlformats.org/drawingml/2006/main" noGrp="1"/>
          </p:cNvSpPr>
          <p:nvPr/>
        </p:nvSpPr>
        <p:spPr>
          <a:xfrm xmlns:a="http://schemas.openxmlformats.org/drawingml/2006/main">
            <a:off x="640080" y="4160520"/>
            <a:ext cx="7040880" cy="1051560"/>
          </a:xfrm>
          <a:prstGeom xmlns:a="http://schemas.openxmlformats.org/drawingml/2006/main" prst="roundRect">
            <a:avLst>
              <a:gd name="adj" fmla="val 10435"/>
            </a:avLst>
          </a:prstGeom>
          <a:solidFill xmlns:a="http://schemas.openxmlformats.org/drawingml/2006/main">
            <a:srgbClr val="D9A441"/>
          </a:solidFill>
        </p:spPr>
      </p:sp>
      <p:sp>
        <p:nvSpPr>
          <p:cNvPr id="10" name="Text 7">
            <a:extLst xmlns:a="http://schemas.openxmlformats.org/drawingml/2006/main">
              <a:ext uri="{FF2B5EF4-FFF2-40B4-BE49-F238E27FC236}">
                <a16:creationId xmlns:a16="http://schemas.microsoft.com/office/drawing/2014/main" id="{B1718781-3DBF-4CD6-BD28-286FB07860D5}"/>
              </a:ext>
            </a:extLst>
          </p:cNvPr>
          <p:cNvSpPr>
            <a:spLocks xmlns:a="http://schemas.openxmlformats.org/drawingml/2006/main" noGrp="1"/>
          </p:cNvSpPr>
          <p:nvPr/>
        </p:nvSpPr>
        <p:spPr>
          <a:xfrm xmlns:a="http://schemas.openxmlformats.org/drawingml/2006/main">
            <a:off x="914400" y="4315968"/>
            <a:ext cx="5943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200">
                <a:solidFill>
                  <a:srgbClr val="142A44"/>
                </a:solidFill>
                <a:latin typeface="Calibri"/>
                <a:ea typeface="Calibri"/>
                <a:cs typeface="Calibri"/>
              </a:rPr>
              <a:t>SIRADAKİ DERS</a:t>
            </a:r>
            <a:endParaRPr sz="1600"/>
          </a:p>
        </p:txBody>
      </p:sp>
      <p:sp>
        <p:nvSpPr>
          <p:cNvPr id="11" name="Text 8">
            <a:extLst xmlns:a="http://schemas.openxmlformats.org/drawingml/2006/main">
              <a:ext uri="{FF2B5EF4-FFF2-40B4-BE49-F238E27FC236}">
                <a16:creationId xmlns:a16="http://schemas.microsoft.com/office/drawing/2014/main" id="{92827116-521F-42A5-975B-47A9BDA25B3A}"/>
              </a:ext>
            </a:extLst>
          </p:cNvPr>
          <p:cNvSpPr>
            <a:spLocks xmlns:a="http://schemas.openxmlformats.org/drawingml/2006/main" noGrp="1"/>
          </p:cNvSpPr>
          <p:nvPr/>
        </p:nvSpPr>
        <p:spPr>
          <a:xfrm xmlns:a="http://schemas.openxmlformats.org/drawingml/2006/main">
            <a:off x="914400" y="4590288"/>
            <a:ext cx="6309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42A44"/>
                </a:solidFill>
                <a:latin typeface="Cambria"/>
                <a:ea typeface="Cambria"/>
                <a:cs typeface="Cambria"/>
              </a:rPr>
              <a:t>Anlamca Eşdeğer Cümle Bulma (Ders 2/4)  →</a:t>
            </a:r>
            <a:endParaRPr sz="2100"/>
          </a:p>
        </p:txBody>
      </p:sp>
      <p:sp>
        <p:nvSpPr>
          <p:cNvPr id="12" name="Text 9">
            <a:extLst xmlns:a="http://schemas.openxmlformats.org/drawingml/2006/main">
              <a:ext uri="{FF2B5EF4-FFF2-40B4-BE49-F238E27FC236}">
                <a16:creationId xmlns:a16="http://schemas.microsoft.com/office/drawing/2014/main" id="{1BE35EC8-2C61-4BDE-BD7F-6CD7FF026E97}"/>
              </a:ext>
            </a:extLst>
          </p:cNvPr>
          <p:cNvSpPr>
            <a:spLocks xmlns:a="http://schemas.openxmlformats.org/drawingml/2006/main" noGrp="1"/>
          </p:cNvSpPr>
          <p:nvPr/>
        </p:nvSpPr>
        <p:spPr>
          <a:xfrm xmlns:a="http://schemas.openxmlformats.org/drawingml/2006/main">
            <a:off x="640080" y="6309360"/>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E8CB0"/>
                </a:solidFill>
                <a:latin typeface="Calibri"/>
                <a:ea typeface="Calibri"/>
                <a:cs typeface="Calibri"/>
              </a:rPr>
              <a:t>TYT Türkçe Ders Anlatım Projesi  ·  Sedat GÜLER ve Claude Opus 5 tarafından üretilmiştir.</a:t>
            </a:r>
            <a:endParaRPr sz="1000"/>
          </a:p>
        </p:txBody>
      </p:sp>
    </p:spTree>
    <p:extLst>
      <p:ext uri="{BB962C8B-B14F-4D97-AF65-F5344CB8AC3E}">
        <p14:creationId xmlns:p14="http://schemas.microsoft.com/office/powerpoint/2010/main" val="92418736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2026-09-22T08:02:55.7520000Z</dcterms:created>
  <dcterms:modified xsi:type="dcterms:W3CDTF">2026-09-22T08:02:55.7520000Z</dcterms:modified>
</coreProperties>
</file>