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51b857de3445ab" /><Relationship Type="http://schemas.openxmlformats.org/officeDocument/2006/relationships/extended-properties" Target="/docProps/app.xml" Id="R9b882b34946a4c94" /><Relationship Type="http://schemas.openxmlformats.org/officeDocument/2006/relationships/officeDocument" Target="/ppt/presentation.xml" Id="R369eb9acfa9c43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d380eab08f4332"/>
  </p:sldMasterIdLst>
  <p:notesMasterIdLst>
    <p:notesMasterId xmlns:r="http://schemas.openxmlformats.org/officeDocument/2006/relationships" r:id="R24ef0fc38e214964"/>
  </p:notesMasterIdLst>
  <p:sldIdLst>
    <p:sldId xmlns:r="http://schemas.openxmlformats.org/officeDocument/2006/relationships" id="256" r:id="R338b5f5f2de344b4"/>
    <p:sldId xmlns:r="http://schemas.openxmlformats.org/officeDocument/2006/relationships" id="257" r:id="R34aa77f961b04db3"/>
    <p:sldId xmlns:r="http://schemas.openxmlformats.org/officeDocument/2006/relationships" id="258" r:id="R1722c56f82a54814"/>
    <p:sldId xmlns:r="http://schemas.openxmlformats.org/officeDocument/2006/relationships" id="259" r:id="Ra7b9743723934a3b"/>
    <p:sldId xmlns:r="http://schemas.openxmlformats.org/officeDocument/2006/relationships" id="260" r:id="R0ebb56e4a3ff49d7"/>
    <p:sldId xmlns:r="http://schemas.openxmlformats.org/officeDocument/2006/relationships" id="261" r:id="R53689dc0f49c4920"/>
    <p:sldId xmlns:r="http://schemas.openxmlformats.org/officeDocument/2006/relationships" id="262" r:id="R815199d3a7244632"/>
    <p:sldId xmlns:r="http://schemas.openxmlformats.org/officeDocument/2006/relationships" id="263" r:id="R728567e906fc4160"/>
    <p:sldId xmlns:r="http://schemas.openxmlformats.org/officeDocument/2006/relationships" id="264" r:id="R007245b232ec4834"/>
    <p:sldId xmlns:r="http://schemas.openxmlformats.org/officeDocument/2006/relationships" id="265" r:id="R3471c1c09a5a4160"/>
    <p:sldId xmlns:r="http://schemas.openxmlformats.org/officeDocument/2006/relationships" id="266" r:id="R8da880ef5b454c5d"/>
    <p:sldId xmlns:r="http://schemas.openxmlformats.org/officeDocument/2006/relationships" id="267" r:id="Rbd3233b1c54c434d"/>
    <p:sldId xmlns:r="http://schemas.openxmlformats.org/officeDocument/2006/relationships" id="268" r:id="Rad7b4ede68c14db4"/>
    <p:sldId xmlns:r="http://schemas.openxmlformats.org/officeDocument/2006/relationships" id="269" r:id="Ref54f04be6034288"/>
    <p:sldId xmlns:r="http://schemas.openxmlformats.org/officeDocument/2006/relationships" id="270" r:id="R9f79fc8038c14540"/>
    <p:sldId xmlns:r="http://schemas.openxmlformats.org/officeDocument/2006/relationships" id="271" r:id="Rb47266ac3f714889"/>
    <p:sldId xmlns:r="http://schemas.openxmlformats.org/officeDocument/2006/relationships" id="272" r:id="R876f9751f0b945c7"/>
    <p:sldId xmlns:r="http://schemas.openxmlformats.org/officeDocument/2006/relationships" id="273" r:id="R2636a22a9f9645cc"/>
    <p:sldId xmlns:r="http://schemas.openxmlformats.org/officeDocument/2006/relationships" id="274" r:id="R11a8abb4f84c436d"/>
    <p:sldId xmlns:r="http://schemas.openxmlformats.org/officeDocument/2006/relationships" id="275" r:id="R4def504c11b64de3"/>
    <p:sldId xmlns:r="http://schemas.openxmlformats.org/officeDocument/2006/relationships" id="276" r:id="R6713f6bd551e4ab6"/>
    <p:sldId xmlns:r="http://schemas.openxmlformats.org/officeDocument/2006/relationships" id="277" r:id="R8133e137c55c4563"/>
    <p:sldId xmlns:r="http://schemas.openxmlformats.org/officeDocument/2006/relationships" id="278" r:id="Rd4492bd741194c2d"/>
    <p:sldId xmlns:r="http://schemas.openxmlformats.org/officeDocument/2006/relationships" id="279" r:id="R763f17e9ccea42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97351edd8d44ec" /><Relationship Type="http://schemas.openxmlformats.org/officeDocument/2006/relationships/slideMaster" Target="/ppt/slideMasters/slideMaster1.xml" Id="R27d380eab08f4332" /><Relationship Type="http://schemas.openxmlformats.org/officeDocument/2006/relationships/notesMaster" Target="/ppt/notesMasters/notesMaster1.xml" Id="R24ef0fc38e214964" /><Relationship Type="http://schemas.openxmlformats.org/officeDocument/2006/relationships/presProps" Target="/ppt/presProps.xml" Id="R3afbe510f0af43d4" /><Relationship Type="http://schemas.openxmlformats.org/officeDocument/2006/relationships/viewProps" Target="/ppt/viewProps.xml" Id="R8e4f6954b2534852" /><Relationship Type="http://schemas.openxmlformats.org/officeDocument/2006/relationships/tableStyles" Target="/ppt/tableStyles.xml" Id="Ree41ab14cce24b1a" /><Relationship Type="http://schemas.openxmlformats.org/officeDocument/2006/relationships/slide" Target="/ppt/slides/slide1.xml" Id="R338b5f5f2de344b4" /><Relationship Type="http://schemas.openxmlformats.org/officeDocument/2006/relationships/slide" Target="/ppt/slides/slide2.xml" Id="R34aa77f961b04db3" /><Relationship Type="http://schemas.openxmlformats.org/officeDocument/2006/relationships/slide" Target="/ppt/slides/slide3.xml" Id="R1722c56f82a54814" /><Relationship Type="http://schemas.openxmlformats.org/officeDocument/2006/relationships/slide" Target="/ppt/slides/slide4.xml" Id="Ra7b9743723934a3b" /><Relationship Type="http://schemas.openxmlformats.org/officeDocument/2006/relationships/slide" Target="/ppt/slides/slide5.xml" Id="R0ebb56e4a3ff49d7" /><Relationship Type="http://schemas.openxmlformats.org/officeDocument/2006/relationships/slide" Target="/ppt/slides/slide6.xml" Id="R53689dc0f49c4920" /><Relationship Type="http://schemas.openxmlformats.org/officeDocument/2006/relationships/slide" Target="/ppt/slides/slide7.xml" Id="R815199d3a7244632" /><Relationship Type="http://schemas.openxmlformats.org/officeDocument/2006/relationships/slide" Target="/ppt/slides/slide8.xml" Id="R728567e906fc4160" /><Relationship Type="http://schemas.openxmlformats.org/officeDocument/2006/relationships/slide" Target="/ppt/slides/slide9.xml" Id="R007245b232ec4834" /><Relationship Type="http://schemas.openxmlformats.org/officeDocument/2006/relationships/slide" Target="/ppt/slides/slide10.xml" Id="R3471c1c09a5a4160" /><Relationship Type="http://schemas.openxmlformats.org/officeDocument/2006/relationships/slide" Target="/ppt/slides/slide11.xml" Id="R8da880ef5b454c5d" /><Relationship Type="http://schemas.openxmlformats.org/officeDocument/2006/relationships/slide" Target="/ppt/slides/slide12.xml" Id="Rbd3233b1c54c434d" /><Relationship Type="http://schemas.openxmlformats.org/officeDocument/2006/relationships/slide" Target="/ppt/slides/slide13.xml" Id="Rad7b4ede68c14db4" /><Relationship Type="http://schemas.openxmlformats.org/officeDocument/2006/relationships/slide" Target="/ppt/slides/slide14.xml" Id="Ref54f04be6034288" /><Relationship Type="http://schemas.openxmlformats.org/officeDocument/2006/relationships/slide" Target="/ppt/slides/slide15.xml" Id="R9f79fc8038c14540" /><Relationship Type="http://schemas.openxmlformats.org/officeDocument/2006/relationships/slide" Target="/ppt/slides/slide16.xml" Id="Rb47266ac3f714889" /><Relationship Type="http://schemas.openxmlformats.org/officeDocument/2006/relationships/slide" Target="/ppt/slides/slide17.xml" Id="R876f9751f0b945c7" /><Relationship Type="http://schemas.openxmlformats.org/officeDocument/2006/relationships/slide" Target="/ppt/slides/slide18.xml" Id="R2636a22a9f9645cc" /><Relationship Type="http://schemas.openxmlformats.org/officeDocument/2006/relationships/slide" Target="/ppt/slides/slide19.xml" Id="R11a8abb4f84c436d" /><Relationship Type="http://schemas.openxmlformats.org/officeDocument/2006/relationships/slide" Target="/ppt/slides/slide20.xml" Id="R4def504c11b64de3" /><Relationship Type="http://schemas.openxmlformats.org/officeDocument/2006/relationships/slide" Target="/ppt/slides/slide21.xml" Id="R6713f6bd551e4ab6" /><Relationship Type="http://schemas.openxmlformats.org/officeDocument/2006/relationships/slide" Target="/ppt/slides/slide22.xml" Id="R8133e137c55c4563" /><Relationship Type="http://schemas.openxmlformats.org/officeDocument/2006/relationships/slide" Target="/ppt/slides/slide23.xml" Id="Rd4492bd741194c2d" /><Relationship Type="http://schemas.openxmlformats.org/officeDocument/2006/relationships/slide" Target="/ppt/slides/slide24.xml" Id="R763f17e9ccea42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0cb9cb8b124f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df3c3586d4f70" /><Relationship Type="http://schemas.openxmlformats.org/officeDocument/2006/relationships/notesMaster" Target="/ppt/notesMasters/notesMaster1.xml" Id="R071f72c0c4194f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81b7c308ea4bc1" /><Relationship Type="http://schemas.openxmlformats.org/officeDocument/2006/relationships/notesMaster" Target="/ppt/notesMasters/notesMaster1.xml" Id="R3ea200dd45224c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571dea78f643e6" /><Relationship Type="http://schemas.openxmlformats.org/officeDocument/2006/relationships/notesMaster" Target="/ppt/notesMasters/notesMaster1.xml" Id="R088a8449f8d64a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63786d000145f9" /><Relationship Type="http://schemas.openxmlformats.org/officeDocument/2006/relationships/notesMaster" Target="/ppt/notesMasters/notesMaster1.xml" Id="R5031cf253af242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51cd0ed57e4ec6" /><Relationship Type="http://schemas.openxmlformats.org/officeDocument/2006/relationships/notesMaster" Target="/ppt/notesMasters/notesMaster1.xml" Id="R4e00a07403f141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70a34de1044a4f" /><Relationship Type="http://schemas.openxmlformats.org/officeDocument/2006/relationships/notesMaster" Target="/ppt/notesMasters/notesMaster1.xml" Id="R5b93f4f490554b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0318c3e5794b7b" /><Relationship Type="http://schemas.openxmlformats.org/officeDocument/2006/relationships/notesMaster" Target="/ppt/notesMasters/notesMaster1.xml" Id="R40ad040669ce44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f792de09814b04" /><Relationship Type="http://schemas.openxmlformats.org/officeDocument/2006/relationships/notesMaster" Target="/ppt/notesMasters/notesMaster1.xml" Id="R2c84ca7b3b4143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334f4963244bd6" /><Relationship Type="http://schemas.openxmlformats.org/officeDocument/2006/relationships/notesMaster" Target="/ppt/notesMasters/notesMaster1.xml" Id="R4ddd6172949f4c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eeca2caf5946dc" /><Relationship Type="http://schemas.openxmlformats.org/officeDocument/2006/relationships/notesMaster" Target="/ppt/notesMasters/notesMaster1.xml" Id="Rfc5f25278c9c45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f453d07455426c" /><Relationship Type="http://schemas.openxmlformats.org/officeDocument/2006/relationships/notesMaster" Target="/ppt/notesMasters/notesMaster1.xml" Id="R6843bffd61f644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ca9ed88dd44a51" /><Relationship Type="http://schemas.openxmlformats.org/officeDocument/2006/relationships/notesMaster" Target="/ppt/notesMasters/notesMaster1.xml" Id="R7291848075704d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ac13d285e34b5c" /><Relationship Type="http://schemas.openxmlformats.org/officeDocument/2006/relationships/notesMaster" Target="/ppt/notesMasters/notesMaster1.xml" Id="R6c122dcf896942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a073b8aa6643f5" /><Relationship Type="http://schemas.openxmlformats.org/officeDocument/2006/relationships/notesMaster" Target="/ppt/notesMasters/notesMaster1.xml" Id="R1465ec3d1ea34e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f12694b9954edf" /><Relationship Type="http://schemas.openxmlformats.org/officeDocument/2006/relationships/notesMaster" Target="/ppt/notesMasters/notesMaster1.xml" Id="R1017e1ce46784c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9fbd9df8774ca3" /><Relationship Type="http://schemas.openxmlformats.org/officeDocument/2006/relationships/notesMaster" Target="/ppt/notesMasters/notesMaster1.xml" Id="Rc9b8a54a307442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8bf1f2de3f49ee" /><Relationship Type="http://schemas.openxmlformats.org/officeDocument/2006/relationships/notesMaster" Target="/ppt/notesMasters/notesMaster1.xml" Id="R96661fb8856944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d64b769200438e" /><Relationship Type="http://schemas.openxmlformats.org/officeDocument/2006/relationships/notesMaster" Target="/ppt/notesMasters/notesMaster1.xml" Id="R6d1cec4fe3fd47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0cd96f85904c90" /><Relationship Type="http://schemas.openxmlformats.org/officeDocument/2006/relationships/notesMaster" Target="/ppt/notesMasters/notesMaster1.xml" Id="R7f0253140c2f4b5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60161af38a46b0" /><Relationship Type="http://schemas.openxmlformats.org/officeDocument/2006/relationships/notesMaster" Target="/ppt/notesMasters/notesMaster1.xml" Id="Rda42250917f94a6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e528ef246a4f2a" /><Relationship Type="http://schemas.openxmlformats.org/officeDocument/2006/relationships/notesMaster" Target="/ppt/notesMasters/notesMaster1.xml" Id="R5b56a9f8ed2f4f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a670a57b5f4473" /><Relationship Type="http://schemas.openxmlformats.org/officeDocument/2006/relationships/notesMaster" Target="/ppt/notesMasters/notesMaster1.xml" Id="Rd228a00486ab4eb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13e90279f749cf" /><Relationship Type="http://schemas.openxmlformats.org/officeDocument/2006/relationships/notesMaster" Target="/ppt/notesMasters/notesMaster1.xml" Id="Rd74b98aa63614d5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12c55cc6c44a16" /><Relationship Type="http://schemas.openxmlformats.org/officeDocument/2006/relationships/notesMaster" Target="/ppt/notesMasters/notesMaster1.xml" Id="R5a5818b77f12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28840212c4b6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d699aab89d494d" /><Relationship Type="http://schemas.openxmlformats.org/officeDocument/2006/relationships/slideLayout" Target="/ppt/slideLayouts/slideLayout1.xml" Id="Rf64341ec0d3244b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4341ec0d3244b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867de62074547" /><Relationship Type="http://schemas.openxmlformats.org/officeDocument/2006/relationships/image" Target="/ppt/media/image.png" Id="Rab7b6040662040d5" /><Relationship Type="http://schemas.openxmlformats.org/officeDocument/2006/relationships/image" Target="/ppt/media/image2.png" Id="R8db31d4ec94b483f" /><Relationship Type="http://schemas.openxmlformats.org/officeDocument/2006/relationships/notesSlide" Target="/ppt/notesSlides/notesSlide1.xml" Id="R36280d0b0900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24b92168b435f" /><Relationship Type="http://schemas.openxmlformats.org/officeDocument/2006/relationships/image" Target="/ppt/media/image3.png" Id="R5f39988b39994fdf" /><Relationship Type="http://schemas.openxmlformats.org/officeDocument/2006/relationships/notesSlide" Target="/ppt/notesSlides/notesSlide2.xml" Id="R03bab5cdf7ea43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a22605c044489" /><Relationship Type="http://schemas.openxmlformats.org/officeDocument/2006/relationships/image" Target="/ppt/media/image4.png" Id="R434e78bb493045ff" /><Relationship Type="http://schemas.openxmlformats.org/officeDocument/2006/relationships/notesSlide" Target="/ppt/notesSlides/notesSlide3.xml" Id="R7ce0dc654a3e44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7a3bb39214132" /><Relationship Type="http://schemas.openxmlformats.org/officeDocument/2006/relationships/image" Target="/ppt/media/image5.png" Id="R1f6a0e7566ab491e" /><Relationship Type="http://schemas.openxmlformats.org/officeDocument/2006/relationships/notesSlide" Target="/ppt/notesSlides/notesSlide4.xml" Id="R5475bb16b33d4a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976e452684285" /><Relationship Type="http://schemas.openxmlformats.org/officeDocument/2006/relationships/image" Target="/ppt/media/image6.png" Id="R009a848ec21149af" /><Relationship Type="http://schemas.openxmlformats.org/officeDocument/2006/relationships/notesSlide" Target="/ppt/notesSlides/notesSlide5.xml" Id="Rc843395911a44b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5b13ae3b44089" /><Relationship Type="http://schemas.openxmlformats.org/officeDocument/2006/relationships/image" Target="/ppt/media/image7.png" Id="Rd9eda924d48c42f2" /><Relationship Type="http://schemas.openxmlformats.org/officeDocument/2006/relationships/notesSlide" Target="/ppt/notesSlides/notesSlide6.xml" Id="Rf605c81abbf34c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ca293fb2c4756" /><Relationship Type="http://schemas.openxmlformats.org/officeDocument/2006/relationships/image" Target="/ppt/media/image8.png" Id="R78922299ca464da5" /><Relationship Type="http://schemas.openxmlformats.org/officeDocument/2006/relationships/notesSlide" Target="/ppt/notesSlides/notesSlide7.xml" Id="Rc1307c4b061b46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aa45af1954b86" /><Relationship Type="http://schemas.openxmlformats.org/officeDocument/2006/relationships/image" Target="/ppt/media/image9.png" Id="Rdfb979a164d14c01" /><Relationship Type="http://schemas.openxmlformats.org/officeDocument/2006/relationships/notesSlide" Target="/ppt/notesSlides/notesSlide8.xml" Id="R314d1fccfcb645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0490402844a49" /><Relationship Type="http://schemas.openxmlformats.org/officeDocument/2006/relationships/image" Target="/ppt/media/image10.png" Id="R12852dc426844c44" /><Relationship Type="http://schemas.openxmlformats.org/officeDocument/2006/relationships/notesSlide" Target="/ppt/notesSlides/notesSlide9.xml" Id="Rc94f02c35df442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c3ab75d254989" /><Relationship Type="http://schemas.openxmlformats.org/officeDocument/2006/relationships/image" Target="/ppt/media/image11.png" Id="R27a6ef6feca44e59" /><Relationship Type="http://schemas.openxmlformats.org/officeDocument/2006/relationships/notesSlide" Target="/ppt/notesSlides/notesSlide10.xml" Id="Rc9c0484fec5448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de90f6ce34c20" /><Relationship Type="http://schemas.openxmlformats.org/officeDocument/2006/relationships/image" Target="/ppt/media/image12.png" Id="R36e510128f994e0f" /><Relationship Type="http://schemas.openxmlformats.org/officeDocument/2006/relationships/notesSlide" Target="/ppt/notesSlides/notesSlide11.xml" Id="Ra0510adb29cf49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7d43f5a3d4525" /><Relationship Type="http://schemas.openxmlformats.org/officeDocument/2006/relationships/image" Target="/ppt/media/image13.png" Id="R5d1fbf6828814a2e" /><Relationship Type="http://schemas.openxmlformats.org/officeDocument/2006/relationships/notesSlide" Target="/ppt/notesSlides/notesSlide12.xml" Id="R39c3dc9e850e42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e9a574f9d4820" /><Relationship Type="http://schemas.openxmlformats.org/officeDocument/2006/relationships/image" Target="/ppt/media/image14.png" Id="R62ece2de7fcb4a56" /><Relationship Type="http://schemas.openxmlformats.org/officeDocument/2006/relationships/notesSlide" Target="/ppt/notesSlides/notesSlide13.xml" Id="R1542c24e310d43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5ee4a2e92442c" /><Relationship Type="http://schemas.openxmlformats.org/officeDocument/2006/relationships/image" Target="/ppt/media/image15.png" Id="R3645a0f36b424b9b" /><Relationship Type="http://schemas.openxmlformats.org/officeDocument/2006/relationships/notesSlide" Target="/ppt/notesSlides/notesSlide14.xml" Id="R569a03353d1e4f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b95b8590c42aa" /><Relationship Type="http://schemas.openxmlformats.org/officeDocument/2006/relationships/image" Target="/ppt/media/image16.png" Id="R3c06c2f023274157" /><Relationship Type="http://schemas.openxmlformats.org/officeDocument/2006/relationships/notesSlide" Target="/ppt/notesSlides/notesSlide15.xml" Id="R14c7dcaba50b4a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402c6a6074f97" /><Relationship Type="http://schemas.openxmlformats.org/officeDocument/2006/relationships/image" Target="/ppt/media/image16.png" Id="R1f725cf13c98489c" /><Relationship Type="http://schemas.openxmlformats.org/officeDocument/2006/relationships/notesSlide" Target="/ppt/notesSlides/notesSlide16.xml" Id="Re12f6bef5baf42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d5a53d02544c5" /><Relationship Type="http://schemas.openxmlformats.org/officeDocument/2006/relationships/image" Target="/ppt/media/image17.png" Id="R05cd05ee8b6b404e" /><Relationship Type="http://schemas.openxmlformats.org/officeDocument/2006/relationships/notesSlide" Target="/ppt/notesSlides/notesSlide17.xml" Id="Rf939e635415541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c3001aa794cca" /><Relationship Type="http://schemas.openxmlformats.org/officeDocument/2006/relationships/image" Target="/ppt/media/image17.png" Id="Ra20dfa5b8588413c" /><Relationship Type="http://schemas.openxmlformats.org/officeDocument/2006/relationships/notesSlide" Target="/ppt/notesSlides/notesSlide18.xml" Id="Rd6b8c638fbd942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ce4718a604589" /><Relationship Type="http://schemas.openxmlformats.org/officeDocument/2006/relationships/image" Target="/ppt/media/image18.png" Id="R58a007d3dd464158" /><Relationship Type="http://schemas.openxmlformats.org/officeDocument/2006/relationships/notesSlide" Target="/ppt/notesSlides/notesSlide19.xml" Id="R9903c4552c6645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e30ef71ae4330" /><Relationship Type="http://schemas.openxmlformats.org/officeDocument/2006/relationships/image" Target="/ppt/media/image18.png" Id="Ra19742f647c1452d" /><Relationship Type="http://schemas.openxmlformats.org/officeDocument/2006/relationships/notesSlide" Target="/ppt/notesSlides/notesSlide20.xml" Id="R1de734a5dd924e1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718a7e041462b" /><Relationship Type="http://schemas.openxmlformats.org/officeDocument/2006/relationships/image" Target="/ppt/media/image19.png" Id="R8b58cdd65fdc462f" /><Relationship Type="http://schemas.openxmlformats.org/officeDocument/2006/relationships/notesSlide" Target="/ppt/notesSlides/notesSlide21.xml" Id="Raa0944308aa84f8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b254d23fd4f09" /><Relationship Type="http://schemas.openxmlformats.org/officeDocument/2006/relationships/image" Target="/ppt/media/image20.png" Id="R1a0db8f93bd74f9a" /><Relationship Type="http://schemas.openxmlformats.org/officeDocument/2006/relationships/notesSlide" Target="/ppt/notesSlides/notesSlide22.xml" Id="R27fbec820ca04a0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d98d5bb2a4346" /><Relationship Type="http://schemas.openxmlformats.org/officeDocument/2006/relationships/image" Target="/ppt/media/image21.png" Id="R1256a8c4a289411a" /><Relationship Type="http://schemas.openxmlformats.org/officeDocument/2006/relationships/notesSlide" Target="/ppt/notesSlides/notesSlide23.xml" Id="R9003dc0a738f4b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6f9fbf53c4ceb" /><Relationship Type="http://schemas.openxmlformats.org/officeDocument/2006/relationships/image" Target="/ppt/media/image22.png" Id="Rfacab42df20e4d6b" /><Relationship Type="http://schemas.openxmlformats.org/officeDocument/2006/relationships/notesSlide" Target="/ppt/notesSlides/notesSlide24.xml" Id="Rd6862fbd3f944c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9D0586-3335-4F01-84B7-1464C83F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0"/>
            <a:ext cx="432511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4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99715B-E980-441D-8E27-4411D5E7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601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SÖZCÜKTE YAPI · DERS 4/6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A95B2C3-2EF1-4108-B508-85FBB5CD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69494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Basit / Türemiş Sözcük</a:t>
            </a:r>
            <a:endParaRPr sz="4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04AB8B7-1DA4-4230-AB71-9E3E45B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Sözcükte Yapım Eki Var mı, Yok mu?</a:t>
            </a:r>
            <a:endParaRPr sz="2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4DBC77A-4133-413A-BB32-5037B779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247802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A44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A65D10C-2EB8-45B6-BE12-CF93FA4D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2478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 dk · </a:t>
            </a: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Blokta</a:t>
            </a: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2 föy</a:t>
            </a:r>
            <a:endParaRPr sz="17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4AF092A-D7A5-4B64-B549-7B38063E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3429000"/>
            <a:ext cx="3095244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A44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889BC84-3ADD-47EF-98C9-8A11B28C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3429000"/>
            <a:ext cx="30952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Dil Bilgisi · Hafta 3</a:t>
            </a:r>
            <a:endParaRPr sz="17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8BBF1AE-5F44-4420-AD79-B9E07510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b6040662040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664" y="4306824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B658271-7C5C-4862-B287-F762B7A6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062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Sedat GÜLER ve Claude Opus 5  ·  TYT Türkçe Ders Anlatım Serisi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1601163-ADD7-4DCB-9E8A-8C002FBA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554480"/>
            <a:ext cx="274320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42A44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FB46F30-189A-4F46-A365-25FA8EE0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554480"/>
            <a:ext cx="2743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</a:t>
            </a:r>
            <a:endParaRPr sz="21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602FB1A-FB5B-4076-8233-EFB8B814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331720"/>
            <a:ext cx="2743200" cy="288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yapım eki yok → BASİT</a:t>
            </a:r>
            <a:endParaRPr sz="16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4D89F68-621C-4003-BE68-C9320E5D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880360"/>
            <a:ext cx="27432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07BF985-7CC9-4AC3-B6F3-353CB1F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880360"/>
            <a:ext cx="2743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5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kalem + lik</a:t>
            </a:r>
            <a:endParaRPr sz="17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2CF6F94-4591-4EB4-9708-7D417F0C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45643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↓  yapım eki eklendi</a:t>
            </a:r>
            <a:endParaRPr sz="15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6248B51-94AA-4827-B5BC-45A4D0D7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40480"/>
            <a:ext cx="329184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985E6EC-FB98-45A3-8CFF-C9419B8E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40480"/>
            <a:ext cx="32918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KALEMLİK</a:t>
            </a:r>
            <a:endParaRPr sz="2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3F6B826-078D-425B-A60B-854CD67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63440"/>
            <a:ext cx="3291840" cy="288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yeni sözcük → TÜREMİŞ</a:t>
            </a:r>
            <a:endParaRPr sz="16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9160B30-A315-4CEA-AA86-D4403533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212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4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31d4ec94b48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806" y="5397246"/>
            <a:ext cx="452628" cy="4526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00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1FC6E1-7E9B-4E24-A555-6C614157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9988b39994f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61CF434-B5C2-43B8-97B0-5D5EBACE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KAZANIM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414AA17-4535-471A-B598-FD7BEA89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Bugün Ne Öğreneceğiz?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6314876-7910-4470-B36E-55BAF079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632BE7B-929E-4A30-8D20-E7BA9D73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98929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87956A8-F42E-4D25-96D7-4D6208B9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98929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9FD6492-D9D3-4FB7-9B5D-49547291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28800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Basit sözcüğün (hiç yapım eki almamış) ve türemiş sözcüğün (en az bir yapım eki almış) tanımını öğrenecek.</a:t>
            </a:r>
            <a:endParaRPr sz="21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A21ECF-0998-48FF-B178-38B680DE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20111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72F95DB-0A4E-4DE0-AA22-CA2D4233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9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0E15913-3186-40F4-9EFD-1F49683D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9024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1103A84-5DD3-4680-9E6A-DF5A7DAE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20111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 sözcüğü basit mi türemiş mi olduğuna karar verirken izlenecek adım adım yöntemi uygulayacak.</a:t>
            </a:r>
            <a:endParaRPr sz="2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9C59262-19BD-4EA5-8184-E93D7C9F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11422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2D7F3A2-97AC-4A01-8FEF-5F9A44DD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81551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F5177AC-A351-453D-9120-8397BDD7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81551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797FEDB-3B88-4A99-9974-BCA68537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1422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"Çok ek almak" ile "türemiş olmak"ın aynı şey olmadığını, ek TÜRÜNÜN (yapım/çekim) belirleyici olduğunu kavrayacak.</a:t>
            </a:r>
            <a:endParaRPr sz="2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BD430C8-9B3B-4783-A103-74B9699B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02732"/>
            <a:ext cx="10881360" cy="104317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822B27B-BDA3-44E5-895A-30AFA28A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72861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D3E3DE2-63FB-4B4F-83EC-245FD590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72861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A6EA4F6-D2B3-4ACB-AD07-275F08CA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02732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TYT tarzı sorularda basit/türemiş ayrımını gerçek ve pekiştirme sorular üzerinde uygulayarak doğru cevaba ulaşabilecek.</a:t>
            </a:r>
            <a:endParaRPr sz="2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1D0B0B2-B5EE-4BCC-A9FF-B3526005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Kazanım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8C2AA46-3B5B-40BD-B248-BC5D2F6F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69395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60846AF-4F6B-4708-A936-A67D39BF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e78bb493045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F94C409-4DD1-4EDE-8547-313B124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BAĞLANTI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73CD603-2813-4788-828E-A250E055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İki Dersin Sentezi: Basit / Türemiş</a:t>
            </a:r>
            <a:endParaRPr sz="27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0EDBF1-ED2C-41AF-9D43-D9578AE0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15341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9F9A866-F61A-4456-95A2-932E6B13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1442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Son iki derste iki tür eki öğrendik: </a:t>
            </a: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yapım eki</a:t>
            </a: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(yeni sözcük türetir) ve </a:t>
            </a: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çekim eki</a:t>
            </a: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(işlerlik kazandırır). Bugün bu ikisini bir araya getirip tek bir soruya cevap veriyoruz: bir sözcükte YAPIM EKİ var mı? Varsa türemiş, yoksa basittir — sıradaki derste bu ikisinin üstüne birleşik sözcük ekleyeceğiz.</a:t>
            </a:r>
            <a:endParaRPr sz="2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B62665D-93B4-4863-B15F-F1C292D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25800"/>
            <a:ext cx="3246120" cy="2315464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7F748A4-019C-467E-8D75-DE9DD28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54400"/>
            <a:ext cx="27889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Yapım + Çekim Eki (geçen iki ders)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74F29D4-F083-4E96-9B20-08AD937C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21480"/>
            <a:ext cx="278892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İki ek türünü ayrı ayrı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tanıdık.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4057267-A70F-4A7A-8BC5-EDC2D0F4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225800"/>
            <a:ext cx="457200" cy="432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→</a:t>
            </a:r>
            <a:endParaRPr sz="24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FF7E120-DAF9-483C-83BA-E3808C1F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25800"/>
            <a:ext cx="3246120" cy="2315464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101600" dist="38100" dir="5400000" sx="100000" sy="100000" kx="0" ky="0" algn="bl" rotWithShape="0">
              <a:srgbClr val="1E2761">
                <a:alpha val="25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D0CD97A-FC8B-43D1-B7BF-623EB72A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54400"/>
            <a:ext cx="27889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Basit / Türemiş (bugün)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12C25B0-588B-4415-B0D5-BDDBEA65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1480"/>
            <a:ext cx="278892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Sözcükte yapım eki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var mı yok mu, ona bakarız.</a:t>
            </a:r>
            <a:endParaRPr sz="2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443DEB8-A63F-45DB-BDD6-33EE0E72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3225800"/>
            <a:ext cx="457200" cy="432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→</a:t>
            </a:r>
            <a:endParaRPr sz="24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102EC21-D2EB-4EE3-B538-DBC275C5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225800"/>
            <a:ext cx="3246120" cy="2333498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3078E05-EFB0-474B-9407-DE9FF1E3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454400"/>
            <a:ext cx="278892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Birleşik Sözcük</a:t>
            </a:r>
            <a:endParaRPr sz="21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4FB71E-6964-452B-A198-7919AEB0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878834"/>
            <a:ext cx="2788920" cy="1543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Sıradaki konu: iki sözcüğün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birleşip yeni sözcük olması.</a:t>
            </a:r>
            <a:endParaRPr sz="2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C7E9BC1-4116-487F-B715-1DE0697F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Bağlantı</a:t>
            </a:r>
            <a:endParaRPr sz="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2583DCC-88B6-407E-B07F-43EE9DA1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54818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AB7258-E4F5-4DCB-B33A-1EC643CD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a0e7566ab49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C445BE5-9E45-45F0-81C3-6F5541DE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HAZIRLIK SORUSU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1E8AB0C-FEA0-4277-8BA0-65150233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Hangisi Yeni Sözcük, Hangisi Değil?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51A92BE-5BE7-4553-8A20-27A56E91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10881360" cy="1082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Geçen iki derste "öğretmen" (kök + yapım eki) ve "öğretmenler/öğretmenimiz" (+ çekim eki) örneklerini gördük. 2 dakika düşünün: aşağıdaki iki sözcükten hangisinde yapım eki VAR, hangisinde YOK?</a:t>
            </a:r>
            <a:endParaRPr sz="2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6A6CD34-1F05-4478-904A-DCF3B4F5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865120"/>
            <a:ext cx="310896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C373C2A-80B3-4797-B9C7-48604373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865120"/>
            <a:ext cx="31089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kalemlerimiz</a:t>
            </a:r>
            <a:endParaRPr sz="2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5A173A0-72B1-4553-A598-1A7C1885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865120"/>
            <a:ext cx="310896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0240B17-6CF4-4F6E-B379-4BA8F24D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865120"/>
            <a:ext cx="31089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öğretmenler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DF24F8E-63FE-4BC8-9080-B268B5C4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91000"/>
            <a:ext cx="10881360" cy="153416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2F547D9-4BDE-4209-9858-BD40173B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0332720" cy="1442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Cevap:  </a:t>
            </a: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"kalemlerimiz" = kalem-ler-imiz — kalem zaten basit bir köktür, eklenenler (çoğul, iyelik) sadece ÇEKİM EKİ; sözcük hâlâ BASİT. "öğretmenler" = öğret-men-ler — "öğret" fiil köküne önce YAPIM EKİ (-men) eklenmiş, sonra çekim eki (-ler); sözcük TÜREMİŞ. İşte bu ayrıma bugün odaklanıyoruz: </a:t>
            </a: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BASİT / TÜREMİŞ SÖZCÜK.</a:t>
            </a:r>
            <a:endParaRPr sz="2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945EA0E-7776-41E1-AF92-5BC0DD07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Hazırlık Sorusu</a:t>
            </a:r>
            <a:endParaRPr sz="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10D2882-53B6-4AF5-91BA-EF3207B2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01956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492A89-368F-4AC4-92A1-FFE66664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a848ec21149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BD77B9A-2326-4CA7-8264-CA2017B3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ANLATIM · 1/3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7B56F78-C0BD-45B3-9A04-358D322D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Sözcük Nedir?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3425228-D2D9-4D07-A80A-5A1E142B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F31FF21-BB63-4028-B5C7-A5FCBE83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Tanım:  </a:t>
            </a: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Hiç yapım eki almamış sözcüktür. Basit sözcük çekim eki alabilir — önemli olan yapım ekinin hiç olmamasıdır.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ED14A2D-8960-4D34-8249-5A65723C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10881360" cy="511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Örnek: "Senin çantanı okulda gördüm." cümlesindeki her sözcük basittir — hiçbiri yapım eki almamıştır, hepsi sadece çekim eki taşır: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58BCE95-1DDE-4F02-8855-7F9F07F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E17FA7A-377A-4EEE-A3C7-A0314BD7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66744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491659E-5943-4475-A82A-888EE344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66744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sen-in</a:t>
            </a:r>
            <a:endParaRPr sz="2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196E21D-3FBD-415E-AD64-794B5994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11880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tamlayan eki (çekim)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580F780-308F-4046-B509-B30DADFA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87952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DD049C2-32FA-475F-9BA4-35253C4D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42816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A0EE842-DD3C-4C28-B282-471C5975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42816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çanta-n-ı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0CAA73-1492-46A3-8205-D52C41ED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87952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iyelik + belirtme eki (çekim)</a:t>
            </a:r>
            <a:endParaRPr sz="2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19D7533-0EDB-40FB-81AB-08FC82A1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64024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D4FD18A-D560-4F43-B48E-E87511C8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18888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45BAB6E-4177-4359-A20D-A21866E9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18888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okul-da</a:t>
            </a:r>
            <a:endParaRPr sz="2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1DF0435-967B-46BD-AC46-C4B23652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764024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bulunma hâl eki (çekim)</a:t>
            </a:r>
            <a:endParaRPr sz="2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CF7F963-19A3-4262-B5F5-C659CDED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0096"/>
            <a:ext cx="108813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945A686-51F2-4EB4-A56B-BE8EC39C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94960"/>
            <a:ext cx="2194560" cy="393192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E80576A-A24B-4894-8A6C-BCB9FFE9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94960"/>
            <a:ext cx="219456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gör-dü-m</a:t>
            </a:r>
            <a:endParaRPr sz="2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AA5D63A-2AE4-4BD9-8EEA-2B7CA336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340096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sadece kip + şahıs eki (çekim)</a:t>
            </a:r>
            <a:endParaRPr sz="21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B1BB46E8-B067-4705-B74A-5324ACF5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1088136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1BED9EC-DD90-4849-830B-E787D353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Kısaca: Basit sözcükte kökten sonra gelen her ek ÇEKİM EKİDİR — hiç yapım eki yoktur.</a:t>
            </a:r>
            <a:endParaRPr sz="18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5313C0D-A380-4064-95A9-BC95D5EA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Anlatım — Basit Sözcük Nedir?</a:t>
            </a:r>
            <a:endParaRPr sz="9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CDAEEBB-9C9A-4BE6-BE95-FF045F8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24565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6734E8F-E977-4985-B0C5-3552CD85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da924d48c42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54A8DD8-288B-46DD-BECC-2746F914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ANLATIM · 2/3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D73AFD-4722-43DA-8929-2D8BE560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Türemiş Sözcük Nedir?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8763F25-2F75-40D5-B0FF-65A8B4E7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7552A-33A9-4E16-A87C-171CEB00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Tanım:  </a:t>
            </a: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 az bir yapım eki almış sözcüktür. Türemiş sözcük, yapım ekinin yanında çekim eki de alabilir.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E99859C-CEBC-4179-BB10-D9D52BF3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10881360" cy="511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Örnek: "Yaşamda zorluklarla karşılaşılır." cümlesindeki her sözcük türemiştir — çünkü her biri en az bir yapım eki taşır: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002F0E7-D481-4712-970A-D72BE157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108813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754514-E82D-4949-9E9F-940F30FC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85032"/>
            <a:ext cx="2743200" cy="509016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A1E7D67-D8EA-4EA3-A2BB-FE0F4BF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85032"/>
            <a:ext cx="2743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yaş-a-m-da</a:t>
            </a:r>
            <a:endParaRPr sz="2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8320B72-1E7C-4187-865A-8CEFB081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11880"/>
            <a:ext cx="7406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yaş (isim kökü) + -a (isimden fiil) + -m (fiilden isim) + -da (çekim)</a:t>
            </a:r>
            <a:endParaRPr sz="1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93E222E-73E0-4CBD-868D-3168D55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70248"/>
            <a:ext cx="108813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DF23C35-621E-4875-9D77-85A9AB98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1792"/>
            <a:ext cx="2743200" cy="509016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25F1D55-7AE3-4D48-9ED1-C18061E6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1792"/>
            <a:ext cx="2743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zor-luk-lar-la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A9E7CDA-CD86-427C-BAF1-6CAA3881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270248"/>
            <a:ext cx="7406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zor (isim kökü) + -luk (isimden isim) + -lar (çekim) + -la (çekim)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0789AB9-F7C5-4F02-8A41-EE68F382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28616"/>
            <a:ext cx="1088136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2C0C603-1689-48AF-92FF-1624B462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78552"/>
            <a:ext cx="2743200" cy="509016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6457667-E9CF-478C-BF6D-CFAADD2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78552"/>
            <a:ext cx="27432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karşı-la-ş-ıl-ır</a:t>
            </a:r>
            <a:endParaRPr sz="2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5B4DAF-2892-47AA-BEED-7003522F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28616"/>
            <a:ext cx="7406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karşı (isim kökü) + -la, -ş, -ıl (üç yapım eki) + -ır (çekim)</a:t>
            </a:r>
            <a:endParaRPr sz="16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4A85044B-08BB-40D6-9A57-EF8BDFE6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10881360" cy="640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255734C-FF51-43AB-A5A0-76D265F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332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Kısaca: Türemiş sözcükte en az BİR yapım eki vardır — kalan ekler çekim eki olabilir ya da hiç olmayabilir.</a:t>
            </a:r>
            <a:endParaRPr sz="17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C41E236-C69F-492D-9897-29967C70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Anlatım — Türemiş Sözcük Nedir?</a:t>
            </a:r>
            <a:endParaRPr sz="9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CFB5C40-1DA7-412F-A7F9-5243CA86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99056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ACDD31-5E3F-4799-8589-FFBE30E9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22299ca464d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7F22E58-8EEE-4721-83AD-C83298C9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ANLATIM · 3/3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7C6F9A7-FF5D-434A-9749-CB8D60CA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Ayırt Etme Yöntemi — Adım Adım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9867AE4-3811-4326-923E-8AFC9344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649CCF1-E201-45EF-B063-297BC19A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2DE247B-DFB1-4F66-906A-D4951512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5B177DE-837D-4803-B913-E7992DC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7360"/>
            <a:ext cx="9692640" cy="369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Sözcüğü köküne kadar ekle­rine ayır</a:t>
            </a:r>
            <a:endParaRPr sz="2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6C07A7C-3A62-4586-9A27-51A9034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52777"/>
            <a:ext cx="969264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Sözcüğü en küçük parçalarına (kök + ekler) böl.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6071BE0-0F53-4503-9D9E-61E2A75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5194"/>
            <a:ext cx="10881360" cy="1319657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750E58F-1826-4CE0-BA28-292D430C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356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666D379-8D76-49B6-B73B-CB0F495C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356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CF8972F-48EE-4B4C-86D9-3871DAC5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6634"/>
            <a:ext cx="9692640" cy="369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Her ekin GÖREVİNE bak</a:t>
            </a:r>
            <a:endParaRPr sz="20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40BB42A-64A8-4FE7-B14A-F339AB2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2051"/>
            <a:ext cx="969264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Ek yeni bir anlam/sözcük mü katıyor (yapım eki) yoksa sadece dilbilgisel görev mi katıyor (çekim eki)?</a:t>
            </a:r>
            <a:endParaRPr sz="20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70D41BA-29B4-49B4-B731-9E60F962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04005"/>
            <a:ext cx="10881360" cy="1319657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453B583-BE28-4BB4-9E65-E42602C6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1237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0AC7885-5405-4415-9A95-478081C5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12374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5D73DEB-C49B-42DF-8758-2A5946EF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5445"/>
            <a:ext cx="9692640" cy="369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Karar ver</a:t>
            </a:r>
            <a:endParaRPr sz="20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23B4337-B533-483C-9650-DF147834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862"/>
            <a:ext cx="969264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 az bir yapım eki varsa TÜREMİŞ; hiç yoksa (sadece çekim ekleri varsa ya da hiç ek yoksa) BASİT.</a:t>
            </a:r>
            <a:endParaRPr sz="20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DCE8C75-C1C7-4F78-8CF0-F9272A10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01970"/>
            <a:ext cx="10881360" cy="830834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A6117DE-A74F-47A9-8EB7-1FD3CE56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1970"/>
            <a:ext cx="10332720" cy="7393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Altın kural: Kaç ek aldığı önemli değildir — TEK bir yapım eki bile sözcüğü türemiş yapar; İSTER 5 çekim eki alsın, yapım eki yoksa sözcük yine basittir.</a:t>
            </a:r>
            <a:endParaRPr sz="20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B6ABDF7-11F0-4376-BBF6-0B4D801C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Anlatım — Ayırt Etme Yöntemi</a:t>
            </a:r>
            <a:endParaRPr sz="9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E1D7BB4-7B79-4FD2-942F-F1C4EA78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306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8E2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FC3FA56-2883-4447-9DD2-75F1DD14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0"/>
            <a:ext cx="40507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B12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C4DB7A4-B471-43FE-A642-7E6F509B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1B12"/>
          </a:solidFill>
        </p:spPr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979a164d14c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7132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26265AC-FF66-4351-99A8-89EEB76E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548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DİKKAT!</a:t>
            </a:r>
            <a:endParaRPr sz="3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2E4E420-3AF5-4159-BBD2-F9B3D3D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515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Çekim Eki Almak, Sözcüğü Türemiş Yapmaz!</a:t>
            </a:r>
            <a:endParaRPr sz="2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7B705C6-B3D3-4270-865C-B8BD9939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53234"/>
            <a:ext cx="10515600" cy="11361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Öğrenciler çok ek gören bir sözcüğü otomatik olarak "türemiş" sanır. Oysa önemli olan ek SAYISI değil, ek TÜRÜDÜR — hiç yapım eki yoksa, kaç çekim eki alırsa alsın sözcük BASİT kalır.</a:t>
            </a:r>
            <a:endParaRPr sz="21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2F56EB8-94B9-42DA-A33C-7E999696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33394"/>
            <a:ext cx="10515600" cy="8763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E1B12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B6FDF0D-DCDB-4BE2-8D01-E047F7AB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394"/>
            <a:ext cx="27432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Balıklarda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F6C598-4480-4743-92B5-8425D3B2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533394"/>
            <a:ext cx="72237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balık-lar-da → "-lar" çoğul, "-da" hâl eki: 2 ek, ama İKİSİ DE ÇEKİM. Sözcük yine BASİTTİR.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FACFAF2-E6D7-45AE-8C68-59E73E23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46854"/>
            <a:ext cx="10515600" cy="8763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E1B12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D01D274-EDAF-4BC7-89F8-EEFD72F0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6854"/>
            <a:ext cx="27432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Masamızda</a:t>
            </a:r>
            <a:endParaRPr sz="2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8722F3B-8357-46A9-8FB9-6AC262F0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546854"/>
            <a:ext cx="72237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masa-mız-da → "-mız" iyelik, "-da" hâl eki: 2 çekim eki. Hâlâ BASİTTİR.</a:t>
            </a:r>
            <a:endParaRPr sz="2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648D831-6986-4EE4-8CC4-EE9073FF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60314"/>
            <a:ext cx="10515600" cy="8763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E1B12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29F5C3F-6345-4F21-BA67-3D36153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0314"/>
            <a:ext cx="27432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Kitaplarımızdan</a:t>
            </a:r>
            <a:endParaRPr sz="2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8B6A47D-0790-4EBE-AEB3-AD3DC6BC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5560314"/>
            <a:ext cx="72237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kitap-lar-ımız-dan → 3 çekim eki üst üste (çoğul+iyelik+hâl) — yine yapım eki YOK, sözcük BASİTTİR.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4850809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8E2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294A25-30D5-43A0-8229-1C7E0F06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0"/>
            <a:ext cx="40507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B12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4A8AFDF-F934-48D9-9450-BA6BEF0A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1B12"/>
          </a:solidFill>
        </p:spPr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52dc426844c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7132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CF4B0EA-8856-4BFB-8C63-915D2839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548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DİKKAT!</a:t>
            </a:r>
            <a:endParaRPr sz="3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EBDB3A2-37F6-4524-BAE8-A66B0214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515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Ters Tuzak: Tek Yapım Eki Bile Türemiş Yapar!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6782426-BC61-41C3-B75B-1FD70E82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772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2046FA6-AB36-42D4-9119-E98D8D63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7728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8E2318"/>
                </a:solidFill>
                <a:latin typeface="Cambria"/>
                <a:ea typeface="Cambria"/>
                <a:cs typeface="Cambria"/>
              </a:rPr>
              <a:t>1</a:t>
            </a:r>
            <a:endParaRPr sz="2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4AFE3C3-75BC-45B3-961E-1FEEF407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53234"/>
            <a:ext cx="969264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"Az ek var, o zaman basittir" yanılgısı.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31D493C-4DE8-4C47-B45F-3E6E92F4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95702"/>
            <a:ext cx="9692640" cy="11090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"tatlı" (tat + -lı) sadece TEK bir yapım eki almıştır — ama bu bile sözcüğü TÜREMİŞ yapmaya yeter. Ek sayısının azlığı basit olduğu anlamına gelmez.</a:t>
            </a:r>
            <a:endParaRPr sz="20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937050-D50B-43EF-8C71-71860F35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84879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865A94D-9802-4032-A9ED-CA6FE208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84879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8E2318"/>
                </a:solidFill>
                <a:latin typeface="Cambria"/>
                <a:ea typeface="Cambria"/>
                <a:cs typeface="Cambria"/>
              </a:rPr>
              <a:t>2</a:t>
            </a:r>
            <a:endParaRPr sz="2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0817F06-0159-4634-8AE4-E35DF7CD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60825"/>
            <a:ext cx="969264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Türemiş sözcük çekim eki alınca "basitleşmez".</a:t>
            </a:r>
            <a:endParaRPr sz="21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F6C11D9-FB1D-4501-92F4-9054577C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03293"/>
            <a:ext cx="969264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F5D6D0"/>
                </a:solidFill>
                <a:latin typeface="Calibri"/>
                <a:ea typeface="Calibri"/>
                <a:cs typeface="Calibri"/>
              </a:rPr>
              <a:t>"tatlım" = tatlı (türemiş) + -m (iyelik çekim eki). Çekim eki eklenmesi kökteki yapım ekini yok saymaz — sözcük hâlâ TÜREMİŞTİR.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123027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F7A0EB-E2CA-4603-8A61-3786F0BE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6ef6feca44e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1018533-A1EB-4CC4-9ECC-41D1E9B5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SINIF ETKINLIĞI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9590EF-CED7-430E-B262-3E4E5D42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mi, Türemiş mi? (3 Dakika)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339835B-4EA4-4FB3-BEAB-2D217C75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Yanınızdaki arkadaşınızla birlikte aşağıdaki 8 sözcüğün BASİT mi TÜREMİŞ mi olduğunu belirleyin. Süre: 3 dakika.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DD58A61-9F43-4C74-B02E-42764485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6255BB9-ECF8-4524-9CD0-B9D19B68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kalemlik</a:t>
            </a:r>
            <a:endParaRPr sz="2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EBDFE87-46C0-45B0-81C6-878002F6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36CDF44-BBE4-4B10-97CA-39A5F94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defterimiz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EBBFABB-D0BD-4085-81E0-4BC16C41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DCB7502-9F08-49FA-A94D-5D0FCDBE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sevgi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6B4F042-A99F-4CDB-A125-3CF9294E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4906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44CB17C-B98A-489A-AC5C-A3C7E07E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44906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sınavlarda</a:t>
            </a:r>
            <a:endParaRPr sz="2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C4472AE-9DE8-42ED-ACB3-C370AA6D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22EAFDA-DA42-445D-A16A-80727D7D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dinlenmek</a:t>
            </a:r>
            <a:endParaRPr sz="2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64EBE58-1534-4070-A9F5-26E0C7A6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D5DD72A-2360-44E0-84EE-4052C2BD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öğrencilerin</a:t>
            </a:r>
            <a:endParaRPr sz="2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95CAF76-68AE-40F9-B1FC-C760B9A0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AF2B0C2-DD21-4C1A-A3B8-E5D014B7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yazılım</a:t>
            </a:r>
            <a:endParaRPr sz="2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37B51C4-7351-4FFF-9324-52FB477C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409188"/>
            <a:ext cx="25146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54B7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4DE18A9-AE27-4198-AF68-AE05A5F6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40918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kitaplarımızdan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1570E48-8F55-447D-A7C9-F1E626CC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60748"/>
            <a:ext cx="10881360" cy="812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B063150-BA2C-4FF1-B5B8-C08048F0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60748"/>
            <a:ext cx="103327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İpucu: Sözcüğü köke kadar soyun; en az bir YAPIM eki bulursanız türemiş, hiç bulamazsanız (sadece çekim ekleri varsa) basittir.</a:t>
            </a:r>
            <a:endParaRPr sz="2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102F11-2F8E-4BED-981B-F2594659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Sınıf Etkinliği</a:t>
            </a:r>
            <a:endParaRPr sz="9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113631DD-84BD-421F-89CB-90CD7051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172144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4AEA89E-2464-4A38-AB1A-EE816514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510128f994e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07C32F2-7294-4598-8E9F-83D90C1C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ETKINLIK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0408C63-57E5-4A60-BB8E-5DE37A7E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Cevap Anahtarı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0FCA0B6-8852-44D1-B63F-19378EB3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4FF479B-890B-47ED-922C-E316C9D1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kalemlik</a:t>
            </a:r>
            <a:endParaRPr sz="2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48C98DD-BD41-4A35-A864-06885B2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5478005-9621-483B-B255-23BD4353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AABBF92-C6CC-479C-A173-C8EFD7D3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kalem + -lik</a:t>
            </a:r>
            <a:endParaRPr sz="16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70EDDCA-E6A8-41C8-9B5E-2F7FF8E7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128EFF9-B6EF-4912-86EC-51DFEFEA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defterimiz</a:t>
            </a:r>
            <a:endParaRPr sz="20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A97C1C2-87BD-4CBD-8DB3-EE3B51A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9689F73-2A66-4E4F-9A55-E65ED853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E1A6490-C847-4B0C-A475-4C0FF357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546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defter + -imiz (çekim)</a:t>
            </a:r>
            <a:endParaRPr sz="16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7E8C13D-5A74-483A-936F-CA9EF74A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F243154-56F0-4D69-8A61-ECE8A13C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sevgi</a:t>
            </a:r>
            <a:endParaRPr sz="2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30BA5FE-01AB-4B0E-846E-BC3283D5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79CEADA-A69E-408A-9C32-9FADEE87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263BA7D-5AEB-419E-842D-78755FC0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546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sev + -gi</a:t>
            </a:r>
            <a:endParaRPr sz="16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891EE8F-3656-45E0-86CC-D9A39FC5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828800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569ED0D-EDD2-4137-9A7A-508BAF18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9659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sınavlarda</a:t>
            </a:r>
            <a:endParaRPr sz="20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2AD9974-6E3C-45AA-A88E-E38FA6A0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77440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5AFC4AD-46E5-401F-8FC2-9006C87E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7744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9C724A7-3EAD-4ACA-8037-38A49F63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54680"/>
            <a:ext cx="2286000" cy="57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sınav + -lar + -da (çekim)</a:t>
            </a:r>
            <a:endParaRPr sz="16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1B32D36-2AF1-40BB-8EB0-C52A6802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C511823-816D-494A-B737-650D7DE1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dinlenmek</a:t>
            </a:r>
            <a:endParaRPr sz="20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92D680FF-4683-4BAE-9729-4FD63E16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B1B2F81-3753-45EF-A00C-3FCDDC1A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FD3C186-9A74-477C-885F-545861ED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6412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dinle + -n + -mek</a:t>
            </a:r>
            <a:endParaRPr sz="16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447794D-A1F1-4111-B40D-E6D5FBA6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4700690D-5609-4258-A987-C118BFB5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öğrencilerin</a:t>
            </a:r>
            <a:endParaRPr sz="2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D02FCBDC-4E89-46BC-874C-56057FB2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B2D27699-23B9-4246-9D91-0B43A5CB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939C54BA-9373-4861-9010-18AD42C9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564124"/>
            <a:ext cx="2286000" cy="57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öğrenci + -ler + -in (çekim)</a:t>
            </a:r>
            <a:endParaRPr sz="16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DA7A7AC2-CE85-4707-9436-D19763A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CE29B8C-E3A0-44EB-8186-7DA40A90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yazılım</a:t>
            </a:r>
            <a:endParaRPr sz="2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77EACF66-E0F3-4D7A-A0E4-6C9C7DF9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6F8F9CD-7559-440B-B9BF-2924D5D3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TÜREMİŞ</a:t>
            </a:r>
            <a:endParaRPr sz="21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2F524E0D-35B4-47E6-A770-77D73F69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56412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yaz + -ıl + -ım</a:t>
            </a:r>
            <a:endParaRPr sz="160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A62B9AFE-BC23-451D-AE21-4145D89F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238244"/>
            <a:ext cx="2560320" cy="21808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4A958CE-4C32-43AD-8FF8-8F253774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3754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kitaplarımızdan</a:t>
            </a:r>
            <a:endParaRPr sz="20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9CB0618-906B-4FF1-861C-C6CDDDD9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86884"/>
            <a:ext cx="22860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2E4C3412-0F57-49A8-BAD8-312A969F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86884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BASİT</a:t>
            </a:r>
            <a:endParaRPr sz="21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FB0B64F8-AC4A-4854-A9EC-A0905934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64124"/>
            <a:ext cx="2286000" cy="57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kitap + -lar+ımız+dan (çekim)</a:t>
            </a:r>
            <a:endParaRPr sz="160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ED593F9C-7318-4857-9469-B612F961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Etkinlik Cevapları</a:t>
            </a:r>
            <a:endParaRPr sz="90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16C7C482-FF09-4258-81DF-295CD460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305745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ABF8A74-A1AD-4C52-943A-11DD6162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fbf6828814a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CC6BE66-BBBB-4085-B220-55ED9488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HIZLI HATIRLATMA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DDE88D-D111-45A0-8445-A82BCE24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Kaldığımız Yer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8BAEE02-5338-401D-920F-65FF02AD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3337560" cy="192709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4E85B7E-774D-4337-945A-53CC8EB4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94560"/>
            <a:ext cx="2880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Sözcük</a:t>
            </a:r>
            <a:endParaRPr sz="2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470A474-6E63-43E9-AFD9-CCF07A6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18994"/>
            <a:ext cx="288036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Hiç yapım eki almamıştır;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çekim eki alabilir.</a:t>
            </a:r>
            <a:endParaRPr sz="2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18C31C0-6ABA-4DAB-8F2F-790C4CA5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65960"/>
            <a:ext cx="333756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37556FA-8FB7-42DB-96B6-5B89EC91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94560"/>
            <a:ext cx="2880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Türemiş Sözcük</a:t>
            </a:r>
            <a:endParaRPr sz="2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25FCFD3-D6AD-47E4-813E-2AAB3586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18994"/>
            <a:ext cx="2880360" cy="858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 az bir yapım eki</a:t>
            </a:r>
            <a:endParaRPr sz="2100"/>
          </a:p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almıştır.</a:t>
            </a:r>
            <a:endParaRPr sz="2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1F5D214-3AF1-4982-9B0B-A6393204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5960"/>
            <a:ext cx="3337560" cy="192709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1F61122-7125-428A-B094-DAD8CD2A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4560"/>
            <a:ext cx="2880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Ayırt Etme</a:t>
            </a:r>
            <a:endParaRPr sz="21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7743CE5-D33C-41F8-9A28-04A7C2C6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8994"/>
            <a:ext cx="288036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Ek sayısı değil,</a:t>
            </a:r>
            <a:endParaRPr sz="2000"/>
          </a:p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ek TÜRÜ (yapım/çekim) önemlidir.</a:t>
            </a:r>
            <a:endParaRPr sz="2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8C454A0-2342-4C1B-AD8C-0F668753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Hızlı Hatırlatma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2993FF9-D9FB-43A3-BA8B-52EF6174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118968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EB4A8AD-84EB-4366-BCFB-92C59C58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ce2de7fcb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BF43C73-FF23-4196-8A2D-BFB992FA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DERINLEŞME · 1/2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1C53D24-F545-4D9F-8945-9D456FD6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Gövde ve Gövdeden Türemiş Sözcük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B528838-707F-4D4B-AF00-6C47CBCF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D0FCF59-5B8F-43ED-A7B6-63F63B7E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Kural:  </a:t>
            </a:r>
            <a:r>
              <a:rPr sz="19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 yapım eki alan sözcüğe GÖVDE, birden çok yapım eki alan sözcüğe ise GÖVDEDEN TÜREMİŞ SÖZCÜK denir. Bütün gövdeler türemiştir — ama her türemiş sözcük gövde değildir.</a:t>
            </a:r>
            <a:endParaRPr sz="1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38CFF3C-5413-43D6-B375-88FA9E3B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1F9DA3B-B531-4D5A-BE6C-D64AB64B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8960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tatlı</a:t>
            </a:r>
            <a:endParaRPr sz="2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696C91-EC7F-49F3-ACBA-171E7F6F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108960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tat + -lı</a:t>
            </a:r>
            <a:endParaRPr sz="2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EFA1116-F740-46D8-A5EB-8B6B7600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08960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yapım eki</a:t>
            </a:r>
            <a:endParaRPr sz="2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550201-C2FD-4BB7-A9A6-719B05E5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163824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5779B89-71B6-4ECF-A371-56893D5E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163824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GÖVDE</a:t>
            </a:r>
            <a:endParaRPr sz="20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0633E60-2568-4062-B575-93C411E8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22192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9F7BB83-068D-4EDC-92EB-561CD00F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22192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tatlıcılık</a:t>
            </a:r>
            <a:endParaRPr sz="2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14DE881-122C-43B9-A9CA-9E475A0C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822192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tat + -lı + -cı + -lık</a:t>
            </a:r>
            <a:endParaRPr sz="2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BDC1717-5AF1-4762-BA2C-11952B82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822192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 yapım eki</a:t>
            </a:r>
            <a:endParaRPr sz="2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231B3B9-2D7E-4114-85AE-11CA703C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77056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770FF86-9E86-4330-B03A-1F851D8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77056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GÖVDEDEN TÜREMİŞ</a:t>
            </a:r>
            <a:endParaRPr sz="20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748323D-3620-4119-A981-8B887558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35424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F6574C1-E303-4F09-8A24-D3EDFC15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35424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gözle-</a:t>
            </a:r>
            <a:endParaRPr sz="2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193B365-E4F6-429E-A3B2-3DD0F16B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535424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 + -le</a:t>
            </a:r>
            <a:endParaRPr sz="2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5BA393C-85D7-42E6-8FAA-AD188E1B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535424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 yapım eki</a:t>
            </a:r>
            <a:endParaRPr sz="21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FE36424-7A05-494A-ADEB-96285C90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90288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8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FF9F6E8-0382-48CB-BA71-5127D922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90288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GÖVDE</a:t>
            </a:r>
            <a:endParaRPr sz="2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065166A4-782C-41A1-897B-85BCE1FB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48656"/>
            <a:ext cx="10881360" cy="621792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A690B83-4397-44C0-AA6B-F9D39364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48656"/>
            <a:ext cx="1737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gözlem</a:t>
            </a:r>
            <a:endParaRPr sz="21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722F8C0-543F-445F-8C3D-F056AECC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248656"/>
            <a:ext cx="3017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gözle- + -m</a:t>
            </a:r>
            <a:endParaRPr sz="2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D81EC88-41E6-4E9D-A7F0-AA8107C5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248656"/>
            <a:ext cx="20116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 yapım eki</a:t>
            </a:r>
            <a:endParaRPr sz="21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68894ACA-C2C0-4510-8B7A-079C08FF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5303520"/>
            <a:ext cx="329184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A441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77B25B08-17CE-40E7-B063-4E49D12C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5303520"/>
            <a:ext cx="32918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GÖVDEDEN TÜREMİŞ</a:t>
            </a:r>
            <a:endParaRPr sz="2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5382489-03DA-47B2-A14C-7381C4D6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26480"/>
            <a:ext cx="10881360" cy="41148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71E7D599-5CF0-45B0-91EB-23CC14F4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2648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Kaynak: Limit Yayınları TYT Türkçe El Kitabı — "Bütün gövdeler türemiş sözcüktür."</a:t>
            </a:r>
            <a:endParaRPr sz="195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A3E5B6A-E853-4FA1-A08A-BF7FEB4B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Derinleşme — Gövde ve Gövdeden Türemiş Sözcük</a:t>
            </a:r>
            <a:endParaRPr sz="9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FB27EC33-326E-4ADE-9DA0-EA9557CE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254162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2B95D7F-3A1E-4B96-B688-9B893334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5a0f36b424b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E5A5266-6A64-41E0-987B-49DAE65A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DERINLEŞME · 2/2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2E2B45-003A-4284-97EF-B348973F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Basit Sanılan Ama Türemiş Sözcükler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FE170AD-7C80-4421-8C68-5DEBED1D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61FD19A-CB22-489E-A86C-53B232CF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33272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Kural:  </a:t>
            </a:r>
            <a:r>
              <a:rPr sz="19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Günlük dilde "tek parça" gibi hissettiren bazı sözcükler, kökle karşılaştırıldığında aslında bir yapım eki taşır. TYT'de bu tür sözcükler en sık şaşırtan tuzaklardandır.</a:t>
            </a:r>
            <a:endParaRPr sz="1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7FE518E-1654-4C75-9759-BB2854EF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A364349-F8EF-48F2-A3E5-19E28572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72968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C1B0717-3928-42DD-9005-09EB7817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72968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ılık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5167D61-BA1E-402F-B3C1-50B52CD6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08960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ılı- + -k</a:t>
            </a:r>
            <a:endParaRPr sz="2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C73FCF2-8198-4A77-A69A-F410567C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08960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AE5411A-2BAE-40AB-BFA0-FBAF8812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12464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D3C2FD0-986B-4997-BCCA-31E3B7DA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76472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3241125-5D2D-412B-8E0E-0D671963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76472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ışık</a:t>
            </a:r>
            <a:endParaRPr sz="2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D8DC8A1-01E9-4697-B05C-7142E86D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12464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ışı- + -k</a:t>
            </a:r>
            <a:endParaRPr sz="2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6E7475C-B603-4FCD-8686-A32EC685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712464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C1F32FC-B034-4A0F-B782-9902D770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15968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2C8B39C-A9B7-4857-833B-2E1D328C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79976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22DC7DB-C9CB-45FA-AE48-DC1D69C8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79976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batı</a:t>
            </a:r>
            <a:endParaRPr sz="20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1138B3E-7708-43B5-8C55-C3E5D584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15968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bat- + -ı</a:t>
            </a:r>
            <a:endParaRPr sz="2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67D568D-4727-481F-9E89-519D0012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315968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D503421-005F-464F-9D23-5EE3E8BD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19472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4F8F67FF-53C6-4AD8-8DA5-6E1DBC42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7EE5FF2-366E-4AD9-BA5B-96B9F0A2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doğu</a:t>
            </a:r>
            <a:endParaRPr sz="20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A933C8-DE14-4D8B-A910-1D9DD94D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19472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doğ- + -u</a:t>
            </a:r>
            <a:endParaRPr sz="2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1A02CC-02F7-4A60-B8F8-B7EABF79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919472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04445139-4F1C-4152-B9E9-02E60ED9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22976"/>
            <a:ext cx="10881360" cy="530352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A37FAB7-BF47-4EB8-ACE9-97AFDA7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86984"/>
            <a:ext cx="155448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E3A5F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1E2761">
                <a:alpha val="18000"/>
              </a:srgbClr>
            </a:outerShdw>
          </a:effectLst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888FD00-8B10-4CCA-8C24-9E3F1C1E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86984"/>
            <a:ext cx="15544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kıvrım</a:t>
            </a:r>
            <a:endParaRPr sz="20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72D3D5C-BDAE-442A-A2AF-E38BC03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522976"/>
            <a:ext cx="2743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8E2318"/>
                </a:solidFill>
                <a:latin typeface="Calibri"/>
                <a:ea typeface="Calibri"/>
                <a:cs typeface="Calibri"/>
              </a:rPr>
              <a:t>kıvır- + -(ı)m</a:t>
            </a:r>
            <a:endParaRPr sz="21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9A698B2-F960-4556-8789-54D86E5A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5522976"/>
            <a:ext cx="54864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fiilden isim yapım eki</a:t>
            </a:r>
            <a:endParaRPr sz="21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6F2B801C-5C24-4CC0-B8DE-0D853DFC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72200"/>
            <a:ext cx="10881360" cy="36576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412E7DB-CFD7-4D23-BE88-25D1442F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Kaynak: Okyanus TYT Türkçe Konu Anlatımı — bu sözcükler TÜREMİŞTİR, basit değildir. Köke dikkat!</a:t>
            </a:r>
            <a:endParaRPr sz="17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DA65E6D-567A-4C73-A95B-73CC96E6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Derinleşme — Basit Sanılan Tuzaklar</a:t>
            </a:r>
            <a:endParaRPr sz="9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7B90A8F3-8D59-41BA-98D5-76B64515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507901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E9E2ADB-2081-4B92-A9DE-051FAA43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6c2f0232741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D468570-D74A-4F9B-906D-07DF7552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1/3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DD1B5B4-82EB-4262-9786-294CF5B0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Soru Çözümü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F08E931-409D-458F-BE33-7E103E21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2B85AD6-28C4-4AE8-9C8D-2D46AE62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ÖSYM (ÖSS - 2000)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B0B6A8E-8D0F-4C88-98E0-02AB9963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4451523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70D073-0F30-49CB-9FD6-B41582D5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0360152" cy="12172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Sıfatlar, adlarla fiillerin kök ya da gövdelerine yapım ekleri getirilerek oluşturulur. Aşağıdaki atasözlerinin hangisinde bu yolla yapılmış bir sıfat vardır?</a:t>
            </a:r>
            <a:endParaRPr sz="2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336139F-0C23-4857-BBE4-2FCA02E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3839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Güneş balçıkla sıvanmaz.</a:t>
            </a:r>
            <a:endParaRPr sz="2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A754280-2456-41A8-B6C2-08914C8C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840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Korkunun ecele faydası yoktur.</a:t>
            </a:r>
            <a:endParaRPr sz="2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6D6A1B0-2CF3-45E7-BD8B-804B1A0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7841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Her ağacın meyvesi yenmez.</a:t>
            </a:r>
            <a:endParaRPr sz="2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6207A9A-FBD6-41E6-B61C-E58CA4E0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4841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Mızrak çuvala sığmaz.</a:t>
            </a:r>
            <a:endParaRPr sz="21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57E6BBD-19FD-4D48-8F4A-C493FF00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1842"/>
            <a:ext cx="10360152" cy="387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E)  </a:t>
            </a:r>
            <a:r>
              <a:rPr sz="215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İşleyen demir pas tutmaz.</a:t>
            </a:r>
            <a:endParaRPr sz="21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281DBAF-F5A4-4092-9201-97A6343B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1 — gerçek ÖSYM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0CB45D9-BCF1-4C60-BE33-3F46A7CE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792616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AB1126-DA58-4F6F-83DF-AE9FACED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25cf13c9848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B3AA25F-E871-447C-A185-0A44708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1/3  ·  ÇÖZÜM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49A99A7-2CED-46D5-8D7B-FCECB5FF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Çözüm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C8E1D56-340E-497D-8059-70682B0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39ABA38-BD6A-4F95-ADE8-27228204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ÖSYM (ÖSS - 2000)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59E06E1-D8B2-420F-8F3C-5B0DDA75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908792" cy="443484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318007B-143A-42EC-8C57-E007BF5F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601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ÇÖZÜM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8252F81-76BB-44DF-8229-1B6A93BA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7B8EB8A-6AB5-41C8-B52F-C4967E0F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E</a:t>
            </a:r>
            <a:endParaRPr sz="2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0501A30-AC55-4E41-B99A-BAC5C6BA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1460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Doğru cevap</a:t>
            </a:r>
            <a:endParaRPr sz="1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D2F55BD-69F4-40D9-84E8-3F4E9BBC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10360152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E) İşleyen demir pas tutmaz.  </a:t>
            </a:r>
            <a:r>
              <a:rPr sz="1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doğru cevap.
</a:t>
            </a:r>
            <a:r>
              <a:rPr sz="18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"işleyen" = iş (ad kökü) + -le (isimden fiil yapım eki) + -y (kaynaştırma) + -en (sıfat-fiil eki) — yapım ekiyle TÜREMİŞ bir sıfattır. C'deki "her" ise basit bir sıfattır (hiç ek almamıştır), diğer seçeneklerde sıfat yoktur.</a:t>
            </a:r>
            <a:endParaRPr sz="18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A586812-2FD1-436D-A87F-1C7ABA5A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1 — çözüm — gerçek ÖSYM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65744E2-AC85-4E78-93CA-C6043224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877311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52CBD8-28A0-4F17-B4AB-FB8E51A9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d05ee8b6b40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F8ACB6C-2F56-47A5-B1E4-5517F035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2/3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BBA2114-5199-4D47-B5D0-A6E7582B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Soru Çözümü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FE6355E-A1EB-4529-92B1-363244E8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B40EADC-E0AC-4896-94FF-5331B4C8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D2E67C1-2318-451F-A7FB-70ACCF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65B41B2-865D-4D65-B917-03D516D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0360152" cy="4147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Aşağıdaki cümlelerin hangisinde türemiş isim kullanılmamıştır?</a:t>
            </a:r>
            <a:endParaRPr sz="2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FA74D8B-F64D-4CDC-B9B4-75AFD1ED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1326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Yolların kuralını şoförler belirliyor.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71EF957-A030-4D0C-854D-F029EED7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3870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Öğretmenliğe başladığım günleri hatırladım.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ADE6242-1187-4F1B-A917-769510F6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6415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Yolda oduncuyla karşılaştım.</a:t>
            </a:r>
            <a:endParaRPr sz="2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8C8F46D-74AD-4123-B193-970CC3D3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8959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Soruların çözümünü internete koymuş.</a:t>
            </a:r>
            <a:endParaRPr sz="2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60C06CD-FEAA-4C30-8C90-9F1FF5DF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1503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 gürültüye dayanmam çok zordu.</a:t>
            </a:r>
            <a:endParaRPr sz="2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72DE8DA-0FF9-4A3C-B2B7-1B40A2D8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2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DCA9279-A12E-473E-9803-406620AF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050608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D2F837-84C1-4DAC-9E8A-FA95214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dfa5b858841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840A2BB-3B4B-4065-B54D-54C5E247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2/3  ·  ÇÖZÜM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9A40994-C59B-4841-A62F-BD6E1D87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Çözüm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2F919D1-7F08-48F2-9BAC-96B1B96A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80D2D99-641D-4A1C-A1F3-09AF7240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05B344-BB76-4239-8289-5E31A0E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908792" cy="443484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EF31CE3-9880-43DA-8D2E-EBE97EB9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601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ÇÖZÜM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2D5D0A-DEC5-4E67-B005-547082F8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33DE4A0-D67F-4475-94DC-74841C03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A</a:t>
            </a:r>
            <a:endParaRPr sz="2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9C0EB79-C20A-4C5F-9B20-5249DC3C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1460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Doğru cevap</a:t>
            </a:r>
            <a:endParaRPr sz="1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7631B6D-2BB5-4F24-879A-EB064C16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10360152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1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doğru cevap.
</a:t>
            </a:r>
            <a:r>
              <a:rPr sz="18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A'daki isimler ("yolların", "kuralını", "şoförler") sadece çekim eki almıştır, hepsi basittir. B) öğretmen-lik, C) odun-cu, D) çöz-üm, E) gürül-tü sözcüklerindeki koyu kısımlar birer yapım ekidir — bu seçeneklerde türemiş isim vardır.</a:t>
            </a:r>
            <a:endParaRPr sz="1850"/>
          </a:p>
          <a:p xmlns:a="http://schemas.openxmlformats.org/drawingml/2006/main">
            <a:pPr marL="0" indent="0">
              <a:buNone/>
            </a:pPr>
            <a:endParaRPr sz="1850"/>
          </a:p>
          <a:p xmlns:a="http://schemas.openxmlformats.org/drawingml/2006/main">
            <a:pPr marL="0" indent="0">
              <a:buNone/>
            </a:pPr>
            <a:r>
              <a:rPr sz="185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Kaynak: Okyanus TYT Türkçe Konu Anlatımı, "Yapısına Göre Sözcükler" pekiştirme testi (ÖSYM'ye ait değildir, yayınevinin kendi hazırladığı TYT formatında bir sorudur).</a:t>
            </a:r>
            <a:endParaRPr sz="18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582A699-0A93-4DB9-AA2B-4D1E6702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2 — çözüm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7D0D001-5409-40DD-BE80-B5474CFA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426996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52E35B-52C5-4C60-BB50-BFABAE7E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007d3dd4641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478D1B5-F524-470E-8231-CFFAC025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3/3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9A1341F-6C22-4A98-8CE1-48D191C0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Soru Çözümü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6A1F5A4-A881-4E3A-B644-7AF0716A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315C922-47E7-4AF8-8AEB-97F04DE3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FBF4B3E-65A1-47B1-AA9A-0A6FE13A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908792" cy="4434840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8C99A08-3D44-45C1-8349-CAC052E5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0360152" cy="11090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"Geceleri bir çarpıntı duyarsan / Telaş telaş yağmurdan kaçıyorum / Sarayburnu'ndan geçiyorum / Akşamsa eylülse ıslanmamışsam / Benim görsen belki anlayamazsın" Bu dizelerde aşağıdakilerden hangisi yoktur?</a:t>
            </a:r>
            <a:endParaRPr sz="2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99CB46C-DD78-4FEB-A26F-B0B16B3E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5635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Basit fiil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96F2185-BFA3-46D0-ABF9-15DD3152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0219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B)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Birleşik fiil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773E1A6-8585-475F-B3BB-10A492F4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4803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Türemiş isim</a:t>
            </a:r>
            <a:endParaRPr sz="2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3BF14E8-0A0A-4AB2-8A4B-CEDAC600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9387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Ayrılma durumu eki</a:t>
            </a:r>
            <a:endParaRPr sz="2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096CF1C-BFE8-4AEF-B099-5E54C981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3971"/>
            <a:ext cx="10360152" cy="3967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E)  </a:t>
            </a:r>
            <a:r>
              <a:rPr sz="22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İsimden fiil yapım eki</a:t>
            </a:r>
            <a:endParaRPr sz="2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60F26AC-5242-4BBF-AD41-A4BE6288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3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866DFA9-ED85-4F21-AE9D-D8B8A047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322748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59D060B-FB58-4ABB-94A3-DFAF7EF9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742f647c145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3D5D3F7-6DB8-40A0-8BA0-0F4C815D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ÖRNEK SORU · 3/3  ·  ÇÖZÜM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94753D-2C7B-4FE8-A77B-B14B9494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Çözüm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4885A95-9CB6-4007-B1E5-F1359FBD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D9A441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4F16060-2437-4486-9D01-FE883110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21792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Okyanus (Pekiştirme)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F4CB913-3E92-4D73-AE3B-7D264B0D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908792" cy="443484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1E3A5F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6EEEF4-11B2-474B-9E02-43651B24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5960"/>
            <a:ext cx="1036015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ÇÖZÜM</a:t>
            </a:r>
            <a:endParaRPr sz="16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2DEB818-F58A-4FA4-8682-80AFFBF6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AA1827A-9B0C-4E9A-A020-6B407B85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777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E</a:t>
            </a:r>
            <a:endParaRPr sz="2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1BC004B-B0BC-4CDA-939F-9E9E8258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1460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Doğru cevap</a:t>
            </a:r>
            <a:endParaRPr sz="19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494CC44-55B1-4BBC-BF47-A99BBA0C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10360152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E) İsimden fiil yapım eki  </a:t>
            </a:r>
            <a:r>
              <a:rPr sz="1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doğru cevap (dizelerde bulunmayan).
</a:t>
            </a:r>
            <a:r>
              <a:rPr sz="18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duy-ar-sa-n (basit fiil), yağmur-dan (ayrılma hâli, çekim), Sarayburnu (türemiş özel isim) gibi unsurlar dizelerde vardır; ancak isim kökünden fiil türeten bir yapım eki ("-la/-le" tipi) bu dizelerde geçmemektedir.</a:t>
            </a:r>
            <a:endParaRPr sz="1850"/>
          </a:p>
          <a:p xmlns:a="http://schemas.openxmlformats.org/drawingml/2006/main">
            <a:pPr marL="0" indent="0">
              <a:buNone/>
            </a:pPr>
            <a:endParaRPr sz="1850"/>
          </a:p>
          <a:p xmlns:a="http://schemas.openxmlformats.org/drawingml/2006/main">
            <a:pPr marL="0" indent="0">
              <a:buNone/>
            </a:pPr>
            <a:r>
              <a:rPr sz="185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Kaynak: Okyanus TYT Türkçe Konu Anlatımı, "Yapısına Göre Sözcükler" pekiştirme testi (ÖSYM'ye ait değildir, yayınevinin kendi hazırladığı TYT formatında bir sorudur).</a:t>
            </a:r>
            <a:endParaRPr sz="18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09E241A-3005-4040-B039-1C21EB6D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Örnek Soru 3 — çözüm — pekiştirme sorusu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3BE2D96-F417-4861-B073-73C9A6E4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932265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3AF612-43BD-4539-9F39-0DAD6A9A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8cdd65fdc46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84ADADF-CE9E-4DB5-80F5-A04E3D9F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DERS SONU KONTROL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918F1F0-0C79-49DA-BF28-EC8DEFE5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Hızlı Kontrol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E3ACC66-E7EC-4013-8AB4-36DC2156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Aşağıdaki sözcüklerin basit mi türemiş mi olduğunu birlikte söyleyelim: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AEF046D-3798-4A21-BE61-5D1EA722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F8CD5B8-5AF5-4B79-9C1C-C968B4E6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gözlük</a:t>
            </a:r>
            <a:endParaRPr sz="21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44752CD-F774-4F8F-AA8B-FD75FE20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730BA77-3638-4EFC-B90D-47AC678E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TÜREMİŞ</a:t>
            </a:r>
            <a:endParaRPr sz="2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6121920-6F6F-44EE-A653-24AC7752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94B83DB-AA69-4464-AAF3-E9864ACA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gözlerimiz</a:t>
            </a:r>
            <a:endParaRPr sz="2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5D09D49-656D-4F95-A4FE-6B745B43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5A955E2-ED1F-4569-AC56-910D8ED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BASİT</a:t>
            </a:r>
            <a:endParaRPr sz="2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BB35BE4-7395-4884-BCBB-9E74E545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48A7483-0BEB-4917-A3F1-BA0A3824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sevimli</a:t>
            </a:r>
            <a:endParaRPr sz="2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99BFB63-5527-4457-8E64-80A859F8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E2616AA-2F8E-4064-9F8A-FEDE4420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TÜREMİŞ</a:t>
            </a:r>
            <a:endParaRPr sz="2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2C10CB6-8D74-42BE-B8CE-E36DD523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207514"/>
            <a:ext cx="2514600" cy="1456436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A8B9DE8-0C89-4758-95C5-0EB898E1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344674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evlerde</a:t>
            </a:r>
            <a:endParaRPr sz="2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75BC127-B9B2-4C18-8369-75EC88BC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69108"/>
            <a:ext cx="2514600" cy="360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↓</a:t>
            </a:r>
            <a:endParaRPr sz="2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3AA64E2-775C-4612-B7F9-B3D9B1B4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175508"/>
            <a:ext cx="251460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BASİT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4C7F97A-D8E4-4FB0-A561-66791332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9710"/>
            <a:ext cx="10881360" cy="8128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F8C94A5-BF6C-4F42-89C9-A90E0E53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710"/>
            <a:ext cx="103327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 dört sözcüğün basit/türemiş kararını doğru verebiliyorsanız, bugünkü hedefe ulaştınız!</a:t>
            </a:r>
            <a:endParaRPr sz="2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676E46B-F315-4340-A39A-C77FAB7A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Hızlı Kontrol</a:t>
            </a:r>
            <a:endParaRPr sz="9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0DB901F-F868-47B0-B4DA-7473BB4F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951643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2BB073D-B2A8-458F-98B2-38CA5FEE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062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BB74D77-B408-4D43-8684-7A44E2D6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0584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db8f93bd7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8126" y="1191006"/>
            <a:ext cx="452628" cy="452628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836933E-0579-4CB9-B336-76310B98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3200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Ders Özeti</a:t>
            </a:r>
            <a:endParaRPr sz="2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20F6A1E-5498-4EA3-BF74-E0B4EAF5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320040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Basit / Türemiş Sözcük — Ders 4/6</a:t>
            </a:r>
            <a:endParaRPr sz="2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EF5FA06-D23F-44D2-AC80-FB59C106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7772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BUGÜN ÖĞRENDIKLERIMIZ</a:t>
            </a:r>
            <a:endParaRPr sz="13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F52AF5B-61D9-437A-AC8B-1D2542CE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34440"/>
            <a:ext cx="21945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2C8B50-C2D0-4FAC-AF91-A85EF59F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2344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Basit Sözcük</a:t>
            </a:r>
            <a:endParaRPr sz="20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7EE9D71-2C22-4ADB-89D9-B1545B5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234440"/>
            <a:ext cx="246888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56A4317-AF9A-4579-B9F5-335BBD7B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234440"/>
            <a:ext cx="2468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Türemiş Sözcük</a:t>
            </a:r>
            <a:endParaRPr sz="20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DCC4E3E-47EB-40BA-A414-F30F9460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28800"/>
            <a:ext cx="301752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6AD6566-B82B-4252-B3C8-0061A796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2880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Ayırt Etme Yöntemi</a:t>
            </a:r>
            <a:endParaRPr sz="20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E824CD2-A07C-47DD-B123-444F9301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384048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18DC55D-0DEA-471B-8918-0D1D16CD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3840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Gövde / Gövdeden Türemiş</a:t>
            </a:r>
            <a:endParaRPr sz="20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D66F8F4-8AB6-4C81-9EBD-57D5B977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23160"/>
            <a:ext cx="21945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E530508-352E-4727-8087-15D6983C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231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Sık Tuzaklar</a:t>
            </a:r>
            <a:endParaRPr sz="2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BCD8F7D-E6B9-446B-AA38-8FD4EE15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80360"/>
            <a:ext cx="6903720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9138B73-489E-4A7C-A2E3-16825FF6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17520"/>
            <a:ext cx="6400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Basit sözcük, </a:t>
            </a: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hiç yapım eki almamış (çekim eki alabilir); </a:t>
            </a:r>
            <a:r>
              <a:rPr sz="150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türemiş sözcük</a:t>
            </a: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ise en az bir yapım eki almıştır. Belirleyici olan ek SAYISI değil, ek TÜRÜDÜR — bir sözcüğü türemiş yapmak için tek bir yapım eki bile yeterlidir.</a:t>
            </a:r>
            <a:endParaRPr sz="15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C5DEA2E-478C-41D3-AC33-4911E744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34840"/>
            <a:ext cx="690372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9A44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99D6925-C072-443C-925F-F51E7BDC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590288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SIRADAKİ DERS</a:t>
            </a:r>
            <a:endParaRPr sz="16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B6D5318-C846-4EC1-A389-5C2C85DF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864608"/>
            <a:ext cx="5943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42A44"/>
                </a:solidFill>
                <a:latin typeface="Cambria"/>
                <a:ea typeface="Cambria"/>
                <a:cs typeface="Cambria"/>
              </a:rPr>
              <a:t>Birleşik Sözcük (Ders 5/6)  →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6954440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BE442A-2343-4104-ABD0-4168E7BC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F"/>
          </a:solidFill>
        </p:spPr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6a8c4a28941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098" y="692658"/>
            <a:ext cx="352044" cy="35204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E5E03D8-FEE6-40EF-ADA4-0C2DADFE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6692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PEKIŞTIRME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14A7B37-8A76-4EBA-A2E2-B65F286D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41248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3A5F"/>
                </a:solidFill>
                <a:latin typeface="Cambria"/>
                <a:ea typeface="Cambria"/>
                <a:cs typeface="Cambria"/>
              </a:rPr>
              <a:t>Ödev: Basit / Türemiş Ayırma Alıştırması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EEFDC68-592A-47D7-AED9-E6C3A36B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5920"/>
            <a:ext cx="10881360" cy="757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Sıradaki derse kadar aşağıdaki 10 sözcüğün BASİT mi TÜREMİŞ mi olduğunu, türemişse hangi ekle türediğini defterinize yazın:</a:t>
            </a:r>
            <a:endParaRPr sz="2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F2CC3B2-C8F3-46AA-BE49-2BA012D8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490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B8ADE34-D0A7-4727-9BDA-95A436DE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490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1. kapıcı</a:t>
            </a:r>
            <a:endParaRPr sz="2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7C806C0-FC22-4AF1-BFA0-AAC28DD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449068"/>
            <a:ext cx="201168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8385F8-E913-4A5E-95F8-EF245EA6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449068"/>
            <a:ext cx="201168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2. kapılarımızdan</a:t>
            </a:r>
            <a:endParaRPr sz="20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030FB8-353E-45BA-BFF7-364647AD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490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F7B032C-F8E2-4911-960F-C51B62E5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490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3. sevinç</a:t>
            </a:r>
            <a:endParaRPr sz="2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3A8B435-19E8-44C1-8B46-4B1359BC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49068"/>
            <a:ext cx="201168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F66278F-400F-4CFA-91A5-21EB3BF5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49068"/>
            <a:ext cx="201168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4. defterlerimizde</a:t>
            </a:r>
            <a:endParaRPr sz="2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C5EAAD2-2C41-426A-9711-31D90D78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490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61ED9A8-0C1E-4357-B883-750CC071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490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5. gözlük</a:t>
            </a:r>
            <a:endParaRPr sz="2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9DE0558-39CD-4DCF-8A66-4484407C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4384DD4-036C-4FD4-8623-96D083E3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6. gözlerimize</a:t>
            </a:r>
            <a:endParaRPr sz="21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C1B1C0B-2755-4DD4-BC1F-D7ADFCD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58D3D59-0CEC-47FF-91EF-B4BD9FC6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7. tatlandı</a:t>
            </a:r>
            <a:endParaRPr sz="2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CFE30AA-4A18-44BC-B2D5-C6AFB77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7FC9789-49F4-42BE-BF33-0C7C2E70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8. tatlarımızı</a:t>
            </a:r>
            <a:endParaRPr sz="2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C61E4FB-289C-41FD-A414-534857AB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490468"/>
            <a:ext cx="2011680" cy="640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016C813-AAC4-47DE-9E38-AB4809F6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490468"/>
            <a:ext cx="2011680" cy="378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9. yazarlık</a:t>
            </a:r>
            <a:endParaRPr sz="21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2F98A72-C5E1-4EB3-9429-8DD017D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90468"/>
            <a:ext cx="2011680" cy="812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2700">
            <a:solidFill>
              <a:srgbClr val="1E3A5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98965F4-7D27-41C9-9563-0E334DBB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90468"/>
            <a:ext cx="201168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10. kalemlerimizi</a:t>
            </a:r>
            <a:endParaRPr sz="20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355D875F-D98C-4E05-B02D-BE5580A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23308"/>
            <a:ext cx="10881360" cy="812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F3E3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2951058-7777-41D6-8D8B-7C7B88BB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3308"/>
            <a:ext cx="10332720" cy="721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Not: Bir sözcüğü türemiş yapan şey ek sayısı değil, en az bir yapım eki taşımasıdır — köke kadar sabırla soyun.</a:t>
            </a:r>
            <a:endParaRPr sz="20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4601600-7488-41DB-A29D-9564F6C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TYT TÜRKÇE  ·  SÖZCÜKTE YAPI  ·  Ödev</a:t>
            </a:r>
            <a:endParaRPr sz="9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69A4BCF-7F48-475A-A390-BB22C51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6537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Ders 4 / 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61755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71A384-7197-4810-BC4C-8F62DABC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0"/>
            <a:ext cx="40507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8F9567A-0BD3-4150-9595-367D9CCE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B78"/>
          </a:solidFill>
        </p:spPr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ab42df20e4d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7132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E4A2EF7-95D9-41DB-97CD-7CC49364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94360"/>
            <a:ext cx="6400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Ders Tamamlandı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EEA93CB-602B-41AA-8171-543D217A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9FB8D6"/>
                </a:solidFill>
                <a:latin typeface="Calibri"/>
                <a:ea typeface="Calibri"/>
                <a:cs typeface="Calibri"/>
              </a:rPr>
              <a:t>Basit / Türemiş Sözcük — Sözcükte Yapı, Ders 4/6</a:t>
            </a:r>
            <a:endParaRPr sz="14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29C63D8-0D61-4103-B83A-9815EE4D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70408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54B78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08FD0AC-D236-4B7C-8A85-A1BBE55A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6492240" cy="14323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Bugün öğrendik:  </a:t>
            </a:r>
            <a:endParaRPr sz="1850"/>
          </a:p>
          <a:p xmlns:a="http://schemas.openxmlformats.org/drawingml/2006/main">
            <a:pPr marL="0" indent="0">
              <a:buNone/>
            </a:pPr>
            <a:r>
              <a:rPr sz="18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Basit ve türemiş sözcük tanımları, ayırt etme yöntemi, gövde/gövdeden türemiş sözcük kavramı ve basit sanılan ama türemiş olan sözcük tuzakları.</a:t>
            </a:r>
            <a:endParaRPr sz="18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862172C-8FB4-4332-8A9D-B43CB63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704088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9A441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D120677-B158-4125-9F86-D5078DF8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5968"/>
            <a:ext cx="5943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142A44"/>
                </a:solidFill>
                <a:latin typeface="Calibri"/>
                <a:ea typeface="Calibri"/>
                <a:cs typeface="Calibri"/>
              </a:rPr>
              <a:t>SIRADAKİ DERS (5/6)</a:t>
            </a:r>
            <a:endParaRPr sz="1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1965314-9479-426C-AFEA-9BDEE9EB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0288"/>
            <a:ext cx="5943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42A44"/>
                </a:solidFill>
                <a:latin typeface="Cambria"/>
                <a:ea typeface="Cambria"/>
                <a:cs typeface="Cambria"/>
              </a:rPr>
              <a:t>Birleşik Sözcük  →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121D489-5DB1-4554-8927-CEACAD47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E8CB0"/>
                </a:solidFill>
                <a:latin typeface="Calibri"/>
                <a:ea typeface="Calibri"/>
                <a:cs typeface="Calibri"/>
              </a:rPr>
              <a:t>TYT Türkçe Ders Anlatım Projesi  ·  Sedat GÜLER ve Claude Opus 5 tarafından üretilmiştir.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5405666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2026-09-22T08:01:13.2670000Z</dcterms:created>
  <dcterms:modified xsi:type="dcterms:W3CDTF">2026-09-22T08:01:13.2670000Z</dcterms:modified>
</coreProperties>
</file>