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79" r:id="rId26"/>
    <p:sldId id="280" r:id="rId27"/>
    <p:sldId id="281" r:id="rId2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hWHwDCaYr4l2k7WQboD2TRzZA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1683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SÖZCÜKTE YAPI · DERS 2/6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94360" y="1371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Yapım Eki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697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Bir Sözcükten Yeni Bir Sözcük Türetmek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42900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0080" y="3429000"/>
            <a:ext cx="2478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lang="en-US" sz="1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dk · </a:t>
            </a:r>
            <a:r>
              <a:rPr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lokta 2 föy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00984" y="3429000"/>
            <a:ext cx="309524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300984" y="3429000"/>
            <a:ext cx="30952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lang="en-US" sz="1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Dil Bilgisi · Hafta 2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1" descr="icons/cover_amb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664" y="43068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1280160" y="42062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8D6"/>
                </a:solidFill>
                <a:latin typeface="Calibri"/>
                <a:ea typeface="Calibri"/>
                <a:cs typeface="Calibri"/>
                <a:sym typeface="Calibri"/>
              </a:rPr>
              <a:t>Sedat GÜLER ve Claude Opus 5  ·  TYT Türkçe Ders Anlatım Serisi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686800" y="1554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42A44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686800" y="155448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ÖĞRET-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686800" y="2286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8D6"/>
              </a:buClr>
              <a:buSzPts val="1750"/>
              <a:buFont typeface="Calibri"/>
              <a:buNone/>
            </a:pPr>
            <a:r>
              <a:rPr lang="en-US" sz="1750" b="1" i="0" u="none" strike="noStrike" cap="none">
                <a:solidFill>
                  <a:srgbClr val="9FB8D6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686800" y="2651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D9A44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686800" y="265176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1750"/>
              <a:buFont typeface="Calibri"/>
              <a:buNone/>
            </a:pPr>
            <a:r>
              <a:rPr lang="en-US" sz="175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-men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686800" y="3291840"/>
            <a:ext cx="1828800" cy="288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8D6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9FB8D6"/>
                </a:solidFill>
                <a:latin typeface="Calibri"/>
                <a:ea typeface="Calibri"/>
                <a:cs typeface="Calibri"/>
                <a:sym typeface="Calibri"/>
              </a:rPr>
              <a:t>↓  yapım eki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3210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321040" y="374904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ÖĞRETMEN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321040" y="4572000"/>
            <a:ext cx="2560320" cy="288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yeni sözcük (isim)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692640" y="5120640"/>
            <a:ext cx="822960" cy="822960"/>
          </a:xfrm>
          <a:prstGeom prst="ellipse">
            <a:avLst/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1" descr="icons/katman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77806" y="5305806"/>
            <a:ext cx="452628" cy="452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2" descr="icons/kazanim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KAZANIM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Bugün Ne Öğreneceğiz?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1828800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68680" y="2098929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68680" y="209892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600200" y="1828800"/>
            <a:ext cx="969264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 ekinin ne olduğunu ve kökten nasıl yeni bir sözcük (gövde) türettiğini öğrenecek.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" y="3020111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68680" y="32902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68680" y="329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600200" y="3020111"/>
            <a:ext cx="969264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Dört yapım eki grubunu (İsimden İsim, İsimden Fiil, Fiilden İsim, Fiilden Fiil) örneklerle ayırt edebilecek.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421142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68680" y="4481551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68680" y="448155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600200" y="4211422"/>
            <a:ext cx="969264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 ekiyle çekim ekini birbirine karıştırmadan ayırt edecek; eş sesli (aynı şekilde yazılan) eklerin tuzaklarını tanıyacak.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0080" y="540273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68680" y="5672861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68680" y="567286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600200" y="5402732"/>
            <a:ext cx="969264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TYT tarzı sorularda yapım eki bulma adımlarını uygulayarak doğru cevaba ulaşabilecek.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Kazanım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3" descr="icons/baglant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BAĞLANTI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463040" y="84124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Kökten Yapım Ekine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1645920"/>
            <a:ext cx="10881360" cy="1173480"/>
          </a:xfrm>
          <a:prstGeom prst="roundRect">
            <a:avLst>
              <a:gd name="adj" fmla="val 11765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14400" y="1645920"/>
            <a:ext cx="1033272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Geçen ders sözcüğün </a:t>
            </a: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kökünü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bulmayı öğrendik. Şimdi köke eklenerek yeni sözcük türeten </a:t>
            </a: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yapım ekini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inceliyoruz — sıradaki derste ise anlamı değiştirmeyen çekim ekine geçeceğiz.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2960" y="28651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51560" y="3093720"/>
            <a:ext cx="278892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Kök (geçen ders)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51560" y="3518154"/>
            <a:ext cx="2788920" cy="85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Sözcüğün anlamlı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 küçük parçası.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142232" y="2865120"/>
            <a:ext cx="457200" cy="43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0" y="28651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E3A5F"/>
          </a:solidFill>
          <a:ln>
            <a:noFill/>
          </a:ln>
          <a:effectLst>
            <a:outerShdw blurRad="101600" dist="38100" dir="5400000" algn="bl" rotWithShape="0">
              <a:srgbClr val="1E2761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800600" y="3093720"/>
            <a:ext cx="278892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Yapım Eki (bugün)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00600" y="3518154"/>
            <a:ext cx="2788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Köke eklenip yeni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anlamlı sözcük türetir.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891272" y="2865120"/>
            <a:ext cx="457200" cy="43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321040" y="28651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549640" y="3093720"/>
            <a:ext cx="278892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Çekim Eki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549640" y="3518154"/>
            <a:ext cx="2788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Sıradaki konu: anlamı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değiştirmeden işlerlik katar.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Bağlantı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4" descr="icons/isinma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HAZIRLIK SORUSU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Bu Sözcükler Nasıl Türedi?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1691640"/>
            <a:ext cx="108813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Geçen ders bu üç sözcüğün kökünün "kitap" olduğunu bulmuştuk. 2 dakika düşünün: kitap sözcüğüne eklenen -çı, -lık, -sız parçaları ne işe yarıyor?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194560" y="310136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115335" y="3265963"/>
            <a:ext cx="2377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kitapçı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800600" y="310136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800600" y="3269436"/>
            <a:ext cx="2377440" cy="39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kitaplık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06640" y="310136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403471" y="3265955"/>
            <a:ext cx="2377440" cy="39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kitapsız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2E8D3229-D4CD-8421-E870-B7C9DD04050B}"/>
              </a:ext>
            </a:extLst>
          </p:cNvPr>
          <p:cNvGrpSpPr/>
          <p:nvPr/>
        </p:nvGrpSpPr>
        <p:grpSpPr>
          <a:xfrm>
            <a:off x="640080" y="4961398"/>
            <a:ext cx="10881360" cy="1173480"/>
            <a:chOff x="640080" y="3820668"/>
            <a:chExt cx="10881360" cy="1173480"/>
          </a:xfrm>
        </p:grpSpPr>
        <p:sp>
          <p:nvSpPr>
            <p:cNvPr id="105" name="Google Shape;105;p4"/>
            <p:cNvSpPr/>
            <p:nvPr/>
          </p:nvSpPr>
          <p:spPr>
            <a:xfrm>
              <a:off x="640080" y="3820668"/>
              <a:ext cx="10881360" cy="1173480"/>
            </a:xfrm>
            <a:prstGeom prst="roundRect">
              <a:avLst>
                <a:gd name="adj" fmla="val 9091"/>
              </a:avLst>
            </a:prstGeom>
            <a:solidFill>
              <a:srgbClr val="FBF3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914400" y="3820668"/>
              <a:ext cx="1033272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3A5F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 err="1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Cevap</a:t>
              </a:r>
              <a:r>
                <a:rPr lang="en-US" sz="2000" b="1" i="0" u="none" strike="noStrike" cap="none" dirty="0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:  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Bu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parçalar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köke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1" i="0" u="none" strike="noStrike" cap="none" dirty="0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yeni </a:t>
              </a:r>
              <a:r>
                <a:rPr lang="en-US" sz="2000" b="1" i="0" u="none" strike="noStrike" cap="none" dirty="0" err="1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bir</a:t>
              </a:r>
              <a:r>
                <a:rPr lang="en-US" sz="2000" b="1" i="0" u="none" strike="noStrike" cap="none" dirty="0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1" i="0" u="none" strike="noStrike" cap="none" dirty="0" err="1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anlam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katıp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ondan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bambaşka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bağımsız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bir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sözcük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türetiyor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satıcı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mekân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yoksunluk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gibi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).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İşte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bu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türetici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eklere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bugün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odaklanıyoruz</a:t>
              </a:r>
              <a:r>
                <a:rPr lang="en-US" sz="2000" b="0" i="0" u="none" strike="noStrike" cap="none" dirty="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n-US" sz="2000" b="1" i="0" u="none" strike="noStrike" cap="none" dirty="0">
                  <a:solidFill>
                    <a:srgbClr val="1E3A5F"/>
                  </a:solidFill>
                  <a:latin typeface="Calibri"/>
                  <a:ea typeface="Calibri"/>
                  <a:cs typeface="Calibri"/>
                  <a:sym typeface="Calibri"/>
                </a:rPr>
                <a:t>YAPIM EKİ.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Hazırlık Sorusu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5" descr="icons/yap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257" y="65644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ANLATIM · 1/5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Yapım Eki Nedir?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14400" y="1645920"/>
            <a:ext cx="1033272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Tanım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gövdeye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eklenerek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ondan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yeni,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bağımsız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anlamlı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türeten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ektir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alan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sözcüğe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artık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21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gövde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denir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22960" y="2981945"/>
            <a:ext cx="201168" cy="201168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234440" y="2716951"/>
            <a:ext cx="1024128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Sözcüğün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anlamını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mutlaka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değiştirir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kökten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farklı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yeni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kavram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ortaya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çıkar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≠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kitaplık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22960" y="3675888"/>
            <a:ext cx="201168" cy="201168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234440" y="3412050"/>
            <a:ext cx="1024128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Sözcüğün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yapısını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değiştirir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bazı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ekleri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sözcüğün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türünü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değiştirir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isim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gibi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2960" y="4270248"/>
            <a:ext cx="201168" cy="201168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234440" y="4170544"/>
            <a:ext cx="10241280" cy="7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50"/>
              <a:buFont typeface="Calibri"/>
              <a:buNone/>
            </a:pPr>
            <a:r>
              <a:rPr lang="en-US" sz="20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Sözlükte kökten ayrı, kendi başına bir madde başı olarak yer alır — kalıcıdır, sözcüğe "yapışmıştır".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0080" y="5323510"/>
            <a:ext cx="1088136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914400" y="5323510"/>
            <a:ext cx="1033272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Kısaca: Yapım eki, kökü "başka bir sözcüğe dönüştüren" ektir — çekim eki gibi sözcüğe sadece işlerlik kazandırmaz, ondan yeni bir sözcük yaratır.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Anlatım — Yapım Eki Nedir?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6" descr="icons/yap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ANLATIM · 2/5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Dört Yapım Eki Grubu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40080" y="1783080"/>
            <a:ext cx="10881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 ekleri, kökün türüne ve türettiği sözcüğün türüne göre 4 grupta incelenir: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0080" y="233172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77240" y="25603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77240" y="256032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İsimden İsim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77240" y="34290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50"/>
              <a:buFont typeface="Calibri"/>
              <a:buNone/>
            </a:pPr>
            <a:r>
              <a:rPr lang="tr-TR" sz="19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5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öz</a:t>
            </a:r>
            <a:r>
              <a:rPr lang="en-US" sz="19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tr-TR" sz="195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cü</a:t>
            </a:r>
            <a:r>
              <a:rPr lang="en-US" sz="19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tr-TR" sz="19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sözcü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77240" y="397764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Türü değiştirmez (isim kalır)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337560" y="233172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474720" y="25603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474720" y="256032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İsimden Fiil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474720" y="34290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baş + la- → başla-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474720" y="397764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Türü değiştirir (isim → fiil)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035040" y="233172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172200" y="25603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172200" y="256032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Fiilden İsim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172200" y="34290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 + ım → yapım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172200" y="397764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Türü değiştirir (fiil → isim)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732520" y="233172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869680" y="25603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8869680" y="256032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Fiilden Fiil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869680" y="34290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750"/>
              <a:buFont typeface="Calibri"/>
              <a:buNone/>
            </a:pPr>
            <a:r>
              <a:rPr lang="tr-TR" sz="17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kon</a:t>
            </a:r>
            <a:r>
              <a:rPr lang="en-US" sz="17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tr-TR" sz="17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dur</a:t>
            </a:r>
            <a:r>
              <a:rPr lang="en-US" sz="17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- → </a:t>
            </a:r>
            <a:r>
              <a:rPr lang="en-US" sz="175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yaptır</a:t>
            </a:r>
            <a:r>
              <a:rPr lang="en-US" sz="17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869680" y="397764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Türü değiştirmez (fiil kalır)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Altın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kural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ekleri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türü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değiştirmez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ekleri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türü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değiştirir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Anlatım — Dört Yapım Eki Grubu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7" descr="icons/yap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ANLATIM · 3/5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İsimden Türeyen Yapım Ekleri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Hatırlatma:  </a:t>
            </a: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 İsim ekleri türü değiştirmez (isim → isim). İsimden Fiil ekleri türü değiştirir (isim → fiil).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88720" y="28803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417320" y="3108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417320" y="31089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İsimden İsim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554480" y="3794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yaz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ı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 → </a:t>
            </a: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yazlık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554480" y="4160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çı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kitapçı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554480" y="4526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köy + lü → köylü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554480" y="4892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tat + sız → tatsız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554480" y="5257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sır + daş → sırdaş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217920" y="28803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446520" y="3108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446520" y="31089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42A44"/>
                </a:solidFill>
                <a:latin typeface="Cambria"/>
                <a:ea typeface="Cambria"/>
                <a:cs typeface="Cambria"/>
                <a:sym typeface="Cambria"/>
              </a:rPr>
              <a:t>İsimden Fiil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83680" y="3794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aş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+ la- → </a:t>
            </a: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aşla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583680" y="4160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çok + al- → çoğal-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583680" y="4526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kötü + leş- → kötüleş-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83680" y="4892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az + ımsa- → azımsa-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583680" y="5257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yaş + a- → yaşa-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58978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İpucu:  </a:t>
            </a:r>
            <a:r>
              <a:rPr lang="en-US" sz="15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 Fiil ekleri sözlükte hep "-mek/-mak" ile biter ve tek başına yazılırken sonuna tire (-) konur.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Anlatım — İsimden Türeyen Ekler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8" descr="icons/yap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ANLATIM · 4/5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Fiilden Türeyen Yapım Ekleri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Hatırlatma:  </a:t>
            </a: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 İsim ekleri türü değiştirir (fiil → isim). Fiilden Fiil ekleri türü değiştirmez (fiil → fiil).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188720" y="28803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417320" y="3108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417320" y="31089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Fiilden İsim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554480" y="3794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al- + gı → algı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554480" y="4160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yap- + ım → yapım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554480" y="4526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yaz- + ıcı → yazıcı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554480" y="4892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bak- + ış → bakış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554480" y="5257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yat- + ak → yatak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217920" y="28803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446520" y="3108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6446520" y="31089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42A44"/>
                </a:solidFill>
                <a:latin typeface="Cambria"/>
                <a:ea typeface="Cambria"/>
                <a:cs typeface="Cambria"/>
                <a:sym typeface="Cambria"/>
              </a:rPr>
              <a:t>Fiilden Fiil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583680" y="3794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bak- + ıl- → bakıl-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583680" y="4160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gör- + ün- → görün-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583680" y="4526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yaz- + ış- → yazış-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583680" y="4892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gez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- + d</a:t>
            </a: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r- → </a:t>
            </a:r>
            <a:r>
              <a:rPr lang="tr-TR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gezdir</a:t>
            </a:r>
            <a:r>
              <a:rPr lang="en-US" sz="20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583680" y="5257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çık- + ar- → çıkar-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40080" y="58978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İpucu</a:t>
            </a:r>
            <a:r>
              <a:rPr lang="en-US" sz="15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yazdırmak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örneğinde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önce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dır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sonra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mak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mastar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gelir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hep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başta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tire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konmaz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çünkü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sözlük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biçimidir</a:t>
            </a:r>
            <a:r>
              <a:rPr lang="en-US" sz="15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Anlatım — Fiilden Türeyen Ekler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9" descr="icons/yapi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ANLATIM · 5/5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Aynı Ek, Farklı Görev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1783080"/>
            <a:ext cx="10881360" cy="675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None/>
            </a:pPr>
            <a:r>
              <a:rPr lang="en-US" sz="18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Bazı ekler yazılışça aynıdır ama cümledeki göreve göre bazen yapım eki, bazen çekim eki olur. ÖSYM en çok bu ayrımı sorar: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40080" y="2468880"/>
            <a:ext cx="10881360" cy="1225296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22960" y="2724912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22960" y="272491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-ım / -im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423160" y="2578608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Yapım eki → fiilden isim yapar</a:t>
            </a:r>
            <a:br>
              <a:rPr lang="en-US" sz="16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yap-ım, ak-ım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720840" y="2578608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Çekim eki → iyelik/kişi eki olur</a:t>
            </a:r>
            <a:b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kalem-im, gid-iyor-um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" y="3831336"/>
            <a:ext cx="10881360" cy="1225296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22960" y="408736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822960" y="40873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-de / -da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423160" y="3941064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Yapım eki → isimden sıfat/zarf/fiil yapar</a:t>
            </a:r>
            <a:br>
              <a:rPr lang="en-US" sz="15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5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göz-de öğrenci, ayak-ta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720840" y="3941064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Çekim eki → bulunma hâli eki olur</a:t>
            </a:r>
            <a:b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çanta-da kitap var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40080" y="5193792"/>
            <a:ext cx="10881360" cy="1225296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822960" y="5449824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22960" y="544982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-e / -a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423160" y="5303520"/>
            <a:ext cx="4160520" cy="95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Yapım eki → isimden/fiilden fiil ya da isim yapar</a:t>
            </a:r>
            <a:br>
              <a:rPr lang="en-US" sz="15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5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yaş-a-, kıs-a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720840" y="530352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Çekim eki → yönelme hâli / istek kipi olur</a:t>
            </a:r>
            <a:br>
              <a:rPr lang="en-US" sz="16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okul-a git, gid-e-lim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Anlatım — Eş Sesli Ekler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2318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10" descr="icons/dikka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" y="7132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DİKKAT!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Yapım Eki mi, Çekim Eki mi? — Test Sorusu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2253234"/>
            <a:ext cx="1051560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ekin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mı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mi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olduğunu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anlamak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için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kendinize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sorun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"Bu ek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sözcüğe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yeni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anlam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mı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kattı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yoksa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sadece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cümledeki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görevini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mi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belirledi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?"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40080" y="3284982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914400" y="3284982"/>
            <a:ext cx="22860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yazım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377440" y="3291840"/>
            <a:ext cx="76809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yaz-ım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→ YAPIM EKİ. "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yazma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işi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biçimi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anlamında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yepyeni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sözcük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isim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türetti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0080" y="4298442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914400" y="4298442"/>
            <a:ext cx="22860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kalemim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377440" y="4263390"/>
            <a:ext cx="76809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kalem-im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→ ÇEKİM EKİ. "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kalem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hâlâ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kalem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sadece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benim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kalemim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anlamı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iyelik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kazandı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40080" y="5311902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914400" y="5311902"/>
            <a:ext cx="22860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100"/>
              <a:buFont typeface="Cambria"/>
              <a:buNone/>
            </a:pPr>
            <a:r>
              <a:rPr lang="en-US" sz="2100" b="1" i="0" u="none" strike="noStrike" cap="non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gidiyorum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377440" y="5309420"/>
            <a:ext cx="76809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"gid-</a:t>
            </a:r>
            <a:r>
              <a:rPr lang="tr-TR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tr-TR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yor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-um" → ÇEKİM EKİ.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Fiile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yalnızca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kişi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bilgisi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kim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yapıyor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?)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ekledi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, yeni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sözcük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türetmedi</a:t>
            </a:r>
            <a:r>
              <a:rPr lang="en-US" sz="210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2318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11" descr="icons/dikka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" y="7132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DİKKAT!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Sık Yapılan İki Hata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40080" y="262090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40080" y="262090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8E23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371600" y="2696852"/>
            <a:ext cx="969264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Fiilimsi ekleri de yapım ekidir.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371600" y="3139320"/>
            <a:ext cx="9692640" cy="7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050"/>
              <a:buFont typeface="Calibri"/>
              <a:buNone/>
            </a:pP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"-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mek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/-ma/-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ış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gibi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fiilimsi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ekleri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çalış-mak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, gel-me,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oku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-y-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uş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fiili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isim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sıfat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zarfa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çevirdiği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için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1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050" b="1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1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050" b="1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sayılır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değildir</a:t>
            </a:r>
            <a:r>
              <a:rPr lang="en-US" sz="2050" b="0" i="0" u="none" strike="noStrike" cap="none" dirty="0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40080" y="4746863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40080" y="4746863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8E23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371600" y="4822809"/>
            <a:ext cx="969264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 sözcükte birden fazla yapım eki olabilir.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371600" y="5265277"/>
            <a:ext cx="969264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D6D0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F5D6D0"/>
                </a:solidFill>
                <a:latin typeface="Calibri"/>
                <a:ea typeface="Calibri"/>
                <a:cs typeface="Calibri"/>
                <a:sym typeface="Calibri"/>
              </a:rPr>
              <a:t>"göz-lük-çü-lük" sözcüğünde art arda 3 yapım eki vardır (-lük, -çü, -lük); her biri sözcüğe yeni bir anlam katmıştır.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12" descr="icons/etkinli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2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SINIF ETKINLIĞI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Yapım</a:t>
            </a:r>
            <a:r>
              <a:rPr lang="en-US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Ekini</a:t>
            </a:r>
            <a:r>
              <a:rPr lang="en-US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Bul! (</a:t>
            </a:r>
            <a:r>
              <a:rPr lang="tr-TR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US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Dakika</a:t>
            </a:r>
            <a:r>
              <a:rPr lang="en-US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Yanınızdaki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arkadaşınızla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birlikte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aşağıdaki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8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sözcükteki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ekini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hangi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gruba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(İİ/İF/Fİ/FF)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ait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olduğunu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bulun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Süre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tr-TR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dakika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77240" y="2630131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777240" y="2829394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kitaplık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474720" y="2630131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3474720" y="2813011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gözcü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172200" y="2630131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172200" y="2813011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azalmak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869680" y="2630131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869680" y="2813011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başlamak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777240" y="4115355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77240" y="4249980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yazım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3474720" y="4115355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474720" y="4244895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bakış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172200" y="4115355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6172200" y="4242632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yazdırmak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8869680" y="4115355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8823960" y="4242632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görünmek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40080" y="5583376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914400" y="5583376"/>
            <a:ext cx="1033272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İpucu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Önce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kökü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bulun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kökten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sonraki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ilk </a:t>
            </a:r>
            <a:r>
              <a:rPr lang="tr-TR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anlam değiştiren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parça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ekidir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Sınıf Etkinliği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13" descr="icons/kontrol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3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ETKINLIK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Cevap Anahtarı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77724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kitaplık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772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777240" y="23774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-lık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77240" y="3154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İsimden İsim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3832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gözcü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5204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520440" y="23774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-cü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İsimden İsim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1264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26364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azalmak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2636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263640" y="23774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-al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263640" y="3154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İsimden Fiil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88696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900684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başlamak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90068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9006840" y="23774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-la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9006840" y="3154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İsimden Fiil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6400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777240" y="437540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yazım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7772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777240" y="4786884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-ım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77240" y="556412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Fiilden İsim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3832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3520440" y="437540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bakış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35204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3520440" y="4786884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-ış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3520440" y="556412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Fiilden İsim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1264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6263640" y="437540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yazdırmak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62636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6263640" y="4786884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-dır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263640" y="556412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Fiilden Fiil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88696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9006840" y="437540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görünmek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0068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9006840" y="4786884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-ün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006840" y="556412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Fiilden Fiil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Etkinlik Cevapları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" name="Google Shape;378;p14" descr="icons/kontrol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4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HIZLI HATIRLATMA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Kaldığımız</a:t>
            </a:r>
            <a:r>
              <a:rPr lang="en-US" sz="28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Yer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22960" y="1540448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1051560" y="1769048"/>
            <a:ext cx="2880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mbria"/>
              <a:buNone/>
            </a:pP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Yapım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Eki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051560" y="2193482"/>
            <a:ext cx="288036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Köke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eklenip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yeni,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bağımsız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anlamlı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türetir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526280" y="2319027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4754880" y="2547627"/>
            <a:ext cx="2880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mbria"/>
              <a:buNone/>
            </a:pPr>
            <a:r>
              <a:rPr lang="en-US" sz="21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4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Grup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655820" y="2910720"/>
            <a:ext cx="2880360" cy="110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İsim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8229600" y="3251546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8458200" y="3480146"/>
            <a:ext cx="2880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mbria"/>
              <a:buNone/>
            </a:pP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Eş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Sesli</a:t>
            </a:r>
            <a:r>
              <a:rPr lang="en-US" sz="21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Ekler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8458200" y="3904580"/>
            <a:ext cx="288036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Aynı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ek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bazen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bazen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olabilir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(-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ım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-de, -e).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Hızlı Hatırlatma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8" name="Google Shape;398;p15" descr="icons/derinli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DERINLEŞME · 1/2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Çok Ekli Sözcüklerde Yapım Eki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40080" y="1645920"/>
            <a:ext cx="1088136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 birden fazla ek almışsa, ekleri sondan başlayarak tek tek soyarız — hangi eklerin yapım, hangilerinin çekim olduğunu ayırt ederiz.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640080" y="2493391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868680" y="2493391"/>
            <a:ext cx="3136392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öğretmenlerimizin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114800" y="2493391"/>
            <a:ext cx="1261872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-in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5486400" y="2493391"/>
            <a:ext cx="580644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tamlayan eki (çekim)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960120" y="3115183"/>
            <a:ext cx="1024128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188720" y="3115183"/>
            <a:ext cx="29260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öğretmenlerimiz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114800" y="3115183"/>
            <a:ext cx="1261872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-miz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486400" y="3115183"/>
            <a:ext cx="54864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iyelik eki (çekim)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280160" y="3736975"/>
            <a:ext cx="96012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508760" y="3736975"/>
            <a:ext cx="29260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öğretmenler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114800" y="3736975"/>
            <a:ext cx="1261872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-ler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486400" y="3736975"/>
            <a:ext cx="5166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çoğul eki (çekim)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600200" y="4358767"/>
            <a:ext cx="8961120" cy="54864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828800" y="4358767"/>
            <a:ext cx="29260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öğretmen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114800" y="4358767"/>
            <a:ext cx="1261872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2318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8E2318"/>
                </a:solidFill>
                <a:latin typeface="Calibri"/>
                <a:ea typeface="Calibri"/>
                <a:cs typeface="Calibri"/>
                <a:sym typeface="Calibri"/>
              </a:rPr>
              <a:t>-men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486400" y="4358767"/>
            <a:ext cx="50292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1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tr-TR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100" b="0" i="1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iilden</a:t>
            </a:r>
            <a:r>
              <a:rPr lang="en-US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100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sim)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920240" y="4980559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2148840" y="4980559"/>
            <a:ext cx="786384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öğret-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114800" y="4980559"/>
            <a:ext cx="68580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→ daha fazla bölünemez, tek başına anlamlı: KÖK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Derinleşme — Çok Ekli Sözcükler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16" descr="icons/derinli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6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DERINLEŞME · 2/2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Yapım Eki Sanılan Tuzaklar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640080" y="1529596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914400" y="1529596"/>
            <a:ext cx="10332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Kural:  </a:t>
            </a:r>
            <a:r>
              <a:rPr lang="en-US" sz="20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Her benzer görünen parça yapım eki değildir. Kaynaştırma harflerini ekle karıştırmayın; kökeni belirsiz/kalıplaşmış sözcükleri de zorla bölmeyin.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40080" y="276403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914400" y="2919484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914400" y="2919484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okuyucu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2834640" y="2764036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"oku-y-ucu" — "y" bir KAYNAŞTIRMA HARFİDİR, ek değildir. Gerçek yapım eki "-ucu"dur (Fiilden İsim: oku- + ucu).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640080" y="386131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914400" y="4016764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14400" y="4016764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kelebek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2834640" y="3861316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kel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 + "-</a:t>
            </a:r>
            <a:r>
              <a:rPr lang="tr-TR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 DEĞİL —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kelebek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kökeni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tarihsel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belirsiz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günümüzde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bölünemeyen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tek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sözcüktür</a:t>
            </a:r>
            <a:r>
              <a:rPr lang="en-US" sz="2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40080" y="5042787"/>
            <a:ext cx="10881360" cy="1224413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914400" y="5159123"/>
            <a:ext cx="1033272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None/>
            </a:pPr>
            <a:r>
              <a:rPr lang="en-US" sz="185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Altın</a:t>
            </a:r>
            <a:r>
              <a:rPr lang="en-US" sz="185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kural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Bir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parçayı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ek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sayabilmek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için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onu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çıkardığınızda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geriye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anlamlı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bağımsız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kök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kalmalı</a:t>
            </a:r>
            <a:r>
              <a:rPr lang="en-US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tr-TR" sz="18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None/>
            </a:pPr>
            <a:endParaRPr lang="tr-TR" sz="1850" b="1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None/>
            </a:pPr>
            <a:r>
              <a:rPr lang="tr-TR" sz="185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Dikkat</a:t>
            </a:r>
            <a:r>
              <a:rPr lang="tr-TR" sz="185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Bu işlemi yaparken de kök ve gövde arasındaki anlam ilişkisine bakılmalı.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None/>
            </a:pPr>
            <a:r>
              <a:rPr lang="tr-TR" sz="185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lang="tr-TR" sz="1850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kel+ebek</a:t>
            </a:r>
            <a:r>
              <a:rPr lang="tr-TR" sz="185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(«kel» ile «kelebek» arasında hiçbir anlam bağlantısı yoktur.</a:t>
            </a:r>
            <a:endParaRPr sz="1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</a:t>
            </a:r>
            <a:r>
              <a:rPr lang="en-US" sz="900" b="0" i="0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Derinleşme</a:t>
            </a:r>
            <a:r>
              <a:rPr lang="en-US" sz="900" b="0" i="0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900" b="0" i="0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Tuzaklar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2" name="Google Shape;452;p17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7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1/3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Soru Çözümü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(ÖYS - 1988)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640080" y="1645920"/>
            <a:ext cx="10908792" cy="4440248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914400" y="1828800"/>
            <a:ext cx="10360152" cy="79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Aşağıdaki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cümlelerin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hangisindeki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altı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çizili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sözcük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işlevi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bakımından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ötekilerden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farklı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ek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almıştır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914400" y="2860041"/>
            <a:ext cx="10360152" cy="36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A) 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Bugünlerde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birçok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yeni </a:t>
            </a:r>
            <a:r>
              <a:rPr lang="en-US" sz="2050" b="0" i="0" u="sng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yayın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piyasaya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çıktı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914400" y="3459545"/>
            <a:ext cx="10360152" cy="36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B) 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Bunları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defterlerinize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sng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yazın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ileride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size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gerekebilir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914400" y="4059051"/>
            <a:ext cx="10360152" cy="36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C) 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Akşama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kadar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evde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tr-TR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sng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yığın</a:t>
            </a:r>
            <a:r>
              <a:rPr lang="tr-TR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iş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yaptı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914400" y="4658557"/>
            <a:ext cx="10360152" cy="36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D) 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Yazarın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kitabında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sng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dizin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bölümü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yok.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914400" y="5258062"/>
            <a:ext cx="10360152" cy="36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50"/>
              <a:buFont typeface="Calibri"/>
              <a:buNone/>
            </a:pPr>
            <a:r>
              <a:rPr lang="en-US" sz="205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E) 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Turizmde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yıl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Karadeniz'e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50" b="0" i="0" u="sng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akın</a:t>
            </a:r>
            <a:r>
              <a:rPr lang="en-US" sz="205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var.</a:t>
            </a:r>
            <a:endParaRPr sz="2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1 — gerçek ÖSYM sorusu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1" name="Google Shape;471;p18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8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1/3  ·  ÇÖZÜM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Çözüm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(ÖYS - 1988)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ÇÖZÜM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914400" y="2514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874520" y="251460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Doğru cevap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914400" y="3428096"/>
            <a:ext cx="10360152" cy="242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en-US" sz="1850" b="1" i="0" u="none" strike="noStrike" cap="none" dirty="0" err="1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yazın</a:t>
            </a:r>
            <a:r>
              <a:rPr lang="en-US" sz="185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8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doğru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cevap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A) yay-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C)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yığ-ın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D)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diz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-in, E)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ak-ın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sözcüklerindeki</a:t>
            </a:r>
            <a:endParaRPr lang="tr-TR" sz="1850" b="0" i="0" u="none" strike="noStrike" cap="none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endParaRPr lang="tr-TR" sz="185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"-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/-in"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isim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yapan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YAPIM EKİDİR. </a:t>
            </a:r>
            <a:endParaRPr lang="tr-TR" sz="1850" b="0" i="0" u="none" strike="noStrike" cap="none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endParaRPr lang="tr-TR" sz="185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B'deki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yaz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sözcüğüne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gelen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"-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ise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emir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kipinin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2.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çoğul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kişi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ekidir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ÇEKİM EKİDİR.</a:t>
            </a:r>
            <a:endParaRPr sz="1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1 — çözüm — gerçek ÖSYM sorusu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9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19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9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2/3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Soru Çözümü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(TYT - 2018)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649133" y="1592777"/>
            <a:ext cx="10908792" cy="4434840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914400" y="1667207"/>
            <a:ext cx="10360152" cy="137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Yüzü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ne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kadar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solgun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! Mavi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ışık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altında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suyun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içindeymiş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gibi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titrek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(I)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bulanık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görünüşü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(II) var.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Saçlarının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koyu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siyahıyla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şakaklarının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(III) mat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hasta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beyazlığı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renksiz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ince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uzun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yüzüne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zıt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ihtiraslarının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manasını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kadar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kuvvetle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yansıtıyor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(IV) ki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sık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açılıp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kapanan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gözleri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kendini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saklamak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için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yapılan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nafile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çırpınış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(V)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gibi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geliyor</a:t>
            </a:r>
            <a:r>
              <a:rPr lang="en-US" sz="22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." 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parçada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numaralanmış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sözcüklerden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hangileri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hem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hem de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almıştır</a:t>
            </a:r>
            <a:r>
              <a:rPr lang="en-US" sz="22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914400" y="3576542"/>
            <a:ext cx="10360152" cy="3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A)  </a:t>
            </a:r>
            <a:r>
              <a:rPr lang="en-US" sz="19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 ve III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914400" y="4059098"/>
            <a:ext cx="10360152" cy="3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B)  </a:t>
            </a:r>
            <a:r>
              <a:rPr lang="en-US" sz="19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 ve IV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914400" y="4541653"/>
            <a:ext cx="10360152" cy="3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00"/>
              <a:buFont typeface="Calibri"/>
              <a:buNone/>
            </a:pPr>
            <a:r>
              <a:rPr lang="en-US" sz="19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C)  </a:t>
            </a:r>
            <a:r>
              <a:rPr lang="en-US" sz="19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II </a:t>
            </a:r>
            <a:r>
              <a:rPr lang="en-US" sz="19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9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III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914400" y="5024209"/>
            <a:ext cx="10360152" cy="3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D)  </a:t>
            </a:r>
            <a:r>
              <a:rPr lang="en-US" sz="19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II ve IV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914400" y="5506764"/>
            <a:ext cx="10360152" cy="33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900"/>
              <a:buFont typeface="Calibri"/>
              <a:buNone/>
            </a:pPr>
            <a:r>
              <a:rPr lang="en-US" sz="19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E)  </a:t>
            </a:r>
            <a:r>
              <a:rPr lang="en-US" sz="19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II </a:t>
            </a:r>
            <a:r>
              <a:rPr lang="en-US" sz="19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19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2 — gerçek ÖSYM sorusu (TYT)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9" name="Google Shape;509;p20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0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2/3  ·  ÇÖZÜM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Çözüm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(TYT - 2018)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914400" y="1898972"/>
            <a:ext cx="777240" cy="77724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914400" y="189897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874520" y="1898972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lang="en-US" sz="19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Doğru</a:t>
            </a:r>
            <a:r>
              <a:rPr lang="en-US" sz="19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cevap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60120" y="2792104"/>
            <a:ext cx="10360152" cy="242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II </a:t>
            </a:r>
            <a:r>
              <a:rPr lang="en-US" sz="2400" b="1" i="0" u="none" strike="noStrike" cap="none" dirty="0" err="1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40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 IV  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doğru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cevap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II.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gör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ün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üş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-ü → "-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ün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), "-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üş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isim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), "-ü"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iyelik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hem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hem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50"/>
              <a:buFont typeface="Calibri"/>
              <a:buNone/>
            </a:pP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IV.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yansı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-t-</a:t>
            </a:r>
            <a:r>
              <a:rPr lang="tr-TR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</a:t>
            </a:r>
            <a:r>
              <a:rPr lang="tr-TR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yor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→ "-t"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fiilden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fiil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), "-</a:t>
            </a:r>
            <a:r>
              <a:rPr lang="tr-TR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</a:t>
            </a:r>
            <a:r>
              <a:rPr lang="tr-TR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yor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şimdiki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zaman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hem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hem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5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Diğer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sözcükler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yalnızca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tek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tür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ek </a:t>
            </a:r>
            <a:r>
              <a:rPr lang="en-US" sz="2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almıştır</a:t>
            </a:r>
            <a:r>
              <a:rPr lang="en-US" sz="2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2 — çözüm — gerçek ÖSYM sorusu (TYT)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8" name="Google Shape;528;p21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3/3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Soru Çözümü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1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(LYS - 2010)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640080" y="1645920"/>
            <a:ext cx="10908792" cy="4624197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914400" y="1828800"/>
            <a:ext cx="10360152" cy="14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Karikatür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insanların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varlıkların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olayların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hatta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duygu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düşüncelerin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(I)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gülünç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yanını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(II)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yakalayıp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bunu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abartılı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(III)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çizimlerle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gülmecesel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(IV)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sng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anlatıma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(V)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dönüştürme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sanatıdır</a:t>
            </a:r>
            <a:r>
              <a:rPr lang="en-US" sz="2400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." 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parçadaki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numaralanmış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sözcüklerden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hangisi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yalnızca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almıştır</a:t>
            </a:r>
            <a:r>
              <a:rPr lang="en-US" sz="24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914400" y="3509264"/>
            <a:ext cx="10360152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A)  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914400" y="4015715"/>
            <a:ext cx="10360152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B)  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914400" y="4522165"/>
            <a:ext cx="10360152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C)  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914400" y="5028616"/>
            <a:ext cx="10360152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D)  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914400" y="5535066"/>
            <a:ext cx="10360152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E)  </a:t>
            </a: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3 — gerçek ÖSYM sorusu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7" name="Google Shape;547;p22" descr="icons/soru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2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ÖRNEK SORU · 3/3  ·  ÇÖZÜM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Çözüm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ÖSYM (LYS - 2010)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914400" y="1926131"/>
            <a:ext cx="777240" cy="77724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2"/>
          <p:cNvSpPr/>
          <p:nvPr/>
        </p:nvSpPr>
        <p:spPr>
          <a:xfrm>
            <a:off x="914400" y="1926131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1874520" y="1926131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Doğru cevap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960120" y="2846422"/>
            <a:ext cx="10360152" cy="242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II. </a:t>
            </a:r>
            <a:r>
              <a:rPr lang="en-US" sz="1850" b="1" i="0" u="none" strike="noStrike" cap="none" dirty="0" err="1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yanını</a:t>
            </a:r>
            <a:r>
              <a:rPr lang="en-US" sz="185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8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doğru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cevap</a:t>
            </a:r>
            <a: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I'deki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düş</a:t>
            </a:r>
            <a:r>
              <a:rPr lang="en-US" sz="1850" b="1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ünce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lerin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", </a:t>
            </a:r>
            <a:r>
              <a:rPr lang="tr-TR" sz="185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III'teki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abart</a:t>
            </a:r>
            <a:r>
              <a:rPr lang="en-US" sz="1850" b="1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ılı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", </a:t>
            </a:r>
            <a:endParaRPr lang="tr-TR" sz="1850" b="0" i="0" u="none" strike="noStrike" cap="none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IV'teki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gül</a:t>
            </a:r>
            <a:r>
              <a:rPr lang="en-US" sz="1850" b="1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mecesel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", </a:t>
            </a:r>
            <a:r>
              <a:rPr lang="tr-TR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V'teki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anla</a:t>
            </a:r>
            <a:r>
              <a:rPr lang="en-US" sz="1850" b="1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tım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endParaRPr lang="tr-TR" sz="1850" b="0" i="0" u="none" strike="noStrike" cap="none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endParaRPr lang="tr-TR" sz="185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sözcüklerinde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koyu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yazılı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kısımlar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ekidir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lang="tr-TR" sz="1850" b="0" i="0" u="none" strike="noStrike" cap="none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endParaRPr lang="tr-TR" sz="185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II'deki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yanını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sözcüğü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ise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tr-TR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yan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-ı-</a:t>
            </a:r>
            <a:r>
              <a:rPr lang="tr-TR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tr-TR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ı</a:t>
            </a:r>
            <a:r>
              <a:rPr lang="tr-TR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yalnızca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iyelik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belirtme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8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almıştır</a:t>
            </a:r>
            <a:r>
              <a:rPr lang="en-US" sz="18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Örnek Soru 3 — çözüm — gerçek ÖSYM sorusu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23" descr="icons/kontrol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3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DERS SONU KONTROL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Hızlı Kontrol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Aşağıdaki sözcüklerdeki yapım ekini birlikte söyleyelim: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7724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777240" y="2779236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800" b="1" i="1" u="none" strike="noStrike" cap="none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sevgi</a:t>
            </a:r>
            <a:endParaRPr sz="2800" b="1" i="0" u="none" strike="noStrike" cap="none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47472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474720" y="2779236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800" b="1" i="1" u="none" strike="noStrike" cap="none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yazar</a:t>
            </a:r>
            <a:endParaRPr sz="2800" b="1" i="0" u="none" strike="noStrike" cap="none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617220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6172200" y="2779236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800" b="1" i="1" u="none" strike="noStrike" cap="none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gözlük</a:t>
            </a:r>
            <a:endParaRPr sz="2800" b="1" i="0" u="none" strike="noStrike" cap="none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886968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8869680" y="2779236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800" b="1" i="1" u="none" strike="noStrike" cap="none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tanıdık</a:t>
            </a:r>
            <a:endParaRPr sz="2800" b="1" i="0" u="none" strike="noStrike" cap="none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640080" y="4011676"/>
            <a:ext cx="10881360" cy="81280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914400" y="4011676"/>
            <a:ext cx="1033272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 dört sözcüğün yapım ekini doğru söyleyebiliyorsanız, bugünkü hedefe ulaştınız!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Hızlı Kontrol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23" descr="icons/kontrol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3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DERS SONU KONTROL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Hızlı Kontrol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Aşağıdaki sözcüklerdeki yapım ekini birlikte söyleyelim: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7724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777240" y="2344674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 dirty="0" err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sevgi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777240" y="27691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777240" y="31755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gi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47472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474720" y="2344674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yazar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3474720" y="27691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3474720" y="31755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-ar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617220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6172200" y="2344674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gözlük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6172200" y="27691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6172200" y="31755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lang="en-US" sz="2000" b="1" i="0" u="none" strike="noStrike" cap="none" dirty="0" err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lük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8869680" y="2207514"/>
            <a:ext cx="2514600" cy="1438402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8869680" y="2344674"/>
            <a:ext cx="25146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tanıdık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8869680" y="27691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8869680" y="3175508"/>
            <a:ext cx="251460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-dık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640080" y="4011676"/>
            <a:ext cx="10881360" cy="81280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914400" y="4011676"/>
            <a:ext cx="1033272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 dört sözcüğün yapım ekini doğru söyleyebiliyorsanız, bugünkü hedefe ulaştınız!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Hızlı Kontrol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6712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4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24" descr="icons/liste_amb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126" y="119100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4"/>
          <p:cNvSpPr/>
          <p:nvPr/>
        </p:nvSpPr>
        <p:spPr>
          <a:xfrm>
            <a:off x="640080" y="21031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Ders Özeti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640080" y="2743200"/>
            <a:ext cx="320040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8D6"/>
              </a:buClr>
              <a:buSzPts val="2100"/>
              <a:buFont typeface="Calibri"/>
              <a:buNone/>
            </a:pPr>
            <a:r>
              <a:rPr lang="en-US" sz="2100" b="0" i="1" u="none" strike="noStrike" cap="none">
                <a:solidFill>
                  <a:srgbClr val="9FB8D6"/>
                </a:solidFill>
                <a:latin typeface="Calibri"/>
                <a:ea typeface="Calibri"/>
                <a:cs typeface="Calibri"/>
                <a:sym typeface="Calibri"/>
              </a:rPr>
              <a:t>Yapım Eki — Ders 2/6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466344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BUGÜN ÖĞRENDIKLERIMIZ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4663440" y="1234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4"/>
          <p:cNvSpPr/>
          <p:nvPr/>
        </p:nvSpPr>
        <p:spPr>
          <a:xfrm>
            <a:off x="4663440" y="1234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 Eki Tanımı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7589520" y="12344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4"/>
          <p:cNvSpPr/>
          <p:nvPr/>
        </p:nvSpPr>
        <p:spPr>
          <a:xfrm>
            <a:off x="7589520" y="1234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İsimden İsim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4663440" y="1828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466344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İsimden Fiil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7040880" y="1828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4"/>
          <p:cNvSpPr/>
          <p:nvPr/>
        </p:nvSpPr>
        <p:spPr>
          <a:xfrm>
            <a:off x="704088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Fiilden İsim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9418320" y="1828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Fiilden Fiil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4663440" y="2423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4"/>
          <p:cNvSpPr/>
          <p:nvPr/>
        </p:nvSpPr>
        <p:spPr>
          <a:xfrm>
            <a:off x="4663440" y="24231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Eş Sesli Ekler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4663440" y="2880360"/>
            <a:ext cx="6903720" cy="1371600"/>
          </a:xfrm>
          <a:prstGeom prst="roundRect">
            <a:avLst>
              <a:gd name="adj" fmla="val 8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4"/>
          <p:cNvSpPr/>
          <p:nvPr/>
        </p:nvSpPr>
        <p:spPr>
          <a:xfrm>
            <a:off x="4937760" y="301752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Yapım eki,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köke eklenip ondan yeni, bağımsız anlamlı bir sözcük türetir. </a:t>
            </a:r>
            <a:r>
              <a:rPr lang="en-US" sz="15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4 grubu vardır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(İsimden İsim, İsimden Fiil, Fiilden İsim, Fiilden Fiil). Bazı ekler aynı görünüp bazen yapım, bazen çekim eki olabilir — bu yüzden görevine bakmak gerekir.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4663440" y="4434840"/>
            <a:ext cx="690372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4937760" y="459028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SIRADAKİ DERS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4937760" y="486460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42A44"/>
                </a:solidFill>
                <a:latin typeface="Cambria"/>
                <a:ea typeface="Cambria"/>
                <a:cs typeface="Cambria"/>
                <a:sym typeface="Cambria"/>
              </a:rPr>
              <a:t>Çekim Eki (Ders 3/6)  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4" name="Google Shape;624;p25" descr="icons/odev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098" y="6926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5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PEKIŞTIRME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Ödev: Yapım Eki Bulma Alıştırması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Sıradaki derse kadar aşağıdaki 10 sözcüğün yapım ekini/eklerini bulup hangi gruba ait olduğunu defterinize yazın: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640080" y="2729719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640080" y="2847408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100" b="1" i="0" u="none" strike="noStrike" cap="none" dirty="0" err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kalemlik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2834640" y="2729719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2834640" y="2847408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2. bahçesiz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5029200" y="2729719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5029200" y="2847408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3. tanıdıkça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7223760" y="2729719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7223760" y="2847408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4. öğretici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9418320" y="2729719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5"/>
          <p:cNvSpPr/>
          <p:nvPr/>
        </p:nvSpPr>
        <p:spPr>
          <a:xfrm>
            <a:off x="9418320" y="2847408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5. kitapçıkta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640080" y="425930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640080" y="4386050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6. gözlemci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2834640" y="425930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2834640" y="4386050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7. dinleyici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5029200" y="425930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5029200" y="4386050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8. akıllandı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7223760" y="425930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7223760" y="4386050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9. sevindirici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9418320" y="425930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9418320" y="4386050"/>
            <a:ext cx="2011680" cy="37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10. koşuşturdu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640080" y="5481968"/>
            <a:ext cx="1088136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784098" y="5527688"/>
            <a:ext cx="1033272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Not: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Bazı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sözcükler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birden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fazla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içerir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Derinleşme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bölümündeki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katman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soyma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yöntemini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kullanın</a:t>
            </a:r>
            <a:r>
              <a:rPr lang="en-US" sz="20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TYT TÜRKÇE  ·  SÖZCÜKTE YAPI  ·  Ödev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Ders 2 /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6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6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9" name="Google Shape;659;p26" descr="icons/kapanis_amb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" y="7132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6"/>
          <p:cNvSpPr/>
          <p:nvPr/>
        </p:nvSpPr>
        <p:spPr>
          <a:xfrm>
            <a:off x="1508760" y="5943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Ders Tamamlandı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8D6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FB8D6"/>
                </a:solidFill>
                <a:latin typeface="Calibri"/>
                <a:ea typeface="Calibri"/>
                <a:cs typeface="Calibri"/>
                <a:sym typeface="Calibri"/>
              </a:rPr>
              <a:t>Yapım Eki — Sözcükte Yapı, Ders 2/6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640080" y="2103120"/>
            <a:ext cx="7040880" cy="1828800"/>
          </a:xfrm>
          <a:prstGeom prst="roundRect">
            <a:avLst>
              <a:gd name="adj" fmla="val 6000"/>
            </a:avLst>
          </a:prstGeom>
          <a:solidFill>
            <a:srgbClr val="254B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63" name="Google Shape;663;p26"/>
          <p:cNvSpPr/>
          <p:nvPr/>
        </p:nvSpPr>
        <p:spPr>
          <a:xfrm>
            <a:off x="804672" y="2331720"/>
            <a:ext cx="6745918" cy="143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Bugün</a:t>
            </a:r>
            <a:r>
              <a:rPr lang="en-US" sz="240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öğrendik</a:t>
            </a:r>
            <a:r>
              <a:rPr lang="en-US" sz="2400" b="1" i="0" u="none" strike="noStrike" cap="none" dirty="0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nedir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dört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grubu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eş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sesli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çekim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karışan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ekler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yapım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bulmayla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ilgili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sık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yapılan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hatalar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640080" y="4160520"/>
            <a:ext cx="704088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914400" y="431596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42A44"/>
                </a:solidFill>
                <a:latin typeface="Calibri"/>
                <a:ea typeface="Calibri"/>
                <a:cs typeface="Calibri"/>
                <a:sym typeface="Calibri"/>
              </a:rPr>
              <a:t>SIRADAKİ DERS (3/6)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914400" y="459028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A44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42A44"/>
                </a:solidFill>
                <a:latin typeface="Cambria"/>
                <a:ea typeface="Cambria"/>
                <a:cs typeface="Cambria"/>
                <a:sym typeface="Cambria"/>
              </a:rPr>
              <a:t>Çekim Eki  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CB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8CB0"/>
                </a:solidFill>
                <a:latin typeface="Calibri"/>
                <a:ea typeface="Calibri"/>
                <a:cs typeface="Calibri"/>
                <a:sym typeface="Calibri"/>
              </a:rPr>
              <a:t>TYT Türkçe Ders Anlatım Projesi  ·  Sedat GÜLER ve Claude Opus 5 tarafından üretilmiştir.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Microsoft Office PowerPoint</Application>
  <PresentationFormat>Geniş ekran</PresentationFormat>
  <Paragraphs>388</Paragraphs>
  <Slides>27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trapper404040@outlook.com</cp:lastModifiedBy>
  <cp:revision>1</cp:revision>
  <dcterms:created xsi:type="dcterms:W3CDTF">2026-09-12T19:53:56Z</dcterms:created>
  <dcterms:modified xsi:type="dcterms:W3CDTF">2026-09-20T18:37:20Z</dcterms:modified>
</cp:coreProperties>
</file>