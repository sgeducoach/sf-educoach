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70" r:id="rId14"/>
    <p:sldId id="271" r:id="rId15"/>
    <p:sldId id="278" r:id="rId16"/>
    <p:sldId id="272" r:id="rId17"/>
    <p:sldId id="279" r:id="rId18"/>
    <p:sldId id="273" r:id="rId19"/>
    <p:sldId id="280" r:id="rId20"/>
    <p:sldId id="269" r:id="rId21"/>
    <p:sldId id="274" r:id="rId22"/>
    <p:sldId id="275" r:id="rId23"/>
    <p:sldId id="276" r:id="rId24"/>
    <p:sldId id="277"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2" d="100"/>
          <a:sy n="112" d="100"/>
        </p:scale>
        <p:origin x="51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323599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5F"/>
        </a:solidFill>
        <a:effectLst/>
      </p:bgPr>
    </p:bg>
    <p:spTree>
      <p:nvGrpSpPr>
        <p:cNvPr id="1" name=""/>
        <p:cNvGrpSpPr/>
        <p:nvPr/>
      </p:nvGrpSpPr>
      <p:grpSpPr>
        <a:xfrm>
          <a:off x="0" y="0"/>
          <a:ext cx="0" cy="0"/>
          <a:chOff x="0" y="0"/>
          <a:chExt cx="0" cy="0"/>
        </a:xfrm>
      </p:grpSpPr>
      <p:sp>
        <p:nvSpPr>
          <p:cNvPr id="2" name="Shape 0"/>
          <p:cNvSpPr/>
          <p:nvPr/>
        </p:nvSpPr>
        <p:spPr>
          <a:xfrm>
            <a:off x="7863840" y="0"/>
            <a:ext cx="4325112" cy="6858000"/>
          </a:xfrm>
          <a:prstGeom prst="rect">
            <a:avLst/>
          </a:prstGeom>
          <a:solidFill>
            <a:srgbClr val="142A44"/>
          </a:solidFill>
          <a:ln/>
        </p:spPr>
      </p:sp>
      <p:sp>
        <p:nvSpPr>
          <p:cNvPr id="3" name="Text 1"/>
          <p:cNvSpPr/>
          <p:nvPr/>
        </p:nvSpPr>
        <p:spPr>
          <a:xfrm>
            <a:off x="640080" y="960120"/>
            <a:ext cx="7315200" cy="320040"/>
          </a:xfrm>
          <a:prstGeom prst="rect">
            <a:avLst/>
          </a:prstGeom>
          <a:noFill/>
          <a:ln/>
        </p:spPr>
        <p:txBody>
          <a:bodyPr wrap="square" lIns="0" tIns="0" rIns="0" bIns="0"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SÖZCÜKTE ANLAM · DERS 2/3</a:t>
            </a:r>
            <a:endParaRPr lang="en-US" sz="1300" dirty="0"/>
          </a:p>
        </p:txBody>
      </p:sp>
      <p:sp>
        <p:nvSpPr>
          <p:cNvPr id="4" name="Text 2"/>
          <p:cNvSpPr/>
          <p:nvPr/>
        </p:nvSpPr>
        <p:spPr>
          <a:xfrm>
            <a:off x="594360" y="1234440"/>
            <a:ext cx="6949440" cy="160020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Çok Anlamlılık ve</a:t>
            </a:r>
            <a:endParaRPr lang="en-US" sz="3800" dirty="0"/>
          </a:p>
          <a:p>
            <a:pPr marL="0" indent="0">
              <a:buNone/>
            </a:pPr>
            <a:r>
              <a:rPr lang="en-US" sz="3800" b="1" dirty="0">
                <a:solidFill>
                  <a:srgbClr val="FFFFFF"/>
                </a:solidFill>
                <a:latin typeface="Cambria" pitchFamily="34" charset="0"/>
                <a:ea typeface="Cambria" pitchFamily="34" charset="-122"/>
                <a:cs typeface="Cambria" pitchFamily="34" charset="-120"/>
              </a:rPr>
              <a:t>Bağlama Uygun Sözcük</a:t>
            </a:r>
            <a:endParaRPr lang="en-US" sz="3800" dirty="0"/>
          </a:p>
        </p:txBody>
      </p:sp>
      <p:sp>
        <p:nvSpPr>
          <p:cNvPr id="5" name="Text 3"/>
          <p:cNvSpPr/>
          <p:nvPr/>
        </p:nvSpPr>
        <p:spPr>
          <a:xfrm>
            <a:off x="640080" y="2788920"/>
            <a:ext cx="6949440" cy="457200"/>
          </a:xfrm>
          <a:prstGeom prst="rect">
            <a:avLst/>
          </a:prstGeom>
          <a:noFill/>
          <a:ln/>
        </p:spPr>
        <p:txBody>
          <a:bodyPr wrap="square" lIns="0" tIns="0" rIns="0" bIns="0" rtlCol="0" anchor="ctr"/>
          <a:lstStyle/>
          <a:p>
            <a:pPr marL="0" indent="0">
              <a:buNone/>
            </a:pPr>
            <a:r>
              <a:rPr lang="en-US" sz="2000" i="1" dirty="0">
                <a:solidFill>
                  <a:srgbClr val="CADCFC"/>
                </a:solidFill>
                <a:latin typeface="Calibri" pitchFamily="34" charset="0"/>
                <a:ea typeface="Calibri" pitchFamily="34" charset="-122"/>
                <a:cs typeface="Calibri" pitchFamily="34" charset="-120"/>
              </a:rPr>
              <a:t>Boşluğa Hangi Sözcük Sığar? Numaralanan Söz Doğru mu?</a:t>
            </a:r>
            <a:endParaRPr lang="en-US" sz="2000" dirty="0"/>
          </a:p>
        </p:txBody>
      </p:sp>
      <p:sp>
        <p:nvSpPr>
          <p:cNvPr id="6" name="Shape 4"/>
          <p:cNvSpPr/>
          <p:nvPr/>
        </p:nvSpPr>
        <p:spPr>
          <a:xfrm>
            <a:off x="640080" y="3520440"/>
            <a:ext cx="2478024" cy="384048"/>
          </a:xfrm>
          <a:prstGeom prst="roundRect">
            <a:avLst>
              <a:gd name="adj" fmla="val 50000"/>
            </a:avLst>
          </a:prstGeom>
          <a:solidFill>
            <a:srgbClr val="142A44"/>
          </a:solidFill>
          <a:ln w="12700">
            <a:solidFill>
              <a:srgbClr val="D9A441"/>
            </a:solidFill>
            <a:prstDash val="solid"/>
          </a:ln>
        </p:spPr>
      </p:sp>
      <p:sp>
        <p:nvSpPr>
          <p:cNvPr id="7" name="Text 5"/>
          <p:cNvSpPr/>
          <p:nvPr/>
        </p:nvSpPr>
        <p:spPr>
          <a:xfrm>
            <a:off x="640080" y="3520440"/>
            <a:ext cx="2478024" cy="384048"/>
          </a:xfrm>
          <a:prstGeom prst="rect">
            <a:avLst/>
          </a:prstGeom>
          <a:noFill/>
          <a:ln/>
        </p:spPr>
        <p:txBody>
          <a:bodyPr wrap="square" lIns="0" tIns="0" rIns="0" bIns="0" rtlCol="0" anchor="ctr"/>
          <a:lstStyle/>
          <a:p>
            <a:pPr marL="0" indent="0" algn="ctr">
              <a:buNone/>
            </a:pPr>
            <a:r>
              <a:rPr lang="en-US" sz="1750" dirty="0">
                <a:solidFill>
                  <a:srgbClr val="FFFFFF"/>
                </a:solidFill>
                <a:latin typeface="Calibri" pitchFamily="34" charset="0"/>
                <a:ea typeface="Calibri" pitchFamily="34" charset="-122"/>
                <a:cs typeface="Calibri" pitchFamily="34" charset="-120"/>
              </a:rPr>
              <a:t>40 dk · </a:t>
            </a:r>
            <a:r>
              <a:rPr lang="tr-TR" sz="1750" dirty="0">
                <a:solidFill>
                  <a:srgbClr val="FFFFFF"/>
                </a:solidFill>
                <a:latin typeface="Calibri" pitchFamily="34" charset="0"/>
                <a:ea typeface="Calibri" pitchFamily="34" charset="-122"/>
                <a:cs typeface="Calibri" pitchFamily="34" charset="-120"/>
              </a:rPr>
              <a:t>B</a:t>
            </a:r>
            <a:r>
              <a:rPr lang="en-US" sz="1750" dirty="0" err="1">
                <a:solidFill>
                  <a:srgbClr val="FFFFFF"/>
                </a:solidFill>
                <a:latin typeface="Calibri" pitchFamily="34" charset="0"/>
                <a:ea typeface="Calibri" pitchFamily="34" charset="-122"/>
                <a:cs typeface="Calibri" pitchFamily="34" charset="-120"/>
              </a:rPr>
              <a:t>lokta</a:t>
            </a:r>
            <a:r>
              <a:rPr lang="en-US" sz="1750" dirty="0">
                <a:solidFill>
                  <a:srgbClr val="FFFFFF"/>
                </a:solidFill>
                <a:latin typeface="Calibri" pitchFamily="34" charset="0"/>
                <a:ea typeface="Calibri" pitchFamily="34" charset="-122"/>
                <a:cs typeface="Calibri" pitchFamily="34" charset="-120"/>
              </a:rPr>
              <a:t> 2 föy</a:t>
            </a:r>
            <a:endParaRPr lang="en-US" sz="1750" dirty="0"/>
          </a:p>
        </p:txBody>
      </p:sp>
      <p:sp>
        <p:nvSpPr>
          <p:cNvPr id="8" name="Shape 6"/>
          <p:cNvSpPr/>
          <p:nvPr/>
        </p:nvSpPr>
        <p:spPr>
          <a:xfrm>
            <a:off x="3300984" y="3520440"/>
            <a:ext cx="3342132" cy="384048"/>
          </a:xfrm>
          <a:prstGeom prst="roundRect">
            <a:avLst>
              <a:gd name="adj" fmla="val 50000"/>
            </a:avLst>
          </a:prstGeom>
          <a:solidFill>
            <a:srgbClr val="142A44"/>
          </a:solidFill>
          <a:ln w="12700">
            <a:solidFill>
              <a:srgbClr val="D9A441"/>
            </a:solidFill>
            <a:prstDash val="solid"/>
          </a:ln>
        </p:spPr>
      </p:sp>
      <p:sp>
        <p:nvSpPr>
          <p:cNvPr id="9" name="Text 7"/>
          <p:cNvSpPr/>
          <p:nvPr/>
        </p:nvSpPr>
        <p:spPr>
          <a:xfrm>
            <a:off x="3300984" y="3520440"/>
            <a:ext cx="3342132" cy="384048"/>
          </a:xfrm>
          <a:prstGeom prst="rect">
            <a:avLst/>
          </a:prstGeom>
          <a:noFill/>
          <a:ln/>
        </p:spPr>
        <p:txBody>
          <a:bodyPr wrap="square" lIns="0" tIns="0" rIns="0" bIns="0" rtlCol="0" anchor="ctr"/>
          <a:lstStyle/>
          <a:p>
            <a:pPr marL="0" indent="0" algn="ctr">
              <a:buNone/>
            </a:pPr>
            <a:r>
              <a:rPr lang="en-US" sz="1750" dirty="0">
                <a:solidFill>
                  <a:srgbClr val="FFFFFF"/>
                </a:solidFill>
                <a:latin typeface="Calibri" pitchFamily="34" charset="0"/>
                <a:ea typeface="Calibri" pitchFamily="34" charset="-122"/>
                <a:cs typeface="Calibri" pitchFamily="34" charset="-120"/>
              </a:rPr>
              <a:t>Anlam Bilgisi · Hafta 2</a:t>
            </a:r>
            <a:endParaRPr lang="en-US" sz="1750" dirty="0"/>
          </a:p>
        </p:txBody>
      </p:sp>
      <p:sp>
        <p:nvSpPr>
          <p:cNvPr id="10" name="Shape 8"/>
          <p:cNvSpPr/>
          <p:nvPr/>
        </p:nvSpPr>
        <p:spPr>
          <a:xfrm>
            <a:off x="640080" y="4297680"/>
            <a:ext cx="502920" cy="502920"/>
          </a:xfrm>
          <a:prstGeom prst="ellipse">
            <a:avLst/>
          </a:prstGeom>
          <a:solidFill>
            <a:srgbClr val="254B78"/>
          </a:solidFill>
          <a:ln/>
        </p:spPr>
      </p:sp>
      <p:pic>
        <p:nvPicPr>
          <p:cNvPr id="11" name="Image 0" descr="icons/cover_amber.png"/>
          <p:cNvPicPr>
            <a:picLocks noChangeAspect="1"/>
          </p:cNvPicPr>
          <p:nvPr/>
        </p:nvPicPr>
        <p:blipFill>
          <a:blip r:embed="rId3"/>
          <a:stretch>
            <a:fillRect/>
          </a:stretch>
        </p:blipFill>
        <p:spPr>
          <a:xfrm>
            <a:off x="740664" y="4398264"/>
            <a:ext cx="301752" cy="301752"/>
          </a:xfrm>
          <a:prstGeom prst="rect">
            <a:avLst/>
          </a:prstGeom>
        </p:spPr>
      </p:pic>
      <p:sp>
        <p:nvSpPr>
          <p:cNvPr id="12" name="Text 9"/>
          <p:cNvSpPr/>
          <p:nvPr/>
        </p:nvSpPr>
        <p:spPr>
          <a:xfrm>
            <a:off x="1280160" y="4297680"/>
            <a:ext cx="4572000" cy="502920"/>
          </a:xfrm>
          <a:prstGeom prst="rect">
            <a:avLst/>
          </a:prstGeom>
          <a:noFill/>
          <a:ln/>
        </p:spPr>
        <p:txBody>
          <a:bodyPr wrap="square" lIns="0" tIns="0" rIns="0" bIns="0" rtlCol="0" anchor="ctr"/>
          <a:lstStyle/>
          <a:p>
            <a:pPr marL="0" indent="0">
              <a:buNone/>
            </a:pPr>
            <a:r>
              <a:rPr lang="en-US" sz="1200" dirty="0">
                <a:solidFill>
                  <a:srgbClr val="9FB8D6"/>
                </a:solidFill>
                <a:latin typeface="Calibri" pitchFamily="34" charset="0"/>
                <a:ea typeface="Calibri" pitchFamily="34" charset="-122"/>
                <a:cs typeface="Calibri" pitchFamily="34" charset="-120"/>
              </a:rPr>
              <a:t>Sedat GÜLER ve Claude Opus 5  ·  TYT Türkçe Ders Anlatım Serisi</a:t>
            </a:r>
            <a:endParaRPr lang="en-US" sz="1200" dirty="0"/>
          </a:p>
        </p:txBody>
      </p:sp>
      <p:sp>
        <p:nvSpPr>
          <p:cNvPr id="13" name="Shape 10"/>
          <p:cNvSpPr/>
          <p:nvPr/>
        </p:nvSpPr>
        <p:spPr>
          <a:xfrm>
            <a:off x="8321040" y="1554480"/>
            <a:ext cx="3291840" cy="822960"/>
          </a:xfrm>
          <a:prstGeom prst="roundRect">
            <a:avLst>
              <a:gd name="adj" fmla="val 8889"/>
            </a:avLst>
          </a:prstGeom>
          <a:solidFill>
            <a:srgbClr val="142A44"/>
          </a:solidFill>
          <a:ln/>
          <a:effectLst>
            <a:outerShdw blurRad="76200" dist="25400" dir="5400000" algn="bl" rotWithShape="0">
              <a:srgbClr val="1E2761">
                <a:alpha val="18000"/>
              </a:srgbClr>
            </a:outerShdw>
          </a:effectLst>
        </p:spPr>
      </p:sp>
      <p:sp>
        <p:nvSpPr>
          <p:cNvPr id="14" name="Text 11"/>
          <p:cNvSpPr/>
          <p:nvPr/>
        </p:nvSpPr>
        <p:spPr>
          <a:xfrm>
            <a:off x="8321040" y="1554480"/>
            <a:ext cx="3291840" cy="82296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Onun ---- fikirlerimi</a:t>
            </a:r>
            <a:endParaRPr lang="en-US" sz="2000" dirty="0"/>
          </a:p>
          <a:p>
            <a:pPr marL="0" indent="0" algn="ctr">
              <a:buNone/>
            </a:pPr>
            <a:r>
              <a:rPr lang="en-US" sz="2000" b="1" dirty="0">
                <a:solidFill>
                  <a:srgbClr val="FFFFFF"/>
                </a:solidFill>
                <a:latin typeface="Calibri" pitchFamily="34" charset="0"/>
                <a:ea typeface="Calibri" pitchFamily="34" charset="-122"/>
                <a:cs typeface="Calibri" pitchFamily="34" charset="-120"/>
              </a:rPr>
              <a:t>görmesi beni sevindirdi.</a:t>
            </a:r>
            <a:endParaRPr lang="en-US" sz="2000" dirty="0"/>
          </a:p>
        </p:txBody>
      </p:sp>
      <p:sp>
        <p:nvSpPr>
          <p:cNvPr id="15" name="Text 12"/>
          <p:cNvSpPr/>
          <p:nvPr/>
        </p:nvSpPr>
        <p:spPr>
          <a:xfrm>
            <a:off x="8321040" y="2468880"/>
            <a:ext cx="3291840" cy="274320"/>
          </a:xfrm>
          <a:prstGeom prst="rect">
            <a:avLst/>
          </a:prstGeom>
          <a:noFill/>
          <a:ln/>
        </p:spPr>
        <p:txBody>
          <a:bodyPr wrap="square" lIns="0" tIns="0" rIns="0" bIns="0" rtlCol="0" anchor="ctr"/>
          <a:lstStyle/>
          <a:p>
            <a:pPr marL="0" indent="0" algn="ctr">
              <a:buNone/>
            </a:pPr>
            <a:r>
              <a:rPr lang="en-US" sz="1500" i="1" dirty="0">
                <a:solidFill>
                  <a:srgbClr val="9FB8D6"/>
                </a:solidFill>
                <a:latin typeface="Calibri" pitchFamily="34" charset="0"/>
                <a:ea typeface="Calibri" pitchFamily="34" charset="-122"/>
                <a:cs typeface="Calibri" pitchFamily="34" charset="-120"/>
              </a:rPr>
              <a:t>Boşluğa hangi sözcük sığar?</a:t>
            </a:r>
            <a:endParaRPr lang="en-US" sz="1500" dirty="0"/>
          </a:p>
        </p:txBody>
      </p:sp>
      <p:sp>
        <p:nvSpPr>
          <p:cNvPr id="16" name="Shape 13"/>
          <p:cNvSpPr/>
          <p:nvPr/>
        </p:nvSpPr>
        <p:spPr>
          <a:xfrm>
            <a:off x="8321040" y="2834640"/>
            <a:ext cx="1554480" cy="502920"/>
          </a:xfrm>
          <a:prstGeom prst="roundRect">
            <a:avLst>
              <a:gd name="adj" fmla="val 14545"/>
            </a:avLst>
          </a:prstGeom>
          <a:solidFill>
            <a:srgbClr val="D9A441"/>
          </a:solidFill>
          <a:ln/>
          <a:effectLst>
            <a:outerShdw blurRad="76200" dist="25400" dir="5400000" algn="bl" rotWithShape="0">
              <a:srgbClr val="1E2761">
                <a:alpha val="18000"/>
              </a:srgbClr>
            </a:outerShdw>
          </a:effectLst>
        </p:spPr>
      </p:sp>
      <p:sp>
        <p:nvSpPr>
          <p:cNvPr id="17" name="Text 14"/>
          <p:cNvSpPr/>
          <p:nvPr/>
        </p:nvSpPr>
        <p:spPr>
          <a:xfrm>
            <a:off x="8321040" y="2834640"/>
            <a:ext cx="1554480" cy="502920"/>
          </a:xfrm>
          <a:prstGeom prst="rect">
            <a:avLst/>
          </a:prstGeom>
          <a:noFill/>
          <a:ln/>
        </p:spPr>
        <p:txBody>
          <a:bodyPr wrap="square" lIns="0" tIns="0" rIns="0" bIns="0" rtlCol="0" anchor="ctr"/>
          <a:lstStyle/>
          <a:p>
            <a:pPr marL="0" indent="0" algn="ctr">
              <a:buNone/>
            </a:pPr>
            <a:r>
              <a:rPr lang="en-US" sz="1750" b="1" dirty="0">
                <a:solidFill>
                  <a:srgbClr val="142A44"/>
                </a:solidFill>
                <a:latin typeface="Calibri" pitchFamily="34" charset="0"/>
                <a:ea typeface="Calibri" pitchFamily="34" charset="-122"/>
                <a:cs typeface="Calibri" pitchFamily="34" charset="-120"/>
              </a:rPr>
              <a:t>karmaşık</a:t>
            </a:r>
            <a:endParaRPr lang="en-US" sz="1750" dirty="0"/>
          </a:p>
        </p:txBody>
      </p:sp>
      <p:sp>
        <p:nvSpPr>
          <p:cNvPr id="18" name="Shape 15"/>
          <p:cNvSpPr/>
          <p:nvPr/>
        </p:nvSpPr>
        <p:spPr>
          <a:xfrm>
            <a:off x="10058400" y="2834640"/>
            <a:ext cx="1554480" cy="502920"/>
          </a:xfrm>
          <a:prstGeom prst="roundRect">
            <a:avLst>
              <a:gd name="adj" fmla="val 14545"/>
            </a:avLst>
          </a:prstGeom>
          <a:solidFill>
            <a:srgbClr val="EEF3F8"/>
          </a:solidFill>
          <a:ln/>
          <a:effectLst>
            <a:outerShdw blurRad="76200" dist="25400" dir="5400000" algn="bl" rotWithShape="0">
              <a:srgbClr val="1E2761">
                <a:alpha val="18000"/>
              </a:srgbClr>
            </a:outerShdw>
          </a:effectLst>
        </p:spPr>
      </p:sp>
      <p:sp>
        <p:nvSpPr>
          <p:cNvPr id="19" name="Text 16"/>
          <p:cNvSpPr/>
          <p:nvPr/>
        </p:nvSpPr>
        <p:spPr>
          <a:xfrm>
            <a:off x="10058400" y="2834640"/>
            <a:ext cx="1554480" cy="502920"/>
          </a:xfrm>
          <a:prstGeom prst="rect">
            <a:avLst/>
          </a:prstGeom>
          <a:noFill/>
          <a:ln/>
        </p:spPr>
        <p:txBody>
          <a:bodyPr wrap="square" lIns="0" tIns="0" rIns="0" bIns="0" rtlCol="0" anchor="ctr"/>
          <a:lstStyle/>
          <a:p>
            <a:pPr marL="0" indent="0" algn="ctr">
              <a:buNone/>
            </a:pPr>
            <a:r>
              <a:rPr lang="en-US" sz="1750" b="1" dirty="0">
                <a:solidFill>
                  <a:srgbClr val="6B7280"/>
                </a:solidFill>
                <a:latin typeface="Calibri" pitchFamily="34" charset="0"/>
                <a:ea typeface="Calibri" pitchFamily="34" charset="-122"/>
                <a:cs typeface="Calibri" pitchFamily="34" charset="-120"/>
              </a:rPr>
              <a:t>yenilikçi</a:t>
            </a:r>
            <a:endParaRPr lang="en-US" sz="1750" dirty="0"/>
          </a:p>
        </p:txBody>
      </p:sp>
      <p:sp>
        <p:nvSpPr>
          <p:cNvPr id="20" name="Text 17"/>
          <p:cNvSpPr/>
          <p:nvPr/>
        </p:nvSpPr>
        <p:spPr>
          <a:xfrm>
            <a:off x="8321040" y="3520440"/>
            <a:ext cx="3291840" cy="640080"/>
          </a:xfrm>
          <a:prstGeom prst="rect">
            <a:avLst/>
          </a:prstGeom>
          <a:noFill/>
          <a:ln/>
        </p:spPr>
        <p:txBody>
          <a:bodyPr wrap="square" lIns="0" tIns="0" rIns="0" bIns="0" rtlCol="0" anchor="ctr"/>
          <a:lstStyle/>
          <a:p>
            <a:pPr marL="0" indent="0" algn="ctr">
              <a:buNone/>
            </a:pPr>
            <a:r>
              <a:rPr lang="en-US" sz="1200" i="1" dirty="0">
                <a:solidFill>
                  <a:srgbClr val="CADCFC"/>
                </a:solidFill>
                <a:latin typeface="Calibri" pitchFamily="34" charset="0"/>
                <a:ea typeface="Calibri" pitchFamily="34" charset="-122"/>
                <a:cs typeface="Calibri" pitchFamily="34" charset="-120"/>
              </a:rPr>
              <a:t>Bağlama uygun sözcük, ÇİFT hâlinde ve</a:t>
            </a:r>
            <a:endParaRPr lang="en-US" sz="1200" dirty="0"/>
          </a:p>
          <a:p>
            <a:pPr marL="0" indent="0" algn="ctr">
              <a:buNone/>
            </a:pPr>
            <a:r>
              <a:rPr lang="en-US" sz="1200" i="1" dirty="0">
                <a:solidFill>
                  <a:srgbClr val="CADCFC"/>
                </a:solidFill>
                <a:latin typeface="Calibri" pitchFamily="34" charset="0"/>
                <a:ea typeface="Calibri" pitchFamily="34" charset="-122"/>
                <a:cs typeface="Calibri" pitchFamily="34" charset="-120"/>
              </a:rPr>
              <a:t>cümlenin genel mantığıyla tutarlı seçilir.</a:t>
            </a:r>
            <a:endParaRPr lang="en-US" sz="1200" dirty="0"/>
          </a:p>
        </p:txBody>
      </p:sp>
      <p:sp>
        <p:nvSpPr>
          <p:cNvPr id="21" name="Shape 18"/>
          <p:cNvSpPr/>
          <p:nvPr/>
        </p:nvSpPr>
        <p:spPr>
          <a:xfrm>
            <a:off x="8321040" y="4297680"/>
            <a:ext cx="3291840" cy="685800"/>
          </a:xfrm>
          <a:prstGeom prst="roundRect">
            <a:avLst>
              <a:gd name="adj" fmla="val 10667"/>
            </a:avLst>
          </a:prstGeom>
          <a:solidFill>
            <a:srgbClr val="D9A441"/>
          </a:solidFill>
          <a:ln/>
          <a:effectLst>
            <a:outerShdw blurRad="76200" dist="25400" dir="5400000" algn="bl" rotWithShape="0">
              <a:srgbClr val="1E2761">
                <a:alpha val="18000"/>
              </a:srgbClr>
            </a:outerShdw>
          </a:effectLst>
        </p:spPr>
      </p:sp>
      <p:sp>
        <p:nvSpPr>
          <p:cNvPr id="22" name="Text 19"/>
          <p:cNvSpPr/>
          <p:nvPr/>
        </p:nvSpPr>
        <p:spPr>
          <a:xfrm>
            <a:off x="8321040" y="4297680"/>
            <a:ext cx="3291840" cy="685800"/>
          </a:xfrm>
          <a:prstGeom prst="rect">
            <a:avLst/>
          </a:prstGeom>
          <a:noFill/>
          <a:ln/>
        </p:spPr>
        <p:txBody>
          <a:bodyPr wrap="square" lIns="0" tIns="0" rIns="0" bIns="0" rtlCol="0" anchor="ctr"/>
          <a:lstStyle/>
          <a:p>
            <a:pPr marL="0" indent="0" algn="ctr">
              <a:buNone/>
            </a:pPr>
            <a:r>
              <a:rPr lang="en-US" sz="2100" b="1" dirty="0">
                <a:solidFill>
                  <a:srgbClr val="142A44"/>
                </a:solidFill>
                <a:latin typeface="Calibri" pitchFamily="34" charset="0"/>
                <a:ea typeface="Calibri" pitchFamily="34" charset="-122"/>
                <a:cs typeface="Calibri" pitchFamily="34" charset="-120"/>
              </a:rPr>
              <a:t>BAĞLAMA UYGUNLUK</a:t>
            </a:r>
            <a:endParaRPr lang="en-US" sz="2100" dirty="0"/>
          </a:p>
        </p:txBody>
      </p:sp>
      <p:sp>
        <p:nvSpPr>
          <p:cNvPr id="23" name="Shape 20"/>
          <p:cNvSpPr/>
          <p:nvPr/>
        </p:nvSpPr>
        <p:spPr>
          <a:xfrm>
            <a:off x="9692640" y="5166360"/>
            <a:ext cx="777240" cy="777240"/>
          </a:xfrm>
          <a:prstGeom prst="ellipse">
            <a:avLst/>
          </a:prstGeom>
          <a:solidFill>
            <a:srgbClr val="254B78"/>
          </a:solidFill>
          <a:ln/>
        </p:spPr>
      </p:sp>
      <p:pic>
        <p:nvPicPr>
          <p:cNvPr id="24" name="Image 1" descr="icons/katman_amber.png"/>
          <p:cNvPicPr>
            <a:picLocks noChangeAspect="1"/>
          </p:cNvPicPr>
          <p:nvPr/>
        </p:nvPicPr>
        <p:blipFill>
          <a:blip r:embed="rId4"/>
          <a:stretch>
            <a:fillRect/>
          </a:stretch>
        </p:blipFill>
        <p:spPr>
          <a:xfrm>
            <a:off x="9867519" y="5341239"/>
            <a:ext cx="427482" cy="42748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48640"/>
            <a:ext cx="640080" cy="640080"/>
          </a:xfrm>
          <a:prstGeom prst="ellipse">
            <a:avLst/>
          </a:prstGeom>
          <a:solidFill>
            <a:srgbClr val="1E3A5F"/>
          </a:solidFill>
          <a:ln/>
        </p:spPr>
      </p:sp>
      <p:pic>
        <p:nvPicPr>
          <p:cNvPr id="3" name="Image 0" descr="icons/kazanim_white.png"/>
          <p:cNvPicPr>
            <a:picLocks noChangeAspect="1"/>
          </p:cNvPicPr>
          <p:nvPr/>
        </p:nvPicPr>
        <p:blipFill>
          <a:blip r:embed="rId3"/>
          <a:stretch>
            <a:fillRect/>
          </a:stretch>
        </p:blipFill>
        <p:spPr>
          <a:xfrm>
            <a:off x="784098" y="692658"/>
            <a:ext cx="352044" cy="352044"/>
          </a:xfrm>
          <a:prstGeom prst="rect">
            <a:avLst/>
          </a:prstGeom>
        </p:spPr>
      </p:pic>
      <p:sp>
        <p:nvSpPr>
          <p:cNvPr id="4" name="Text 1"/>
          <p:cNvSpPr/>
          <p:nvPr/>
        </p:nvSpPr>
        <p:spPr>
          <a:xfrm>
            <a:off x="1508760" y="566928"/>
            <a:ext cx="7315200" cy="320040"/>
          </a:xfrm>
          <a:prstGeom prst="rect">
            <a:avLst/>
          </a:prstGeom>
          <a:noFill/>
          <a:ln/>
        </p:spPr>
        <p:txBody>
          <a:bodyPr wrap="square" lIns="0" tIns="0" rIns="0" bIns="0"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KAZANIM</a:t>
            </a:r>
            <a:endParaRPr lang="en-US" sz="1300" dirty="0"/>
          </a:p>
        </p:txBody>
      </p:sp>
      <p:sp>
        <p:nvSpPr>
          <p:cNvPr id="5" name="Text 2"/>
          <p:cNvSpPr/>
          <p:nvPr/>
        </p:nvSpPr>
        <p:spPr>
          <a:xfrm>
            <a:off x="1463040" y="841248"/>
            <a:ext cx="8229600" cy="640080"/>
          </a:xfrm>
          <a:prstGeom prst="rect">
            <a:avLst/>
          </a:prstGeom>
          <a:noFill/>
          <a:ln/>
        </p:spPr>
        <p:txBody>
          <a:bodyPr wrap="square" lIns="0" tIns="0" rIns="0" bIns="0" rtlCol="0" anchor="ctr"/>
          <a:lstStyle/>
          <a:p>
            <a:pPr marL="0" indent="0">
              <a:buNone/>
            </a:pPr>
            <a:r>
              <a:rPr lang="en-US" sz="2800" b="1" dirty="0">
                <a:solidFill>
                  <a:srgbClr val="1E3A5F"/>
                </a:solidFill>
                <a:latin typeface="Cambria" pitchFamily="34" charset="0"/>
                <a:ea typeface="Cambria" pitchFamily="34" charset="-122"/>
                <a:cs typeface="Cambria" pitchFamily="34" charset="-120"/>
              </a:rPr>
              <a:t>Bugün Ne Öğreneceğiz?</a:t>
            </a:r>
            <a:endParaRPr lang="en-US" sz="2800" dirty="0"/>
          </a:p>
        </p:txBody>
      </p:sp>
      <p:sp>
        <p:nvSpPr>
          <p:cNvPr id="6" name="Shape 3"/>
          <p:cNvSpPr/>
          <p:nvPr/>
        </p:nvSpPr>
        <p:spPr>
          <a:xfrm>
            <a:off x="640080" y="1828800"/>
            <a:ext cx="10881360" cy="1043178"/>
          </a:xfrm>
          <a:prstGeom prst="roundRect">
            <a:avLst>
              <a:gd name="adj" fmla="val 10000"/>
            </a:avLst>
          </a:prstGeom>
          <a:solidFill>
            <a:srgbClr val="EEF3F8"/>
          </a:solidFill>
          <a:ln/>
        </p:spPr>
      </p:sp>
      <p:sp>
        <p:nvSpPr>
          <p:cNvPr id="7" name="Shape 4"/>
          <p:cNvSpPr/>
          <p:nvPr/>
        </p:nvSpPr>
        <p:spPr>
          <a:xfrm>
            <a:off x="868680" y="2098929"/>
            <a:ext cx="502920" cy="502920"/>
          </a:xfrm>
          <a:prstGeom prst="ellipse">
            <a:avLst/>
          </a:prstGeom>
          <a:solidFill>
            <a:srgbClr val="1E3A5F"/>
          </a:solidFill>
          <a:ln/>
        </p:spPr>
      </p:sp>
      <p:sp>
        <p:nvSpPr>
          <p:cNvPr id="8" name="Text 5"/>
          <p:cNvSpPr/>
          <p:nvPr/>
        </p:nvSpPr>
        <p:spPr>
          <a:xfrm>
            <a:off x="868680" y="2098929"/>
            <a:ext cx="502920" cy="502920"/>
          </a:xfrm>
          <a:prstGeom prst="rect">
            <a:avLst/>
          </a:prstGeom>
          <a:noFill/>
          <a:ln/>
        </p:spPr>
        <p:txBody>
          <a:bodyPr wrap="non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9" name="Text 6"/>
          <p:cNvSpPr/>
          <p:nvPr/>
        </p:nvSpPr>
        <p:spPr>
          <a:xfrm>
            <a:off x="1600200" y="1828800"/>
            <a:ext cx="9692640" cy="757428"/>
          </a:xfrm>
          <a:prstGeom prst="rect">
            <a:avLst/>
          </a:prstGeom>
          <a:noFill/>
          <a:ln/>
        </p:spPr>
        <p:txBody>
          <a:bodyPr wrap="square" lIns="0" tIns="0" rIns="0" bIns="0" rtlCol="0" anchor="ctr"/>
          <a:lstStyle/>
          <a:p>
            <a:pPr marL="0" indent="0">
              <a:buNone/>
            </a:pPr>
            <a:r>
              <a:rPr lang="en-US" sz="2100" dirty="0">
                <a:solidFill>
                  <a:srgbClr val="1E2761"/>
                </a:solidFill>
                <a:latin typeface="Calibri" pitchFamily="34" charset="0"/>
                <a:ea typeface="Calibri" pitchFamily="34" charset="-122"/>
                <a:cs typeface="Calibri" pitchFamily="34" charset="-120"/>
              </a:rPr>
              <a:t>TYT Türkçe testinde en sık çıkan Sözcükte Anlam soru tipini (bağlama uygun sözcük seçme, 7/7 yıl) tanıyacak.</a:t>
            </a:r>
            <a:endParaRPr lang="en-US" sz="2100" dirty="0"/>
          </a:p>
        </p:txBody>
      </p:sp>
      <p:sp>
        <p:nvSpPr>
          <p:cNvPr id="10" name="Shape 7"/>
          <p:cNvSpPr/>
          <p:nvPr/>
        </p:nvSpPr>
        <p:spPr>
          <a:xfrm>
            <a:off x="640080" y="3020111"/>
            <a:ext cx="10881360" cy="1043178"/>
          </a:xfrm>
          <a:prstGeom prst="roundRect">
            <a:avLst>
              <a:gd name="adj" fmla="val 10000"/>
            </a:avLst>
          </a:prstGeom>
          <a:solidFill>
            <a:srgbClr val="EEF3F8"/>
          </a:solidFill>
          <a:ln/>
        </p:spPr>
      </p:sp>
      <p:sp>
        <p:nvSpPr>
          <p:cNvPr id="11" name="Shape 8"/>
          <p:cNvSpPr/>
          <p:nvPr/>
        </p:nvSpPr>
        <p:spPr>
          <a:xfrm>
            <a:off x="868680" y="3290240"/>
            <a:ext cx="502920" cy="502920"/>
          </a:xfrm>
          <a:prstGeom prst="ellipse">
            <a:avLst/>
          </a:prstGeom>
          <a:solidFill>
            <a:srgbClr val="1E3A5F"/>
          </a:solidFill>
          <a:ln/>
        </p:spPr>
      </p:sp>
      <p:sp>
        <p:nvSpPr>
          <p:cNvPr id="12" name="Text 9"/>
          <p:cNvSpPr/>
          <p:nvPr/>
        </p:nvSpPr>
        <p:spPr>
          <a:xfrm>
            <a:off x="868680" y="3290240"/>
            <a:ext cx="502920" cy="502920"/>
          </a:xfrm>
          <a:prstGeom prst="rect">
            <a:avLst/>
          </a:prstGeom>
          <a:noFill/>
          <a:ln/>
        </p:spPr>
        <p:txBody>
          <a:bodyPr wrap="non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3" name="Text 10"/>
          <p:cNvSpPr/>
          <p:nvPr/>
        </p:nvSpPr>
        <p:spPr>
          <a:xfrm>
            <a:off x="1600200" y="3020111"/>
            <a:ext cx="9692640" cy="757428"/>
          </a:xfrm>
          <a:prstGeom prst="rect">
            <a:avLst/>
          </a:prstGeom>
          <a:noFill/>
          <a:ln/>
        </p:spPr>
        <p:txBody>
          <a:bodyPr wrap="square" lIns="0" tIns="0" rIns="0" bIns="0" rtlCol="0" anchor="ctr"/>
          <a:lstStyle/>
          <a:p>
            <a:pPr marL="0" indent="0">
              <a:buNone/>
            </a:pPr>
            <a:r>
              <a:rPr lang="en-US" sz="2100" dirty="0">
                <a:solidFill>
                  <a:srgbClr val="1E2761"/>
                </a:solidFill>
                <a:latin typeface="Calibri" pitchFamily="34" charset="0"/>
                <a:ea typeface="Calibri" pitchFamily="34" charset="-122"/>
                <a:cs typeface="Calibri" pitchFamily="34" charset="-120"/>
              </a:rPr>
              <a:t>Cümlede/parçada boş bırakılan yerlere, bağlamın izin verdiği en uygun sözcük/ifade ÇİFTİNİ seçebilecek.</a:t>
            </a:r>
            <a:endParaRPr lang="en-US" sz="2100" dirty="0"/>
          </a:p>
        </p:txBody>
      </p:sp>
      <p:sp>
        <p:nvSpPr>
          <p:cNvPr id="14" name="Shape 11"/>
          <p:cNvSpPr/>
          <p:nvPr/>
        </p:nvSpPr>
        <p:spPr>
          <a:xfrm>
            <a:off x="640080" y="4211422"/>
            <a:ext cx="10881360" cy="1043178"/>
          </a:xfrm>
          <a:prstGeom prst="roundRect">
            <a:avLst>
              <a:gd name="adj" fmla="val 10000"/>
            </a:avLst>
          </a:prstGeom>
          <a:solidFill>
            <a:srgbClr val="EEF3F8"/>
          </a:solidFill>
          <a:ln/>
        </p:spPr>
      </p:sp>
      <p:sp>
        <p:nvSpPr>
          <p:cNvPr id="15" name="Shape 12"/>
          <p:cNvSpPr/>
          <p:nvPr/>
        </p:nvSpPr>
        <p:spPr>
          <a:xfrm>
            <a:off x="868680" y="4481551"/>
            <a:ext cx="502920" cy="502920"/>
          </a:xfrm>
          <a:prstGeom prst="ellipse">
            <a:avLst/>
          </a:prstGeom>
          <a:solidFill>
            <a:srgbClr val="1E3A5F"/>
          </a:solidFill>
          <a:ln/>
        </p:spPr>
      </p:sp>
      <p:sp>
        <p:nvSpPr>
          <p:cNvPr id="16" name="Text 13"/>
          <p:cNvSpPr/>
          <p:nvPr/>
        </p:nvSpPr>
        <p:spPr>
          <a:xfrm>
            <a:off x="868680" y="4481551"/>
            <a:ext cx="502920" cy="502920"/>
          </a:xfrm>
          <a:prstGeom prst="rect">
            <a:avLst/>
          </a:prstGeom>
          <a:noFill/>
          <a:ln/>
        </p:spPr>
        <p:txBody>
          <a:bodyPr wrap="non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4"/>
          <p:cNvSpPr/>
          <p:nvPr/>
        </p:nvSpPr>
        <p:spPr>
          <a:xfrm>
            <a:off x="1600200" y="4211422"/>
            <a:ext cx="9692640" cy="757428"/>
          </a:xfrm>
          <a:prstGeom prst="rect">
            <a:avLst/>
          </a:prstGeom>
          <a:noFill/>
          <a:ln/>
        </p:spPr>
        <p:txBody>
          <a:bodyPr wrap="square" lIns="0" tIns="0" rIns="0" bIns="0" rtlCol="0" anchor="ctr"/>
          <a:lstStyle/>
          <a:p>
            <a:pPr marL="0" indent="0">
              <a:buNone/>
            </a:pPr>
            <a:r>
              <a:rPr lang="en-US" sz="2100" dirty="0">
                <a:solidFill>
                  <a:srgbClr val="1E2761"/>
                </a:solidFill>
                <a:latin typeface="Calibri" pitchFamily="34" charset="0"/>
                <a:ea typeface="Calibri" pitchFamily="34" charset="-122"/>
                <a:cs typeface="Calibri" pitchFamily="34" charset="-120"/>
              </a:rPr>
              <a:t>Parçada numaralanmış (I-V) sözcük/söz gruplarının, parantez içinde verilen açıklamayla uyup uyuşmadığını denetleyebilecek.</a:t>
            </a:r>
            <a:endParaRPr lang="en-US" sz="2100" dirty="0"/>
          </a:p>
        </p:txBody>
      </p:sp>
      <p:sp>
        <p:nvSpPr>
          <p:cNvPr id="18" name="Shape 15"/>
          <p:cNvSpPr/>
          <p:nvPr/>
        </p:nvSpPr>
        <p:spPr>
          <a:xfrm>
            <a:off x="640080" y="5402732"/>
            <a:ext cx="10881360" cy="1043178"/>
          </a:xfrm>
          <a:prstGeom prst="roundRect">
            <a:avLst>
              <a:gd name="adj" fmla="val 10000"/>
            </a:avLst>
          </a:prstGeom>
          <a:solidFill>
            <a:srgbClr val="EEF3F8"/>
          </a:solidFill>
          <a:ln/>
        </p:spPr>
      </p:sp>
      <p:sp>
        <p:nvSpPr>
          <p:cNvPr id="19" name="Shape 16"/>
          <p:cNvSpPr/>
          <p:nvPr/>
        </p:nvSpPr>
        <p:spPr>
          <a:xfrm>
            <a:off x="868680" y="5672861"/>
            <a:ext cx="502920" cy="502920"/>
          </a:xfrm>
          <a:prstGeom prst="ellipse">
            <a:avLst/>
          </a:prstGeom>
          <a:solidFill>
            <a:srgbClr val="1E3A5F"/>
          </a:solidFill>
          <a:ln/>
        </p:spPr>
      </p:sp>
      <p:sp>
        <p:nvSpPr>
          <p:cNvPr id="20" name="Text 17"/>
          <p:cNvSpPr/>
          <p:nvPr/>
        </p:nvSpPr>
        <p:spPr>
          <a:xfrm>
            <a:off x="868680" y="5672861"/>
            <a:ext cx="502920" cy="502920"/>
          </a:xfrm>
          <a:prstGeom prst="rect">
            <a:avLst/>
          </a:prstGeom>
          <a:noFill/>
          <a:ln/>
        </p:spPr>
        <p:txBody>
          <a:bodyPr wrap="non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1" name="Text 18"/>
          <p:cNvSpPr/>
          <p:nvPr/>
        </p:nvSpPr>
        <p:spPr>
          <a:xfrm>
            <a:off x="1600200" y="5402732"/>
            <a:ext cx="9692640" cy="757428"/>
          </a:xfrm>
          <a:prstGeom prst="rect">
            <a:avLst/>
          </a:prstGeom>
          <a:noFill/>
          <a:ln/>
        </p:spPr>
        <p:txBody>
          <a:bodyPr wrap="square" lIns="0" tIns="0" rIns="0" bIns="0" rtlCol="0" anchor="ctr"/>
          <a:lstStyle/>
          <a:p>
            <a:pPr marL="0" indent="0">
              <a:buNone/>
            </a:pPr>
            <a:r>
              <a:rPr lang="en-US" sz="2100" dirty="0">
                <a:solidFill>
                  <a:srgbClr val="1E2761"/>
                </a:solidFill>
                <a:latin typeface="Calibri" pitchFamily="34" charset="0"/>
                <a:ea typeface="Calibri" pitchFamily="34" charset="-122"/>
                <a:cs typeface="Calibri" pitchFamily="34" charset="-120"/>
              </a:rPr>
              <a:t>Gerçek ÖSYM sorularında bu iki tipi hızlı ve doğru şekilde çözebilecek, çeldiricileri ayırt edebilecek.</a:t>
            </a:r>
            <a:endParaRPr lang="en-US" sz="2100" dirty="0"/>
          </a:p>
        </p:txBody>
      </p:sp>
      <p:sp>
        <p:nvSpPr>
          <p:cNvPr id="22" name="Text 19"/>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TYT TÜRKÇE  ·  SÖZCÜKTE ANLAM  ·  Kazanım</a:t>
            </a:r>
            <a:endParaRPr lang="en-US" sz="900" dirty="0"/>
          </a:p>
        </p:txBody>
      </p:sp>
      <p:sp>
        <p:nvSpPr>
          <p:cNvPr id="23" name="Text 20"/>
          <p:cNvSpPr/>
          <p:nvPr/>
        </p:nvSpPr>
        <p:spPr>
          <a:xfrm>
            <a:off x="9902952" y="6537960"/>
            <a:ext cx="18288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Ders 2 / 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48640"/>
            <a:ext cx="640080" cy="640080"/>
          </a:xfrm>
          <a:prstGeom prst="ellipse">
            <a:avLst/>
          </a:prstGeom>
          <a:solidFill>
            <a:srgbClr val="1E3A5F"/>
          </a:solidFill>
          <a:ln/>
        </p:spPr>
      </p:sp>
      <p:pic>
        <p:nvPicPr>
          <p:cNvPr id="3" name="Image 0" descr="icons/baglanti_white.png"/>
          <p:cNvPicPr>
            <a:picLocks noChangeAspect="1"/>
          </p:cNvPicPr>
          <p:nvPr/>
        </p:nvPicPr>
        <p:blipFill>
          <a:blip r:embed="rId3"/>
          <a:stretch>
            <a:fillRect/>
          </a:stretch>
        </p:blipFill>
        <p:spPr>
          <a:xfrm>
            <a:off x="784098" y="692658"/>
            <a:ext cx="352044" cy="352044"/>
          </a:xfrm>
          <a:prstGeom prst="rect">
            <a:avLst/>
          </a:prstGeom>
        </p:spPr>
      </p:pic>
      <p:sp>
        <p:nvSpPr>
          <p:cNvPr id="4" name="Text 1"/>
          <p:cNvSpPr/>
          <p:nvPr/>
        </p:nvSpPr>
        <p:spPr>
          <a:xfrm>
            <a:off x="1508760" y="566928"/>
            <a:ext cx="7315200" cy="320040"/>
          </a:xfrm>
          <a:prstGeom prst="rect">
            <a:avLst/>
          </a:prstGeom>
          <a:noFill/>
          <a:ln/>
        </p:spPr>
        <p:txBody>
          <a:bodyPr wrap="square" lIns="0" tIns="0" rIns="0" bIns="0"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BAĞLANTI</a:t>
            </a:r>
            <a:endParaRPr lang="en-US" sz="1300" dirty="0"/>
          </a:p>
        </p:txBody>
      </p:sp>
      <p:sp>
        <p:nvSpPr>
          <p:cNvPr id="5" name="Text 2"/>
          <p:cNvSpPr/>
          <p:nvPr/>
        </p:nvSpPr>
        <p:spPr>
          <a:xfrm>
            <a:off x="1463040" y="841248"/>
            <a:ext cx="9601200" cy="640080"/>
          </a:xfrm>
          <a:prstGeom prst="rect">
            <a:avLst/>
          </a:prstGeom>
          <a:noFill/>
          <a:ln/>
        </p:spPr>
        <p:txBody>
          <a:bodyPr wrap="square" lIns="0" tIns="0" rIns="0" bIns="0" rtlCol="0" anchor="ctr"/>
          <a:lstStyle/>
          <a:p>
            <a:pPr marL="0" indent="0">
              <a:buNone/>
            </a:pPr>
            <a:r>
              <a:rPr lang="en-US" sz="2500" b="1" dirty="0">
                <a:solidFill>
                  <a:srgbClr val="1E3A5F"/>
                </a:solidFill>
                <a:latin typeface="Cambria" pitchFamily="34" charset="0"/>
                <a:ea typeface="Cambria" pitchFamily="34" charset="-122"/>
                <a:cs typeface="Cambria" pitchFamily="34" charset="-120"/>
              </a:rPr>
              <a:t>Geçen Dersten Bugüne: Bağlamsal Anlam</a:t>
            </a:r>
            <a:endParaRPr lang="en-US" sz="2500" dirty="0"/>
          </a:p>
        </p:txBody>
      </p:sp>
      <p:sp>
        <p:nvSpPr>
          <p:cNvPr id="6" name="Shape 3"/>
          <p:cNvSpPr/>
          <p:nvPr/>
        </p:nvSpPr>
        <p:spPr>
          <a:xfrm>
            <a:off x="640080" y="1645920"/>
            <a:ext cx="10881360" cy="1534160"/>
          </a:xfrm>
          <a:prstGeom prst="roundRect">
            <a:avLst>
              <a:gd name="adj" fmla="val 8696"/>
            </a:avLst>
          </a:prstGeom>
          <a:solidFill>
            <a:srgbClr val="FBF3E3"/>
          </a:solidFill>
          <a:ln/>
        </p:spPr>
      </p:sp>
      <p:sp>
        <p:nvSpPr>
          <p:cNvPr id="7" name="Text 4"/>
          <p:cNvSpPr/>
          <p:nvPr/>
        </p:nvSpPr>
        <p:spPr>
          <a:xfrm>
            <a:off x="914400" y="1645920"/>
            <a:ext cx="10332720" cy="1442720"/>
          </a:xfrm>
          <a:prstGeom prst="rect">
            <a:avLst/>
          </a:prstGeom>
          <a:noFill/>
          <a:ln/>
        </p:spPr>
        <p:txBody>
          <a:bodyPr wrap="square" lIns="0" tIns="0" rIns="0" bIns="0" rtlCol="0" anchor="ctr"/>
          <a:lstStyle/>
          <a:p>
            <a:pPr marL="0" indent="0">
              <a:buNone/>
            </a:pPr>
            <a:r>
              <a:rPr lang="en-US" sz="2000" dirty="0">
                <a:solidFill>
                  <a:srgbClr val="1E2761"/>
                </a:solidFill>
                <a:latin typeface="Calibri" pitchFamily="34" charset="0"/>
                <a:ea typeface="Calibri" pitchFamily="34" charset="-122"/>
                <a:cs typeface="Calibri" pitchFamily="34" charset="-120"/>
              </a:rPr>
              <a:t>Geçen ders (1/3) bir sözcüğün </a:t>
            </a:r>
            <a:r>
              <a:rPr lang="en-US" sz="2000" b="1" dirty="0">
                <a:solidFill>
                  <a:srgbClr val="1E3A5F"/>
                </a:solidFill>
                <a:latin typeface="Calibri" pitchFamily="34" charset="0"/>
                <a:ea typeface="Calibri" pitchFamily="34" charset="-122"/>
                <a:cs typeface="Calibri" pitchFamily="34" charset="-120"/>
              </a:rPr>
              <a:t>GERÇEK</a:t>
            </a:r>
            <a:r>
              <a:rPr lang="en-US" sz="2000" dirty="0">
                <a:solidFill>
                  <a:srgbClr val="1E2761"/>
                </a:solidFill>
                <a:latin typeface="Calibri" pitchFamily="34" charset="0"/>
                <a:ea typeface="Calibri" pitchFamily="34" charset="-122"/>
                <a:cs typeface="Calibri" pitchFamily="34" charset="-120"/>
              </a:rPr>
              <a:t> anlamı ile </a:t>
            </a:r>
            <a:r>
              <a:rPr lang="en-US" sz="2000" b="1" dirty="0">
                <a:solidFill>
                  <a:srgbClr val="1E3A5F"/>
                </a:solidFill>
                <a:latin typeface="Calibri" pitchFamily="34" charset="0"/>
                <a:ea typeface="Calibri" pitchFamily="34" charset="-122"/>
                <a:cs typeface="Calibri" pitchFamily="34" charset="-120"/>
              </a:rPr>
              <a:t>MECAZ</a:t>
            </a:r>
            <a:r>
              <a:rPr lang="en-US" sz="2000" dirty="0">
                <a:solidFill>
                  <a:srgbClr val="1E2761"/>
                </a:solidFill>
                <a:latin typeface="Calibri" pitchFamily="34" charset="0"/>
                <a:ea typeface="Calibri" pitchFamily="34" charset="-122"/>
                <a:cs typeface="Calibri" pitchFamily="34" charset="-120"/>
              </a:rPr>
              <a:t> anlamı arasındaki farkı gördük. Bugün (2/3) bu bilgiyi TYT'nin en sık sorduğu iki soru kalıbına uygulayacağız: bağlama uygun sözcük seçme (7/7 yıl çıkmış) ve numaralanmış sözlerin anlamını doğrulama (5/7 yıl çıkmış).</a:t>
            </a:r>
            <a:endParaRPr lang="en-US" sz="2000" dirty="0"/>
          </a:p>
        </p:txBody>
      </p:sp>
      <p:sp>
        <p:nvSpPr>
          <p:cNvPr id="8" name="Shape 5"/>
          <p:cNvSpPr/>
          <p:nvPr/>
        </p:nvSpPr>
        <p:spPr>
          <a:xfrm>
            <a:off x="822960" y="3225800"/>
            <a:ext cx="3246120" cy="2148840"/>
          </a:xfrm>
          <a:prstGeom prst="roundRect">
            <a:avLst>
              <a:gd name="adj" fmla="val 5106"/>
            </a:avLst>
          </a:prstGeom>
          <a:solidFill>
            <a:srgbClr val="EEF3F8"/>
          </a:solidFill>
          <a:ln/>
        </p:spPr>
      </p:sp>
      <p:sp>
        <p:nvSpPr>
          <p:cNvPr id="9" name="Text 6"/>
          <p:cNvSpPr/>
          <p:nvPr/>
        </p:nvSpPr>
        <p:spPr>
          <a:xfrm>
            <a:off x="1051560" y="3454400"/>
            <a:ext cx="2788920" cy="369697"/>
          </a:xfrm>
          <a:prstGeom prst="rect">
            <a:avLst/>
          </a:prstGeom>
          <a:noFill/>
          <a:ln/>
        </p:spPr>
        <p:txBody>
          <a:bodyPr wrap="square" lIns="0" tIns="0" rIns="0" bIns="0" rtlCol="0" anchor="ctr"/>
          <a:lstStyle/>
          <a:p>
            <a:pPr marL="0" indent="0">
              <a:buNone/>
            </a:pPr>
            <a:r>
              <a:rPr lang="en-US" sz="2050" b="1" dirty="0">
                <a:solidFill>
                  <a:srgbClr val="1E3A5F"/>
                </a:solidFill>
                <a:latin typeface="Cambria" pitchFamily="34" charset="0"/>
                <a:ea typeface="Cambria" pitchFamily="34" charset="-122"/>
                <a:cs typeface="Cambria" pitchFamily="34" charset="-120"/>
              </a:rPr>
              <a:t>Ders 1/3 (geçen ders)</a:t>
            </a:r>
            <a:endParaRPr lang="en-US" sz="2050" dirty="0"/>
          </a:p>
        </p:txBody>
      </p:sp>
      <p:sp>
        <p:nvSpPr>
          <p:cNvPr id="10" name="Text 7"/>
          <p:cNvSpPr/>
          <p:nvPr/>
        </p:nvSpPr>
        <p:spPr>
          <a:xfrm>
            <a:off x="1051560" y="3869817"/>
            <a:ext cx="2788920" cy="1182624"/>
          </a:xfrm>
          <a:prstGeom prst="rect">
            <a:avLst/>
          </a:prstGeom>
          <a:noFill/>
          <a:ln/>
        </p:spPr>
        <p:txBody>
          <a:bodyPr wrap="square" lIns="0" tIns="0" rIns="0" bIns="0" rtlCol="0" anchor="t"/>
          <a:lstStyle/>
          <a:p>
            <a:pPr marL="0" indent="0">
              <a:buNone/>
            </a:pPr>
            <a:r>
              <a:rPr lang="en-US" sz="2000" dirty="0">
                <a:solidFill>
                  <a:srgbClr val="6B7280"/>
                </a:solidFill>
                <a:latin typeface="Calibri" pitchFamily="34" charset="0"/>
                <a:ea typeface="Calibri" pitchFamily="34" charset="-122"/>
                <a:cs typeface="Calibri" pitchFamily="34" charset="-120"/>
              </a:rPr>
              <a:t>Gerçek Anlam – Mecaz Anlam</a:t>
            </a:r>
            <a:endParaRPr lang="en-US" sz="2000" dirty="0"/>
          </a:p>
          <a:p>
            <a:pPr marL="0" indent="0">
              <a:buNone/>
            </a:pPr>
            <a:r>
              <a:rPr lang="en-US" sz="2000" dirty="0">
                <a:solidFill>
                  <a:srgbClr val="6B7280"/>
                </a:solidFill>
                <a:latin typeface="Calibri" pitchFamily="34" charset="0"/>
                <a:ea typeface="Calibri" pitchFamily="34" charset="-122"/>
                <a:cs typeface="Calibri" pitchFamily="34" charset="-120"/>
              </a:rPr>
              <a:t>ayrımı tamamlandı.</a:t>
            </a:r>
            <a:endParaRPr lang="en-US" sz="2000" dirty="0"/>
          </a:p>
        </p:txBody>
      </p:sp>
      <p:sp>
        <p:nvSpPr>
          <p:cNvPr id="11" name="Shape 8"/>
          <p:cNvSpPr/>
          <p:nvPr/>
        </p:nvSpPr>
        <p:spPr>
          <a:xfrm>
            <a:off x="4526280" y="3225800"/>
            <a:ext cx="3246120" cy="2148840"/>
          </a:xfrm>
          <a:prstGeom prst="roundRect">
            <a:avLst>
              <a:gd name="adj" fmla="val 5106"/>
            </a:avLst>
          </a:prstGeom>
          <a:solidFill>
            <a:srgbClr val="1E3A5F"/>
          </a:solidFill>
          <a:ln/>
          <a:effectLst>
            <a:outerShdw blurRad="101600" dist="38100" dir="5400000" algn="bl" rotWithShape="0">
              <a:srgbClr val="1E2761">
                <a:alpha val="25000"/>
              </a:srgbClr>
            </a:outerShdw>
          </a:effectLst>
        </p:spPr>
      </p:sp>
      <p:sp>
        <p:nvSpPr>
          <p:cNvPr id="12" name="Text 9"/>
          <p:cNvSpPr/>
          <p:nvPr/>
        </p:nvSpPr>
        <p:spPr>
          <a:xfrm>
            <a:off x="4754880" y="3454400"/>
            <a:ext cx="2788920" cy="378714"/>
          </a:xfrm>
          <a:prstGeom prst="rect">
            <a:avLst/>
          </a:prstGeom>
          <a:noFill/>
          <a:ln/>
        </p:spPr>
        <p:txBody>
          <a:bodyPr wrap="square" lIns="0" tIns="0" rIns="0" bIns="0" rtlCol="0" anchor="ctr"/>
          <a:lstStyle/>
          <a:p>
            <a:pPr marL="0" indent="0">
              <a:buNone/>
            </a:pPr>
            <a:r>
              <a:rPr lang="en-US" sz="2100" b="1" dirty="0">
                <a:solidFill>
                  <a:srgbClr val="FFFFFF"/>
                </a:solidFill>
                <a:latin typeface="Cambria" pitchFamily="34" charset="0"/>
                <a:ea typeface="Cambria" pitchFamily="34" charset="-122"/>
                <a:cs typeface="Cambria" pitchFamily="34" charset="-120"/>
              </a:rPr>
              <a:t>Ders 2/3 (bugün)</a:t>
            </a:r>
            <a:endParaRPr lang="en-US" sz="2100" dirty="0"/>
          </a:p>
        </p:txBody>
      </p:sp>
      <p:sp>
        <p:nvSpPr>
          <p:cNvPr id="13" name="Text 10"/>
          <p:cNvSpPr/>
          <p:nvPr/>
        </p:nvSpPr>
        <p:spPr>
          <a:xfrm>
            <a:off x="4754880" y="3878834"/>
            <a:ext cx="2788920" cy="1182624"/>
          </a:xfrm>
          <a:prstGeom prst="rect">
            <a:avLst/>
          </a:prstGeom>
          <a:noFill/>
          <a:ln/>
        </p:spPr>
        <p:txBody>
          <a:bodyPr wrap="square" lIns="0" tIns="0" rIns="0" bIns="0" rtlCol="0" anchor="t"/>
          <a:lstStyle/>
          <a:p>
            <a:pPr marL="0" indent="0">
              <a:buNone/>
            </a:pPr>
            <a:r>
              <a:rPr lang="en-US" sz="2000" dirty="0">
                <a:solidFill>
                  <a:srgbClr val="CADCFC"/>
                </a:solidFill>
                <a:latin typeface="Calibri" pitchFamily="34" charset="0"/>
                <a:ea typeface="Calibri" pitchFamily="34" charset="-122"/>
                <a:cs typeface="Calibri" pitchFamily="34" charset="-120"/>
              </a:rPr>
              <a:t>Çok Anlamlılık ve Bağlama</a:t>
            </a:r>
            <a:endParaRPr lang="en-US" sz="2000" dirty="0"/>
          </a:p>
          <a:p>
            <a:pPr marL="0" indent="0">
              <a:buNone/>
            </a:pPr>
            <a:r>
              <a:rPr lang="en-US" sz="2000" dirty="0">
                <a:solidFill>
                  <a:srgbClr val="CADCFC"/>
                </a:solidFill>
                <a:latin typeface="Calibri" pitchFamily="34" charset="0"/>
                <a:ea typeface="Calibri" pitchFamily="34" charset="-122"/>
                <a:cs typeface="Calibri" pitchFamily="34" charset="-120"/>
              </a:rPr>
              <a:t>Uygun Sözcük Seçme.</a:t>
            </a:r>
            <a:endParaRPr lang="en-US" sz="2000" dirty="0"/>
          </a:p>
        </p:txBody>
      </p:sp>
      <p:sp>
        <p:nvSpPr>
          <p:cNvPr id="14" name="Shape 11"/>
          <p:cNvSpPr/>
          <p:nvPr/>
        </p:nvSpPr>
        <p:spPr>
          <a:xfrm>
            <a:off x="8229600" y="3225800"/>
            <a:ext cx="3246120" cy="2333498"/>
          </a:xfrm>
          <a:prstGeom prst="roundRect">
            <a:avLst>
              <a:gd name="adj" fmla="val 5106"/>
            </a:avLst>
          </a:prstGeom>
          <a:solidFill>
            <a:srgbClr val="EEF3F8"/>
          </a:solidFill>
          <a:ln/>
        </p:spPr>
      </p:sp>
      <p:sp>
        <p:nvSpPr>
          <p:cNvPr id="15" name="Text 12"/>
          <p:cNvSpPr/>
          <p:nvPr/>
        </p:nvSpPr>
        <p:spPr>
          <a:xfrm>
            <a:off x="8458200" y="3454400"/>
            <a:ext cx="2788920" cy="378714"/>
          </a:xfrm>
          <a:prstGeom prst="rect">
            <a:avLst/>
          </a:prstGeom>
          <a:noFill/>
          <a:ln/>
        </p:spPr>
        <p:txBody>
          <a:bodyPr wrap="square" lIns="0" tIns="0" rIns="0" bIns="0" rtlCol="0" anchor="ctr"/>
          <a:lstStyle/>
          <a:p>
            <a:pPr marL="0" indent="0">
              <a:buNone/>
            </a:pPr>
            <a:r>
              <a:rPr lang="en-US" sz="2100" b="1" dirty="0">
                <a:solidFill>
                  <a:srgbClr val="1E3A5F"/>
                </a:solidFill>
                <a:latin typeface="Cambria" pitchFamily="34" charset="0"/>
                <a:ea typeface="Cambria" pitchFamily="34" charset="-122"/>
                <a:cs typeface="Cambria" pitchFamily="34" charset="-120"/>
              </a:rPr>
              <a:t>Sıradaki Ders</a:t>
            </a:r>
            <a:endParaRPr lang="en-US" sz="2100" dirty="0"/>
          </a:p>
        </p:txBody>
      </p:sp>
      <p:sp>
        <p:nvSpPr>
          <p:cNvPr id="16" name="Text 13"/>
          <p:cNvSpPr/>
          <p:nvPr/>
        </p:nvSpPr>
        <p:spPr>
          <a:xfrm>
            <a:off x="8458200" y="3878834"/>
            <a:ext cx="2788920" cy="1543304"/>
          </a:xfrm>
          <a:prstGeom prst="rect">
            <a:avLst/>
          </a:prstGeom>
          <a:noFill/>
          <a:ln/>
        </p:spPr>
        <p:txBody>
          <a:bodyPr wrap="square" lIns="0" tIns="0" rIns="0" bIns="0" rtlCol="0" anchor="t"/>
          <a:lstStyle/>
          <a:p>
            <a:pPr marL="0" indent="0">
              <a:buNone/>
            </a:pPr>
            <a:r>
              <a:rPr lang="en-US" sz="2000" dirty="0">
                <a:solidFill>
                  <a:srgbClr val="6B7280"/>
                </a:solidFill>
                <a:latin typeface="Calibri" pitchFamily="34" charset="0"/>
                <a:ea typeface="Calibri" pitchFamily="34" charset="-122"/>
                <a:cs typeface="Calibri" pitchFamily="34" charset="-120"/>
              </a:rPr>
              <a:t>Bağlamsal Anlam Yorumlama</a:t>
            </a:r>
            <a:endParaRPr lang="en-US" sz="2000" dirty="0"/>
          </a:p>
          <a:p>
            <a:pPr marL="0" indent="0">
              <a:buNone/>
            </a:pPr>
            <a:r>
              <a:rPr lang="en-US" sz="2000" dirty="0">
                <a:solidFill>
                  <a:srgbClr val="6B7280"/>
                </a:solidFill>
                <a:latin typeface="Calibri" pitchFamily="34" charset="0"/>
                <a:ea typeface="Calibri" pitchFamily="34" charset="-122"/>
                <a:cs typeface="Calibri" pitchFamily="34" charset="-120"/>
              </a:rPr>
              <a:t>ve Deyimler (Ders 3/3)</a:t>
            </a:r>
            <a:endParaRPr lang="en-US" sz="2000" dirty="0"/>
          </a:p>
        </p:txBody>
      </p:sp>
      <p:sp>
        <p:nvSpPr>
          <p:cNvPr id="17" name="Text 14"/>
          <p:cNvSpPr/>
          <p:nvPr/>
        </p:nvSpPr>
        <p:spPr>
          <a:xfrm>
            <a:off x="4114800" y="3225800"/>
            <a:ext cx="365760" cy="432816"/>
          </a:xfrm>
          <a:prstGeom prst="rect">
            <a:avLst/>
          </a:prstGeom>
          <a:noFill/>
          <a:ln/>
        </p:spPr>
        <p:txBody>
          <a:bodyPr wrap="square" lIns="0" tIns="0" rIns="0" bIns="0" rtlCol="0" anchor="ctr"/>
          <a:lstStyle/>
          <a:p>
            <a:pPr marL="0" indent="0" algn="ctr">
              <a:buNone/>
            </a:pPr>
            <a:r>
              <a:rPr lang="en-US" sz="2400" b="1" dirty="0">
                <a:solidFill>
                  <a:srgbClr val="D9A441"/>
                </a:solidFill>
                <a:latin typeface="Calibri" pitchFamily="34" charset="0"/>
                <a:ea typeface="Calibri" pitchFamily="34" charset="-122"/>
                <a:cs typeface="Calibri" pitchFamily="34" charset="-120"/>
              </a:rPr>
              <a:t>→</a:t>
            </a:r>
            <a:endParaRPr lang="en-US" sz="2400" dirty="0"/>
          </a:p>
        </p:txBody>
      </p:sp>
      <p:sp>
        <p:nvSpPr>
          <p:cNvPr id="18" name="Text 15"/>
          <p:cNvSpPr/>
          <p:nvPr/>
        </p:nvSpPr>
        <p:spPr>
          <a:xfrm>
            <a:off x="7863840" y="3225800"/>
            <a:ext cx="365760" cy="432816"/>
          </a:xfrm>
          <a:prstGeom prst="rect">
            <a:avLst/>
          </a:prstGeom>
          <a:noFill/>
          <a:ln/>
        </p:spPr>
        <p:txBody>
          <a:bodyPr wrap="square" lIns="0" tIns="0" rIns="0" bIns="0" rtlCol="0" anchor="ctr"/>
          <a:lstStyle/>
          <a:p>
            <a:pPr marL="0" indent="0" algn="ctr">
              <a:buNone/>
            </a:pPr>
            <a:r>
              <a:rPr lang="en-US" sz="2400" b="1" dirty="0">
                <a:solidFill>
                  <a:srgbClr val="D9A441"/>
                </a:solidFill>
                <a:latin typeface="Calibri" pitchFamily="34" charset="0"/>
                <a:ea typeface="Calibri" pitchFamily="34" charset="-122"/>
                <a:cs typeface="Calibri" pitchFamily="34" charset="-120"/>
              </a:rPr>
              <a:t>→</a:t>
            </a:r>
            <a:endParaRPr lang="en-US" sz="2400" dirty="0"/>
          </a:p>
        </p:txBody>
      </p:sp>
      <p:sp>
        <p:nvSpPr>
          <p:cNvPr id="19" name="Text 16"/>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TYT TÜRKÇE  ·  SÖZCÜKTE ANLAM  ·  Bağlantı</a:t>
            </a:r>
            <a:endParaRPr lang="en-US" sz="900" dirty="0"/>
          </a:p>
        </p:txBody>
      </p:sp>
      <p:sp>
        <p:nvSpPr>
          <p:cNvPr id="20" name="Text 17"/>
          <p:cNvSpPr/>
          <p:nvPr/>
        </p:nvSpPr>
        <p:spPr>
          <a:xfrm>
            <a:off x="9902952" y="6537960"/>
            <a:ext cx="18288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Ders 2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48640"/>
            <a:ext cx="640080" cy="640080"/>
          </a:xfrm>
          <a:prstGeom prst="ellipse">
            <a:avLst/>
          </a:prstGeom>
          <a:solidFill>
            <a:srgbClr val="1E3A5F"/>
          </a:solidFill>
          <a:ln/>
        </p:spPr>
      </p:sp>
      <p:pic>
        <p:nvPicPr>
          <p:cNvPr id="3" name="Image 0" descr="icons/isinma_white.png"/>
          <p:cNvPicPr>
            <a:picLocks noChangeAspect="1"/>
          </p:cNvPicPr>
          <p:nvPr/>
        </p:nvPicPr>
        <p:blipFill>
          <a:blip r:embed="rId3"/>
          <a:stretch>
            <a:fillRect/>
          </a:stretch>
        </p:blipFill>
        <p:spPr>
          <a:xfrm>
            <a:off x="784098" y="692658"/>
            <a:ext cx="352044" cy="352044"/>
          </a:xfrm>
          <a:prstGeom prst="rect">
            <a:avLst/>
          </a:prstGeom>
        </p:spPr>
      </p:pic>
      <p:sp>
        <p:nvSpPr>
          <p:cNvPr id="4" name="Text 1"/>
          <p:cNvSpPr/>
          <p:nvPr/>
        </p:nvSpPr>
        <p:spPr>
          <a:xfrm>
            <a:off x="1508760" y="566928"/>
            <a:ext cx="7315200" cy="320040"/>
          </a:xfrm>
          <a:prstGeom prst="rect">
            <a:avLst/>
          </a:prstGeom>
          <a:noFill/>
          <a:ln/>
        </p:spPr>
        <p:txBody>
          <a:bodyPr wrap="square" lIns="0" tIns="0" rIns="0" bIns="0"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HAZIRLIK SORUSU</a:t>
            </a:r>
            <a:endParaRPr lang="en-US" sz="1300" dirty="0"/>
          </a:p>
        </p:txBody>
      </p:sp>
      <p:sp>
        <p:nvSpPr>
          <p:cNvPr id="5" name="Text 2"/>
          <p:cNvSpPr/>
          <p:nvPr/>
        </p:nvSpPr>
        <p:spPr>
          <a:xfrm>
            <a:off x="1463040" y="841248"/>
            <a:ext cx="8229600" cy="640080"/>
          </a:xfrm>
          <a:prstGeom prst="rect">
            <a:avLst/>
          </a:prstGeom>
          <a:noFill/>
          <a:ln/>
        </p:spPr>
        <p:txBody>
          <a:bodyPr wrap="square" lIns="0" tIns="0" rIns="0" bIns="0" rtlCol="0" anchor="ctr"/>
          <a:lstStyle/>
          <a:p>
            <a:pPr marL="0" indent="0">
              <a:buNone/>
            </a:pPr>
            <a:r>
              <a:rPr lang="en-US" sz="2800" b="1" dirty="0">
                <a:solidFill>
                  <a:srgbClr val="1E3A5F"/>
                </a:solidFill>
                <a:latin typeface="Cambria" pitchFamily="34" charset="0"/>
                <a:ea typeface="Cambria" pitchFamily="34" charset="-122"/>
                <a:cs typeface="Cambria" pitchFamily="34" charset="-120"/>
              </a:rPr>
              <a:t>Boşluğa Hangi Sözcük Sığar?</a:t>
            </a:r>
            <a:endParaRPr lang="en-US" sz="2800" dirty="0"/>
          </a:p>
        </p:txBody>
      </p:sp>
      <p:sp>
        <p:nvSpPr>
          <p:cNvPr id="6" name="Text 3"/>
          <p:cNvSpPr/>
          <p:nvPr/>
        </p:nvSpPr>
        <p:spPr>
          <a:xfrm>
            <a:off x="640080" y="1691640"/>
            <a:ext cx="10881360" cy="757428"/>
          </a:xfrm>
          <a:prstGeom prst="rect">
            <a:avLst/>
          </a:prstGeom>
          <a:noFill/>
          <a:ln/>
        </p:spPr>
        <p:txBody>
          <a:bodyPr wrap="square" lIns="0" tIns="0" rIns="0" bIns="0" rtlCol="0" anchor="ctr"/>
          <a:lstStyle/>
          <a:p>
            <a:pPr marL="0" indent="0">
              <a:buNone/>
            </a:pPr>
            <a:r>
              <a:rPr lang="en-US" sz="2100" dirty="0">
                <a:solidFill>
                  <a:srgbClr val="1E2761"/>
                </a:solidFill>
                <a:latin typeface="Calibri" pitchFamily="34" charset="0"/>
                <a:ea typeface="Calibri" pitchFamily="34" charset="-122"/>
                <a:cs typeface="Calibri" pitchFamily="34" charset="-120"/>
              </a:rPr>
              <a:t>Aşağıdaki cümleyi okuyun ve 2 dakika düşünün: "Öğretmen sınıfa girer girmez ---- bir sessizlik oldu." Boşluğa "ani" mi yoksa "derin" mi daha uygun düşer? Neden?</a:t>
            </a:r>
            <a:endParaRPr lang="en-US" sz="2100" dirty="0"/>
          </a:p>
        </p:txBody>
      </p:sp>
      <p:sp>
        <p:nvSpPr>
          <p:cNvPr id="7" name="Shape 4"/>
          <p:cNvSpPr/>
          <p:nvPr/>
        </p:nvSpPr>
        <p:spPr>
          <a:xfrm>
            <a:off x="4480560" y="2540508"/>
            <a:ext cx="3200400" cy="848868"/>
          </a:xfrm>
          <a:prstGeom prst="roundRect">
            <a:avLst>
              <a:gd name="adj" fmla="val 8889"/>
            </a:avLst>
          </a:prstGeom>
          <a:solidFill>
            <a:srgbClr val="254B78"/>
          </a:solidFill>
          <a:ln/>
          <a:effectLst>
            <a:outerShdw blurRad="76200" dist="25400" dir="5400000" algn="bl" rotWithShape="0">
              <a:srgbClr val="1E2761">
                <a:alpha val="18000"/>
              </a:srgbClr>
            </a:outerShdw>
          </a:effectLst>
        </p:spPr>
      </p:sp>
      <p:sp>
        <p:nvSpPr>
          <p:cNvPr id="8" name="Text 5"/>
          <p:cNvSpPr/>
          <p:nvPr/>
        </p:nvSpPr>
        <p:spPr>
          <a:xfrm>
            <a:off x="4480560" y="2540508"/>
            <a:ext cx="3200400" cy="757428"/>
          </a:xfrm>
          <a:prstGeom prst="rect">
            <a:avLst/>
          </a:prstGeom>
          <a:noFill/>
          <a:ln/>
        </p:spPr>
        <p:txBody>
          <a:bodyPr wrap="square" lIns="0" tIns="0" rIns="0" bIns="0" rtlCol="0" anchor="ctr"/>
          <a:lstStyle/>
          <a:p>
            <a:pPr marL="0" indent="0" algn="ctr">
              <a:buNone/>
            </a:pPr>
            <a:r>
              <a:rPr lang="en-US" sz="2100" b="1" dirty="0">
                <a:solidFill>
                  <a:srgbClr val="FFFFFF"/>
                </a:solidFill>
                <a:latin typeface="Calibri" pitchFamily="34" charset="0"/>
                <a:ea typeface="Calibri" pitchFamily="34" charset="-122"/>
                <a:cs typeface="Calibri" pitchFamily="34" charset="-120"/>
              </a:rPr>
              <a:t>"---- bir sessizlik oldu"</a:t>
            </a:r>
            <a:endParaRPr lang="en-US" sz="2100" dirty="0"/>
          </a:p>
        </p:txBody>
      </p:sp>
      <p:sp>
        <p:nvSpPr>
          <p:cNvPr id="9" name="Shape 6"/>
          <p:cNvSpPr/>
          <p:nvPr/>
        </p:nvSpPr>
        <p:spPr>
          <a:xfrm>
            <a:off x="640080" y="3663696"/>
            <a:ext cx="10881360" cy="1534160"/>
          </a:xfrm>
          <a:prstGeom prst="roundRect">
            <a:avLst>
              <a:gd name="adj" fmla="val 6667"/>
            </a:avLst>
          </a:prstGeom>
          <a:solidFill>
            <a:srgbClr val="FBF3E3"/>
          </a:solidFill>
          <a:ln/>
        </p:spPr>
      </p:sp>
      <p:sp>
        <p:nvSpPr>
          <p:cNvPr id="10" name="Text 7"/>
          <p:cNvSpPr/>
          <p:nvPr/>
        </p:nvSpPr>
        <p:spPr>
          <a:xfrm>
            <a:off x="914400" y="3663696"/>
            <a:ext cx="10332720" cy="1442720"/>
          </a:xfrm>
          <a:prstGeom prst="rect">
            <a:avLst/>
          </a:prstGeom>
          <a:noFill/>
          <a:ln/>
        </p:spPr>
        <p:txBody>
          <a:bodyPr wrap="square" lIns="0" tIns="0" rIns="0" bIns="0" rtlCol="0" anchor="ctr"/>
          <a:lstStyle/>
          <a:p>
            <a:pPr marL="0" indent="0">
              <a:buNone/>
            </a:pPr>
            <a:r>
              <a:rPr lang="en-US" sz="2000" b="1" dirty="0">
                <a:solidFill>
                  <a:srgbClr val="1E3A5F"/>
                </a:solidFill>
                <a:latin typeface="Calibri" pitchFamily="34" charset="0"/>
                <a:ea typeface="Calibri" pitchFamily="34" charset="-122"/>
                <a:cs typeface="Calibri" pitchFamily="34" charset="-120"/>
              </a:rPr>
              <a:t>Cevap:  </a:t>
            </a:r>
            <a:r>
              <a:rPr lang="en-US" sz="2000" dirty="0">
                <a:solidFill>
                  <a:srgbClr val="1E2761"/>
                </a:solidFill>
                <a:latin typeface="Calibri" pitchFamily="34" charset="0"/>
                <a:ea typeface="Calibri" pitchFamily="34" charset="-122"/>
                <a:cs typeface="Calibri" pitchFamily="34" charset="-120"/>
              </a:rPr>
              <a:t>"Derin" daha uygundur. "Ani" bir DEĞİŞİMİN hızını anlatır (sessizliğin nasıl başladığını), "derin" ise sessizliğin kendi NİTELİĞİNİ anlatır ve Türkçede "derin sessizlik" birlikte kullanılan (kalıplaşmış) bir sözcük çiftidir. İşte bugün tam olarak bunu öğreneceğiz: </a:t>
            </a:r>
            <a:r>
              <a:rPr lang="en-US" sz="2000" b="1" dirty="0">
                <a:solidFill>
                  <a:srgbClr val="1E3A5F"/>
                </a:solidFill>
                <a:latin typeface="Calibri" pitchFamily="34" charset="0"/>
                <a:ea typeface="Calibri" pitchFamily="34" charset="-122"/>
                <a:cs typeface="Calibri" pitchFamily="34" charset="-120"/>
              </a:rPr>
              <a:t>BAĞLAMA EN UYGUN</a:t>
            </a:r>
            <a:r>
              <a:rPr lang="en-US" sz="2000" dirty="0">
                <a:solidFill>
                  <a:srgbClr val="1E2761"/>
                </a:solidFill>
                <a:latin typeface="Calibri" pitchFamily="34" charset="0"/>
                <a:ea typeface="Calibri" pitchFamily="34" charset="-122"/>
                <a:cs typeface="Calibri" pitchFamily="34" charset="-120"/>
              </a:rPr>
              <a:t> sözcüğü/ifadeyi nasıl seçeriz?</a:t>
            </a:r>
            <a:endParaRPr lang="en-US" sz="2000" dirty="0"/>
          </a:p>
        </p:txBody>
      </p:sp>
      <p:sp>
        <p:nvSpPr>
          <p:cNvPr id="11" name="Text 8"/>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TYT TÜRKÇE  ·  SÖZCÜKTE ANLAM  ·  Hazırlık Sorusu</a:t>
            </a:r>
            <a:endParaRPr lang="en-US" sz="900" dirty="0"/>
          </a:p>
        </p:txBody>
      </p:sp>
      <p:sp>
        <p:nvSpPr>
          <p:cNvPr id="12" name="Text 9"/>
          <p:cNvSpPr/>
          <p:nvPr/>
        </p:nvSpPr>
        <p:spPr>
          <a:xfrm>
            <a:off x="9902952" y="6537960"/>
            <a:ext cx="18288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Ders 2 / 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48640"/>
            <a:ext cx="640080" cy="640080"/>
          </a:xfrm>
          <a:prstGeom prst="ellipse">
            <a:avLst/>
          </a:prstGeom>
          <a:solidFill>
            <a:srgbClr val="1E3A5F"/>
          </a:solidFill>
          <a:ln/>
        </p:spPr>
      </p:sp>
      <p:pic>
        <p:nvPicPr>
          <p:cNvPr id="3" name="Image 0" descr="icons/yapi_white.png"/>
          <p:cNvPicPr>
            <a:picLocks noChangeAspect="1"/>
          </p:cNvPicPr>
          <p:nvPr/>
        </p:nvPicPr>
        <p:blipFill>
          <a:blip r:embed="rId3"/>
          <a:stretch>
            <a:fillRect/>
          </a:stretch>
        </p:blipFill>
        <p:spPr>
          <a:xfrm>
            <a:off x="784098" y="692658"/>
            <a:ext cx="352044" cy="352044"/>
          </a:xfrm>
          <a:prstGeom prst="rect">
            <a:avLst/>
          </a:prstGeom>
        </p:spPr>
      </p:pic>
      <p:sp>
        <p:nvSpPr>
          <p:cNvPr id="4" name="Text 1"/>
          <p:cNvSpPr/>
          <p:nvPr/>
        </p:nvSpPr>
        <p:spPr>
          <a:xfrm>
            <a:off x="1508760" y="566928"/>
            <a:ext cx="7315200" cy="320040"/>
          </a:xfrm>
          <a:prstGeom prst="rect">
            <a:avLst/>
          </a:prstGeom>
          <a:noFill/>
          <a:ln/>
        </p:spPr>
        <p:txBody>
          <a:bodyPr wrap="square" lIns="0" tIns="0" rIns="0" bIns="0"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ANLATIM · 1/3</a:t>
            </a:r>
            <a:endParaRPr lang="en-US" sz="1300" dirty="0"/>
          </a:p>
        </p:txBody>
      </p:sp>
      <p:sp>
        <p:nvSpPr>
          <p:cNvPr id="5" name="Text 2"/>
          <p:cNvSpPr/>
          <p:nvPr/>
        </p:nvSpPr>
        <p:spPr>
          <a:xfrm>
            <a:off x="1463040" y="841248"/>
            <a:ext cx="8229600" cy="640080"/>
          </a:xfrm>
          <a:prstGeom prst="rect">
            <a:avLst/>
          </a:prstGeom>
          <a:noFill/>
          <a:ln/>
        </p:spPr>
        <p:txBody>
          <a:bodyPr wrap="square" lIns="0" tIns="0" rIns="0" bIns="0" rtlCol="0" anchor="ctr"/>
          <a:lstStyle/>
          <a:p>
            <a:pPr marL="0" indent="0">
              <a:buNone/>
            </a:pPr>
            <a:r>
              <a:rPr lang="en-US" sz="2800" b="1" dirty="0">
                <a:solidFill>
                  <a:srgbClr val="1E3A5F"/>
                </a:solidFill>
                <a:latin typeface="Cambria" pitchFamily="34" charset="0"/>
                <a:ea typeface="Cambria" pitchFamily="34" charset="-122"/>
                <a:cs typeface="Cambria" pitchFamily="34" charset="-120"/>
              </a:rPr>
              <a:t>"Bağlamsal Anlam" Nedir? (Geçen Dersten Devam)</a:t>
            </a:r>
            <a:endParaRPr lang="en-US" sz="2800" dirty="0"/>
          </a:p>
        </p:txBody>
      </p:sp>
      <p:sp>
        <p:nvSpPr>
          <p:cNvPr id="6" name="Shape 3"/>
          <p:cNvSpPr/>
          <p:nvPr/>
        </p:nvSpPr>
        <p:spPr>
          <a:xfrm>
            <a:off x="640080" y="1783080"/>
            <a:ext cx="10881360" cy="1051560"/>
          </a:xfrm>
          <a:prstGeom prst="roundRect">
            <a:avLst>
              <a:gd name="adj" fmla="val 8696"/>
            </a:avLst>
          </a:prstGeom>
          <a:solidFill>
            <a:srgbClr val="EEF3F8"/>
          </a:solidFill>
          <a:ln/>
        </p:spPr>
      </p:sp>
      <p:sp>
        <p:nvSpPr>
          <p:cNvPr id="7" name="Text 4"/>
          <p:cNvSpPr/>
          <p:nvPr/>
        </p:nvSpPr>
        <p:spPr>
          <a:xfrm>
            <a:off x="914400" y="1783080"/>
            <a:ext cx="10332720" cy="1051560"/>
          </a:xfrm>
          <a:prstGeom prst="rect">
            <a:avLst/>
          </a:prstGeom>
          <a:noFill/>
          <a:ln/>
        </p:spPr>
        <p:txBody>
          <a:bodyPr wrap="square" lIns="0" tIns="0" rIns="0" bIns="0" rtlCol="0" anchor="ctr"/>
          <a:lstStyle/>
          <a:p>
            <a:pPr marL="0" indent="0">
              <a:buNone/>
            </a:pPr>
            <a:r>
              <a:rPr lang="en-US" sz="1900" b="1" dirty="0">
                <a:solidFill>
                  <a:srgbClr val="1E3A5F"/>
                </a:solidFill>
                <a:latin typeface="Calibri" pitchFamily="34" charset="0"/>
                <a:ea typeface="Calibri" pitchFamily="34" charset="-122"/>
                <a:cs typeface="Calibri" pitchFamily="34" charset="-120"/>
              </a:rPr>
              <a:t>Hatırlatma:  </a:t>
            </a:r>
            <a:r>
              <a:rPr lang="en-US" sz="1900" dirty="0">
                <a:solidFill>
                  <a:srgbClr val="1E2761"/>
                </a:solidFill>
                <a:latin typeface="Calibri" pitchFamily="34" charset="0"/>
                <a:ea typeface="Calibri" pitchFamily="34" charset="-122"/>
                <a:cs typeface="Calibri" pitchFamily="34" charset="-120"/>
              </a:rPr>
              <a:t>Geçen ders "bağlamsal anlam"ı şöyle tanımlamıştık: aynı sözcüğün, metnin farklı yerlerinde farklı anlamda kullanılabilmesi. TYT'de bu ilke, karşımıza SÜREKLİ tekrar eden iki farklı soru kalıbı olarak çıkar.</a:t>
            </a:r>
            <a:endParaRPr lang="en-US" sz="1900" dirty="0"/>
          </a:p>
        </p:txBody>
      </p:sp>
      <p:sp>
        <p:nvSpPr>
          <p:cNvPr id="8" name="Text 5"/>
          <p:cNvSpPr/>
          <p:nvPr/>
        </p:nvSpPr>
        <p:spPr>
          <a:xfrm>
            <a:off x="640080" y="3063240"/>
            <a:ext cx="10881360" cy="378714"/>
          </a:xfrm>
          <a:prstGeom prst="rect">
            <a:avLst/>
          </a:prstGeom>
          <a:noFill/>
          <a:ln/>
        </p:spPr>
        <p:txBody>
          <a:bodyPr wrap="square" lIns="0" tIns="0" rIns="0" bIns="0" rtlCol="0" anchor="ctr"/>
          <a:lstStyle/>
          <a:p>
            <a:pPr marL="0" indent="0">
              <a:buNone/>
            </a:pPr>
            <a:r>
              <a:rPr lang="en-US" sz="2100" b="1" dirty="0">
                <a:solidFill>
                  <a:srgbClr val="1E3A5F"/>
                </a:solidFill>
                <a:latin typeface="Calibri" pitchFamily="34" charset="0"/>
                <a:ea typeface="Calibri" pitchFamily="34" charset="-122"/>
                <a:cs typeface="Calibri" pitchFamily="34" charset="-120"/>
              </a:rPr>
              <a:t>2020-2026 gerçek sınav taramasında bulunan, bugün işleyeceğimiz iki soru tipi:</a:t>
            </a:r>
            <a:endParaRPr lang="en-US" sz="2100" dirty="0"/>
          </a:p>
        </p:txBody>
      </p:sp>
      <p:sp>
        <p:nvSpPr>
          <p:cNvPr id="9" name="Shape 6"/>
          <p:cNvSpPr/>
          <p:nvPr/>
        </p:nvSpPr>
        <p:spPr>
          <a:xfrm>
            <a:off x="640080" y="3611880"/>
            <a:ext cx="10881360" cy="960120"/>
          </a:xfrm>
          <a:prstGeom prst="roundRect">
            <a:avLst>
              <a:gd name="adj" fmla="val 7619"/>
            </a:avLst>
          </a:prstGeom>
          <a:solidFill>
            <a:srgbClr val="EEF3F8"/>
          </a:solidFill>
          <a:ln/>
        </p:spPr>
      </p:sp>
      <p:sp>
        <p:nvSpPr>
          <p:cNvPr id="10" name="Shape 7"/>
          <p:cNvSpPr/>
          <p:nvPr/>
        </p:nvSpPr>
        <p:spPr>
          <a:xfrm>
            <a:off x="822960" y="3840480"/>
            <a:ext cx="1371600" cy="502920"/>
          </a:xfrm>
          <a:prstGeom prst="roundRect">
            <a:avLst>
              <a:gd name="adj" fmla="val 14545"/>
            </a:avLst>
          </a:prstGeom>
          <a:solidFill>
            <a:srgbClr val="1E3A5F"/>
          </a:solidFill>
          <a:ln/>
          <a:effectLst>
            <a:outerShdw blurRad="76200" dist="25400" dir="5400000" algn="bl" rotWithShape="0">
              <a:srgbClr val="1E2761">
                <a:alpha val="18000"/>
              </a:srgbClr>
            </a:outerShdw>
          </a:effectLst>
        </p:spPr>
      </p:sp>
      <p:sp>
        <p:nvSpPr>
          <p:cNvPr id="11" name="Text 8"/>
          <p:cNvSpPr/>
          <p:nvPr/>
        </p:nvSpPr>
        <p:spPr>
          <a:xfrm>
            <a:off x="822960" y="3840480"/>
            <a:ext cx="137160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Tip 1</a:t>
            </a:r>
            <a:endParaRPr lang="en-US" sz="2000" dirty="0"/>
          </a:p>
        </p:txBody>
      </p:sp>
      <p:sp>
        <p:nvSpPr>
          <p:cNvPr id="12" name="Text 9"/>
          <p:cNvSpPr/>
          <p:nvPr/>
        </p:nvSpPr>
        <p:spPr>
          <a:xfrm>
            <a:off x="2423160" y="3703320"/>
            <a:ext cx="7406640" cy="548640"/>
          </a:xfrm>
          <a:prstGeom prst="rect">
            <a:avLst/>
          </a:prstGeom>
          <a:noFill/>
          <a:ln/>
        </p:spPr>
        <p:txBody>
          <a:bodyPr wrap="square" lIns="0" tIns="0" rIns="0" bIns="0" rtlCol="0" anchor="ctr"/>
          <a:lstStyle/>
          <a:p>
            <a:pPr marL="0" indent="0">
              <a:buNone/>
            </a:pPr>
            <a:r>
              <a:rPr lang="en-US" sz="1500" dirty="0">
                <a:solidFill>
                  <a:srgbClr val="1E2761"/>
                </a:solidFill>
                <a:latin typeface="Calibri" pitchFamily="34" charset="0"/>
                <a:ea typeface="Calibri" pitchFamily="34" charset="-122"/>
                <a:cs typeface="Calibri" pitchFamily="34" charset="-120"/>
              </a:rPr>
              <a:t>Bağlama uygun sözcük/ifade seçme — cümle veya parçada boş bırakılan yer(ler)e en uygun sözcüğü/çifti bulma.</a:t>
            </a:r>
            <a:endParaRPr lang="en-US" sz="1500" dirty="0"/>
          </a:p>
        </p:txBody>
      </p:sp>
      <p:sp>
        <p:nvSpPr>
          <p:cNvPr id="13" name="Text 10"/>
          <p:cNvSpPr/>
          <p:nvPr/>
        </p:nvSpPr>
        <p:spPr>
          <a:xfrm>
            <a:off x="2423160" y="4233672"/>
            <a:ext cx="7406640" cy="274320"/>
          </a:xfrm>
          <a:prstGeom prst="rect">
            <a:avLst/>
          </a:prstGeom>
          <a:noFill/>
          <a:ln/>
        </p:spPr>
        <p:txBody>
          <a:bodyPr wrap="square" lIns="0" tIns="0" rIns="0" bIns="0" rtlCol="0" anchor="ctr"/>
          <a:lstStyle/>
          <a:p>
            <a:pPr marL="0" indent="0">
              <a:buNone/>
            </a:pPr>
            <a:r>
              <a:rPr lang="en-US" sz="1500" i="1" dirty="0">
                <a:solidFill>
                  <a:srgbClr val="6B7280"/>
                </a:solidFill>
                <a:latin typeface="Calibri" pitchFamily="34" charset="0"/>
                <a:ea typeface="Calibri" pitchFamily="34" charset="-122"/>
                <a:cs typeface="Calibri" pitchFamily="34" charset="-120"/>
              </a:rPr>
              <a:t>7/7 yıl · bugün 1. yarı</a:t>
            </a:r>
            <a:endParaRPr lang="en-US" sz="1500" dirty="0"/>
          </a:p>
        </p:txBody>
      </p:sp>
      <p:sp>
        <p:nvSpPr>
          <p:cNvPr id="14" name="Shape 11"/>
          <p:cNvSpPr/>
          <p:nvPr/>
        </p:nvSpPr>
        <p:spPr>
          <a:xfrm>
            <a:off x="640080" y="4690872"/>
            <a:ext cx="10881360" cy="960120"/>
          </a:xfrm>
          <a:prstGeom prst="roundRect">
            <a:avLst>
              <a:gd name="adj" fmla="val 7619"/>
            </a:avLst>
          </a:prstGeom>
          <a:solidFill>
            <a:srgbClr val="EEF3F8"/>
          </a:solidFill>
          <a:ln/>
        </p:spPr>
      </p:sp>
      <p:sp>
        <p:nvSpPr>
          <p:cNvPr id="15" name="Shape 12"/>
          <p:cNvSpPr/>
          <p:nvPr/>
        </p:nvSpPr>
        <p:spPr>
          <a:xfrm>
            <a:off x="822960" y="4919472"/>
            <a:ext cx="1371600" cy="502920"/>
          </a:xfrm>
          <a:prstGeom prst="roundRect">
            <a:avLst>
              <a:gd name="adj" fmla="val 14545"/>
            </a:avLst>
          </a:prstGeom>
          <a:solidFill>
            <a:srgbClr val="1E3A5F"/>
          </a:solidFill>
          <a:ln/>
          <a:effectLst>
            <a:outerShdw blurRad="76200" dist="25400" dir="5400000" algn="bl" rotWithShape="0">
              <a:srgbClr val="1E2761">
                <a:alpha val="18000"/>
              </a:srgbClr>
            </a:outerShdw>
          </a:effectLst>
        </p:spPr>
      </p:sp>
      <p:sp>
        <p:nvSpPr>
          <p:cNvPr id="16" name="Text 13"/>
          <p:cNvSpPr/>
          <p:nvPr/>
        </p:nvSpPr>
        <p:spPr>
          <a:xfrm>
            <a:off x="822960" y="4919472"/>
            <a:ext cx="137160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Tip 2</a:t>
            </a:r>
            <a:endParaRPr lang="en-US" sz="2000" dirty="0"/>
          </a:p>
        </p:txBody>
      </p:sp>
      <p:sp>
        <p:nvSpPr>
          <p:cNvPr id="17" name="Text 14"/>
          <p:cNvSpPr/>
          <p:nvPr/>
        </p:nvSpPr>
        <p:spPr>
          <a:xfrm>
            <a:off x="2423160" y="4782312"/>
            <a:ext cx="7406640" cy="548640"/>
          </a:xfrm>
          <a:prstGeom prst="rect">
            <a:avLst/>
          </a:prstGeom>
          <a:noFill/>
          <a:ln/>
        </p:spPr>
        <p:txBody>
          <a:bodyPr wrap="square" lIns="0" tIns="0" rIns="0" bIns="0" rtlCol="0" anchor="ctr"/>
          <a:lstStyle/>
          <a:p>
            <a:pPr marL="0" indent="0">
              <a:buNone/>
            </a:pPr>
            <a:r>
              <a:rPr lang="en-US" sz="1500" dirty="0">
                <a:solidFill>
                  <a:srgbClr val="1E2761"/>
                </a:solidFill>
                <a:latin typeface="Calibri" pitchFamily="34" charset="0"/>
                <a:ea typeface="Calibri" pitchFamily="34" charset="-122"/>
                <a:cs typeface="Calibri" pitchFamily="34" charset="-120"/>
              </a:rPr>
              <a:t>Numaralanmış sözlerin anlamını doğrulama — parçada I-V ile işaretli sözlerin, parantez içindeki açıklamayla uyup uyuşmadığını kontrol etme.</a:t>
            </a:r>
            <a:endParaRPr lang="en-US" sz="1500" dirty="0"/>
          </a:p>
        </p:txBody>
      </p:sp>
      <p:sp>
        <p:nvSpPr>
          <p:cNvPr id="18" name="Text 15"/>
          <p:cNvSpPr/>
          <p:nvPr/>
        </p:nvSpPr>
        <p:spPr>
          <a:xfrm>
            <a:off x="2423160" y="5312664"/>
            <a:ext cx="7406640" cy="274320"/>
          </a:xfrm>
          <a:prstGeom prst="rect">
            <a:avLst/>
          </a:prstGeom>
          <a:noFill/>
          <a:ln/>
        </p:spPr>
        <p:txBody>
          <a:bodyPr wrap="square" lIns="0" tIns="0" rIns="0" bIns="0" rtlCol="0" anchor="ctr"/>
          <a:lstStyle/>
          <a:p>
            <a:pPr marL="0" indent="0">
              <a:buNone/>
            </a:pPr>
            <a:r>
              <a:rPr lang="en-US" sz="1500" i="1" dirty="0">
                <a:solidFill>
                  <a:srgbClr val="6B7280"/>
                </a:solidFill>
                <a:latin typeface="Calibri" pitchFamily="34" charset="0"/>
                <a:ea typeface="Calibri" pitchFamily="34" charset="-122"/>
                <a:cs typeface="Calibri" pitchFamily="34" charset="-120"/>
              </a:rPr>
              <a:t>5/7 yıl · bugün 2. yarı</a:t>
            </a:r>
            <a:endParaRPr lang="en-US" sz="1500" dirty="0"/>
          </a:p>
        </p:txBody>
      </p:sp>
      <p:sp>
        <p:nvSpPr>
          <p:cNvPr id="19" name="Shape 16"/>
          <p:cNvSpPr/>
          <p:nvPr/>
        </p:nvSpPr>
        <p:spPr>
          <a:xfrm>
            <a:off x="640080" y="5806440"/>
            <a:ext cx="10881360" cy="548640"/>
          </a:xfrm>
          <a:prstGeom prst="roundRect">
            <a:avLst>
              <a:gd name="adj" fmla="val 16667"/>
            </a:avLst>
          </a:prstGeom>
          <a:solidFill>
            <a:srgbClr val="FBF3E3"/>
          </a:solidFill>
          <a:ln/>
        </p:spPr>
      </p:sp>
      <p:sp>
        <p:nvSpPr>
          <p:cNvPr id="20" name="Text 17"/>
          <p:cNvSpPr/>
          <p:nvPr/>
        </p:nvSpPr>
        <p:spPr>
          <a:xfrm>
            <a:off x="914400" y="5806440"/>
            <a:ext cx="10332720" cy="548640"/>
          </a:xfrm>
          <a:prstGeom prst="rect">
            <a:avLst/>
          </a:prstGeom>
          <a:noFill/>
          <a:ln/>
        </p:spPr>
        <p:txBody>
          <a:bodyPr wrap="square" lIns="0" tIns="0" rIns="0" bIns="0" rtlCol="0" anchor="ctr"/>
          <a:lstStyle/>
          <a:p>
            <a:pPr marL="0" indent="0">
              <a:buNone/>
            </a:pPr>
            <a:r>
              <a:rPr lang="en-US" sz="1500" dirty="0">
                <a:solidFill>
                  <a:srgbClr val="1E2761"/>
                </a:solidFill>
                <a:latin typeface="Calibri" pitchFamily="34" charset="0"/>
                <a:ea typeface="Calibri" pitchFamily="34" charset="-122"/>
                <a:cs typeface="Calibri" pitchFamily="34" charset="-120"/>
              </a:rPr>
              <a:t>Bu iki tip, TYT Türkçe testinin 1-4. sorularında neredeyse HER YIL çıkıyor — bu derste ikisinde de uzmanlaşacağız.</a:t>
            </a:r>
            <a:endParaRPr lang="en-US" sz="1500" dirty="0"/>
          </a:p>
        </p:txBody>
      </p:sp>
      <p:sp>
        <p:nvSpPr>
          <p:cNvPr id="21" name="Text 18"/>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TYT TÜRKÇE  ·  SÖZCÜKTE ANLAM  ·  Anlatım — Bağlamsal Anlam</a:t>
            </a:r>
            <a:endParaRPr lang="en-US" sz="900" dirty="0"/>
          </a:p>
        </p:txBody>
      </p:sp>
      <p:sp>
        <p:nvSpPr>
          <p:cNvPr id="22" name="Text 19"/>
          <p:cNvSpPr/>
          <p:nvPr/>
        </p:nvSpPr>
        <p:spPr>
          <a:xfrm>
            <a:off x="9902952" y="6537960"/>
            <a:ext cx="18288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Ders 2 / 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48640"/>
            <a:ext cx="640080" cy="640080"/>
          </a:xfrm>
          <a:prstGeom prst="ellipse">
            <a:avLst/>
          </a:prstGeom>
          <a:solidFill>
            <a:srgbClr val="1E3A5F"/>
          </a:solidFill>
          <a:ln/>
        </p:spPr>
      </p:sp>
      <p:pic>
        <p:nvPicPr>
          <p:cNvPr id="3" name="Image 0" descr="icons/yapi_white.png"/>
          <p:cNvPicPr>
            <a:picLocks noChangeAspect="1"/>
          </p:cNvPicPr>
          <p:nvPr/>
        </p:nvPicPr>
        <p:blipFill>
          <a:blip r:embed="rId3"/>
          <a:stretch>
            <a:fillRect/>
          </a:stretch>
        </p:blipFill>
        <p:spPr>
          <a:xfrm>
            <a:off x="784098" y="692658"/>
            <a:ext cx="352044" cy="352044"/>
          </a:xfrm>
          <a:prstGeom prst="rect">
            <a:avLst/>
          </a:prstGeom>
        </p:spPr>
      </p:pic>
      <p:sp>
        <p:nvSpPr>
          <p:cNvPr id="4" name="Text 1"/>
          <p:cNvSpPr/>
          <p:nvPr/>
        </p:nvSpPr>
        <p:spPr>
          <a:xfrm>
            <a:off x="1508760" y="566928"/>
            <a:ext cx="7315200" cy="320040"/>
          </a:xfrm>
          <a:prstGeom prst="rect">
            <a:avLst/>
          </a:prstGeom>
          <a:noFill/>
          <a:ln/>
        </p:spPr>
        <p:txBody>
          <a:bodyPr wrap="square" lIns="0" tIns="0" rIns="0" bIns="0"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ANLATIM · 2/3</a:t>
            </a:r>
            <a:endParaRPr lang="en-US" sz="1300" dirty="0"/>
          </a:p>
        </p:txBody>
      </p:sp>
      <p:sp>
        <p:nvSpPr>
          <p:cNvPr id="5" name="Text 2"/>
          <p:cNvSpPr/>
          <p:nvPr/>
        </p:nvSpPr>
        <p:spPr>
          <a:xfrm>
            <a:off x="1463040" y="841248"/>
            <a:ext cx="8229600" cy="640080"/>
          </a:xfrm>
          <a:prstGeom prst="rect">
            <a:avLst/>
          </a:prstGeom>
          <a:noFill/>
          <a:ln/>
        </p:spPr>
        <p:txBody>
          <a:bodyPr wrap="square" lIns="0" tIns="0" rIns="0" bIns="0" rtlCol="0" anchor="ctr"/>
          <a:lstStyle/>
          <a:p>
            <a:pPr marL="0" indent="0">
              <a:buNone/>
            </a:pPr>
            <a:r>
              <a:rPr lang="en-US" sz="2800" b="1" dirty="0">
                <a:solidFill>
                  <a:srgbClr val="1E3A5F"/>
                </a:solidFill>
                <a:latin typeface="Cambria" pitchFamily="34" charset="0"/>
                <a:ea typeface="Cambria" pitchFamily="34" charset="-122"/>
                <a:cs typeface="Cambria" pitchFamily="34" charset="-120"/>
              </a:rPr>
              <a:t>Tip 1 — Bağlama Uygun Sözcük/İfade Seçme</a:t>
            </a:r>
            <a:endParaRPr lang="en-US" sz="2800" dirty="0"/>
          </a:p>
        </p:txBody>
      </p:sp>
      <p:sp>
        <p:nvSpPr>
          <p:cNvPr id="6" name="Shape 3"/>
          <p:cNvSpPr/>
          <p:nvPr/>
        </p:nvSpPr>
        <p:spPr>
          <a:xfrm>
            <a:off x="640080" y="1783080"/>
            <a:ext cx="10881360" cy="914400"/>
          </a:xfrm>
          <a:prstGeom prst="roundRect">
            <a:avLst>
              <a:gd name="adj" fmla="val 10000"/>
            </a:avLst>
          </a:prstGeom>
          <a:solidFill>
            <a:srgbClr val="EEF3F8"/>
          </a:solidFill>
          <a:ln/>
        </p:spPr>
      </p:sp>
      <p:sp>
        <p:nvSpPr>
          <p:cNvPr id="7" name="Text 4"/>
          <p:cNvSpPr/>
          <p:nvPr/>
        </p:nvSpPr>
        <p:spPr>
          <a:xfrm>
            <a:off x="914400" y="1783080"/>
            <a:ext cx="10332720" cy="914400"/>
          </a:xfrm>
          <a:prstGeom prst="rect">
            <a:avLst/>
          </a:prstGeom>
          <a:noFill/>
          <a:ln/>
        </p:spPr>
        <p:txBody>
          <a:bodyPr wrap="square" lIns="0" tIns="0" rIns="0" bIns="0" rtlCol="0" anchor="ctr"/>
          <a:lstStyle/>
          <a:p>
            <a:pPr marL="0" indent="0">
              <a:buNone/>
            </a:pPr>
            <a:r>
              <a:rPr lang="en-US" sz="1800" b="1" dirty="0">
                <a:solidFill>
                  <a:srgbClr val="1E3A5F"/>
                </a:solidFill>
                <a:latin typeface="Calibri" pitchFamily="34" charset="0"/>
                <a:ea typeface="Calibri" pitchFamily="34" charset="-122"/>
                <a:cs typeface="Calibri" pitchFamily="34" charset="-120"/>
              </a:rPr>
              <a:t>Tanım:  </a:t>
            </a:r>
            <a:r>
              <a:rPr lang="en-US" sz="1800" dirty="0">
                <a:solidFill>
                  <a:srgbClr val="1E2761"/>
                </a:solidFill>
                <a:latin typeface="Calibri" pitchFamily="34" charset="0"/>
                <a:ea typeface="Calibri" pitchFamily="34" charset="-122"/>
                <a:cs typeface="Calibri" pitchFamily="34" charset="-120"/>
              </a:rPr>
              <a:t>Cümlede veya parçada bir ya da iki yere boşluk (----) bırakılır; bu boşluklara bağlamın (cümlenin genel anlamının) izin verdiği en uygun sözcüğü/ifadeyi bulmamız istenir.</a:t>
            </a:r>
            <a:endParaRPr lang="en-US" sz="1800" dirty="0"/>
          </a:p>
        </p:txBody>
      </p:sp>
      <p:sp>
        <p:nvSpPr>
          <p:cNvPr id="8" name="Text 5"/>
          <p:cNvSpPr/>
          <p:nvPr/>
        </p:nvSpPr>
        <p:spPr>
          <a:xfrm>
            <a:off x="640080" y="2834640"/>
            <a:ext cx="10881360" cy="378714"/>
          </a:xfrm>
          <a:prstGeom prst="rect">
            <a:avLst/>
          </a:prstGeom>
          <a:noFill/>
          <a:ln/>
        </p:spPr>
        <p:txBody>
          <a:bodyPr wrap="square" lIns="0" tIns="0" rIns="0" bIns="0" rtlCol="0" anchor="ctr"/>
          <a:lstStyle/>
          <a:p>
            <a:pPr marL="0" indent="0">
              <a:buNone/>
            </a:pPr>
            <a:r>
              <a:rPr lang="en-US" sz="2100" b="1" dirty="0">
                <a:solidFill>
                  <a:srgbClr val="1E3A5F"/>
                </a:solidFill>
                <a:latin typeface="Calibri" pitchFamily="34" charset="0"/>
                <a:ea typeface="Calibri" pitchFamily="34" charset="-122"/>
                <a:cs typeface="Calibri" pitchFamily="34" charset="-120"/>
              </a:rPr>
              <a:t>Çözüm stratejisi:</a:t>
            </a:r>
            <a:endParaRPr lang="en-US" sz="2100" dirty="0"/>
          </a:p>
        </p:txBody>
      </p:sp>
      <p:sp>
        <p:nvSpPr>
          <p:cNvPr id="9" name="Shape 6"/>
          <p:cNvSpPr/>
          <p:nvPr/>
        </p:nvSpPr>
        <p:spPr>
          <a:xfrm>
            <a:off x="640080" y="3246120"/>
            <a:ext cx="10881360" cy="777240"/>
          </a:xfrm>
          <a:prstGeom prst="roundRect">
            <a:avLst>
              <a:gd name="adj" fmla="val 11765"/>
            </a:avLst>
          </a:prstGeom>
          <a:solidFill>
            <a:srgbClr val="EEF3F8"/>
          </a:solidFill>
          <a:ln/>
        </p:spPr>
      </p:sp>
      <p:sp>
        <p:nvSpPr>
          <p:cNvPr id="10" name="Shape 7"/>
          <p:cNvSpPr/>
          <p:nvPr/>
        </p:nvSpPr>
        <p:spPr>
          <a:xfrm>
            <a:off x="868680" y="3383280"/>
            <a:ext cx="502920" cy="502920"/>
          </a:xfrm>
          <a:prstGeom prst="ellipse">
            <a:avLst/>
          </a:prstGeom>
          <a:solidFill>
            <a:srgbClr val="1E3A5F"/>
          </a:solidFill>
          <a:ln/>
        </p:spPr>
      </p:sp>
      <p:sp>
        <p:nvSpPr>
          <p:cNvPr id="11" name="Text 8"/>
          <p:cNvSpPr/>
          <p:nvPr/>
        </p:nvSpPr>
        <p:spPr>
          <a:xfrm>
            <a:off x="868680" y="338328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12" name="Text 9"/>
          <p:cNvSpPr/>
          <p:nvPr/>
        </p:nvSpPr>
        <p:spPr>
          <a:xfrm>
            <a:off x="1600200" y="3337560"/>
            <a:ext cx="6035040" cy="365760"/>
          </a:xfrm>
          <a:prstGeom prst="rect">
            <a:avLst/>
          </a:prstGeom>
          <a:noFill/>
          <a:ln/>
        </p:spPr>
        <p:txBody>
          <a:bodyPr wrap="square" lIns="0" tIns="0" rIns="0" bIns="0" rtlCol="0" anchor="ctr"/>
          <a:lstStyle/>
          <a:p>
            <a:pPr marL="0" indent="0">
              <a:buNone/>
            </a:pPr>
            <a:r>
              <a:rPr lang="en-US" sz="2050" b="1" dirty="0">
                <a:solidFill>
                  <a:srgbClr val="1E3A5F"/>
                </a:solidFill>
                <a:latin typeface="Calibri" pitchFamily="34" charset="0"/>
                <a:ea typeface="Calibri" pitchFamily="34" charset="-122"/>
                <a:cs typeface="Calibri" pitchFamily="34" charset="-120"/>
              </a:rPr>
              <a:t>Genel anlamı belirleyin</a:t>
            </a:r>
            <a:endParaRPr lang="en-US" sz="2050" dirty="0"/>
          </a:p>
        </p:txBody>
      </p:sp>
      <p:sp>
        <p:nvSpPr>
          <p:cNvPr id="13" name="Text 10"/>
          <p:cNvSpPr/>
          <p:nvPr/>
        </p:nvSpPr>
        <p:spPr>
          <a:xfrm>
            <a:off x="1600200" y="3703320"/>
            <a:ext cx="6035040" cy="274320"/>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Cümlenin/parçanın olumlu mu olumsuz mu, hangi konudan bahsettiğini önce kavrayın.</a:t>
            </a:r>
            <a:endParaRPr lang="en-US" sz="1200" dirty="0"/>
          </a:p>
        </p:txBody>
      </p:sp>
      <p:sp>
        <p:nvSpPr>
          <p:cNvPr id="14" name="Shape 11"/>
          <p:cNvSpPr/>
          <p:nvPr/>
        </p:nvSpPr>
        <p:spPr>
          <a:xfrm>
            <a:off x="640080" y="4142232"/>
            <a:ext cx="10881360" cy="777240"/>
          </a:xfrm>
          <a:prstGeom prst="roundRect">
            <a:avLst>
              <a:gd name="adj" fmla="val 11765"/>
            </a:avLst>
          </a:prstGeom>
          <a:solidFill>
            <a:srgbClr val="EEF3F8"/>
          </a:solidFill>
          <a:ln/>
        </p:spPr>
      </p:sp>
      <p:sp>
        <p:nvSpPr>
          <p:cNvPr id="15" name="Shape 12"/>
          <p:cNvSpPr/>
          <p:nvPr/>
        </p:nvSpPr>
        <p:spPr>
          <a:xfrm>
            <a:off x="868680" y="4279392"/>
            <a:ext cx="502920" cy="502920"/>
          </a:xfrm>
          <a:prstGeom prst="ellipse">
            <a:avLst/>
          </a:prstGeom>
          <a:solidFill>
            <a:srgbClr val="1E3A5F"/>
          </a:solidFill>
          <a:ln/>
        </p:spPr>
      </p:sp>
      <p:sp>
        <p:nvSpPr>
          <p:cNvPr id="16" name="Text 13"/>
          <p:cNvSpPr/>
          <p:nvPr/>
        </p:nvSpPr>
        <p:spPr>
          <a:xfrm>
            <a:off x="868680" y="4279392"/>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7" name="Text 14"/>
          <p:cNvSpPr/>
          <p:nvPr/>
        </p:nvSpPr>
        <p:spPr>
          <a:xfrm>
            <a:off x="1600200" y="4233672"/>
            <a:ext cx="6035040" cy="365760"/>
          </a:xfrm>
          <a:prstGeom prst="rect">
            <a:avLst/>
          </a:prstGeom>
          <a:noFill/>
          <a:ln/>
        </p:spPr>
        <p:txBody>
          <a:bodyPr wrap="square" lIns="0" tIns="0" rIns="0" bIns="0" rtlCol="0" anchor="ctr"/>
          <a:lstStyle/>
          <a:p>
            <a:pPr marL="0" indent="0">
              <a:buNone/>
            </a:pPr>
            <a:r>
              <a:rPr lang="en-US" sz="2050" b="1" dirty="0">
                <a:solidFill>
                  <a:srgbClr val="1E3A5F"/>
                </a:solidFill>
                <a:latin typeface="Calibri" pitchFamily="34" charset="0"/>
                <a:ea typeface="Calibri" pitchFamily="34" charset="-122"/>
                <a:cs typeface="Calibri" pitchFamily="34" charset="-120"/>
              </a:rPr>
              <a:t>Boşlukları BİRLİKTE düşünün</a:t>
            </a:r>
            <a:endParaRPr lang="en-US" sz="2050" dirty="0"/>
          </a:p>
        </p:txBody>
      </p:sp>
      <p:sp>
        <p:nvSpPr>
          <p:cNvPr id="18" name="Text 15"/>
          <p:cNvSpPr/>
          <p:nvPr/>
        </p:nvSpPr>
        <p:spPr>
          <a:xfrm>
            <a:off x="1600200" y="4599432"/>
            <a:ext cx="6035040" cy="274320"/>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Doğru seçenek bir ÇİFT'tir; yönünü BAĞLAÇ belirler: ama/fakat → zıt, ve/üstelik → aynı yön.</a:t>
            </a:r>
            <a:endParaRPr lang="en-US" sz="1200" dirty="0"/>
          </a:p>
        </p:txBody>
      </p:sp>
      <p:sp>
        <p:nvSpPr>
          <p:cNvPr id="19" name="Shape 16"/>
          <p:cNvSpPr/>
          <p:nvPr/>
        </p:nvSpPr>
        <p:spPr>
          <a:xfrm>
            <a:off x="640080" y="5038344"/>
            <a:ext cx="10881360" cy="777240"/>
          </a:xfrm>
          <a:prstGeom prst="roundRect">
            <a:avLst>
              <a:gd name="adj" fmla="val 11765"/>
            </a:avLst>
          </a:prstGeom>
          <a:solidFill>
            <a:srgbClr val="EEF3F8"/>
          </a:solidFill>
          <a:ln/>
        </p:spPr>
      </p:sp>
      <p:sp>
        <p:nvSpPr>
          <p:cNvPr id="20" name="Shape 17"/>
          <p:cNvSpPr/>
          <p:nvPr/>
        </p:nvSpPr>
        <p:spPr>
          <a:xfrm>
            <a:off x="868680" y="5175504"/>
            <a:ext cx="502920" cy="502920"/>
          </a:xfrm>
          <a:prstGeom prst="ellipse">
            <a:avLst/>
          </a:prstGeom>
          <a:solidFill>
            <a:srgbClr val="1E3A5F"/>
          </a:solidFill>
          <a:ln/>
        </p:spPr>
      </p:sp>
      <p:sp>
        <p:nvSpPr>
          <p:cNvPr id="21" name="Text 18"/>
          <p:cNvSpPr/>
          <p:nvPr/>
        </p:nvSpPr>
        <p:spPr>
          <a:xfrm>
            <a:off x="868680" y="5175504"/>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2" name="Text 19"/>
          <p:cNvSpPr/>
          <p:nvPr/>
        </p:nvSpPr>
        <p:spPr>
          <a:xfrm>
            <a:off x="1600200" y="5129784"/>
            <a:ext cx="6035040" cy="365760"/>
          </a:xfrm>
          <a:prstGeom prst="rect">
            <a:avLst/>
          </a:prstGeom>
          <a:noFill/>
          <a:ln/>
        </p:spPr>
        <p:txBody>
          <a:bodyPr wrap="square" lIns="0" tIns="0" rIns="0" bIns="0" rtlCol="0" anchor="ctr"/>
          <a:lstStyle/>
          <a:p>
            <a:pPr marL="0" indent="0">
              <a:buNone/>
            </a:pPr>
            <a:r>
              <a:rPr lang="en-US" sz="2050" b="1" dirty="0">
                <a:solidFill>
                  <a:srgbClr val="1E3A5F"/>
                </a:solidFill>
                <a:latin typeface="Calibri" pitchFamily="34" charset="0"/>
                <a:ea typeface="Calibri" pitchFamily="34" charset="-122"/>
                <a:cs typeface="Calibri" pitchFamily="34" charset="-120"/>
              </a:rPr>
              <a:t>Çeldiricileri eleyin</a:t>
            </a:r>
            <a:endParaRPr lang="en-US" sz="2050" dirty="0"/>
          </a:p>
        </p:txBody>
      </p:sp>
      <p:sp>
        <p:nvSpPr>
          <p:cNvPr id="23" name="Text 20"/>
          <p:cNvSpPr/>
          <p:nvPr/>
        </p:nvSpPr>
        <p:spPr>
          <a:xfrm>
            <a:off x="1600200" y="5495544"/>
            <a:ext cx="6035040" cy="274320"/>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Anlamca yakın görünen ama cümlenin genel mantığıyla ÇELİŞEN seçenekleri eleyin.</a:t>
            </a:r>
            <a:endParaRPr lang="en-US" sz="1200" dirty="0"/>
          </a:p>
        </p:txBody>
      </p:sp>
      <p:sp>
        <p:nvSpPr>
          <p:cNvPr id="24" name="Shape 21"/>
          <p:cNvSpPr/>
          <p:nvPr/>
        </p:nvSpPr>
        <p:spPr>
          <a:xfrm>
            <a:off x="640080" y="5989320"/>
            <a:ext cx="10881360" cy="548640"/>
          </a:xfrm>
          <a:prstGeom prst="roundRect">
            <a:avLst>
              <a:gd name="adj" fmla="val 16667"/>
            </a:avLst>
          </a:prstGeom>
          <a:solidFill>
            <a:srgbClr val="FBF3E3"/>
          </a:solidFill>
          <a:ln/>
        </p:spPr>
      </p:sp>
      <p:sp>
        <p:nvSpPr>
          <p:cNvPr id="25" name="Text 22"/>
          <p:cNvSpPr/>
          <p:nvPr/>
        </p:nvSpPr>
        <p:spPr>
          <a:xfrm>
            <a:off x="914400" y="5989320"/>
            <a:ext cx="10332720" cy="548640"/>
          </a:xfrm>
          <a:prstGeom prst="rect">
            <a:avLst/>
          </a:prstGeom>
          <a:noFill/>
          <a:ln/>
        </p:spPr>
        <p:txBody>
          <a:bodyPr wrap="square" lIns="0" tIns="0" rIns="0" bIns="0" rtlCol="0" anchor="ctr"/>
          <a:lstStyle/>
          <a:p>
            <a:pPr marL="0" indent="0">
              <a:buNone/>
            </a:pPr>
            <a:r>
              <a:rPr lang="en-US" sz="1300" b="1" dirty="0">
                <a:solidFill>
                  <a:srgbClr val="1E3A5F"/>
                </a:solidFill>
                <a:latin typeface="Calibri" pitchFamily="34" charset="0"/>
                <a:ea typeface="Calibri" pitchFamily="34" charset="-122"/>
                <a:cs typeface="Calibri" pitchFamily="34" charset="-120"/>
              </a:rPr>
              <a:t>Örnek:  </a:t>
            </a:r>
            <a:r>
              <a:rPr lang="en-US" sz="1300" dirty="0">
                <a:solidFill>
                  <a:srgbClr val="1E2761"/>
                </a:solidFill>
                <a:latin typeface="Calibri" pitchFamily="34" charset="0"/>
                <a:ea typeface="Calibri" pitchFamily="34" charset="-122"/>
                <a:cs typeface="Calibri" pitchFamily="34" charset="-120"/>
              </a:rPr>
              <a:t>"Sabahları erken kalkmak bana ---- geliyor ama akşamları ---- oluyorum." — "ama" ZIT bir çift ister: ilk boşluk ne derse ikincisi tersini söylemeli. Doğrusu "zor - enerjik"; "zor - uykulu" aynı yönde olduğu için çelişir, o ancak "ve" ile doğru olurdu.</a:t>
            </a:r>
            <a:endParaRPr lang="en-US" sz="1300" dirty="0"/>
          </a:p>
        </p:txBody>
      </p:sp>
      <p:sp>
        <p:nvSpPr>
          <p:cNvPr id="26" name="Text 2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TYT TÜRKÇE  ·  SÖZCÜKTE ANLAM  ·  Anlatım — Bağlama Uygun Sözcük</a:t>
            </a:r>
            <a:endParaRPr lang="en-US" sz="900" dirty="0"/>
          </a:p>
        </p:txBody>
      </p:sp>
      <p:sp>
        <p:nvSpPr>
          <p:cNvPr id="27" name="Text 24"/>
          <p:cNvSpPr/>
          <p:nvPr/>
        </p:nvSpPr>
        <p:spPr>
          <a:xfrm>
            <a:off x="9902952" y="6537960"/>
            <a:ext cx="18288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Ders 2 / 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48640"/>
            <a:ext cx="640080" cy="640080"/>
          </a:xfrm>
          <a:prstGeom prst="ellipse">
            <a:avLst/>
          </a:prstGeom>
          <a:solidFill>
            <a:srgbClr val="1E3A5F"/>
          </a:solidFill>
          <a:ln/>
        </p:spPr>
      </p:sp>
      <p:pic>
        <p:nvPicPr>
          <p:cNvPr id="3" name="Image 0" descr="icons/yapi_white.png"/>
          <p:cNvPicPr>
            <a:picLocks noChangeAspect="1"/>
          </p:cNvPicPr>
          <p:nvPr/>
        </p:nvPicPr>
        <p:blipFill>
          <a:blip r:embed="rId3"/>
          <a:stretch>
            <a:fillRect/>
          </a:stretch>
        </p:blipFill>
        <p:spPr>
          <a:xfrm>
            <a:off x="784098" y="692658"/>
            <a:ext cx="352044" cy="352044"/>
          </a:xfrm>
          <a:prstGeom prst="rect">
            <a:avLst/>
          </a:prstGeom>
        </p:spPr>
      </p:pic>
      <p:sp>
        <p:nvSpPr>
          <p:cNvPr id="4" name="Text 1"/>
          <p:cNvSpPr/>
          <p:nvPr/>
        </p:nvSpPr>
        <p:spPr>
          <a:xfrm>
            <a:off x="1508760" y="566928"/>
            <a:ext cx="7315200" cy="320040"/>
          </a:xfrm>
          <a:prstGeom prst="rect">
            <a:avLst/>
          </a:prstGeom>
          <a:noFill/>
          <a:ln/>
        </p:spPr>
        <p:txBody>
          <a:bodyPr wrap="square" lIns="0" tIns="0" rIns="0" bIns="0"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ANLATIM · 3/3</a:t>
            </a:r>
            <a:endParaRPr lang="en-US" sz="1300" dirty="0"/>
          </a:p>
        </p:txBody>
      </p:sp>
      <p:sp>
        <p:nvSpPr>
          <p:cNvPr id="5" name="Text 2"/>
          <p:cNvSpPr/>
          <p:nvPr/>
        </p:nvSpPr>
        <p:spPr>
          <a:xfrm>
            <a:off x="1463040" y="841248"/>
            <a:ext cx="8229600" cy="640080"/>
          </a:xfrm>
          <a:prstGeom prst="rect">
            <a:avLst/>
          </a:prstGeom>
          <a:noFill/>
          <a:ln/>
        </p:spPr>
        <p:txBody>
          <a:bodyPr wrap="square" lIns="0" tIns="0" rIns="0" bIns="0" rtlCol="0" anchor="ctr"/>
          <a:lstStyle/>
          <a:p>
            <a:pPr marL="0" indent="0">
              <a:buNone/>
            </a:pPr>
            <a:r>
              <a:rPr lang="en-US" sz="2800" b="1" dirty="0">
                <a:solidFill>
                  <a:srgbClr val="1E3A5F"/>
                </a:solidFill>
                <a:latin typeface="Cambria" pitchFamily="34" charset="0"/>
                <a:ea typeface="Cambria" pitchFamily="34" charset="-122"/>
                <a:cs typeface="Cambria" pitchFamily="34" charset="-120"/>
              </a:rPr>
              <a:t>Tip 2 — Numaralanmış Sözlerin Anlamını Doğrulama</a:t>
            </a:r>
            <a:endParaRPr lang="en-US" sz="2800" dirty="0"/>
          </a:p>
        </p:txBody>
      </p:sp>
      <p:sp>
        <p:nvSpPr>
          <p:cNvPr id="6" name="Shape 3"/>
          <p:cNvSpPr/>
          <p:nvPr/>
        </p:nvSpPr>
        <p:spPr>
          <a:xfrm>
            <a:off x="640080" y="1783080"/>
            <a:ext cx="10881360" cy="1051560"/>
          </a:xfrm>
          <a:prstGeom prst="roundRect">
            <a:avLst>
              <a:gd name="adj" fmla="val 8696"/>
            </a:avLst>
          </a:prstGeom>
          <a:solidFill>
            <a:srgbClr val="EEF3F8"/>
          </a:solidFill>
          <a:ln/>
        </p:spPr>
      </p:sp>
      <p:sp>
        <p:nvSpPr>
          <p:cNvPr id="7" name="Text 4"/>
          <p:cNvSpPr/>
          <p:nvPr/>
        </p:nvSpPr>
        <p:spPr>
          <a:xfrm>
            <a:off x="914400" y="1783080"/>
            <a:ext cx="10332720" cy="1051560"/>
          </a:xfrm>
          <a:prstGeom prst="rect">
            <a:avLst/>
          </a:prstGeom>
          <a:noFill/>
          <a:ln/>
        </p:spPr>
        <p:txBody>
          <a:bodyPr wrap="square" lIns="0" tIns="0" rIns="0" bIns="0" rtlCol="0" anchor="ctr"/>
          <a:lstStyle/>
          <a:p>
            <a:pPr marL="0" indent="0">
              <a:buNone/>
            </a:pPr>
            <a:r>
              <a:rPr lang="en-US" sz="1900" b="1" dirty="0">
                <a:solidFill>
                  <a:srgbClr val="1E3A5F"/>
                </a:solidFill>
                <a:latin typeface="Calibri" pitchFamily="34" charset="0"/>
                <a:ea typeface="Calibri" pitchFamily="34" charset="-122"/>
                <a:cs typeface="Calibri" pitchFamily="34" charset="-120"/>
              </a:rPr>
              <a:t>Tanım:  </a:t>
            </a:r>
            <a:r>
              <a:rPr lang="en-US" sz="1900" dirty="0">
                <a:solidFill>
                  <a:srgbClr val="1E2761"/>
                </a:solidFill>
                <a:latin typeface="Calibri" pitchFamily="34" charset="0"/>
                <a:ea typeface="Calibri" pitchFamily="34" charset="-122"/>
                <a:cs typeface="Calibri" pitchFamily="34" charset="-120"/>
              </a:rPr>
              <a:t>Parçada numaralanmış (I-V) sözcük/söz grupları geçer; her birinin yanında parantez içinde bir açıklama (eş anlam/tanım) verilir. Bunlardan HANGİSİNİN açıklaması metindeki kullanımla UYUŞMADIĞINI bulmamız istenir.</a:t>
            </a:r>
            <a:endParaRPr lang="en-US" sz="1900" dirty="0"/>
          </a:p>
        </p:txBody>
      </p:sp>
      <p:sp>
        <p:nvSpPr>
          <p:cNvPr id="8" name="Text 5"/>
          <p:cNvSpPr/>
          <p:nvPr/>
        </p:nvSpPr>
        <p:spPr>
          <a:xfrm>
            <a:off x="640080" y="3063240"/>
            <a:ext cx="10881360" cy="378714"/>
          </a:xfrm>
          <a:prstGeom prst="rect">
            <a:avLst/>
          </a:prstGeom>
          <a:noFill/>
          <a:ln/>
        </p:spPr>
        <p:txBody>
          <a:bodyPr wrap="square" lIns="0" tIns="0" rIns="0" bIns="0" rtlCol="0" anchor="ctr"/>
          <a:lstStyle/>
          <a:p>
            <a:pPr marL="0" indent="0">
              <a:buNone/>
            </a:pPr>
            <a:r>
              <a:rPr lang="en-US" sz="2100" b="1" dirty="0">
                <a:solidFill>
                  <a:srgbClr val="1E3A5F"/>
                </a:solidFill>
                <a:latin typeface="Calibri" pitchFamily="34" charset="0"/>
                <a:ea typeface="Calibri" pitchFamily="34" charset="-122"/>
                <a:cs typeface="Calibri" pitchFamily="34" charset="-120"/>
              </a:rPr>
              <a:t>Çözüm stratejisi:</a:t>
            </a:r>
            <a:endParaRPr lang="en-US" sz="2100" dirty="0"/>
          </a:p>
        </p:txBody>
      </p:sp>
      <p:sp>
        <p:nvSpPr>
          <p:cNvPr id="9" name="Shape 6"/>
          <p:cNvSpPr/>
          <p:nvPr/>
        </p:nvSpPr>
        <p:spPr>
          <a:xfrm>
            <a:off x="640080" y="3474720"/>
            <a:ext cx="10881360" cy="902208"/>
          </a:xfrm>
          <a:prstGeom prst="roundRect">
            <a:avLst>
              <a:gd name="adj" fmla="val 11765"/>
            </a:avLst>
          </a:prstGeom>
          <a:solidFill>
            <a:srgbClr val="EEF3F8"/>
          </a:solidFill>
          <a:ln/>
        </p:spPr>
      </p:sp>
      <p:sp>
        <p:nvSpPr>
          <p:cNvPr id="10" name="Shape 7"/>
          <p:cNvSpPr/>
          <p:nvPr/>
        </p:nvSpPr>
        <p:spPr>
          <a:xfrm>
            <a:off x="868680" y="3674364"/>
            <a:ext cx="502920" cy="502920"/>
          </a:xfrm>
          <a:prstGeom prst="ellipse">
            <a:avLst/>
          </a:prstGeom>
          <a:solidFill>
            <a:srgbClr val="1E3A5F"/>
          </a:solidFill>
          <a:ln/>
        </p:spPr>
      </p:sp>
      <p:sp>
        <p:nvSpPr>
          <p:cNvPr id="11" name="Text 8"/>
          <p:cNvSpPr/>
          <p:nvPr/>
        </p:nvSpPr>
        <p:spPr>
          <a:xfrm>
            <a:off x="868680" y="3674364"/>
            <a:ext cx="502920" cy="502920"/>
          </a:xfrm>
          <a:prstGeom prst="rect">
            <a:avLst/>
          </a:prstGeom>
          <a:noFill/>
          <a:ln/>
        </p:spPr>
        <p:txBody>
          <a:bodyPr wrap="non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12" name="Text 9"/>
          <p:cNvSpPr/>
          <p:nvPr/>
        </p:nvSpPr>
        <p:spPr>
          <a:xfrm>
            <a:off x="1600200" y="3566160"/>
            <a:ext cx="6035040" cy="365760"/>
          </a:xfrm>
          <a:prstGeom prst="rect">
            <a:avLst/>
          </a:prstGeom>
          <a:noFill/>
          <a:ln/>
        </p:spPr>
        <p:txBody>
          <a:bodyPr wrap="square" lIns="0" tIns="0" rIns="0" bIns="0" rtlCol="0" anchor="ctr"/>
          <a:lstStyle/>
          <a:p>
            <a:pPr marL="0" indent="0">
              <a:buNone/>
            </a:pPr>
            <a:r>
              <a:rPr lang="en-US" sz="2050" b="1" dirty="0">
                <a:solidFill>
                  <a:srgbClr val="1E3A5F"/>
                </a:solidFill>
                <a:latin typeface="Calibri" pitchFamily="34" charset="0"/>
                <a:ea typeface="Calibri" pitchFamily="34" charset="-122"/>
                <a:cs typeface="Calibri" pitchFamily="34" charset="-120"/>
              </a:rPr>
              <a:t>Önce kendi anlamınızı kurun</a:t>
            </a:r>
            <a:endParaRPr lang="en-US" sz="2050" dirty="0"/>
          </a:p>
        </p:txBody>
      </p:sp>
      <p:sp>
        <p:nvSpPr>
          <p:cNvPr id="13" name="Text 10"/>
          <p:cNvSpPr/>
          <p:nvPr/>
        </p:nvSpPr>
        <p:spPr>
          <a:xfrm>
            <a:off x="1600200" y="3931920"/>
            <a:ext cx="6035040" cy="274320"/>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Her numaralı sözü CÜMLE İÇİNDEKİ anlamıyla okuyun — parantezdeki açıklamaya bakmadan önce kafanızda bir anlam oluşturun.</a:t>
            </a:r>
            <a:endParaRPr lang="en-US" sz="1200" dirty="0"/>
          </a:p>
        </p:txBody>
      </p:sp>
      <p:sp>
        <p:nvSpPr>
          <p:cNvPr id="14" name="Shape 11"/>
          <p:cNvSpPr/>
          <p:nvPr/>
        </p:nvSpPr>
        <p:spPr>
          <a:xfrm>
            <a:off x="640080" y="4495800"/>
            <a:ext cx="10881360" cy="902208"/>
          </a:xfrm>
          <a:prstGeom prst="roundRect">
            <a:avLst>
              <a:gd name="adj" fmla="val 11765"/>
            </a:avLst>
          </a:prstGeom>
          <a:solidFill>
            <a:srgbClr val="EEF3F8"/>
          </a:solidFill>
          <a:ln/>
        </p:spPr>
      </p:sp>
      <p:sp>
        <p:nvSpPr>
          <p:cNvPr id="15" name="Shape 12"/>
          <p:cNvSpPr/>
          <p:nvPr/>
        </p:nvSpPr>
        <p:spPr>
          <a:xfrm>
            <a:off x="868680" y="4695444"/>
            <a:ext cx="502920" cy="502920"/>
          </a:xfrm>
          <a:prstGeom prst="ellipse">
            <a:avLst/>
          </a:prstGeom>
          <a:solidFill>
            <a:srgbClr val="1E3A5F"/>
          </a:solidFill>
          <a:ln/>
        </p:spPr>
      </p:sp>
      <p:sp>
        <p:nvSpPr>
          <p:cNvPr id="16" name="Text 13"/>
          <p:cNvSpPr/>
          <p:nvPr/>
        </p:nvSpPr>
        <p:spPr>
          <a:xfrm>
            <a:off x="868680" y="4695444"/>
            <a:ext cx="502920" cy="502920"/>
          </a:xfrm>
          <a:prstGeom prst="rect">
            <a:avLst/>
          </a:prstGeom>
          <a:noFill/>
          <a:ln/>
        </p:spPr>
        <p:txBody>
          <a:bodyPr wrap="non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7" name="Text 14"/>
          <p:cNvSpPr/>
          <p:nvPr/>
        </p:nvSpPr>
        <p:spPr>
          <a:xfrm>
            <a:off x="1600200" y="4587240"/>
            <a:ext cx="6035040" cy="365760"/>
          </a:xfrm>
          <a:prstGeom prst="rect">
            <a:avLst/>
          </a:prstGeom>
          <a:noFill/>
          <a:ln/>
        </p:spPr>
        <p:txBody>
          <a:bodyPr wrap="square" lIns="0" tIns="0" rIns="0" bIns="0" rtlCol="0" anchor="ctr"/>
          <a:lstStyle/>
          <a:p>
            <a:pPr marL="0" indent="0">
              <a:buNone/>
            </a:pPr>
            <a:r>
              <a:rPr lang="en-US" sz="2050" b="1" dirty="0">
                <a:solidFill>
                  <a:srgbClr val="1E3A5F"/>
                </a:solidFill>
                <a:latin typeface="Calibri" pitchFamily="34" charset="0"/>
                <a:ea typeface="Calibri" pitchFamily="34" charset="-122"/>
                <a:cs typeface="Calibri" pitchFamily="34" charset="-120"/>
              </a:rPr>
              <a:t>Karşılaştırın</a:t>
            </a:r>
            <a:endParaRPr lang="en-US" sz="2050" dirty="0"/>
          </a:p>
        </p:txBody>
      </p:sp>
      <p:sp>
        <p:nvSpPr>
          <p:cNvPr id="18" name="Text 15"/>
          <p:cNvSpPr/>
          <p:nvPr/>
        </p:nvSpPr>
        <p:spPr>
          <a:xfrm>
            <a:off x="1600200" y="4953000"/>
            <a:ext cx="6035040" cy="274320"/>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Sonra parantez içindeki açıklamayla karşılaştırın — TAM örtüşüyor mu, yoksa incelikli bir fark mı var?</a:t>
            </a:r>
            <a:endParaRPr lang="en-US" sz="1200" dirty="0"/>
          </a:p>
        </p:txBody>
      </p:sp>
      <p:sp>
        <p:nvSpPr>
          <p:cNvPr id="19" name="Shape 16"/>
          <p:cNvSpPr/>
          <p:nvPr/>
        </p:nvSpPr>
        <p:spPr>
          <a:xfrm>
            <a:off x="640080" y="5516880"/>
            <a:ext cx="10881360" cy="902208"/>
          </a:xfrm>
          <a:prstGeom prst="roundRect">
            <a:avLst>
              <a:gd name="adj" fmla="val 11765"/>
            </a:avLst>
          </a:prstGeom>
          <a:solidFill>
            <a:srgbClr val="EEF3F8"/>
          </a:solidFill>
          <a:ln/>
        </p:spPr>
      </p:sp>
      <p:sp>
        <p:nvSpPr>
          <p:cNvPr id="20" name="Shape 17"/>
          <p:cNvSpPr/>
          <p:nvPr/>
        </p:nvSpPr>
        <p:spPr>
          <a:xfrm>
            <a:off x="868680" y="5716524"/>
            <a:ext cx="502920" cy="502920"/>
          </a:xfrm>
          <a:prstGeom prst="ellipse">
            <a:avLst/>
          </a:prstGeom>
          <a:solidFill>
            <a:srgbClr val="1E3A5F"/>
          </a:solidFill>
          <a:ln/>
        </p:spPr>
      </p:sp>
      <p:sp>
        <p:nvSpPr>
          <p:cNvPr id="21" name="Text 18"/>
          <p:cNvSpPr/>
          <p:nvPr/>
        </p:nvSpPr>
        <p:spPr>
          <a:xfrm>
            <a:off x="868680" y="5716524"/>
            <a:ext cx="502920" cy="502920"/>
          </a:xfrm>
          <a:prstGeom prst="rect">
            <a:avLst/>
          </a:prstGeom>
          <a:noFill/>
          <a:ln/>
        </p:spPr>
        <p:txBody>
          <a:bodyPr wrap="non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2" name="Text 19"/>
          <p:cNvSpPr/>
          <p:nvPr/>
        </p:nvSpPr>
        <p:spPr>
          <a:xfrm>
            <a:off x="1600200" y="5608320"/>
            <a:ext cx="6035040" cy="365760"/>
          </a:xfrm>
          <a:prstGeom prst="rect">
            <a:avLst/>
          </a:prstGeom>
          <a:noFill/>
          <a:ln/>
        </p:spPr>
        <p:txBody>
          <a:bodyPr wrap="square" lIns="0" tIns="0" rIns="0" bIns="0" rtlCol="0" anchor="ctr"/>
          <a:lstStyle/>
          <a:p>
            <a:pPr marL="0" indent="0">
              <a:buNone/>
            </a:pPr>
            <a:r>
              <a:rPr lang="en-US" sz="2050" b="1" dirty="0">
                <a:solidFill>
                  <a:srgbClr val="1E3A5F"/>
                </a:solidFill>
                <a:latin typeface="Calibri" pitchFamily="34" charset="0"/>
                <a:ea typeface="Calibri" pitchFamily="34" charset="-122"/>
                <a:cs typeface="Calibri" pitchFamily="34" charset="-120"/>
              </a:rPr>
              <a:t>Hızlı eleme yapın</a:t>
            </a:r>
            <a:endParaRPr lang="en-US" sz="2050" dirty="0"/>
          </a:p>
        </p:txBody>
      </p:sp>
      <p:sp>
        <p:nvSpPr>
          <p:cNvPr id="23" name="Text 20"/>
          <p:cNvSpPr/>
          <p:nvPr/>
        </p:nvSpPr>
        <p:spPr>
          <a:xfrm>
            <a:off x="1600200" y="5974080"/>
            <a:ext cx="6035040" cy="274320"/>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4 tanesi kesinlikle doğruysa, 5.'yi ayrıntılı okumaya gerek kalmadan işaretleyebilirsiniz.</a:t>
            </a:r>
            <a:endParaRPr lang="en-US" sz="1200" dirty="0"/>
          </a:p>
        </p:txBody>
      </p:sp>
      <p:sp>
        <p:nvSpPr>
          <p:cNvPr id="24" name="Text 21"/>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TYT TÜRKÇE  ·  SÖZCÜKTE ANLAM  ·  Anlatım — Numaralanmış Sözler</a:t>
            </a:r>
            <a:endParaRPr lang="en-US" sz="900" dirty="0"/>
          </a:p>
        </p:txBody>
      </p:sp>
      <p:sp>
        <p:nvSpPr>
          <p:cNvPr id="25" name="Text 22"/>
          <p:cNvSpPr/>
          <p:nvPr/>
        </p:nvSpPr>
        <p:spPr>
          <a:xfrm>
            <a:off x="9902952" y="6537960"/>
            <a:ext cx="18288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Ders 2 / 3</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8E2318"/>
        </a:solidFill>
        <a:effectLst/>
      </p:bgPr>
    </p:bg>
    <p:spTree>
      <p:nvGrpSpPr>
        <p:cNvPr id="1" name=""/>
        <p:cNvGrpSpPr/>
        <p:nvPr/>
      </p:nvGrpSpPr>
      <p:grpSpPr>
        <a:xfrm>
          <a:off x="0" y="0"/>
          <a:ext cx="0" cy="0"/>
          <a:chOff x="0" y="0"/>
          <a:chExt cx="0" cy="0"/>
        </a:xfrm>
      </p:grpSpPr>
      <p:sp>
        <p:nvSpPr>
          <p:cNvPr id="2" name="Shape 0"/>
          <p:cNvSpPr/>
          <p:nvPr/>
        </p:nvSpPr>
        <p:spPr>
          <a:xfrm>
            <a:off x="8138160" y="0"/>
            <a:ext cx="4050792" cy="6858000"/>
          </a:xfrm>
          <a:prstGeom prst="rect">
            <a:avLst/>
          </a:prstGeom>
          <a:solidFill>
            <a:srgbClr val="6E1B12"/>
          </a:solidFill>
          <a:ln/>
        </p:spPr>
      </p:sp>
      <p:sp>
        <p:nvSpPr>
          <p:cNvPr id="3" name="Shape 1"/>
          <p:cNvSpPr/>
          <p:nvPr/>
        </p:nvSpPr>
        <p:spPr>
          <a:xfrm>
            <a:off x="640080" y="548640"/>
            <a:ext cx="731520" cy="731520"/>
          </a:xfrm>
          <a:prstGeom prst="ellipse">
            <a:avLst/>
          </a:prstGeom>
          <a:solidFill>
            <a:srgbClr val="6E1B12"/>
          </a:solidFill>
          <a:ln/>
        </p:spPr>
      </p:sp>
      <p:pic>
        <p:nvPicPr>
          <p:cNvPr id="4" name="Image 0" descr="icons/dikkat_white.png"/>
          <p:cNvPicPr>
            <a:picLocks noChangeAspect="1"/>
          </p:cNvPicPr>
          <p:nvPr/>
        </p:nvPicPr>
        <p:blipFill>
          <a:blip r:embed="rId3"/>
          <a:stretch>
            <a:fillRect/>
          </a:stretch>
        </p:blipFill>
        <p:spPr>
          <a:xfrm>
            <a:off x="804672" y="713232"/>
            <a:ext cx="402336" cy="402336"/>
          </a:xfrm>
          <a:prstGeom prst="rect">
            <a:avLst/>
          </a:prstGeom>
        </p:spPr>
      </p:pic>
      <p:sp>
        <p:nvSpPr>
          <p:cNvPr id="5" name="Text 2"/>
          <p:cNvSpPr/>
          <p:nvPr/>
        </p:nvSpPr>
        <p:spPr>
          <a:xfrm>
            <a:off x="1508760" y="566928"/>
            <a:ext cx="5486400" cy="68580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DİKKAT!</a:t>
            </a:r>
            <a:endParaRPr lang="en-US" sz="3200" dirty="0"/>
          </a:p>
        </p:txBody>
      </p:sp>
      <p:sp>
        <p:nvSpPr>
          <p:cNvPr id="6" name="Text 3"/>
          <p:cNvSpPr/>
          <p:nvPr/>
        </p:nvSpPr>
        <p:spPr>
          <a:xfrm>
            <a:off x="640080" y="1645920"/>
            <a:ext cx="10515600" cy="378714"/>
          </a:xfrm>
          <a:prstGeom prst="rect">
            <a:avLst/>
          </a:prstGeom>
          <a:noFill/>
          <a:ln/>
        </p:spPr>
        <p:txBody>
          <a:bodyPr wrap="square" lIns="0" tIns="0" rIns="0" bIns="0" rtlCol="0" anchor="ctr"/>
          <a:lstStyle/>
          <a:p>
            <a:pPr marL="0" indent="0">
              <a:buNone/>
            </a:pPr>
            <a:r>
              <a:rPr lang="en-US" sz="2100" i="1" dirty="0">
                <a:solidFill>
                  <a:srgbClr val="F5D6D0"/>
                </a:solidFill>
                <a:latin typeface="Calibri" pitchFamily="34" charset="0"/>
                <a:ea typeface="Calibri" pitchFamily="34" charset="-122"/>
                <a:cs typeface="Calibri" pitchFamily="34" charset="-120"/>
              </a:rPr>
              <a:t>Bağlama Uygun Sözcükte Sık Yapılan Hatalar!</a:t>
            </a:r>
            <a:endParaRPr lang="en-US" sz="2100" dirty="0"/>
          </a:p>
        </p:txBody>
      </p:sp>
      <p:sp>
        <p:nvSpPr>
          <p:cNvPr id="7" name="Text 4"/>
          <p:cNvSpPr/>
          <p:nvPr/>
        </p:nvSpPr>
        <p:spPr>
          <a:xfrm>
            <a:off x="640080" y="2116074"/>
            <a:ext cx="10515600" cy="757428"/>
          </a:xfrm>
          <a:prstGeom prst="rect">
            <a:avLst/>
          </a:prstGeom>
          <a:noFill/>
          <a:ln/>
        </p:spPr>
        <p:txBody>
          <a:bodyPr wrap="square" lIns="0" tIns="0" rIns="0" bIns="0" rtlCol="0" anchor="ctr"/>
          <a:lstStyle/>
          <a:p>
            <a:pPr marL="0" indent="0">
              <a:buNone/>
            </a:pPr>
            <a:r>
              <a:rPr lang="en-US" sz="2100" dirty="0">
                <a:solidFill>
                  <a:srgbClr val="FFFFFF"/>
                </a:solidFill>
                <a:latin typeface="Calibri" pitchFamily="34" charset="0"/>
                <a:ea typeface="Calibri" pitchFamily="34" charset="-122"/>
                <a:cs typeface="Calibri" pitchFamily="34" charset="-120"/>
              </a:rPr>
              <a:t>Bu soru tipinde öğrencilerin en sık düştüğü tuzaklar, seçeneği ANLAM bağlamına değil, başka ölçütlere göre seçmekten kaynaklanır.</a:t>
            </a:r>
            <a:endParaRPr lang="en-US" sz="2100" dirty="0"/>
          </a:p>
        </p:txBody>
      </p:sp>
      <p:sp>
        <p:nvSpPr>
          <p:cNvPr id="8" name="Shape 5"/>
          <p:cNvSpPr/>
          <p:nvPr/>
        </p:nvSpPr>
        <p:spPr>
          <a:xfrm>
            <a:off x="640080" y="3112008"/>
            <a:ext cx="10515600" cy="1146810"/>
          </a:xfrm>
          <a:prstGeom prst="roundRect">
            <a:avLst>
              <a:gd name="adj" fmla="val 10000"/>
            </a:avLst>
          </a:prstGeom>
          <a:solidFill>
            <a:srgbClr val="6E1B12"/>
          </a:solidFill>
          <a:ln/>
        </p:spPr>
      </p:sp>
      <p:sp>
        <p:nvSpPr>
          <p:cNvPr id="9" name="Text 6"/>
          <p:cNvSpPr/>
          <p:nvPr/>
        </p:nvSpPr>
        <p:spPr>
          <a:xfrm>
            <a:off x="914400" y="3488020"/>
            <a:ext cx="3291840" cy="369697"/>
          </a:xfrm>
          <a:prstGeom prst="rect">
            <a:avLst/>
          </a:prstGeom>
          <a:noFill/>
          <a:ln/>
        </p:spPr>
        <p:txBody>
          <a:bodyPr wrap="square" lIns="0" tIns="0" rIns="0" bIns="0" rtlCol="0" anchor="ctr"/>
          <a:lstStyle/>
          <a:p>
            <a:pPr marL="0" indent="0">
              <a:buNone/>
            </a:pPr>
            <a:r>
              <a:rPr lang="en-US" sz="2050" b="1" dirty="0">
                <a:solidFill>
                  <a:srgbClr val="D9A441"/>
                </a:solidFill>
                <a:latin typeface="Calibri" pitchFamily="34" charset="0"/>
                <a:ea typeface="Calibri" pitchFamily="34" charset="-122"/>
                <a:cs typeface="Calibri" pitchFamily="34" charset="-120"/>
              </a:rPr>
              <a:t>"Kulağa hoş gelen" tuzağı</a:t>
            </a:r>
            <a:endParaRPr lang="en-US" sz="2050" dirty="0"/>
          </a:p>
        </p:txBody>
      </p:sp>
      <p:sp>
        <p:nvSpPr>
          <p:cNvPr id="10" name="Text 7"/>
          <p:cNvSpPr/>
          <p:nvPr/>
        </p:nvSpPr>
        <p:spPr>
          <a:xfrm>
            <a:off x="4297680" y="3112008"/>
            <a:ext cx="6675120" cy="1027938"/>
          </a:xfrm>
          <a:prstGeom prst="rect">
            <a:avLst/>
          </a:prstGeom>
          <a:noFill/>
          <a:ln/>
        </p:spPr>
        <p:txBody>
          <a:bodyPr wrap="square" lIns="0" tIns="0" rIns="0" bIns="0" rtlCol="0" anchor="ctr"/>
          <a:lstStyle/>
          <a:p>
            <a:pPr marL="0" indent="0">
              <a:buNone/>
            </a:pPr>
            <a:r>
              <a:rPr lang="en-US" sz="1900" dirty="0">
                <a:solidFill>
                  <a:srgbClr val="F5D6D0"/>
                </a:solidFill>
                <a:latin typeface="Calibri" pitchFamily="34" charset="0"/>
                <a:ea typeface="Calibri" pitchFamily="34" charset="-122"/>
                <a:cs typeface="Calibri" pitchFamily="34" charset="-120"/>
              </a:rPr>
              <a:t>Dil bilgisi olarak doğru veya "güzel duran" bir seçeneği, cümlenin ANLAM bağlamına bakmadan seçmek — çoğu seçenek gramer olarak doğrudur, ayırt eden ANLAMDIR.</a:t>
            </a:r>
            <a:endParaRPr lang="en-US" sz="1900" dirty="0"/>
          </a:p>
        </p:txBody>
      </p:sp>
      <p:sp>
        <p:nvSpPr>
          <p:cNvPr id="11" name="Shape 8"/>
          <p:cNvSpPr/>
          <p:nvPr/>
        </p:nvSpPr>
        <p:spPr>
          <a:xfrm>
            <a:off x="640080" y="4318254"/>
            <a:ext cx="10515600" cy="914400"/>
          </a:xfrm>
          <a:prstGeom prst="roundRect">
            <a:avLst>
              <a:gd name="adj" fmla="val 10000"/>
            </a:avLst>
          </a:prstGeom>
          <a:solidFill>
            <a:srgbClr val="6E1B12"/>
          </a:solidFill>
          <a:ln/>
        </p:spPr>
      </p:sp>
      <p:sp>
        <p:nvSpPr>
          <p:cNvPr id="12" name="Text 9"/>
          <p:cNvSpPr/>
          <p:nvPr/>
        </p:nvSpPr>
        <p:spPr>
          <a:xfrm>
            <a:off x="914400" y="4479812"/>
            <a:ext cx="3291840" cy="378714"/>
          </a:xfrm>
          <a:prstGeom prst="rect">
            <a:avLst/>
          </a:prstGeom>
          <a:noFill/>
          <a:ln/>
        </p:spPr>
        <p:txBody>
          <a:bodyPr wrap="square" lIns="0" tIns="0" rIns="0" bIns="0" rtlCol="0" anchor="ctr"/>
          <a:lstStyle/>
          <a:p>
            <a:pPr marL="0" indent="0">
              <a:buNone/>
            </a:pPr>
            <a:r>
              <a:rPr lang="en-US" sz="2100" b="1" dirty="0">
                <a:solidFill>
                  <a:srgbClr val="D9A441"/>
                </a:solidFill>
                <a:latin typeface="Calibri" pitchFamily="34" charset="0"/>
                <a:ea typeface="Calibri" pitchFamily="34" charset="-122"/>
                <a:cs typeface="Calibri" pitchFamily="34" charset="-120"/>
              </a:rPr>
              <a:t>Tek boşluğa odaklanma</a:t>
            </a:r>
            <a:endParaRPr lang="en-US" sz="2100" dirty="0"/>
          </a:p>
        </p:txBody>
      </p:sp>
      <p:sp>
        <p:nvSpPr>
          <p:cNvPr id="13" name="Text 10"/>
          <p:cNvSpPr/>
          <p:nvPr/>
        </p:nvSpPr>
        <p:spPr>
          <a:xfrm>
            <a:off x="4297680" y="4318254"/>
            <a:ext cx="6675120" cy="685292"/>
          </a:xfrm>
          <a:prstGeom prst="rect">
            <a:avLst/>
          </a:prstGeom>
          <a:noFill/>
          <a:ln/>
        </p:spPr>
        <p:txBody>
          <a:bodyPr wrap="square" lIns="0" tIns="0" rIns="0" bIns="0" rtlCol="0" anchor="ctr"/>
          <a:lstStyle/>
          <a:p>
            <a:pPr marL="0" indent="0">
              <a:buNone/>
            </a:pPr>
            <a:r>
              <a:rPr lang="en-US" sz="1900" dirty="0">
                <a:solidFill>
                  <a:srgbClr val="F5D6D0"/>
                </a:solidFill>
                <a:latin typeface="Calibri" pitchFamily="34" charset="0"/>
                <a:ea typeface="Calibri" pitchFamily="34" charset="-122"/>
                <a:cs typeface="Calibri" pitchFamily="34" charset="-120"/>
              </a:rPr>
              <a:t>İki boşluktan yalnızca birine bakıp erken karar vermek — ikinci boşluk, ilk yaptığınız seçimi çürütebilir.</a:t>
            </a:r>
            <a:endParaRPr lang="en-US" sz="1900" dirty="0"/>
          </a:p>
        </p:txBody>
      </p:sp>
      <p:sp>
        <p:nvSpPr>
          <p:cNvPr id="14" name="Shape 11"/>
          <p:cNvSpPr/>
          <p:nvPr/>
        </p:nvSpPr>
        <p:spPr>
          <a:xfrm>
            <a:off x="640080" y="5292090"/>
            <a:ext cx="10515600" cy="1146810"/>
          </a:xfrm>
          <a:prstGeom prst="roundRect">
            <a:avLst>
              <a:gd name="adj" fmla="val 10000"/>
            </a:avLst>
          </a:prstGeom>
          <a:solidFill>
            <a:srgbClr val="6E1B12"/>
          </a:solidFill>
          <a:ln/>
        </p:spPr>
      </p:sp>
      <p:sp>
        <p:nvSpPr>
          <p:cNvPr id="15" name="Text 12"/>
          <p:cNvSpPr/>
          <p:nvPr/>
        </p:nvSpPr>
        <p:spPr>
          <a:xfrm>
            <a:off x="917391" y="5689663"/>
            <a:ext cx="3291840" cy="351663"/>
          </a:xfrm>
          <a:prstGeom prst="rect">
            <a:avLst/>
          </a:prstGeom>
          <a:noFill/>
          <a:ln/>
        </p:spPr>
        <p:txBody>
          <a:bodyPr wrap="square" lIns="0" tIns="0" rIns="0" bIns="0" rtlCol="0" anchor="ctr"/>
          <a:lstStyle/>
          <a:p>
            <a:pPr marL="0" indent="0">
              <a:buNone/>
            </a:pPr>
            <a:r>
              <a:rPr lang="en-US" sz="1950" b="1" dirty="0">
                <a:solidFill>
                  <a:srgbClr val="D9A441"/>
                </a:solidFill>
                <a:latin typeface="Calibri" pitchFamily="34" charset="0"/>
                <a:ea typeface="Calibri" pitchFamily="34" charset="-122"/>
                <a:cs typeface="Calibri" pitchFamily="34" charset="-120"/>
              </a:rPr>
              <a:t>Sınavda ayırt etme yöntemi</a:t>
            </a:r>
            <a:endParaRPr lang="en-US" sz="1950" dirty="0"/>
          </a:p>
        </p:txBody>
      </p:sp>
      <p:sp>
        <p:nvSpPr>
          <p:cNvPr id="16" name="Text 13"/>
          <p:cNvSpPr/>
          <p:nvPr/>
        </p:nvSpPr>
        <p:spPr>
          <a:xfrm>
            <a:off x="4297680" y="5292090"/>
            <a:ext cx="6675120" cy="1027938"/>
          </a:xfrm>
          <a:prstGeom prst="rect">
            <a:avLst/>
          </a:prstGeom>
          <a:noFill/>
          <a:ln/>
        </p:spPr>
        <p:txBody>
          <a:bodyPr wrap="square" lIns="0" tIns="0" rIns="0" bIns="0" rtlCol="0" anchor="ctr"/>
          <a:lstStyle/>
          <a:p>
            <a:pPr marL="0" indent="0">
              <a:buNone/>
            </a:pPr>
            <a:r>
              <a:rPr lang="en-US" sz="1900" dirty="0">
                <a:solidFill>
                  <a:srgbClr val="F5D6D0"/>
                </a:solidFill>
                <a:latin typeface="Calibri" pitchFamily="34" charset="0"/>
                <a:ea typeface="Calibri" pitchFamily="34" charset="-122"/>
                <a:cs typeface="Calibri" pitchFamily="34" charset="-120"/>
              </a:rPr>
              <a:t>Seçeneği yerine koyduktan sonra cümleyi BAŞTAN SONA okuyun — anlam akıcı ve MANTIKSAL OLARAK TUTARLI mı, kontrol edin.</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8E2318"/>
        </a:solidFill>
        <a:effectLst/>
      </p:bgPr>
    </p:bg>
    <p:spTree>
      <p:nvGrpSpPr>
        <p:cNvPr id="1" name=""/>
        <p:cNvGrpSpPr/>
        <p:nvPr/>
      </p:nvGrpSpPr>
      <p:grpSpPr>
        <a:xfrm>
          <a:off x="0" y="0"/>
          <a:ext cx="0" cy="0"/>
          <a:chOff x="0" y="0"/>
          <a:chExt cx="0" cy="0"/>
        </a:xfrm>
      </p:grpSpPr>
      <p:sp>
        <p:nvSpPr>
          <p:cNvPr id="2" name="Shape 0"/>
          <p:cNvSpPr/>
          <p:nvPr/>
        </p:nvSpPr>
        <p:spPr>
          <a:xfrm>
            <a:off x="8138160" y="0"/>
            <a:ext cx="4050792" cy="6858000"/>
          </a:xfrm>
          <a:prstGeom prst="rect">
            <a:avLst/>
          </a:prstGeom>
          <a:solidFill>
            <a:srgbClr val="6E1B12"/>
          </a:solidFill>
          <a:ln/>
        </p:spPr>
      </p:sp>
      <p:sp>
        <p:nvSpPr>
          <p:cNvPr id="3" name="Shape 1"/>
          <p:cNvSpPr/>
          <p:nvPr/>
        </p:nvSpPr>
        <p:spPr>
          <a:xfrm>
            <a:off x="640080" y="548640"/>
            <a:ext cx="731520" cy="731520"/>
          </a:xfrm>
          <a:prstGeom prst="ellipse">
            <a:avLst/>
          </a:prstGeom>
          <a:solidFill>
            <a:srgbClr val="6E1B12"/>
          </a:solidFill>
          <a:ln/>
        </p:spPr>
      </p:sp>
      <p:pic>
        <p:nvPicPr>
          <p:cNvPr id="4" name="Image 0" descr="icons/dikkat_white.png"/>
          <p:cNvPicPr>
            <a:picLocks noChangeAspect="1"/>
          </p:cNvPicPr>
          <p:nvPr/>
        </p:nvPicPr>
        <p:blipFill>
          <a:blip r:embed="rId3"/>
          <a:stretch>
            <a:fillRect/>
          </a:stretch>
        </p:blipFill>
        <p:spPr>
          <a:xfrm>
            <a:off x="804672" y="713232"/>
            <a:ext cx="402336" cy="402336"/>
          </a:xfrm>
          <a:prstGeom prst="rect">
            <a:avLst/>
          </a:prstGeom>
        </p:spPr>
      </p:pic>
      <p:sp>
        <p:nvSpPr>
          <p:cNvPr id="5" name="Text 2"/>
          <p:cNvSpPr/>
          <p:nvPr/>
        </p:nvSpPr>
        <p:spPr>
          <a:xfrm>
            <a:off x="1508760" y="566928"/>
            <a:ext cx="5486400" cy="68580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DİKKAT!</a:t>
            </a:r>
            <a:endParaRPr lang="en-US" sz="3200" dirty="0"/>
          </a:p>
        </p:txBody>
      </p:sp>
      <p:sp>
        <p:nvSpPr>
          <p:cNvPr id="6" name="Text 3"/>
          <p:cNvSpPr/>
          <p:nvPr/>
        </p:nvSpPr>
        <p:spPr>
          <a:xfrm>
            <a:off x="640080" y="1645920"/>
            <a:ext cx="10515600" cy="378714"/>
          </a:xfrm>
          <a:prstGeom prst="rect">
            <a:avLst/>
          </a:prstGeom>
          <a:noFill/>
          <a:ln/>
        </p:spPr>
        <p:txBody>
          <a:bodyPr wrap="square" lIns="0" tIns="0" rIns="0" bIns="0" rtlCol="0" anchor="ctr"/>
          <a:lstStyle/>
          <a:p>
            <a:pPr marL="0" indent="0">
              <a:buNone/>
            </a:pPr>
            <a:r>
              <a:rPr lang="en-US" sz="2100" i="1" dirty="0">
                <a:solidFill>
                  <a:srgbClr val="F5D6D0"/>
                </a:solidFill>
                <a:latin typeface="Calibri" pitchFamily="34" charset="0"/>
                <a:ea typeface="Calibri" pitchFamily="34" charset="-122"/>
                <a:cs typeface="Calibri" pitchFamily="34" charset="-120"/>
              </a:rPr>
              <a:t>Numaralanmış Sözlerde Sık Yapılan Hatalar!</a:t>
            </a:r>
            <a:endParaRPr lang="en-US" sz="2100" dirty="0"/>
          </a:p>
        </p:txBody>
      </p:sp>
      <p:sp>
        <p:nvSpPr>
          <p:cNvPr id="7" name="Shape 4"/>
          <p:cNvSpPr/>
          <p:nvPr/>
        </p:nvSpPr>
        <p:spPr>
          <a:xfrm>
            <a:off x="640080" y="2177288"/>
            <a:ext cx="548640" cy="548640"/>
          </a:xfrm>
          <a:prstGeom prst="ellipse">
            <a:avLst/>
          </a:prstGeom>
          <a:solidFill>
            <a:srgbClr val="FFFFFF"/>
          </a:solidFill>
          <a:ln/>
        </p:spPr>
      </p:sp>
      <p:sp>
        <p:nvSpPr>
          <p:cNvPr id="8" name="Text 5"/>
          <p:cNvSpPr/>
          <p:nvPr/>
        </p:nvSpPr>
        <p:spPr>
          <a:xfrm>
            <a:off x="640080" y="2177288"/>
            <a:ext cx="548640" cy="548640"/>
          </a:xfrm>
          <a:prstGeom prst="rect">
            <a:avLst/>
          </a:prstGeom>
          <a:noFill/>
          <a:ln/>
        </p:spPr>
        <p:txBody>
          <a:bodyPr wrap="none" lIns="0" tIns="0" rIns="0" bIns="0" rtlCol="0" anchor="ctr"/>
          <a:lstStyle/>
          <a:p>
            <a:pPr marL="0" indent="0" algn="ctr">
              <a:buNone/>
            </a:pPr>
            <a:r>
              <a:rPr lang="en-US" sz="2200" b="1" dirty="0">
                <a:solidFill>
                  <a:srgbClr val="8E2318"/>
                </a:solidFill>
                <a:latin typeface="Cambria" pitchFamily="34" charset="0"/>
                <a:ea typeface="Cambria" pitchFamily="34" charset="-122"/>
                <a:cs typeface="Cambria" pitchFamily="34" charset="-120"/>
              </a:rPr>
              <a:t>1</a:t>
            </a:r>
            <a:endParaRPr lang="en-US" sz="2200" dirty="0"/>
          </a:p>
        </p:txBody>
      </p:sp>
      <p:sp>
        <p:nvSpPr>
          <p:cNvPr id="9" name="Text 6"/>
          <p:cNvSpPr/>
          <p:nvPr/>
        </p:nvSpPr>
        <p:spPr>
          <a:xfrm>
            <a:off x="1371600" y="2253234"/>
            <a:ext cx="9692640" cy="72136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Parantez içindeki açıklamayı SÖZLÜK anlamı sanıp cümledeki BAĞLAMSAL kullanımı görmezden gelmek.</a:t>
            </a:r>
            <a:endParaRPr lang="en-US" sz="2000" dirty="0"/>
          </a:p>
        </p:txBody>
      </p:sp>
      <p:sp>
        <p:nvSpPr>
          <p:cNvPr id="10" name="Text 7"/>
          <p:cNvSpPr/>
          <p:nvPr/>
        </p:nvSpPr>
        <p:spPr>
          <a:xfrm>
            <a:off x="1371600" y="3020314"/>
            <a:ext cx="9692640" cy="1136142"/>
          </a:xfrm>
          <a:prstGeom prst="rect">
            <a:avLst/>
          </a:prstGeom>
          <a:noFill/>
          <a:ln/>
        </p:spPr>
        <p:txBody>
          <a:bodyPr wrap="square" lIns="0" tIns="0" rIns="0" bIns="0" rtlCol="0" anchor="ctr"/>
          <a:lstStyle/>
          <a:p>
            <a:pPr marL="0" indent="0">
              <a:buNone/>
            </a:pPr>
            <a:r>
              <a:rPr lang="en-US" sz="2100" dirty="0">
                <a:solidFill>
                  <a:srgbClr val="F5D6D0"/>
                </a:solidFill>
                <a:latin typeface="Calibri" pitchFamily="34" charset="0"/>
                <a:ea typeface="Calibri" pitchFamily="34" charset="-122"/>
                <a:cs typeface="Calibri" pitchFamily="34" charset="-120"/>
              </a:rPr>
              <a:t>Sözün sözlükte birçok anlamı olabilir; önemli olan parçadaki O CÜMLEDE hangi anlamda kullanıldığıdır — parantezdeki açıklama da bu bağlama göre değerlendirilmelidir.</a:t>
            </a:r>
            <a:endParaRPr lang="en-US" sz="2100" dirty="0"/>
          </a:p>
        </p:txBody>
      </p:sp>
      <p:sp>
        <p:nvSpPr>
          <p:cNvPr id="11" name="Shape 8"/>
          <p:cNvSpPr/>
          <p:nvPr/>
        </p:nvSpPr>
        <p:spPr>
          <a:xfrm>
            <a:off x="640080" y="4290822"/>
            <a:ext cx="548640" cy="548640"/>
          </a:xfrm>
          <a:prstGeom prst="ellipse">
            <a:avLst/>
          </a:prstGeom>
          <a:solidFill>
            <a:srgbClr val="FFFFFF"/>
          </a:solidFill>
          <a:ln/>
        </p:spPr>
      </p:sp>
      <p:sp>
        <p:nvSpPr>
          <p:cNvPr id="12" name="Text 9"/>
          <p:cNvSpPr/>
          <p:nvPr/>
        </p:nvSpPr>
        <p:spPr>
          <a:xfrm>
            <a:off x="640080" y="4290822"/>
            <a:ext cx="548640" cy="548640"/>
          </a:xfrm>
          <a:prstGeom prst="rect">
            <a:avLst/>
          </a:prstGeom>
          <a:noFill/>
          <a:ln/>
        </p:spPr>
        <p:txBody>
          <a:bodyPr wrap="none" lIns="0" tIns="0" rIns="0" bIns="0" rtlCol="0" anchor="ctr"/>
          <a:lstStyle/>
          <a:p>
            <a:pPr marL="0" indent="0" algn="ctr">
              <a:buNone/>
            </a:pPr>
            <a:r>
              <a:rPr lang="en-US" sz="2200" b="1" dirty="0">
                <a:solidFill>
                  <a:srgbClr val="8E2318"/>
                </a:solidFill>
                <a:latin typeface="Cambria" pitchFamily="34" charset="0"/>
                <a:ea typeface="Cambria" pitchFamily="34" charset="-122"/>
                <a:cs typeface="Cambria" pitchFamily="34" charset="-120"/>
              </a:rPr>
              <a:t>2</a:t>
            </a:r>
            <a:endParaRPr lang="en-US" sz="2200" dirty="0"/>
          </a:p>
        </p:txBody>
      </p:sp>
      <p:sp>
        <p:nvSpPr>
          <p:cNvPr id="13" name="Text 10"/>
          <p:cNvSpPr/>
          <p:nvPr/>
        </p:nvSpPr>
        <p:spPr>
          <a:xfrm>
            <a:off x="1371600" y="4366768"/>
            <a:ext cx="9692640" cy="378714"/>
          </a:xfrm>
          <a:prstGeom prst="rect">
            <a:avLst/>
          </a:prstGeom>
          <a:noFill/>
          <a:ln/>
        </p:spPr>
        <p:txBody>
          <a:bodyPr wrap="square" lIns="0" tIns="0" rIns="0" bIns="0"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Sadece "yakın anlamlı" olmasının yeterli olduğunu düşünmek.</a:t>
            </a:r>
            <a:endParaRPr lang="en-US" sz="2100" dirty="0"/>
          </a:p>
        </p:txBody>
      </p:sp>
      <p:sp>
        <p:nvSpPr>
          <p:cNvPr id="14" name="Text 11"/>
          <p:cNvSpPr/>
          <p:nvPr/>
        </p:nvSpPr>
        <p:spPr>
          <a:xfrm>
            <a:off x="1371600" y="4809236"/>
            <a:ext cx="9692640" cy="1136142"/>
          </a:xfrm>
          <a:prstGeom prst="rect">
            <a:avLst/>
          </a:prstGeom>
          <a:noFill/>
          <a:ln/>
        </p:spPr>
        <p:txBody>
          <a:bodyPr wrap="square" lIns="0" tIns="0" rIns="0" bIns="0" rtlCol="0" anchor="ctr"/>
          <a:lstStyle/>
          <a:p>
            <a:pPr marL="0" indent="0">
              <a:buNone/>
            </a:pPr>
            <a:r>
              <a:rPr lang="en-US" sz="2100" dirty="0">
                <a:solidFill>
                  <a:srgbClr val="F5D6D0"/>
                </a:solidFill>
                <a:latin typeface="Calibri" pitchFamily="34" charset="0"/>
                <a:ea typeface="Calibri" pitchFamily="34" charset="-122"/>
                <a:cs typeface="Calibri" pitchFamily="34" charset="-120"/>
              </a:rPr>
              <a:t>Açıklama, sözün cümledeki anlamıyla YAKIN değil, TAM olarak örtüşmelidir — küçük bir nüans farkı (ör. "genellikle" ile "nispeten") bile açıklamayı YANLIŞ yapabilir.</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48640"/>
            <a:ext cx="640080" cy="640080"/>
          </a:xfrm>
          <a:prstGeom prst="ellipse">
            <a:avLst/>
          </a:prstGeom>
          <a:solidFill>
            <a:srgbClr val="1E3A5F"/>
          </a:solidFill>
          <a:ln/>
        </p:spPr>
      </p:sp>
      <p:pic>
        <p:nvPicPr>
          <p:cNvPr id="3" name="Image 0" descr="icons/etkinlik_white.png"/>
          <p:cNvPicPr>
            <a:picLocks noChangeAspect="1"/>
          </p:cNvPicPr>
          <p:nvPr/>
        </p:nvPicPr>
        <p:blipFill>
          <a:blip r:embed="rId3"/>
          <a:stretch>
            <a:fillRect/>
          </a:stretch>
        </p:blipFill>
        <p:spPr>
          <a:xfrm>
            <a:off x="784098" y="692658"/>
            <a:ext cx="352044" cy="352044"/>
          </a:xfrm>
          <a:prstGeom prst="rect">
            <a:avLst/>
          </a:prstGeom>
        </p:spPr>
      </p:pic>
      <p:sp>
        <p:nvSpPr>
          <p:cNvPr id="4" name="Text 1"/>
          <p:cNvSpPr/>
          <p:nvPr/>
        </p:nvSpPr>
        <p:spPr>
          <a:xfrm>
            <a:off x="1508760" y="566928"/>
            <a:ext cx="7315200" cy="320040"/>
          </a:xfrm>
          <a:prstGeom prst="rect">
            <a:avLst/>
          </a:prstGeom>
          <a:noFill/>
          <a:ln/>
        </p:spPr>
        <p:txBody>
          <a:bodyPr wrap="square" lIns="0" tIns="0" rIns="0" bIns="0"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SINIF ETKINLIĞI</a:t>
            </a:r>
            <a:endParaRPr lang="en-US" sz="1300" dirty="0"/>
          </a:p>
        </p:txBody>
      </p:sp>
      <p:sp>
        <p:nvSpPr>
          <p:cNvPr id="5" name="Text 2"/>
          <p:cNvSpPr/>
          <p:nvPr/>
        </p:nvSpPr>
        <p:spPr>
          <a:xfrm>
            <a:off x="1463040" y="841248"/>
            <a:ext cx="10058400" cy="640080"/>
          </a:xfrm>
          <a:prstGeom prst="rect">
            <a:avLst/>
          </a:prstGeom>
          <a:noFill/>
          <a:ln/>
        </p:spPr>
        <p:txBody>
          <a:bodyPr wrap="square" lIns="0" tIns="0" rIns="0" bIns="0" rtlCol="0" anchor="ctr"/>
          <a:lstStyle/>
          <a:p>
            <a:pPr marL="0" indent="0">
              <a:buNone/>
            </a:pPr>
            <a:r>
              <a:rPr lang="en-US" sz="2800" b="1" dirty="0">
                <a:solidFill>
                  <a:srgbClr val="1E3A5F"/>
                </a:solidFill>
                <a:latin typeface="Cambria" pitchFamily="34" charset="0"/>
                <a:ea typeface="Cambria" pitchFamily="34" charset="-122"/>
                <a:cs typeface="Cambria" pitchFamily="34" charset="-120"/>
              </a:rPr>
              <a:t>Boşluğu ve Açıklamayı Kontrol Edin (3 Dakika)</a:t>
            </a:r>
            <a:endParaRPr lang="en-US" sz="2800" dirty="0"/>
          </a:p>
        </p:txBody>
      </p:sp>
      <p:sp>
        <p:nvSpPr>
          <p:cNvPr id="6" name="Text 3"/>
          <p:cNvSpPr/>
          <p:nvPr/>
        </p:nvSpPr>
        <p:spPr>
          <a:xfrm>
            <a:off x="640080" y="1645920"/>
            <a:ext cx="10881360" cy="685292"/>
          </a:xfrm>
          <a:prstGeom prst="rect">
            <a:avLst/>
          </a:prstGeom>
          <a:noFill/>
          <a:ln/>
        </p:spPr>
        <p:txBody>
          <a:bodyPr wrap="square" lIns="0" tIns="0" rIns="0" bIns="0" rtlCol="0" anchor="ctr"/>
          <a:lstStyle/>
          <a:p>
            <a:pPr marL="0" indent="0">
              <a:buNone/>
            </a:pPr>
            <a:r>
              <a:rPr lang="en-US" sz="1900" dirty="0">
                <a:solidFill>
                  <a:srgbClr val="1E2761"/>
                </a:solidFill>
                <a:latin typeface="Calibri" pitchFamily="34" charset="0"/>
                <a:ea typeface="Calibri" pitchFamily="34" charset="-122"/>
                <a:cs typeface="Calibri" pitchFamily="34" charset="-120"/>
              </a:rPr>
              <a:t>1-4: boşluğa uygun sözcüğü seçin. 5-8: numaralı sözün yanındaki açıklamanın DOĞRU mu YANLIŞ mı olduğunu belirleyin. Süre: 3 dakika.</a:t>
            </a:r>
            <a:endParaRPr lang="en-US" sz="1900" dirty="0"/>
          </a:p>
        </p:txBody>
      </p:sp>
      <p:sp>
        <p:nvSpPr>
          <p:cNvPr id="7" name="Shape 4"/>
          <p:cNvSpPr/>
          <p:nvPr/>
        </p:nvSpPr>
        <p:spPr>
          <a:xfrm>
            <a:off x="640080" y="2361208"/>
            <a:ext cx="5349240" cy="918972"/>
          </a:xfrm>
          <a:prstGeom prst="roundRect">
            <a:avLst>
              <a:gd name="adj" fmla="val 10667"/>
            </a:avLst>
          </a:prstGeom>
          <a:solidFill>
            <a:srgbClr val="EEF3F8"/>
          </a:solidFill>
          <a:ln/>
        </p:spPr>
      </p:sp>
      <p:sp>
        <p:nvSpPr>
          <p:cNvPr id="8" name="Text 5"/>
          <p:cNvSpPr/>
          <p:nvPr/>
        </p:nvSpPr>
        <p:spPr>
          <a:xfrm>
            <a:off x="822960" y="2361208"/>
            <a:ext cx="5029200" cy="685292"/>
          </a:xfrm>
          <a:prstGeom prst="rect">
            <a:avLst/>
          </a:prstGeom>
          <a:noFill/>
          <a:ln/>
        </p:spPr>
        <p:txBody>
          <a:bodyPr wrap="square" lIns="0" tIns="0" rIns="0" bIns="0" rtlCol="0" anchor="ctr"/>
          <a:lstStyle/>
          <a:p>
            <a:pPr marL="0" indent="0">
              <a:buNone/>
            </a:pPr>
            <a:r>
              <a:rPr lang="en-US" sz="1900" b="1" dirty="0">
                <a:solidFill>
                  <a:srgbClr val="D9A441"/>
                </a:solidFill>
                <a:latin typeface="Calibri" pitchFamily="34" charset="0"/>
                <a:ea typeface="Calibri" pitchFamily="34" charset="-122"/>
                <a:cs typeface="Calibri" pitchFamily="34" charset="-120"/>
              </a:rPr>
              <a:t>1.  </a:t>
            </a:r>
            <a:r>
              <a:rPr lang="en-US" sz="1900" dirty="0">
                <a:solidFill>
                  <a:srgbClr val="142A44"/>
                </a:solidFill>
                <a:latin typeface="Calibri" pitchFamily="34" charset="0"/>
                <a:ea typeface="Calibri" pitchFamily="34" charset="-122"/>
                <a:cs typeface="Calibri" pitchFamily="34" charset="-120"/>
              </a:rPr>
              <a:t>Yıllarca süren çalışmalar sonunda başarıya ---- (ulaştı / </a:t>
            </a:r>
            <a:r>
              <a:rPr lang="tr-TR" sz="1900" dirty="0">
                <a:solidFill>
                  <a:srgbClr val="142A44"/>
                </a:solidFill>
                <a:latin typeface="Calibri" pitchFamily="34" charset="0"/>
                <a:ea typeface="Calibri" pitchFamily="34" charset="-122"/>
                <a:cs typeface="Calibri" pitchFamily="34" charset="-120"/>
              </a:rPr>
              <a:t>değdi</a:t>
            </a:r>
            <a:r>
              <a:rPr lang="en-US" sz="1900" dirty="0">
                <a:solidFill>
                  <a:srgbClr val="142A44"/>
                </a:solidFill>
                <a:latin typeface="Calibri" pitchFamily="34" charset="0"/>
                <a:ea typeface="Calibri" pitchFamily="34" charset="-122"/>
                <a:cs typeface="Calibri" pitchFamily="34" charset="-120"/>
              </a:rPr>
              <a:t>).</a:t>
            </a:r>
            <a:endParaRPr lang="en-US" sz="1900" dirty="0"/>
          </a:p>
        </p:txBody>
      </p:sp>
      <p:sp>
        <p:nvSpPr>
          <p:cNvPr id="9" name="Shape 6"/>
          <p:cNvSpPr/>
          <p:nvPr/>
        </p:nvSpPr>
        <p:spPr>
          <a:xfrm>
            <a:off x="6172200" y="2361208"/>
            <a:ext cx="5349240" cy="918972"/>
          </a:xfrm>
          <a:prstGeom prst="roundRect">
            <a:avLst>
              <a:gd name="adj" fmla="val 10667"/>
            </a:avLst>
          </a:prstGeom>
          <a:solidFill>
            <a:srgbClr val="EEF3F8"/>
          </a:solidFill>
          <a:ln/>
        </p:spPr>
      </p:sp>
      <p:sp>
        <p:nvSpPr>
          <p:cNvPr id="10" name="Text 7"/>
          <p:cNvSpPr/>
          <p:nvPr/>
        </p:nvSpPr>
        <p:spPr>
          <a:xfrm>
            <a:off x="6355080" y="2361208"/>
            <a:ext cx="5029200" cy="685292"/>
          </a:xfrm>
          <a:prstGeom prst="rect">
            <a:avLst/>
          </a:prstGeom>
          <a:noFill/>
          <a:ln/>
        </p:spPr>
        <p:txBody>
          <a:bodyPr wrap="square" lIns="0" tIns="0" rIns="0" bIns="0" rtlCol="0" anchor="ctr"/>
          <a:lstStyle/>
          <a:p>
            <a:pPr marL="0" indent="0">
              <a:buNone/>
            </a:pPr>
            <a:r>
              <a:rPr lang="en-US" sz="1900" b="1" dirty="0">
                <a:solidFill>
                  <a:srgbClr val="D9A441"/>
                </a:solidFill>
                <a:latin typeface="Calibri" pitchFamily="34" charset="0"/>
                <a:ea typeface="Calibri" pitchFamily="34" charset="-122"/>
                <a:cs typeface="Calibri" pitchFamily="34" charset="-120"/>
              </a:rPr>
              <a:t>2.  </a:t>
            </a:r>
            <a:r>
              <a:rPr lang="en-US" sz="1900" dirty="0">
                <a:solidFill>
                  <a:srgbClr val="142A44"/>
                </a:solidFill>
                <a:latin typeface="Calibri" pitchFamily="34" charset="0"/>
                <a:ea typeface="Calibri" pitchFamily="34" charset="-122"/>
                <a:cs typeface="Calibri" pitchFamily="34" charset="-120"/>
              </a:rPr>
              <a:t>Sınav öncesi herkes oldukça ---- görünüyordu (heyecanlı / kayıtsız).</a:t>
            </a:r>
            <a:endParaRPr lang="en-US" sz="1900" dirty="0"/>
          </a:p>
        </p:txBody>
      </p:sp>
      <p:sp>
        <p:nvSpPr>
          <p:cNvPr id="11" name="Shape 8"/>
          <p:cNvSpPr/>
          <p:nvPr/>
        </p:nvSpPr>
        <p:spPr>
          <a:xfrm>
            <a:off x="640080" y="3303040"/>
            <a:ext cx="5349240" cy="1261110"/>
          </a:xfrm>
          <a:prstGeom prst="roundRect">
            <a:avLst>
              <a:gd name="adj" fmla="val 10667"/>
            </a:avLst>
          </a:prstGeom>
          <a:solidFill>
            <a:srgbClr val="EEF3F8"/>
          </a:solidFill>
          <a:ln/>
        </p:spPr>
      </p:sp>
      <p:sp>
        <p:nvSpPr>
          <p:cNvPr id="12" name="Text 9"/>
          <p:cNvSpPr/>
          <p:nvPr/>
        </p:nvSpPr>
        <p:spPr>
          <a:xfrm>
            <a:off x="822960" y="3303040"/>
            <a:ext cx="5029200" cy="1027938"/>
          </a:xfrm>
          <a:prstGeom prst="rect">
            <a:avLst/>
          </a:prstGeom>
          <a:noFill/>
          <a:ln/>
        </p:spPr>
        <p:txBody>
          <a:bodyPr wrap="square" lIns="0" tIns="0" rIns="0" bIns="0" rtlCol="0" anchor="ctr"/>
          <a:lstStyle/>
          <a:p>
            <a:pPr marL="0" indent="0">
              <a:buNone/>
            </a:pPr>
            <a:r>
              <a:rPr lang="en-US" sz="1900" b="1" dirty="0">
                <a:solidFill>
                  <a:srgbClr val="D9A441"/>
                </a:solidFill>
                <a:latin typeface="Calibri" pitchFamily="34" charset="0"/>
                <a:ea typeface="Calibri" pitchFamily="34" charset="-122"/>
                <a:cs typeface="Calibri" pitchFamily="34" charset="-120"/>
              </a:rPr>
              <a:t>3.  </a:t>
            </a:r>
            <a:r>
              <a:rPr lang="en-US" sz="1900" dirty="0">
                <a:solidFill>
                  <a:srgbClr val="142A44"/>
                </a:solidFill>
                <a:latin typeface="Calibri" pitchFamily="34" charset="0"/>
                <a:ea typeface="Calibri" pitchFamily="34" charset="-122"/>
                <a:cs typeface="Calibri" pitchFamily="34" charset="-120"/>
              </a:rPr>
              <a:t>Bu roman, iç dünyayı ---- bir dille anlatıyor, bu da onu erişilebilir kılıyor (yalın / karmaşık).</a:t>
            </a:r>
            <a:endParaRPr lang="en-US" sz="1900" dirty="0"/>
          </a:p>
        </p:txBody>
      </p:sp>
      <p:sp>
        <p:nvSpPr>
          <p:cNvPr id="13" name="Shape 10"/>
          <p:cNvSpPr/>
          <p:nvPr/>
        </p:nvSpPr>
        <p:spPr>
          <a:xfrm>
            <a:off x="6172200" y="3303040"/>
            <a:ext cx="5349240" cy="1261110"/>
          </a:xfrm>
          <a:prstGeom prst="roundRect">
            <a:avLst>
              <a:gd name="adj" fmla="val 10667"/>
            </a:avLst>
          </a:prstGeom>
          <a:solidFill>
            <a:srgbClr val="EEF3F8"/>
          </a:solidFill>
          <a:ln/>
        </p:spPr>
      </p:sp>
      <p:sp>
        <p:nvSpPr>
          <p:cNvPr id="14" name="Text 11"/>
          <p:cNvSpPr/>
          <p:nvPr/>
        </p:nvSpPr>
        <p:spPr>
          <a:xfrm>
            <a:off x="6355080" y="3303040"/>
            <a:ext cx="5029200" cy="1027938"/>
          </a:xfrm>
          <a:prstGeom prst="rect">
            <a:avLst/>
          </a:prstGeom>
          <a:noFill/>
          <a:ln/>
        </p:spPr>
        <p:txBody>
          <a:bodyPr wrap="square" lIns="0" tIns="0" rIns="0" bIns="0" rtlCol="0" anchor="ctr"/>
          <a:lstStyle/>
          <a:p>
            <a:pPr marL="0" indent="0">
              <a:buNone/>
            </a:pPr>
            <a:r>
              <a:rPr lang="en-US" sz="1900" b="1" dirty="0">
                <a:solidFill>
                  <a:srgbClr val="D9A441"/>
                </a:solidFill>
                <a:latin typeface="Calibri" pitchFamily="34" charset="0"/>
                <a:ea typeface="Calibri" pitchFamily="34" charset="-122"/>
                <a:cs typeface="Calibri" pitchFamily="34" charset="-120"/>
              </a:rPr>
              <a:t>4.  </a:t>
            </a:r>
            <a:r>
              <a:rPr lang="en-US" sz="1900" dirty="0">
                <a:solidFill>
                  <a:srgbClr val="142A44"/>
                </a:solidFill>
                <a:latin typeface="Calibri" pitchFamily="34" charset="0"/>
                <a:ea typeface="Calibri" pitchFamily="34" charset="-122"/>
                <a:cs typeface="Calibri" pitchFamily="34" charset="-120"/>
              </a:rPr>
              <a:t>Uzun bir sessizlikten sonra öğretmen ---- konuşmaya başladı (yavaşça / aniden).</a:t>
            </a:r>
            <a:endParaRPr lang="en-US" sz="1900" dirty="0"/>
          </a:p>
        </p:txBody>
      </p:sp>
      <p:sp>
        <p:nvSpPr>
          <p:cNvPr id="15" name="Shape 12"/>
          <p:cNvSpPr/>
          <p:nvPr/>
        </p:nvSpPr>
        <p:spPr>
          <a:xfrm>
            <a:off x="640080" y="4587010"/>
            <a:ext cx="5349240" cy="918972"/>
          </a:xfrm>
          <a:prstGeom prst="roundRect">
            <a:avLst>
              <a:gd name="adj" fmla="val 10667"/>
            </a:avLst>
          </a:prstGeom>
          <a:solidFill>
            <a:srgbClr val="EEF3F8"/>
          </a:solidFill>
          <a:ln/>
        </p:spPr>
      </p:sp>
      <p:sp>
        <p:nvSpPr>
          <p:cNvPr id="16" name="Text 13"/>
          <p:cNvSpPr/>
          <p:nvPr/>
        </p:nvSpPr>
        <p:spPr>
          <a:xfrm>
            <a:off x="822960" y="4587010"/>
            <a:ext cx="5029200" cy="685292"/>
          </a:xfrm>
          <a:prstGeom prst="rect">
            <a:avLst/>
          </a:prstGeom>
          <a:noFill/>
          <a:ln/>
        </p:spPr>
        <p:txBody>
          <a:bodyPr wrap="square" lIns="0" tIns="0" rIns="0" bIns="0" rtlCol="0" anchor="ctr"/>
          <a:lstStyle/>
          <a:p>
            <a:pPr marL="0" indent="0">
              <a:buNone/>
            </a:pPr>
            <a:r>
              <a:rPr lang="en-US" sz="1900" b="1" dirty="0">
                <a:solidFill>
                  <a:srgbClr val="D9A441"/>
                </a:solidFill>
                <a:latin typeface="Calibri" pitchFamily="34" charset="0"/>
                <a:ea typeface="Calibri" pitchFamily="34" charset="-122"/>
                <a:cs typeface="Calibri" pitchFamily="34" charset="-120"/>
              </a:rPr>
              <a:t>5.  </a:t>
            </a:r>
            <a:r>
              <a:rPr lang="en-US" sz="1900" dirty="0">
                <a:solidFill>
                  <a:srgbClr val="142A44"/>
                </a:solidFill>
                <a:latin typeface="Calibri" pitchFamily="34" charset="0"/>
                <a:ea typeface="Calibri" pitchFamily="34" charset="-122"/>
                <a:cs typeface="Calibri" pitchFamily="34" charset="-120"/>
              </a:rPr>
              <a:t>"Kitabı bir çırpıda bitirdi." → "çırpıda" (çok hızlı bir şekilde)</a:t>
            </a:r>
            <a:endParaRPr lang="en-US" sz="1900" dirty="0"/>
          </a:p>
        </p:txBody>
      </p:sp>
      <p:sp>
        <p:nvSpPr>
          <p:cNvPr id="17" name="Shape 14"/>
          <p:cNvSpPr/>
          <p:nvPr/>
        </p:nvSpPr>
        <p:spPr>
          <a:xfrm>
            <a:off x="6172200" y="4587010"/>
            <a:ext cx="5349240" cy="918972"/>
          </a:xfrm>
          <a:prstGeom prst="roundRect">
            <a:avLst>
              <a:gd name="adj" fmla="val 10667"/>
            </a:avLst>
          </a:prstGeom>
          <a:solidFill>
            <a:srgbClr val="EEF3F8"/>
          </a:solidFill>
          <a:ln/>
        </p:spPr>
      </p:sp>
      <p:sp>
        <p:nvSpPr>
          <p:cNvPr id="18" name="Text 15"/>
          <p:cNvSpPr/>
          <p:nvPr/>
        </p:nvSpPr>
        <p:spPr>
          <a:xfrm>
            <a:off x="6355080" y="4587010"/>
            <a:ext cx="5029200" cy="685292"/>
          </a:xfrm>
          <a:prstGeom prst="rect">
            <a:avLst/>
          </a:prstGeom>
          <a:noFill/>
          <a:ln/>
        </p:spPr>
        <p:txBody>
          <a:bodyPr wrap="square" lIns="0" tIns="0" rIns="0" bIns="0" rtlCol="0" anchor="ctr"/>
          <a:lstStyle/>
          <a:p>
            <a:pPr marL="0" indent="0">
              <a:buNone/>
            </a:pPr>
            <a:r>
              <a:rPr lang="en-US" sz="1900" b="1" dirty="0">
                <a:solidFill>
                  <a:srgbClr val="D9A441"/>
                </a:solidFill>
                <a:latin typeface="Calibri" pitchFamily="34" charset="0"/>
                <a:ea typeface="Calibri" pitchFamily="34" charset="-122"/>
                <a:cs typeface="Calibri" pitchFamily="34" charset="-120"/>
              </a:rPr>
              <a:t>6.  </a:t>
            </a:r>
            <a:r>
              <a:rPr lang="en-US" sz="1900" dirty="0">
                <a:solidFill>
                  <a:srgbClr val="142A44"/>
                </a:solidFill>
                <a:latin typeface="Calibri" pitchFamily="34" charset="0"/>
                <a:ea typeface="Calibri" pitchFamily="34" charset="-122"/>
                <a:cs typeface="Calibri" pitchFamily="34" charset="-120"/>
              </a:rPr>
              <a:t>"Sözlerini tarttı." → "tarttı" (bir cismi tartıya koydu, gerçek anlam)</a:t>
            </a:r>
            <a:endParaRPr lang="en-US" sz="1900" dirty="0"/>
          </a:p>
        </p:txBody>
      </p:sp>
      <p:sp>
        <p:nvSpPr>
          <p:cNvPr id="19" name="Shape 16"/>
          <p:cNvSpPr/>
          <p:nvPr/>
        </p:nvSpPr>
        <p:spPr>
          <a:xfrm>
            <a:off x="640080" y="5528842"/>
            <a:ext cx="5349240" cy="918972"/>
          </a:xfrm>
          <a:prstGeom prst="roundRect">
            <a:avLst>
              <a:gd name="adj" fmla="val 10667"/>
            </a:avLst>
          </a:prstGeom>
          <a:solidFill>
            <a:srgbClr val="EEF3F8"/>
          </a:solidFill>
          <a:ln/>
        </p:spPr>
      </p:sp>
      <p:sp>
        <p:nvSpPr>
          <p:cNvPr id="20" name="Text 17"/>
          <p:cNvSpPr/>
          <p:nvPr/>
        </p:nvSpPr>
        <p:spPr>
          <a:xfrm>
            <a:off x="822960" y="5528842"/>
            <a:ext cx="5029200" cy="685292"/>
          </a:xfrm>
          <a:prstGeom prst="rect">
            <a:avLst/>
          </a:prstGeom>
          <a:noFill/>
          <a:ln/>
        </p:spPr>
        <p:txBody>
          <a:bodyPr wrap="square" lIns="0" tIns="0" rIns="0" bIns="0" rtlCol="0" anchor="ctr"/>
          <a:lstStyle/>
          <a:p>
            <a:pPr marL="0" indent="0">
              <a:buNone/>
            </a:pPr>
            <a:r>
              <a:rPr lang="en-US" sz="1900" b="1" dirty="0">
                <a:solidFill>
                  <a:srgbClr val="D9A441"/>
                </a:solidFill>
                <a:latin typeface="Calibri" pitchFamily="34" charset="0"/>
                <a:ea typeface="Calibri" pitchFamily="34" charset="-122"/>
                <a:cs typeface="Calibri" pitchFamily="34" charset="-120"/>
              </a:rPr>
              <a:t>7.  </a:t>
            </a:r>
            <a:r>
              <a:rPr lang="en-US" sz="1900" dirty="0">
                <a:solidFill>
                  <a:srgbClr val="142A44"/>
                </a:solidFill>
                <a:latin typeface="Calibri" pitchFamily="34" charset="0"/>
                <a:ea typeface="Calibri" pitchFamily="34" charset="-122"/>
                <a:cs typeface="Calibri" pitchFamily="34" charset="-120"/>
              </a:rPr>
              <a:t>"Gözden kaçırdı." → "kaçırdı" (fark etmedi, atladı)</a:t>
            </a:r>
            <a:endParaRPr lang="en-US" sz="1900" dirty="0"/>
          </a:p>
        </p:txBody>
      </p:sp>
      <p:sp>
        <p:nvSpPr>
          <p:cNvPr id="21" name="Shape 18"/>
          <p:cNvSpPr/>
          <p:nvPr/>
        </p:nvSpPr>
        <p:spPr>
          <a:xfrm>
            <a:off x="6172200" y="5528842"/>
            <a:ext cx="5349240" cy="918972"/>
          </a:xfrm>
          <a:prstGeom prst="roundRect">
            <a:avLst>
              <a:gd name="adj" fmla="val 10667"/>
            </a:avLst>
          </a:prstGeom>
          <a:solidFill>
            <a:srgbClr val="EEF3F8"/>
          </a:solidFill>
          <a:ln/>
        </p:spPr>
      </p:sp>
      <p:sp>
        <p:nvSpPr>
          <p:cNvPr id="22" name="Text 19"/>
          <p:cNvSpPr/>
          <p:nvPr/>
        </p:nvSpPr>
        <p:spPr>
          <a:xfrm>
            <a:off x="6355080" y="5528842"/>
            <a:ext cx="5029200" cy="685292"/>
          </a:xfrm>
          <a:prstGeom prst="rect">
            <a:avLst/>
          </a:prstGeom>
          <a:noFill/>
          <a:ln/>
        </p:spPr>
        <p:txBody>
          <a:bodyPr wrap="square" lIns="0" tIns="0" rIns="0" bIns="0" rtlCol="0" anchor="ctr"/>
          <a:lstStyle/>
          <a:p>
            <a:pPr marL="0" indent="0">
              <a:buNone/>
            </a:pPr>
            <a:r>
              <a:rPr lang="en-US" sz="1900" b="1" dirty="0">
                <a:solidFill>
                  <a:srgbClr val="D9A441"/>
                </a:solidFill>
                <a:latin typeface="Calibri" pitchFamily="34" charset="0"/>
                <a:ea typeface="Calibri" pitchFamily="34" charset="-122"/>
                <a:cs typeface="Calibri" pitchFamily="34" charset="-120"/>
              </a:rPr>
              <a:t>8.  </a:t>
            </a:r>
            <a:r>
              <a:rPr lang="en-US" sz="1900" dirty="0">
                <a:solidFill>
                  <a:srgbClr val="142A44"/>
                </a:solidFill>
                <a:latin typeface="Calibri" pitchFamily="34" charset="0"/>
                <a:ea typeface="Calibri" pitchFamily="34" charset="-122"/>
                <a:cs typeface="Calibri" pitchFamily="34" charset="-120"/>
              </a:rPr>
              <a:t>"Dişini sıktı." → "sıktı" (zorluğa katlandı, sabretti)</a:t>
            </a:r>
            <a:endParaRPr lang="en-US" sz="1900" dirty="0"/>
          </a:p>
        </p:txBody>
      </p:sp>
      <p:sp>
        <p:nvSpPr>
          <p:cNvPr id="23" name="Text 20"/>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TYT TÜRKÇE  ·  SÖZCÜKTE ANLAM  ·  Sınıf Etkinliği</a:t>
            </a:r>
            <a:endParaRPr lang="en-US" sz="900" dirty="0"/>
          </a:p>
        </p:txBody>
      </p:sp>
      <p:sp>
        <p:nvSpPr>
          <p:cNvPr id="24" name="Text 21"/>
          <p:cNvSpPr/>
          <p:nvPr/>
        </p:nvSpPr>
        <p:spPr>
          <a:xfrm>
            <a:off x="9902952" y="6537960"/>
            <a:ext cx="18288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Ders 2 / 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48640"/>
            <a:ext cx="640080" cy="640080"/>
          </a:xfrm>
          <a:prstGeom prst="ellipse">
            <a:avLst/>
          </a:prstGeom>
          <a:solidFill>
            <a:srgbClr val="1E3A5F"/>
          </a:solidFill>
          <a:ln/>
        </p:spPr>
      </p:sp>
      <p:pic>
        <p:nvPicPr>
          <p:cNvPr id="3" name="Image 0" descr="icons/kontrol_white.png"/>
          <p:cNvPicPr>
            <a:picLocks noChangeAspect="1"/>
          </p:cNvPicPr>
          <p:nvPr/>
        </p:nvPicPr>
        <p:blipFill>
          <a:blip r:embed="rId3"/>
          <a:stretch>
            <a:fillRect/>
          </a:stretch>
        </p:blipFill>
        <p:spPr>
          <a:xfrm>
            <a:off x="784098" y="692658"/>
            <a:ext cx="352044" cy="352044"/>
          </a:xfrm>
          <a:prstGeom prst="rect">
            <a:avLst/>
          </a:prstGeom>
        </p:spPr>
      </p:pic>
      <p:sp>
        <p:nvSpPr>
          <p:cNvPr id="4" name="Text 1"/>
          <p:cNvSpPr/>
          <p:nvPr/>
        </p:nvSpPr>
        <p:spPr>
          <a:xfrm>
            <a:off x="1508760" y="566928"/>
            <a:ext cx="7315200" cy="320040"/>
          </a:xfrm>
          <a:prstGeom prst="rect">
            <a:avLst/>
          </a:prstGeom>
          <a:noFill/>
          <a:ln/>
        </p:spPr>
        <p:txBody>
          <a:bodyPr wrap="square" lIns="0" tIns="0" rIns="0" bIns="0"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ETKINLIK</a:t>
            </a:r>
            <a:endParaRPr lang="en-US" sz="1300" dirty="0"/>
          </a:p>
        </p:txBody>
      </p:sp>
      <p:sp>
        <p:nvSpPr>
          <p:cNvPr id="5" name="Text 2"/>
          <p:cNvSpPr/>
          <p:nvPr/>
        </p:nvSpPr>
        <p:spPr>
          <a:xfrm>
            <a:off x="1463040" y="841248"/>
            <a:ext cx="8229600" cy="640080"/>
          </a:xfrm>
          <a:prstGeom prst="rect">
            <a:avLst/>
          </a:prstGeom>
          <a:noFill/>
          <a:ln/>
        </p:spPr>
        <p:txBody>
          <a:bodyPr wrap="square" lIns="0" tIns="0" rIns="0" bIns="0" rtlCol="0" anchor="ctr"/>
          <a:lstStyle/>
          <a:p>
            <a:pPr marL="0" indent="0">
              <a:buNone/>
            </a:pPr>
            <a:r>
              <a:rPr lang="en-US" sz="2800" b="1" dirty="0">
                <a:solidFill>
                  <a:srgbClr val="1E3A5F"/>
                </a:solidFill>
                <a:latin typeface="Cambria" pitchFamily="34" charset="0"/>
                <a:ea typeface="Cambria" pitchFamily="34" charset="-122"/>
                <a:cs typeface="Cambria" pitchFamily="34" charset="-120"/>
              </a:rPr>
              <a:t>Cevap Anahtarı</a:t>
            </a:r>
            <a:endParaRPr lang="en-US" sz="2800" dirty="0"/>
          </a:p>
        </p:txBody>
      </p:sp>
      <p:sp>
        <p:nvSpPr>
          <p:cNvPr id="6" name="Shape 3"/>
          <p:cNvSpPr/>
          <p:nvPr/>
        </p:nvSpPr>
        <p:spPr>
          <a:xfrm>
            <a:off x="640080" y="1828800"/>
            <a:ext cx="2560320" cy="2180844"/>
          </a:xfrm>
          <a:prstGeom prst="roundRect">
            <a:avLst>
              <a:gd name="adj" fmla="val 4762"/>
            </a:avLst>
          </a:prstGeom>
          <a:solidFill>
            <a:srgbClr val="EEF3F8"/>
          </a:solidFill>
          <a:ln/>
        </p:spPr>
      </p:sp>
      <p:sp>
        <p:nvSpPr>
          <p:cNvPr id="7" name="Text 4"/>
          <p:cNvSpPr/>
          <p:nvPr/>
        </p:nvSpPr>
        <p:spPr>
          <a:xfrm>
            <a:off x="777240" y="1965960"/>
            <a:ext cx="2286000" cy="365760"/>
          </a:xfrm>
          <a:prstGeom prst="rect">
            <a:avLst/>
          </a:prstGeom>
          <a:noFill/>
          <a:ln/>
        </p:spPr>
        <p:txBody>
          <a:bodyPr wrap="square" lIns="0" tIns="0" rIns="0" bIns="0" rtlCol="0" anchor="ctr"/>
          <a:lstStyle/>
          <a:p>
            <a:pPr marL="0" indent="0">
              <a:buNone/>
            </a:pPr>
            <a:r>
              <a:rPr lang="en-US" sz="2000" i="1" dirty="0">
                <a:solidFill>
                  <a:srgbClr val="6B7280"/>
                </a:solidFill>
                <a:latin typeface="Calibri" pitchFamily="34" charset="0"/>
                <a:ea typeface="Calibri" pitchFamily="34" charset="-122"/>
                <a:cs typeface="Calibri" pitchFamily="34" charset="-120"/>
              </a:rPr>
              <a:t>1. boşluk</a:t>
            </a:r>
            <a:endParaRPr lang="en-US" sz="2000" dirty="0"/>
          </a:p>
        </p:txBody>
      </p:sp>
      <p:sp>
        <p:nvSpPr>
          <p:cNvPr id="8" name="Shape 5"/>
          <p:cNvSpPr/>
          <p:nvPr/>
        </p:nvSpPr>
        <p:spPr>
          <a:xfrm>
            <a:off x="777240" y="2377440"/>
            <a:ext cx="2286000" cy="685800"/>
          </a:xfrm>
          <a:prstGeom prst="roundRect">
            <a:avLst>
              <a:gd name="adj" fmla="val 10667"/>
            </a:avLst>
          </a:prstGeom>
          <a:solidFill>
            <a:srgbClr val="1E3A5F"/>
          </a:solidFill>
          <a:ln/>
          <a:effectLst>
            <a:outerShdw blurRad="76200" dist="25400" dir="5400000" algn="bl" rotWithShape="0">
              <a:srgbClr val="1E2761">
                <a:alpha val="18000"/>
              </a:srgbClr>
            </a:outerShdw>
          </a:effectLst>
        </p:spPr>
      </p:sp>
      <p:sp>
        <p:nvSpPr>
          <p:cNvPr id="9" name="Text 6"/>
          <p:cNvSpPr/>
          <p:nvPr/>
        </p:nvSpPr>
        <p:spPr>
          <a:xfrm>
            <a:off x="777240" y="2377440"/>
            <a:ext cx="2286000" cy="685800"/>
          </a:xfrm>
          <a:prstGeom prst="rect">
            <a:avLst/>
          </a:prstGeom>
          <a:noFill/>
          <a:ln/>
        </p:spPr>
        <p:txBody>
          <a:bodyPr wrap="square" lIns="0" tIns="0" rIns="0" bIns="0" rtlCol="0" anchor="ctr"/>
          <a:lstStyle/>
          <a:p>
            <a:pPr marL="0" indent="0" algn="ctr">
              <a:buNone/>
            </a:pPr>
            <a:r>
              <a:rPr lang="en-US" sz="2100" b="1" dirty="0">
                <a:solidFill>
                  <a:srgbClr val="FFFFFF"/>
                </a:solidFill>
                <a:latin typeface="Calibri" pitchFamily="34" charset="0"/>
                <a:ea typeface="Calibri" pitchFamily="34" charset="-122"/>
                <a:cs typeface="Calibri" pitchFamily="34" charset="-120"/>
              </a:rPr>
              <a:t>ulaştı</a:t>
            </a:r>
            <a:endParaRPr lang="en-US" sz="2100" dirty="0"/>
          </a:p>
        </p:txBody>
      </p:sp>
      <p:sp>
        <p:nvSpPr>
          <p:cNvPr id="10" name="Text 7"/>
          <p:cNvSpPr/>
          <p:nvPr/>
        </p:nvSpPr>
        <p:spPr>
          <a:xfrm>
            <a:off x="777240" y="3265778"/>
            <a:ext cx="2286000" cy="502920"/>
          </a:xfrm>
          <a:prstGeom prst="rect">
            <a:avLst/>
          </a:prstGeom>
          <a:noFill/>
          <a:ln/>
        </p:spPr>
        <p:txBody>
          <a:bodyPr wrap="square" lIns="0" tIns="0" rIns="0" bIns="0" rtlCol="0" anchor="ctr"/>
          <a:lstStyle/>
          <a:p>
            <a:pPr marL="0" indent="0" algn="ctr">
              <a:buNone/>
            </a:pPr>
            <a:r>
              <a:rPr lang="en-US" sz="1400" i="1" dirty="0">
                <a:solidFill>
                  <a:srgbClr val="6B7280"/>
                </a:solidFill>
                <a:latin typeface="Calibri" pitchFamily="34" charset="0"/>
                <a:ea typeface="Calibri" pitchFamily="34" charset="-122"/>
                <a:cs typeface="Calibri" pitchFamily="34" charset="-120"/>
              </a:rPr>
              <a:t>"</a:t>
            </a:r>
            <a:r>
              <a:rPr lang="tr-TR" sz="1400" i="1" dirty="0">
                <a:solidFill>
                  <a:srgbClr val="6B7280"/>
                </a:solidFill>
                <a:latin typeface="Calibri" pitchFamily="34" charset="0"/>
                <a:ea typeface="Calibri" pitchFamily="34" charset="-122"/>
                <a:cs typeface="Calibri" pitchFamily="34" charset="-120"/>
              </a:rPr>
              <a:t>değdi</a:t>
            </a:r>
            <a:r>
              <a:rPr lang="en-US" sz="1400" i="1" dirty="0">
                <a:solidFill>
                  <a:srgbClr val="6B7280"/>
                </a:solidFill>
                <a:latin typeface="Calibri" pitchFamily="34" charset="0"/>
                <a:ea typeface="Calibri" pitchFamily="34" charset="-122"/>
                <a:cs typeface="Calibri" pitchFamily="34" charset="-120"/>
              </a:rPr>
              <a:t>" cümlenin olumlu mantığıyla çelişir</a:t>
            </a:r>
            <a:endParaRPr lang="en-US" sz="1400" dirty="0"/>
          </a:p>
        </p:txBody>
      </p:sp>
      <p:sp>
        <p:nvSpPr>
          <p:cNvPr id="11" name="Shape 8"/>
          <p:cNvSpPr/>
          <p:nvPr/>
        </p:nvSpPr>
        <p:spPr>
          <a:xfrm>
            <a:off x="3383280" y="1828800"/>
            <a:ext cx="2560320" cy="2180844"/>
          </a:xfrm>
          <a:prstGeom prst="roundRect">
            <a:avLst>
              <a:gd name="adj" fmla="val 4762"/>
            </a:avLst>
          </a:prstGeom>
          <a:solidFill>
            <a:srgbClr val="EEF3F8"/>
          </a:solidFill>
          <a:ln/>
        </p:spPr>
      </p:sp>
      <p:sp>
        <p:nvSpPr>
          <p:cNvPr id="12" name="Text 9"/>
          <p:cNvSpPr/>
          <p:nvPr/>
        </p:nvSpPr>
        <p:spPr>
          <a:xfrm>
            <a:off x="3520440" y="1965960"/>
            <a:ext cx="2286000" cy="365760"/>
          </a:xfrm>
          <a:prstGeom prst="rect">
            <a:avLst/>
          </a:prstGeom>
          <a:noFill/>
          <a:ln/>
        </p:spPr>
        <p:txBody>
          <a:bodyPr wrap="square" lIns="0" tIns="0" rIns="0" bIns="0" rtlCol="0" anchor="ctr"/>
          <a:lstStyle/>
          <a:p>
            <a:pPr marL="0" indent="0">
              <a:buNone/>
            </a:pPr>
            <a:r>
              <a:rPr lang="en-US" sz="2000" i="1" dirty="0">
                <a:solidFill>
                  <a:srgbClr val="6B7280"/>
                </a:solidFill>
                <a:latin typeface="Calibri" pitchFamily="34" charset="0"/>
                <a:ea typeface="Calibri" pitchFamily="34" charset="-122"/>
                <a:cs typeface="Calibri" pitchFamily="34" charset="-120"/>
              </a:rPr>
              <a:t>2. boşluk</a:t>
            </a:r>
            <a:endParaRPr lang="en-US" sz="2000" dirty="0"/>
          </a:p>
        </p:txBody>
      </p:sp>
      <p:sp>
        <p:nvSpPr>
          <p:cNvPr id="13" name="Shape 10"/>
          <p:cNvSpPr/>
          <p:nvPr/>
        </p:nvSpPr>
        <p:spPr>
          <a:xfrm>
            <a:off x="3520440" y="2377440"/>
            <a:ext cx="2286000" cy="685800"/>
          </a:xfrm>
          <a:prstGeom prst="roundRect">
            <a:avLst>
              <a:gd name="adj" fmla="val 10667"/>
            </a:avLst>
          </a:prstGeom>
          <a:solidFill>
            <a:srgbClr val="1E3A5F"/>
          </a:solidFill>
          <a:ln/>
          <a:effectLst>
            <a:outerShdw blurRad="76200" dist="25400" dir="5400000" algn="bl" rotWithShape="0">
              <a:srgbClr val="1E2761">
                <a:alpha val="18000"/>
              </a:srgbClr>
            </a:outerShdw>
          </a:effectLst>
        </p:spPr>
      </p:sp>
      <p:sp>
        <p:nvSpPr>
          <p:cNvPr id="14" name="Text 11"/>
          <p:cNvSpPr/>
          <p:nvPr/>
        </p:nvSpPr>
        <p:spPr>
          <a:xfrm>
            <a:off x="3520440" y="2377440"/>
            <a:ext cx="2286000" cy="685800"/>
          </a:xfrm>
          <a:prstGeom prst="rect">
            <a:avLst/>
          </a:prstGeom>
          <a:noFill/>
          <a:ln/>
        </p:spPr>
        <p:txBody>
          <a:bodyPr wrap="square" lIns="0" tIns="0" rIns="0" bIns="0" rtlCol="0" anchor="ctr"/>
          <a:lstStyle/>
          <a:p>
            <a:pPr marL="0" indent="0" algn="ctr">
              <a:buNone/>
            </a:pPr>
            <a:r>
              <a:rPr lang="en-US" sz="2100" b="1" dirty="0">
                <a:solidFill>
                  <a:srgbClr val="FFFFFF"/>
                </a:solidFill>
                <a:latin typeface="Calibri" pitchFamily="34" charset="0"/>
                <a:ea typeface="Calibri" pitchFamily="34" charset="-122"/>
                <a:cs typeface="Calibri" pitchFamily="34" charset="-120"/>
              </a:rPr>
              <a:t>heyecanlı</a:t>
            </a:r>
            <a:endParaRPr lang="en-US" sz="2100" dirty="0"/>
          </a:p>
        </p:txBody>
      </p:sp>
      <p:sp>
        <p:nvSpPr>
          <p:cNvPr id="15" name="Text 12"/>
          <p:cNvSpPr/>
          <p:nvPr/>
        </p:nvSpPr>
        <p:spPr>
          <a:xfrm>
            <a:off x="3520440" y="3265778"/>
            <a:ext cx="2286000" cy="502920"/>
          </a:xfrm>
          <a:prstGeom prst="rect">
            <a:avLst/>
          </a:prstGeom>
          <a:noFill/>
          <a:ln/>
        </p:spPr>
        <p:txBody>
          <a:bodyPr wrap="square" lIns="0" tIns="0" rIns="0" bIns="0" rtlCol="0" anchor="ctr"/>
          <a:lstStyle/>
          <a:p>
            <a:pPr marL="0" indent="0" algn="ctr">
              <a:buNone/>
            </a:pPr>
            <a:r>
              <a:rPr lang="en-US" sz="1400" i="1" dirty="0">
                <a:solidFill>
                  <a:srgbClr val="6B7280"/>
                </a:solidFill>
                <a:latin typeface="Calibri" pitchFamily="34" charset="0"/>
                <a:ea typeface="Calibri" pitchFamily="34" charset="-122"/>
                <a:cs typeface="Calibri" pitchFamily="34" charset="-120"/>
              </a:rPr>
              <a:t>sınav öncesi bağlamına uygun tek seçenek</a:t>
            </a:r>
            <a:endParaRPr lang="en-US" sz="1400" dirty="0"/>
          </a:p>
        </p:txBody>
      </p:sp>
      <p:sp>
        <p:nvSpPr>
          <p:cNvPr id="16" name="Shape 13"/>
          <p:cNvSpPr/>
          <p:nvPr/>
        </p:nvSpPr>
        <p:spPr>
          <a:xfrm>
            <a:off x="6126480" y="1828800"/>
            <a:ext cx="2560320" cy="2180844"/>
          </a:xfrm>
          <a:prstGeom prst="roundRect">
            <a:avLst>
              <a:gd name="adj" fmla="val 4762"/>
            </a:avLst>
          </a:prstGeom>
          <a:solidFill>
            <a:srgbClr val="EEF3F8"/>
          </a:solidFill>
          <a:ln/>
        </p:spPr>
      </p:sp>
      <p:sp>
        <p:nvSpPr>
          <p:cNvPr id="17" name="Text 14"/>
          <p:cNvSpPr/>
          <p:nvPr/>
        </p:nvSpPr>
        <p:spPr>
          <a:xfrm>
            <a:off x="6263640" y="1965960"/>
            <a:ext cx="2286000" cy="365760"/>
          </a:xfrm>
          <a:prstGeom prst="rect">
            <a:avLst/>
          </a:prstGeom>
          <a:noFill/>
          <a:ln/>
        </p:spPr>
        <p:txBody>
          <a:bodyPr wrap="square" lIns="0" tIns="0" rIns="0" bIns="0" rtlCol="0" anchor="ctr"/>
          <a:lstStyle/>
          <a:p>
            <a:pPr marL="0" indent="0">
              <a:buNone/>
            </a:pPr>
            <a:r>
              <a:rPr lang="en-US" sz="2000" i="1" dirty="0">
                <a:solidFill>
                  <a:srgbClr val="6B7280"/>
                </a:solidFill>
                <a:latin typeface="Calibri" pitchFamily="34" charset="0"/>
                <a:ea typeface="Calibri" pitchFamily="34" charset="-122"/>
                <a:cs typeface="Calibri" pitchFamily="34" charset="-120"/>
              </a:rPr>
              <a:t>3. boşluk</a:t>
            </a:r>
            <a:endParaRPr lang="en-US" sz="2000" dirty="0"/>
          </a:p>
        </p:txBody>
      </p:sp>
      <p:sp>
        <p:nvSpPr>
          <p:cNvPr id="18" name="Shape 15"/>
          <p:cNvSpPr/>
          <p:nvPr/>
        </p:nvSpPr>
        <p:spPr>
          <a:xfrm>
            <a:off x="6263640" y="2377440"/>
            <a:ext cx="2286000" cy="685800"/>
          </a:xfrm>
          <a:prstGeom prst="roundRect">
            <a:avLst>
              <a:gd name="adj" fmla="val 10667"/>
            </a:avLst>
          </a:prstGeom>
          <a:solidFill>
            <a:srgbClr val="1E3A5F"/>
          </a:solidFill>
          <a:ln/>
          <a:effectLst>
            <a:outerShdw blurRad="76200" dist="25400" dir="5400000" algn="bl" rotWithShape="0">
              <a:srgbClr val="1E2761">
                <a:alpha val="18000"/>
              </a:srgbClr>
            </a:outerShdw>
          </a:effectLst>
        </p:spPr>
      </p:sp>
      <p:sp>
        <p:nvSpPr>
          <p:cNvPr id="19" name="Text 16"/>
          <p:cNvSpPr/>
          <p:nvPr/>
        </p:nvSpPr>
        <p:spPr>
          <a:xfrm>
            <a:off x="6263640" y="2377440"/>
            <a:ext cx="2286000" cy="685800"/>
          </a:xfrm>
          <a:prstGeom prst="rect">
            <a:avLst/>
          </a:prstGeom>
          <a:noFill/>
          <a:ln/>
        </p:spPr>
        <p:txBody>
          <a:bodyPr wrap="square" lIns="0" tIns="0" rIns="0" bIns="0" rtlCol="0" anchor="ctr"/>
          <a:lstStyle/>
          <a:p>
            <a:pPr marL="0" indent="0" algn="ctr">
              <a:buNone/>
            </a:pPr>
            <a:r>
              <a:rPr lang="en-US" sz="2100" b="1" dirty="0">
                <a:solidFill>
                  <a:srgbClr val="FFFFFF"/>
                </a:solidFill>
                <a:latin typeface="Calibri" pitchFamily="34" charset="0"/>
                <a:ea typeface="Calibri" pitchFamily="34" charset="-122"/>
                <a:cs typeface="Calibri" pitchFamily="34" charset="-120"/>
              </a:rPr>
              <a:t>yalın</a:t>
            </a:r>
            <a:endParaRPr lang="en-US" sz="2100" dirty="0"/>
          </a:p>
        </p:txBody>
      </p:sp>
      <p:sp>
        <p:nvSpPr>
          <p:cNvPr id="20" name="Text 17"/>
          <p:cNvSpPr/>
          <p:nvPr/>
        </p:nvSpPr>
        <p:spPr>
          <a:xfrm>
            <a:off x="6263640" y="3265778"/>
            <a:ext cx="2286000" cy="502920"/>
          </a:xfrm>
          <a:prstGeom prst="rect">
            <a:avLst/>
          </a:prstGeom>
          <a:noFill/>
          <a:ln/>
        </p:spPr>
        <p:txBody>
          <a:bodyPr wrap="square" lIns="0" tIns="0" rIns="0" bIns="0" rtlCol="0" anchor="ctr"/>
          <a:lstStyle/>
          <a:p>
            <a:pPr marL="0" indent="0" algn="ctr">
              <a:buNone/>
            </a:pPr>
            <a:r>
              <a:rPr lang="en-US" sz="1400" i="1" dirty="0">
                <a:solidFill>
                  <a:srgbClr val="6B7280"/>
                </a:solidFill>
                <a:latin typeface="Calibri" pitchFamily="34" charset="0"/>
                <a:ea typeface="Calibri" pitchFamily="34" charset="-122"/>
                <a:cs typeface="Calibri" pitchFamily="34" charset="-120"/>
              </a:rPr>
              <a:t>"erişilebilir kılıyor" ifadesiyle tutarlı seçenek</a:t>
            </a:r>
            <a:endParaRPr lang="en-US" sz="1400" dirty="0"/>
          </a:p>
        </p:txBody>
      </p:sp>
      <p:sp>
        <p:nvSpPr>
          <p:cNvPr id="21" name="Shape 18"/>
          <p:cNvSpPr/>
          <p:nvPr/>
        </p:nvSpPr>
        <p:spPr>
          <a:xfrm>
            <a:off x="8869680" y="1828800"/>
            <a:ext cx="2560320" cy="2180844"/>
          </a:xfrm>
          <a:prstGeom prst="roundRect">
            <a:avLst>
              <a:gd name="adj" fmla="val 4762"/>
            </a:avLst>
          </a:prstGeom>
          <a:solidFill>
            <a:srgbClr val="EEF3F8"/>
          </a:solidFill>
          <a:ln/>
        </p:spPr>
      </p:sp>
      <p:sp>
        <p:nvSpPr>
          <p:cNvPr id="22" name="Text 19"/>
          <p:cNvSpPr/>
          <p:nvPr/>
        </p:nvSpPr>
        <p:spPr>
          <a:xfrm>
            <a:off x="9006840" y="1965960"/>
            <a:ext cx="2286000" cy="365760"/>
          </a:xfrm>
          <a:prstGeom prst="rect">
            <a:avLst/>
          </a:prstGeom>
          <a:noFill/>
          <a:ln/>
        </p:spPr>
        <p:txBody>
          <a:bodyPr wrap="square" lIns="0" tIns="0" rIns="0" bIns="0" rtlCol="0" anchor="ctr"/>
          <a:lstStyle/>
          <a:p>
            <a:pPr marL="0" indent="0">
              <a:buNone/>
            </a:pPr>
            <a:r>
              <a:rPr lang="en-US" sz="2000" i="1" dirty="0">
                <a:solidFill>
                  <a:srgbClr val="6B7280"/>
                </a:solidFill>
                <a:latin typeface="Calibri" pitchFamily="34" charset="0"/>
                <a:ea typeface="Calibri" pitchFamily="34" charset="-122"/>
                <a:cs typeface="Calibri" pitchFamily="34" charset="-120"/>
              </a:rPr>
              <a:t>4. boşluk</a:t>
            </a:r>
            <a:endParaRPr lang="en-US" sz="2000" dirty="0"/>
          </a:p>
        </p:txBody>
      </p:sp>
      <p:sp>
        <p:nvSpPr>
          <p:cNvPr id="23" name="Shape 20"/>
          <p:cNvSpPr/>
          <p:nvPr/>
        </p:nvSpPr>
        <p:spPr>
          <a:xfrm>
            <a:off x="9006840" y="2377440"/>
            <a:ext cx="2286000" cy="685800"/>
          </a:xfrm>
          <a:prstGeom prst="roundRect">
            <a:avLst>
              <a:gd name="adj" fmla="val 10667"/>
            </a:avLst>
          </a:prstGeom>
          <a:solidFill>
            <a:srgbClr val="1E3A5F"/>
          </a:solidFill>
          <a:ln/>
          <a:effectLst>
            <a:outerShdw blurRad="76200" dist="25400" dir="5400000" algn="bl" rotWithShape="0">
              <a:srgbClr val="1E2761">
                <a:alpha val="18000"/>
              </a:srgbClr>
            </a:outerShdw>
          </a:effectLst>
        </p:spPr>
      </p:sp>
      <p:sp>
        <p:nvSpPr>
          <p:cNvPr id="24" name="Text 21"/>
          <p:cNvSpPr/>
          <p:nvPr/>
        </p:nvSpPr>
        <p:spPr>
          <a:xfrm>
            <a:off x="9006840" y="2377440"/>
            <a:ext cx="2286000" cy="685800"/>
          </a:xfrm>
          <a:prstGeom prst="rect">
            <a:avLst/>
          </a:prstGeom>
          <a:noFill/>
          <a:ln/>
        </p:spPr>
        <p:txBody>
          <a:bodyPr wrap="square" lIns="0" tIns="0" rIns="0" bIns="0" rtlCol="0" anchor="ctr"/>
          <a:lstStyle/>
          <a:p>
            <a:pPr marL="0" indent="0" algn="ctr">
              <a:buNone/>
            </a:pPr>
            <a:r>
              <a:rPr lang="en-US" sz="2100" b="1" dirty="0">
                <a:solidFill>
                  <a:srgbClr val="FFFFFF"/>
                </a:solidFill>
                <a:latin typeface="Calibri" pitchFamily="34" charset="0"/>
                <a:ea typeface="Calibri" pitchFamily="34" charset="-122"/>
                <a:cs typeface="Calibri" pitchFamily="34" charset="-120"/>
              </a:rPr>
              <a:t>aniden</a:t>
            </a:r>
            <a:endParaRPr lang="en-US" sz="2100" dirty="0"/>
          </a:p>
        </p:txBody>
      </p:sp>
      <p:sp>
        <p:nvSpPr>
          <p:cNvPr id="25" name="Text 22"/>
          <p:cNvSpPr/>
          <p:nvPr/>
        </p:nvSpPr>
        <p:spPr>
          <a:xfrm>
            <a:off x="9006840" y="3265778"/>
            <a:ext cx="2286000" cy="502920"/>
          </a:xfrm>
          <a:prstGeom prst="rect">
            <a:avLst/>
          </a:prstGeom>
          <a:noFill/>
          <a:ln/>
        </p:spPr>
        <p:txBody>
          <a:bodyPr wrap="square" lIns="0" tIns="0" rIns="0" bIns="0" rtlCol="0" anchor="ctr"/>
          <a:lstStyle/>
          <a:p>
            <a:pPr marL="0" indent="0" algn="ctr">
              <a:buNone/>
            </a:pPr>
            <a:r>
              <a:rPr lang="en-US" sz="1400" i="1" dirty="0">
                <a:solidFill>
                  <a:srgbClr val="6B7280"/>
                </a:solidFill>
                <a:latin typeface="Calibri" pitchFamily="34" charset="0"/>
                <a:ea typeface="Calibri" pitchFamily="34" charset="-122"/>
                <a:cs typeface="Calibri" pitchFamily="34" charset="-120"/>
              </a:rPr>
              <a:t>uzun sessizliği BİRDEN bozan bir başlangıç</a:t>
            </a:r>
            <a:endParaRPr lang="en-US" sz="1400" dirty="0"/>
          </a:p>
        </p:txBody>
      </p:sp>
      <p:sp>
        <p:nvSpPr>
          <p:cNvPr id="26" name="Shape 23"/>
          <p:cNvSpPr/>
          <p:nvPr/>
        </p:nvSpPr>
        <p:spPr>
          <a:xfrm>
            <a:off x="640080" y="4238244"/>
            <a:ext cx="2560320" cy="2180844"/>
          </a:xfrm>
          <a:prstGeom prst="roundRect">
            <a:avLst>
              <a:gd name="adj" fmla="val 4762"/>
            </a:avLst>
          </a:prstGeom>
          <a:solidFill>
            <a:srgbClr val="EEF3F8"/>
          </a:solidFill>
          <a:ln/>
        </p:spPr>
      </p:sp>
      <p:sp>
        <p:nvSpPr>
          <p:cNvPr id="27" name="Text 24"/>
          <p:cNvSpPr/>
          <p:nvPr/>
        </p:nvSpPr>
        <p:spPr>
          <a:xfrm>
            <a:off x="777240" y="4375404"/>
            <a:ext cx="2286000" cy="365760"/>
          </a:xfrm>
          <a:prstGeom prst="rect">
            <a:avLst/>
          </a:prstGeom>
          <a:noFill/>
          <a:ln/>
        </p:spPr>
        <p:txBody>
          <a:bodyPr wrap="square" lIns="0" tIns="0" rIns="0" bIns="0" rtlCol="0" anchor="ctr"/>
          <a:lstStyle/>
          <a:p>
            <a:pPr marL="0" indent="0">
              <a:buNone/>
            </a:pPr>
            <a:r>
              <a:rPr lang="en-US" sz="2000" i="1" dirty="0">
                <a:solidFill>
                  <a:srgbClr val="6B7280"/>
                </a:solidFill>
                <a:latin typeface="Calibri" pitchFamily="34" charset="0"/>
                <a:ea typeface="Calibri" pitchFamily="34" charset="-122"/>
                <a:cs typeface="Calibri" pitchFamily="34" charset="-120"/>
              </a:rPr>
              <a:t>5. söz</a:t>
            </a:r>
            <a:endParaRPr lang="en-US" sz="2000" dirty="0"/>
          </a:p>
        </p:txBody>
      </p:sp>
      <p:sp>
        <p:nvSpPr>
          <p:cNvPr id="28" name="Shape 25"/>
          <p:cNvSpPr/>
          <p:nvPr/>
        </p:nvSpPr>
        <p:spPr>
          <a:xfrm>
            <a:off x="777240" y="4786884"/>
            <a:ext cx="2286000" cy="685800"/>
          </a:xfrm>
          <a:prstGeom prst="roundRect">
            <a:avLst>
              <a:gd name="adj" fmla="val 10667"/>
            </a:avLst>
          </a:prstGeom>
          <a:solidFill>
            <a:srgbClr val="1E3A5F"/>
          </a:solidFill>
          <a:ln/>
          <a:effectLst>
            <a:outerShdw blurRad="76200" dist="25400" dir="5400000" algn="bl" rotWithShape="0">
              <a:srgbClr val="1E2761">
                <a:alpha val="18000"/>
              </a:srgbClr>
            </a:outerShdw>
          </a:effectLst>
        </p:spPr>
      </p:sp>
      <p:sp>
        <p:nvSpPr>
          <p:cNvPr id="29" name="Text 26"/>
          <p:cNvSpPr/>
          <p:nvPr/>
        </p:nvSpPr>
        <p:spPr>
          <a:xfrm>
            <a:off x="777240" y="4786884"/>
            <a:ext cx="2286000" cy="685800"/>
          </a:xfrm>
          <a:prstGeom prst="rect">
            <a:avLst/>
          </a:prstGeom>
          <a:noFill/>
          <a:ln/>
        </p:spPr>
        <p:txBody>
          <a:bodyPr wrap="square" lIns="0" tIns="0" rIns="0" bIns="0" rtlCol="0" anchor="ctr"/>
          <a:lstStyle/>
          <a:p>
            <a:pPr marL="0" indent="0" algn="ctr">
              <a:buNone/>
            </a:pPr>
            <a:r>
              <a:rPr lang="en-US" sz="2100" b="1" dirty="0">
                <a:solidFill>
                  <a:srgbClr val="FFFFFF"/>
                </a:solidFill>
                <a:latin typeface="Calibri" pitchFamily="34" charset="0"/>
                <a:ea typeface="Calibri" pitchFamily="34" charset="-122"/>
                <a:cs typeface="Calibri" pitchFamily="34" charset="-120"/>
              </a:rPr>
              <a:t>DOĞRU</a:t>
            </a:r>
            <a:endParaRPr lang="en-US" sz="2100" dirty="0"/>
          </a:p>
        </p:txBody>
      </p:sp>
      <p:sp>
        <p:nvSpPr>
          <p:cNvPr id="30" name="Text 27"/>
          <p:cNvSpPr/>
          <p:nvPr/>
        </p:nvSpPr>
        <p:spPr>
          <a:xfrm>
            <a:off x="777240" y="5760676"/>
            <a:ext cx="2286000" cy="502920"/>
          </a:xfrm>
          <a:prstGeom prst="rect">
            <a:avLst/>
          </a:prstGeom>
          <a:noFill/>
          <a:ln/>
        </p:spPr>
        <p:txBody>
          <a:bodyPr wrap="square" lIns="0" tIns="0" rIns="0" bIns="0" rtlCol="0" anchor="ctr"/>
          <a:lstStyle/>
          <a:p>
            <a:pPr marL="0" indent="0" algn="ctr">
              <a:buNone/>
            </a:pPr>
            <a:r>
              <a:rPr lang="en-US" sz="1400" i="1" dirty="0">
                <a:solidFill>
                  <a:srgbClr val="6B7280"/>
                </a:solidFill>
                <a:latin typeface="Calibri" pitchFamily="34" charset="0"/>
                <a:ea typeface="Calibri" pitchFamily="34" charset="-122"/>
                <a:cs typeface="Calibri" pitchFamily="34" charset="-120"/>
              </a:rPr>
              <a:t>"çırpıda" gerçekten "çok hızlı" demektir</a:t>
            </a:r>
            <a:endParaRPr lang="en-US" sz="1400" dirty="0"/>
          </a:p>
        </p:txBody>
      </p:sp>
      <p:sp>
        <p:nvSpPr>
          <p:cNvPr id="31" name="Shape 28"/>
          <p:cNvSpPr/>
          <p:nvPr/>
        </p:nvSpPr>
        <p:spPr>
          <a:xfrm>
            <a:off x="3383280" y="4238244"/>
            <a:ext cx="2560320" cy="2180844"/>
          </a:xfrm>
          <a:prstGeom prst="roundRect">
            <a:avLst>
              <a:gd name="adj" fmla="val 4762"/>
            </a:avLst>
          </a:prstGeom>
          <a:solidFill>
            <a:srgbClr val="EEF3F8"/>
          </a:solidFill>
          <a:ln/>
        </p:spPr>
      </p:sp>
      <p:sp>
        <p:nvSpPr>
          <p:cNvPr id="32" name="Text 29"/>
          <p:cNvSpPr/>
          <p:nvPr/>
        </p:nvSpPr>
        <p:spPr>
          <a:xfrm>
            <a:off x="3520440" y="4375404"/>
            <a:ext cx="2286000" cy="365760"/>
          </a:xfrm>
          <a:prstGeom prst="rect">
            <a:avLst/>
          </a:prstGeom>
          <a:noFill/>
          <a:ln/>
        </p:spPr>
        <p:txBody>
          <a:bodyPr wrap="square" lIns="0" tIns="0" rIns="0" bIns="0" rtlCol="0" anchor="ctr"/>
          <a:lstStyle/>
          <a:p>
            <a:pPr marL="0" indent="0">
              <a:buNone/>
            </a:pPr>
            <a:r>
              <a:rPr lang="en-US" sz="2000" i="1" dirty="0">
                <a:solidFill>
                  <a:srgbClr val="6B7280"/>
                </a:solidFill>
                <a:latin typeface="Calibri" pitchFamily="34" charset="0"/>
                <a:ea typeface="Calibri" pitchFamily="34" charset="-122"/>
                <a:cs typeface="Calibri" pitchFamily="34" charset="-120"/>
              </a:rPr>
              <a:t>6. söz</a:t>
            </a:r>
            <a:endParaRPr lang="en-US" sz="2000" dirty="0"/>
          </a:p>
        </p:txBody>
      </p:sp>
      <p:sp>
        <p:nvSpPr>
          <p:cNvPr id="33" name="Shape 30"/>
          <p:cNvSpPr/>
          <p:nvPr/>
        </p:nvSpPr>
        <p:spPr>
          <a:xfrm>
            <a:off x="3520440" y="4786884"/>
            <a:ext cx="2286000" cy="685800"/>
          </a:xfrm>
          <a:prstGeom prst="roundRect">
            <a:avLst>
              <a:gd name="adj" fmla="val 10667"/>
            </a:avLst>
          </a:prstGeom>
          <a:solidFill>
            <a:srgbClr val="8E2318"/>
          </a:solidFill>
          <a:ln/>
          <a:effectLst>
            <a:outerShdw blurRad="76200" dist="25400" dir="5400000" algn="bl" rotWithShape="0">
              <a:srgbClr val="1E2761">
                <a:alpha val="18000"/>
              </a:srgbClr>
            </a:outerShdw>
          </a:effectLst>
        </p:spPr>
      </p:sp>
      <p:sp>
        <p:nvSpPr>
          <p:cNvPr id="34" name="Text 31"/>
          <p:cNvSpPr/>
          <p:nvPr/>
        </p:nvSpPr>
        <p:spPr>
          <a:xfrm>
            <a:off x="3520440" y="4786884"/>
            <a:ext cx="2286000" cy="685800"/>
          </a:xfrm>
          <a:prstGeom prst="rect">
            <a:avLst/>
          </a:prstGeom>
          <a:noFill/>
          <a:ln/>
        </p:spPr>
        <p:txBody>
          <a:bodyPr wrap="square" lIns="0" tIns="0" rIns="0" bIns="0" rtlCol="0" anchor="ctr"/>
          <a:lstStyle/>
          <a:p>
            <a:pPr marL="0" indent="0" algn="ctr">
              <a:buNone/>
            </a:pPr>
            <a:r>
              <a:rPr lang="en-US" sz="2100" b="1" dirty="0">
                <a:solidFill>
                  <a:srgbClr val="FFFFFF"/>
                </a:solidFill>
                <a:latin typeface="Calibri" pitchFamily="34" charset="0"/>
                <a:ea typeface="Calibri" pitchFamily="34" charset="-122"/>
                <a:cs typeface="Calibri" pitchFamily="34" charset="-120"/>
              </a:rPr>
              <a:t>YANLIŞ</a:t>
            </a:r>
            <a:endParaRPr lang="en-US" sz="2100" dirty="0"/>
          </a:p>
        </p:txBody>
      </p:sp>
      <p:sp>
        <p:nvSpPr>
          <p:cNvPr id="35" name="Text 32"/>
          <p:cNvSpPr/>
          <p:nvPr/>
        </p:nvSpPr>
        <p:spPr>
          <a:xfrm>
            <a:off x="3520440" y="5760676"/>
            <a:ext cx="2286000" cy="502920"/>
          </a:xfrm>
          <a:prstGeom prst="rect">
            <a:avLst/>
          </a:prstGeom>
          <a:noFill/>
          <a:ln/>
        </p:spPr>
        <p:txBody>
          <a:bodyPr wrap="square" lIns="0" tIns="0" rIns="0" bIns="0" rtlCol="0" anchor="ctr"/>
          <a:lstStyle/>
          <a:p>
            <a:pPr marL="0" indent="0" algn="ctr">
              <a:buNone/>
            </a:pPr>
            <a:r>
              <a:rPr lang="en-US" sz="1400" i="1" dirty="0">
                <a:solidFill>
                  <a:srgbClr val="6B7280"/>
                </a:solidFill>
                <a:latin typeface="Calibri" pitchFamily="34" charset="0"/>
                <a:ea typeface="Calibri" pitchFamily="34" charset="-122"/>
                <a:cs typeface="Calibri" pitchFamily="34" charset="-120"/>
              </a:rPr>
              <a:t>"tarttı" burada mecaz — dikkatle ölçüp biçti demek</a:t>
            </a:r>
            <a:endParaRPr lang="en-US" sz="1400" dirty="0"/>
          </a:p>
        </p:txBody>
      </p:sp>
      <p:sp>
        <p:nvSpPr>
          <p:cNvPr id="36" name="Shape 33"/>
          <p:cNvSpPr/>
          <p:nvPr/>
        </p:nvSpPr>
        <p:spPr>
          <a:xfrm>
            <a:off x="6126480" y="4238244"/>
            <a:ext cx="2560320" cy="2180844"/>
          </a:xfrm>
          <a:prstGeom prst="roundRect">
            <a:avLst>
              <a:gd name="adj" fmla="val 4762"/>
            </a:avLst>
          </a:prstGeom>
          <a:solidFill>
            <a:srgbClr val="EEF3F8"/>
          </a:solidFill>
          <a:ln/>
        </p:spPr>
      </p:sp>
      <p:sp>
        <p:nvSpPr>
          <p:cNvPr id="37" name="Text 34"/>
          <p:cNvSpPr/>
          <p:nvPr/>
        </p:nvSpPr>
        <p:spPr>
          <a:xfrm>
            <a:off x="6263640" y="4375404"/>
            <a:ext cx="2286000" cy="365760"/>
          </a:xfrm>
          <a:prstGeom prst="rect">
            <a:avLst/>
          </a:prstGeom>
          <a:noFill/>
          <a:ln/>
        </p:spPr>
        <p:txBody>
          <a:bodyPr wrap="square" lIns="0" tIns="0" rIns="0" bIns="0" rtlCol="0" anchor="ctr"/>
          <a:lstStyle/>
          <a:p>
            <a:pPr marL="0" indent="0">
              <a:buNone/>
            </a:pPr>
            <a:r>
              <a:rPr lang="en-US" sz="2000" i="1" dirty="0">
                <a:solidFill>
                  <a:srgbClr val="6B7280"/>
                </a:solidFill>
                <a:latin typeface="Calibri" pitchFamily="34" charset="0"/>
                <a:ea typeface="Calibri" pitchFamily="34" charset="-122"/>
                <a:cs typeface="Calibri" pitchFamily="34" charset="-120"/>
              </a:rPr>
              <a:t>7. söz</a:t>
            </a:r>
            <a:endParaRPr lang="en-US" sz="2000" dirty="0"/>
          </a:p>
        </p:txBody>
      </p:sp>
      <p:sp>
        <p:nvSpPr>
          <p:cNvPr id="38" name="Shape 35"/>
          <p:cNvSpPr/>
          <p:nvPr/>
        </p:nvSpPr>
        <p:spPr>
          <a:xfrm>
            <a:off x="6263640" y="4786884"/>
            <a:ext cx="2286000" cy="685800"/>
          </a:xfrm>
          <a:prstGeom prst="roundRect">
            <a:avLst>
              <a:gd name="adj" fmla="val 10667"/>
            </a:avLst>
          </a:prstGeom>
          <a:solidFill>
            <a:srgbClr val="1E3A5F"/>
          </a:solidFill>
          <a:ln/>
          <a:effectLst>
            <a:outerShdw blurRad="76200" dist="25400" dir="5400000" algn="bl" rotWithShape="0">
              <a:srgbClr val="1E2761">
                <a:alpha val="18000"/>
              </a:srgbClr>
            </a:outerShdw>
          </a:effectLst>
        </p:spPr>
      </p:sp>
      <p:sp>
        <p:nvSpPr>
          <p:cNvPr id="39" name="Text 36"/>
          <p:cNvSpPr/>
          <p:nvPr/>
        </p:nvSpPr>
        <p:spPr>
          <a:xfrm>
            <a:off x="6263640" y="4786884"/>
            <a:ext cx="2286000" cy="685800"/>
          </a:xfrm>
          <a:prstGeom prst="rect">
            <a:avLst/>
          </a:prstGeom>
          <a:noFill/>
          <a:ln/>
        </p:spPr>
        <p:txBody>
          <a:bodyPr wrap="square" lIns="0" tIns="0" rIns="0" bIns="0" rtlCol="0" anchor="ctr"/>
          <a:lstStyle/>
          <a:p>
            <a:pPr marL="0" indent="0" algn="ctr">
              <a:buNone/>
            </a:pPr>
            <a:r>
              <a:rPr lang="en-US" sz="2100" b="1" dirty="0">
                <a:solidFill>
                  <a:srgbClr val="FFFFFF"/>
                </a:solidFill>
                <a:latin typeface="Calibri" pitchFamily="34" charset="0"/>
                <a:ea typeface="Calibri" pitchFamily="34" charset="-122"/>
                <a:cs typeface="Calibri" pitchFamily="34" charset="-120"/>
              </a:rPr>
              <a:t>DOĞRU</a:t>
            </a:r>
            <a:endParaRPr lang="en-US" sz="2100" dirty="0"/>
          </a:p>
        </p:txBody>
      </p:sp>
      <p:sp>
        <p:nvSpPr>
          <p:cNvPr id="40" name="Text 37"/>
          <p:cNvSpPr/>
          <p:nvPr/>
        </p:nvSpPr>
        <p:spPr>
          <a:xfrm>
            <a:off x="6263640" y="5760676"/>
            <a:ext cx="2286000" cy="502920"/>
          </a:xfrm>
          <a:prstGeom prst="rect">
            <a:avLst/>
          </a:prstGeom>
          <a:noFill/>
          <a:ln/>
        </p:spPr>
        <p:txBody>
          <a:bodyPr wrap="square" lIns="0" tIns="0" rIns="0" bIns="0" rtlCol="0" anchor="ctr"/>
          <a:lstStyle/>
          <a:p>
            <a:pPr marL="0" indent="0" algn="ctr">
              <a:buNone/>
            </a:pPr>
            <a:r>
              <a:rPr lang="en-US" sz="1400" i="1" dirty="0">
                <a:solidFill>
                  <a:srgbClr val="6B7280"/>
                </a:solidFill>
                <a:latin typeface="Calibri" pitchFamily="34" charset="0"/>
                <a:ea typeface="Calibri" pitchFamily="34" charset="-122"/>
                <a:cs typeface="Calibri" pitchFamily="34" charset="-120"/>
              </a:rPr>
              <a:t>"gözden kaçırmak" = fark etmemek, açıklama uyuyor</a:t>
            </a:r>
            <a:endParaRPr lang="en-US" sz="1400" dirty="0"/>
          </a:p>
        </p:txBody>
      </p:sp>
      <p:sp>
        <p:nvSpPr>
          <p:cNvPr id="41" name="Shape 38"/>
          <p:cNvSpPr/>
          <p:nvPr/>
        </p:nvSpPr>
        <p:spPr>
          <a:xfrm>
            <a:off x="8869680" y="4238244"/>
            <a:ext cx="2560320" cy="2180844"/>
          </a:xfrm>
          <a:prstGeom prst="roundRect">
            <a:avLst>
              <a:gd name="adj" fmla="val 4762"/>
            </a:avLst>
          </a:prstGeom>
          <a:solidFill>
            <a:srgbClr val="EEF3F8"/>
          </a:solidFill>
          <a:ln/>
        </p:spPr>
      </p:sp>
      <p:sp>
        <p:nvSpPr>
          <p:cNvPr id="42" name="Text 39"/>
          <p:cNvSpPr/>
          <p:nvPr/>
        </p:nvSpPr>
        <p:spPr>
          <a:xfrm>
            <a:off x="9006840" y="4375404"/>
            <a:ext cx="2286000" cy="365760"/>
          </a:xfrm>
          <a:prstGeom prst="rect">
            <a:avLst/>
          </a:prstGeom>
          <a:noFill/>
          <a:ln/>
        </p:spPr>
        <p:txBody>
          <a:bodyPr wrap="square" lIns="0" tIns="0" rIns="0" bIns="0" rtlCol="0" anchor="ctr"/>
          <a:lstStyle/>
          <a:p>
            <a:pPr marL="0" indent="0">
              <a:buNone/>
            </a:pPr>
            <a:r>
              <a:rPr lang="en-US" sz="2000" i="1" dirty="0">
                <a:solidFill>
                  <a:srgbClr val="6B7280"/>
                </a:solidFill>
                <a:latin typeface="Calibri" pitchFamily="34" charset="0"/>
                <a:ea typeface="Calibri" pitchFamily="34" charset="-122"/>
                <a:cs typeface="Calibri" pitchFamily="34" charset="-120"/>
              </a:rPr>
              <a:t>8. söz</a:t>
            </a:r>
            <a:endParaRPr lang="en-US" sz="2000" dirty="0"/>
          </a:p>
        </p:txBody>
      </p:sp>
      <p:sp>
        <p:nvSpPr>
          <p:cNvPr id="43" name="Shape 40"/>
          <p:cNvSpPr/>
          <p:nvPr/>
        </p:nvSpPr>
        <p:spPr>
          <a:xfrm>
            <a:off x="9006840" y="4786884"/>
            <a:ext cx="2286000" cy="685800"/>
          </a:xfrm>
          <a:prstGeom prst="roundRect">
            <a:avLst>
              <a:gd name="adj" fmla="val 10667"/>
            </a:avLst>
          </a:prstGeom>
          <a:solidFill>
            <a:srgbClr val="1E3A5F"/>
          </a:solidFill>
          <a:ln/>
          <a:effectLst>
            <a:outerShdw blurRad="76200" dist="25400" dir="5400000" algn="bl" rotWithShape="0">
              <a:srgbClr val="1E2761">
                <a:alpha val="18000"/>
              </a:srgbClr>
            </a:outerShdw>
          </a:effectLst>
        </p:spPr>
      </p:sp>
      <p:sp>
        <p:nvSpPr>
          <p:cNvPr id="44" name="Text 41"/>
          <p:cNvSpPr/>
          <p:nvPr/>
        </p:nvSpPr>
        <p:spPr>
          <a:xfrm>
            <a:off x="9006840" y="4786884"/>
            <a:ext cx="2286000" cy="685800"/>
          </a:xfrm>
          <a:prstGeom prst="rect">
            <a:avLst/>
          </a:prstGeom>
          <a:noFill/>
          <a:ln/>
        </p:spPr>
        <p:txBody>
          <a:bodyPr wrap="square" lIns="0" tIns="0" rIns="0" bIns="0" rtlCol="0" anchor="ctr"/>
          <a:lstStyle/>
          <a:p>
            <a:pPr marL="0" indent="0" algn="ctr">
              <a:buNone/>
            </a:pPr>
            <a:r>
              <a:rPr lang="en-US" sz="2100" b="1" dirty="0">
                <a:solidFill>
                  <a:srgbClr val="FFFFFF"/>
                </a:solidFill>
                <a:latin typeface="Calibri" pitchFamily="34" charset="0"/>
                <a:ea typeface="Calibri" pitchFamily="34" charset="-122"/>
                <a:cs typeface="Calibri" pitchFamily="34" charset="-120"/>
              </a:rPr>
              <a:t>DOĞRU</a:t>
            </a:r>
            <a:endParaRPr lang="en-US" sz="2100" dirty="0"/>
          </a:p>
        </p:txBody>
      </p:sp>
      <p:sp>
        <p:nvSpPr>
          <p:cNvPr id="45" name="Text 42"/>
          <p:cNvSpPr/>
          <p:nvPr/>
        </p:nvSpPr>
        <p:spPr>
          <a:xfrm>
            <a:off x="9006840" y="5760676"/>
            <a:ext cx="2286000" cy="502920"/>
          </a:xfrm>
          <a:prstGeom prst="rect">
            <a:avLst/>
          </a:prstGeom>
          <a:noFill/>
          <a:ln/>
        </p:spPr>
        <p:txBody>
          <a:bodyPr wrap="square" lIns="0" tIns="0" rIns="0" bIns="0" rtlCol="0" anchor="ctr"/>
          <a:lstStyle/>
          <a:p>
            <a:pPr marL="0" indent="0" algn="ctr">
              <a:buNone/>
            </a:pPr>
            <a:r>
              <a:rPr lang="en-US" sz="1400" i="1" dirty="0">
                <a:solidFill>
                  <a:srgbClr val="6B7280"/>
                </a:solidFill>
                <a:latin typeface="Calibri" pitchFamily="34" charset="0"/>
                <a:ea typeface="Calibri" pitchFamily="34" charset="-122"/>
                <a:cs typeface="Calibri" pitchFamily="34" charset="-120"/>
              </a:rPr>
              <a:t>"dişini sıkmak" = sabretmek, açıklama uyuyor</a:t>
            </a:r>
            <a:endParaRPr lang="en-US" sz="1400" dirty="0"/>
          </a:p>
        </p:txBody>
      </p:sp>
      <p:sp>
        <p:nvSpPr>
          <p:cNvPr id="46" name="Text 4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TYT TÜRKÇE  ·  SÖZCÜKTE ANLAM  ·  Etkinlik Cevapları</a:t>
            </a:r>
            <a:endParaRPr lang="en-US" sz="900" dirty="0"/>
          </a:p>
        </p:txBody>
      </p:sp>
      <p:sp>
        <p:nvSpPr>
          <p:cNvPr id="47" name="Text 44"/>
          <p:cNvSpPr/>
          <p:nvPr/>
        </p:nvSpPr>
        <p:spPr>
          <a:xfrm>
            <a:off x="9902952" y="6537960"/>
            <a:ext cx="18288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Ders 2 / 3</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48640"/>
            <a:ext cx="640080" cy="640080"/>
          </a:xfrm>
          <a:prstGeom prst="ellipse">
            <a:avLst/>
          </a:prstGeom>
          <a:solidFill>
            <a:srgbClr val="1E3A5F"/>
          </a:solidFill>
          <a:ln/>
        </p:spPr>
      </p:sp>
      <p:pic>
        <p:nvPicPr>
          <p:cNvPr id="3" name="Image 0" descr="icons/kontrol_white.png"/>
          <p:cNvPicPr>
            <a:picLocks noChangeAspect="1"/>
          </p:cNvPicPr>
          <p:nvPr/>
        </p:nvPicPr>
        <p:blipFill>
          <a:blip r:embed="rId3"/>
          <a:stretch>
            <a:fillRect/>
          </a:stretch>
        </p:blipFill>
        <p:spPr>
          <a:xfrm>
            <a:off x="784098" y="692658"/>
            <a:ext cx="352044" cy="352044"/>
          </a:xfrm>
          <a:prstGeom prst="rect">
            <a:avLst/>
          </a:prstGeom>
        </p:spPr>
      </p:pic>
      <p:sp>
        <p:nvSpPr>
          <p:cNvPr id="4" name="Text 1"/>
          <p:cNvSpPr/>
          <p:nvPr/>
        </p:nvSpPr>
        <p:spPr>
          <a:xfrm>
            <a:off x="1508760" y="566928"/>
            <a:ext cx="7315200" cy="320040"/>
          </a:xfrm>
          <a:prstGeom prst="rect">
            <a:avLst/>
          </a:prstGeom>
          <a:noFill/>
          <a:ln/>
        </p:spPr>
        <p:txBody>
          <a:bodyPr wrap="square" lIns="0" tIns="0" rIns="0" bIns="0"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HIZLI HATIRLATMA</a:t>
            </a:r>
            <a:endParaRPr lang="en-US" sz="1300" dirty="0"/>
          </a:p>
        </p:txBody>
      </p:sp>
      <p:sp>
        <p:nvSpPr>
          <p:cNvPr id="5" name="Text 2"/>
          <p:cNvSpPr/>
          <p:nvPr/>
        </p:nvSpPr>
        <p:spPr>
          <a:xfrm>
            <a:off x="1463040" y="841248"/>
            <a:ext cx="8229600" cy="640080"/>
          </a:xfrm>
          <a:prstGeom prst="rect">
            <a:avLst/>
          </a:prstGeom>
          <a:noFill/>
          <a:ln/>
        </p:spPr>
        <p:txBody>
          <a:bodyPr wrap="square" lIns="0" tIns="0" rIns="0" bIns="0" rtlCol="0" anchor="ctr"/>
          <a:lstStyle/>
          <a:p>
            <a:pPr marL="0" indent="0">
              <a:buNone/>
            </a:pPr>
            <a:r>
              <a:rPr lang="en-US" sz="2800" b="1" dirty="0">
                <a:solidFill>
                  <a:srgbClr val="1E3A5F"/>
                </a:solidFill>
                <a:latin typeface="Cambria" pitchFamily="34" charset="0"/>
                <a:ea typeface="Cambria" pitchFamily="34" charset="-122"/>
                <a:cs typeface="Cambria" pitchFamily="34" charset="-120"/>
              </a:rPr>
              <a:t>Kaldığımız Yer</a:t>
            </a:r>
            <a:endParaRPr lang="en-US" sz="2800" dirty="0"/>
          </a:p>
        </p:txBody>
      </p:sp>
      <p:sp>
        <p:nvSpPr>
          <p:cNvPr id="6" name="Shape 3"/>
          <p:cNvSpPr/>
          <p:nvPr/>
        </p:nvSpPr>
        <p:spPr>
          <a:xfrm>
            <a:off x="822960" y="1965960"/>
            <a:ext cx="3337560" cy="2794762"/>
          </a:xfrm>
          <a:prstGeom prst="roundRect">
            <a:avLst>
              <a:gd name="adj" fmla="val 4800"/>
            </a:avLst>
          </a:prstGeom>
          <a:solidFill>
            <a:srgbClr val="EEF3F8"/>
          </a:solidFill>
          <a:ln/>
        </p:spPr>
      </p:sp>
      <p:sp>
        <p:nvSpPr>
          <p:cNvPr id="7" name="Text 4"/>
          <p:cNvSpPr/>
          <p:nvPr/>
        </p:nvSpPr>
        <p:spPr>
          <a:xfrm>
            <a:off x="1051560" y="2194560"/>
            <a:ext cx="2880360" cy="378714"/>
          </a:xfrm>
          <a:prstGeom prst="rect">
            <a:avLst/>
          </a:prstGeom>
          <a:noFill/>
          <a:ln/>
        </p:spPr>
        <p:txBody>
          <a:bodyPr wrap="square" lIns="0" tIns="0" rIns="0" bIns="0" rtlCol="0" anchor="ctr"/>
          <a:lstStyle/>
          <a:p>
            <a:pPr marL="0" indent="0">
              <a:buNone/>
            </a:pPr>
            <a:r>
              <a:rPr lang="en-US" sz="2100" b="1" dirty="0">
                <a:solidFill>
                  <a:srgbClr val="1E3A5F"/>
                </a:solidFill>
                <a:latin typeface="Cambria" pitchFamily="34" charset="0"/>
                <a:ea typeface="Cambria" pitchFamily="34" charset="-122"/>
                <a:cs typeface="Cambria" pitchFamily="34" charset="-120"/>
              </a:rPr>
              <a:t>Tip 1</a:t>
            </a:r>
            <a:endParaRPr lang="en-US" sz="2100" dirty="0"/>
          </a:p>
        </p:txBody>
      </p:sp>
      <p:sp>
        <p:nvSpPr>
          <p:cNvPr id="8" name="Text 5"/>
          <p:cNvSpPr/>
          <p:nvPr/>
        </p:nvSpPr>
        <p:spPr>
          <a:xfrm>
            <a:off x="1051560" y="2618994"/>
            <a:ext cx="2880360" cy="2004568"/>
          </a:xfrm>
          <a:prstGeom prst="rect">
            <a:avLst/>
          </a:prstGeom>
          <a:noFill/>
          <a:ln/>
        </p:spPr>
        <p:txBody>
          <a:bodyPr wrap="square" lIns="0" tIns="0" rIns="0" bIns="0" rtlCol="0" anchor="ctr"/>
          <a:lstStyle/>
          <a:p>
            <a:pPr marL="0" indent="0">
              <a:buNone/>
            </a:pPr>
            <a:r>
              <a:rPr lang="en-US" sz="2000" dirty="0">
                <a:solidFill>
                  <a:srgbClr val="1E2761"/>
                </a:solidFill>
                <a:latin typeface="Calibri" pitchFamily="34" charset="0"/>
                <a:ea typeface="Calibri" pitchFamily="34" charset="-122"/>
                <a:cs typeface="Calibri" pitchFamily="34" charset="-120"/>
              </a:rPr>
              <a:t>Bağlama uygun sözcük/ifade</a:t>
            </a:r>
            <a:endParaRPr lang="en-US" sz="2000" dirty="0"/>
          </a:p>
          <a:p>
            <a:pPr marL="0" indent="0">
              <a:buNone/>
            </a:pPr>
            <a:r>
              <a:rPr lang="en-US" sz="2000" dirty="0">
                <a:solidFill>
                  <a:srgbClr val="1E2761"/>
                </a:solidFill>
                <a:latin typeface="Calibri" pitchFamily="34" charset="0"/>
                <a:ea typeface="Calibri" pitchFamily="34" charset="-122"/>
                <a:cs typeface="Calibri" pitchFamily="34" charset="-120"/>
              </a:rPr>
              <a:t>seçme — boşluklar bir</a:t>
            </a:r>
            <a:endParaRPr lang="en-US" sz="2000" dirty="0"/>
          </a:p>
          <a:p>
            <a:pPr marL="0" indent="0">
              <a:buNone/>
            </a:pPr>
            <a:r>
              <a:rPr lang="en-US" sz="2000" dirty="0">
                <a:solidFill>
                  <a:srgbClr val="1E2761"/>
                </a:solidFill>
                <a:latin typeface="Calibri" pitchFamily="34" charset="0"/>
                <a:ea typeface="Calibri" pitchFamily="34" charset="-122"/>
                <a:cs typeface="Calibri" pitchFamily="34" charset="-120"/>
              </a:rPr>
              <a:t>ÇİFT olarak tutarlı olmalı.</a:t>
            </a:r>
            <a:endParaRPr lang="en-US" sz="2000" dirty="0"/>
          </a:p>
        </p:txBody>
      </p:sp>
      <p:sp>
        <p:nvSpPr>
          <p:cNvPr id="9" name="Shape 6"/>
          <p:cNvSpPr/>
          <p:nvPr/>
        </p:nvSpPr>
        <p:spPr>
          <a:xfrm>
            <a:off x="4526280" y="1965960"/>
            <a:ext cx="3337560" cy="2434082"/>
          </a:xfrm>
          <a:prstGeom prst="roundRect">
            <a:avLst>
              <a:gd name="adj" fmla="val 4800"/>
            </a:avLst>
          </a:prstGeom>
          <a:solidFill>
            <a:srgbClr val="EEF3F8"/>
          </a:solidFill>
          <a:ln/>
        </p:spPr>
      </p:sp>
      <p:sp>
        <p:nvSpPr>
          <p:cNvPr id="10" name="Text 7"/>
          <p:cNvSpPr/>
          <p:nvPr/>
        </p:nvSpPr>
        <p:spPr>
          <a:xfrm>
            <a:off x="4754880" y="2194560"/>
            <a:ext cx="2880360" cy="378714"/>
          </a:xfrm>
          <a:prstGeom prst="rect">
            <a:avLst/>
          </a:prstGeom>
          <a:noFill/>
          <a:ln/>
        </p:spPr>
        <p:txBody>
          <a:bodyPr wrap="square" lIns="0" tIns="0" rIns="0" bIns="0" rtlCol="0" anchor="ctr"/>
          <a:lstStyle/>
          <a:p>
            <a:pPr marL="0" indent="0">
              <a:buNone/>
            </a:pPr>
            <a:r>
              <a:rPr lang="en-US" sz="2100" b="1" dirty="0">
                <a:solidFill>
                  <a:srgbClr val="1E3A5F"/>
                </a:solidFill>
                <a:latin typeface="Cambria" pitchFamily="34" charset="0"/>
                <a:ea typeface="Cambria" pitchFamily="34" charset="-122"/>
                <a:cs typeface="Cambria" pitchFamily="34" charset="-120"/>
              </a:rPr>
              <a:t>Tip 2</a:t>
            </a:r>
            <a:endParaRPr lang="en-US" sz="2100" dirty="0"/>
          </a:p>
        </p:txBody>
      </p:sp>
      <p:sp>
        <p:nvSpPr>
          <p:cNvPr id="11" name="Text 8"/>
          <p:cNvSpPr/>
          <p:nvPr/>
        </p:nvSpPr>
        <p:spPr>
          <a:xfrm>
            <a:off x="4754880" y="2618994"/>
            <a:ext cx="2880360" cy="1643888"/>
          </a:xfrm>
          <a:prstGeom prst="rect">
            <a:avLst/>
          </a:prstGeom>
          <a:noFill/>
          <a:ln/>
        </p:spPr>
        <p:txBody>
          <a:bodyPr wrap="square" lIns="0" tIns="0" rIns="0" bIns="0" rtlCol="0" anchor="ctr"/>
          <a:lstStyle/>
          <a:p>
            <a:pPr marL="0" indent="0">
              <a:buNone/>
            </a:pPr>
            <a:r>
              <a:rPr lang="en-US" sz="2000" dirty="0">
                <a:solidFill>
                  <a:srgbClr val="1E2761"/>
                </a:solidFill>
                <a:latin typeface="Calibri" pitchFamily="34" charset="0"/>
                <a:ea typeface="Calibri" pitchFamily="34" charset="-122"/>
                <a:cs typeface="Calibri" pitchFamily="34" charset="-120"/>
              </a:rPr>
              <a:t>Numaralanmış sözlerin</a:t>
            </a:r>
            <a:endParaRPr lang="en-US" sz="2000" dirty="0"/>
          </a:p>
          <a:p>
            <a:pPr marL="0" indent="0">
              <a:buNone/>
            </a:pPr>
            <a:r>
              <a:rPr lang="en-US" sz="2000" dirty="0">
                <a:solidFill>
                  <a:srgbClr val="1E2761"/>
                </a:solidFill>
                <a:latin typeface="Calibri" pitchFamily="34" charset="0"/>
                <a:ea typeface="Calibri" pitchFamily="34" charset="-122"/>
                <a:cs typeface="Calibri" pitchFamily="34" charset="-120"/>
              </a:rPr>
              <a:t>anlamını doğrulama —</a:t>
            </a:r>
            <a:endParaRPr lang="en-US" sz="2000" dirty="0"/>
          </a:p>
          <a:p>
            <a:pPr marL="0" indent="0">
              <a:buNone/>
            </a:pPr>
            <a:r>
              <a:rPr lang="en-US" sz="2000" dirty="0">
                <a:solidFill>
                  <a:srgbClr val="1E2761"/>
                </a:solidFill>
                <a:latin typeface="Calibri" pitchFamily="34" charset="0"/>
                <a:ea typeface="Calibri" pitchFamily="34" charset="-122"/>
                <a:cs typeface="Calibri" pitchFamily="34" charset="-120"/>
              </a:rPr>
              <a:t>yalnızca 1 tanesi uyuşmaz.</a:t>
            </a:r>
            <a:endParaRPr lang="en-US" sz="2000" dirty="0"/>
          </a:p>
        </p:txBody>
      </p:sp>
      <p:sp>
        <p:nvSpPr>
          <p:cNvPr id="12" name="Shape 9"/>
          <p:cNvSpPr/>
          <p:nvPr/>
        </p:nvSpPr>
        <p:spPr>
          <a:xfrm>
            <a:off x="8229600" y="1965960"/>
            <a:ext cx="3337560" cy="2434082"/>
          </a:xfrm>
          <a:prstGeom prst="roundRect">
            <a:avLst>
              <a:gd name="adj" fmla="val 4800"/>
            </a:avLst>
          </a:prstGeom>
          <a:solidFill>
            <a:srgbClr val="EEF3F8"/>
          </a:solidFill>
          <a:ln/>
        </p:spPr>
      </p:sp>
      <p:sp>
        <p:nvSpPr>
          <p:cNvPr id="13" name="Text 10"/>
          <p:cNvSpPr/>
          <p:nvPr/>
        </p:nvSpPr>
        <p:spPr>
          <a:xfrm>
            <a:off x="8458200" y="2194560"/>
            <a:ext cx="2880360" cy="378714"/>
          </a:xfrm>
          <a:prstGeom prst="rect">
            <a:avLst/>
          </a:prstGeom>
          <a:noFill/>
          <a:ln/>
        </p:spPr>
        <p:txBody>
          <a:bodyPr wrap="square" lIns="0" tIns="0" rIns="0" bIns="0" rtlCol="0" anchor="ctr"/>
          <a:lstStyle/>
          <a:p>
            <a:pPr marL="0" indent="0">
              <a:buNone/>
            </a:pPr>
            <a:r>
              <a:rPr lang="en-US" sz="2100" b="1" dirty="0">
                <a:solidFill>
                  <a:srgbClr val="1E3A5F"/>
                </a:solidFill>
                <a:latin typeface="Cambria" pitchFamily="34" charset="0"/>
                <a:ea typeface="Cambria" pitchFamily="34" charset="-122"/>
                <a:cs typeface="Cambria" pitchFamily="34" charset="-120"/>
              </a:rPr>
              <a:t>Ortak İlke</a:t>
            </a:r>
            <a:endParaRPr lang="en-US" sz="2100" dirty="0"/>
          </a:p>
        </p:txBody>
      </p:sp>
      <p:sp>
        <p:nvSpPr>
          <p:cNvPr id="14" name="Text 11"/>
          <p:cNvSpPr/>
          <p:nvPr/>
        </p:nvSpPr>
        <p:spPr>
          <a:xfrm>
            <a:off x="8458200" y="2618994"/>
            <a:ext cx="2880360" cy="1643888"/>
          </a:xfrm>
          <a:prstGeom prst="rect">
            <a:avLst/>
          </a:prstGeom>
          <a:noFill/>
          <a:ln/>
        </p:spPr>
        <p:txBody>
          <a:bodyPr wrap="square" lIns="0" tIns="0" rIns="0" bIns="0" rtlCol="0" anchor="ctr"/>
          <a:lstStyle/>
          <a:p>
            <a:pPr marL="0" indent="0">
              <a:buNone/>
            </a:pPr>
            <a:r>
              <a:rPr lang="en-US" sz="2000" dirty="0">
                <a:solidFill>
                  <a:srgbClr val="1E2761"/>
                </a:solidFill>
                <a:latin typeface="Calibri" pitchFamily="34" charset="0"/>
                <a:ea typeface="Calibri" pitchFamily="34" charset="-122"/>
                <a:cs typeface="Calibri" pitchFamily="34" charset="-120"/>
              </a:rPr>
              <a:t>Her ikisinde de sözün</a:t>
            </a:r>
            <a:endParaRPr lang="en-US" sz="2000" dirty="0"/>
          </a:p>
          <a:p>
            <a:pPr marL="0" indent="0">
              <a:buNone/>
            </a:pPr>
            <a:r>
              <a:rPr lang="en-US" sz="2000" dirty="0">
                <a:solidFill>
                  <a:srgbClr val="1E2761"/>
                </a:solidFill>
                <a:latin typeface="Calibri" pitchFamily="34" charset="0"/>
                <a:ea typeface="Calibri" pitchFamily="34" charset="-122"/>
                <a:cs typeface="Calibri" pitchFamily="34" charset="-120"/>
              </a:rPr>
              <a:t>CÜMLEDEKİ bağlamsal</a:t>
            </a:r>
            <a:endParaRPr lang="en-US" sz="2000" dirty="0"/>
          </a:p>
          <a:p>
            <a:pPr marL="0" indent="0">
              <a:buNone/>
            </a:pPr>
            <a:r>
              <a:rPr lang="en-US" sz="2000" dirty="0">
                <a:solidFill>
                  <a:srgbClr val="1E2761"/>
                </a:solidFill>
                <a:latin typeface="Calibri" pitchFamily="34" charset="0"/>
                <a:ea typeface="Calibri" pitchFamily="34" charset="-122"/>
                <a:cs typeface="Calibri" pitchFamily="34" charset="-120"/>
              </a:rPr>
              <a:t>kullanımı belirleyicidir.</a:t>
            </a:r>
            <a:endParaRPr lang="en-US" sz="2000" dirty="0"/>
          </a:p>
        </p:txBody>
      </p:sp>
      <p:sp>
        <p:nvSpPr>
          <p:cNvPr id="15" name="Text 12"/>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TYT TÜRKÇE  ·  SÖZCÜKTE ANLAM  ·  Hızlı Hatırlatma</a:t>
            </a:r>
            <a:endParaRPr lang="en-US" sz="900" dirty="0"/>
          </a:p>
        </p:txBody>
      </p:sp>
      <p:sp>
        <p:nvSpPr>
          <p:cNvPr id="16" name="Text 13"/>
          <p:cNvSpPr/>
          <p:nvPr/>
        </p:nvSpPr>
        <p:spPr>
          <a:xfrm>
            <a:off x="9902952" y="6537960"/>
            <a:ext cx="18288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Ders 2 / 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48640"/>
            <a:ext cx="640080" cy="640080"/>
          </a:xfrm>
          <a:prstGeom prst="ellipse">
            <a:avLst/>
          </a:prstGeom>
          <a:solidFill>
            <a:srgbClr val="1E3A5F"/>
          </a:solidFill>
          <a:ln/>
        </p:spPr>
      </p:sp>
      <p:pic>
        <p:nvPicPr>
          <p:cNvPr id="3" name="Image 0" descr="icons/derinlik_white.png"/>
          <p:cNvPicPr>
            <a:picLocks noChangeAspect="1"/>
          </p:cNvPicPr>
          <p:nvPr/>
        </p:nvPicPr>
        <p:blipFill>
          <a:blip r:embed="rId3"/>
          <a:stretch>
            <a:fillRect/>
          </a:stretch>
        </p:blipFill>
        <p:spPr>
          <a:xfrm>
            <a:off x="784098" y="692658"/>
            <a:ext cx="352044" cy="352044"/>
          </a:xfrm>
          <a:prstGeom prst="rect">
            <a:avLst/>
          </a:prstGeom>
        </p:spPr>
      </p:pic>
      <p:sp>
        <p:nvSpPr>
          <p:cNvPr id="4" name="Text 1"/>
          <p:cNvSpPr/>
          <p:nvPr/>
        </p:nvSpPr>
        <p:spPr>
          <a:xfrm>
            <a:off x="1508760" y="566928"/>
            <a:ext cx="7315200" cy="320040"/>
          </a:xfrm>
          <a:prstGeom prst="rect">
            <a:avLst/>
          </a:prstGeom>
          <a:noFill/>
          <a:ln/>
        </p:spPr>
        <p:txBody>
          <a:bodyPr wrap="square" lIns="0" tIns="0" rIns="0" bIns="0"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DERINLEŞME</a:t>
            </a:r>
            <a:endParaRPr lang="en-US" sz="1300" dirty="0"/>
          </a:p>
        </p:txBody>
      </p:sp>
      <p:sp>
        <p:nvSpPr>
          <p:cNvPr id="5" name="Text 2"/>
          <p:cNvSpPr/>
          <p:nvPr/>
        </p:nvSpPr>
        <p:spPr>
          <a:xfrm>
            <a:off x="1463040" y="841248"/>
            <a:ext cx="8229600" cy="640080"/>
          </a:xfrm>
          <a:prstGeom prst="rect">
            <a:avLst/>
          </a:prstGeom>
          <a:noFill/>
          <a:ln/>
        </p:spPr>
        <p:txBody>
          <a:bodyPr wrap="square" lIns="0" tIns="0" rIns="0" bIns="0" rtlCol="0" anchor="ctr"/>
          <a:lstStyle/>
          <a:p>
            <a:pPr marL="0" indent="0">
              <a:buNone/>
            </a:pPr>
            <a:r>
              <a:rPr lang="en-US" sz="2800" b="1" dirty="0">
                <a:solidFill>
                  <a:srgbClr val="1E3A5F"/>
                </a:solidFill>
                <a:latin typeface="Cambria" pitchFamily="34" charset="0"/>
                <a:ea typeface="Cambria" pitchFamily="34" charset="-122"/>
                <a:cs typeface="Cambria" pitchFamily="34" charset="-120"/>
              </a:rPr>
              <a:t>Numaralanmış Sorularda Hızlı Eleme Stratejisi</a:t>
            </a:r>
            <a:endParaRPr lang="en-US" sz="2800" dirty="0"/>
          </a:p>
        </p:txBody>
      </p:sp>
      <p:sp>
        <p:nvSpPr>
          <p:cNvPr id="6" name="Shape 3"/>
          <p:cNvSpPr/>
          <p:nvPr/>
        </p:nvSpPr>
        <p:spPr>
          <a:xfrm>
            <a:off x="640080" y="1737360"/>
            <a:ext cx="10881360" cy="960120"/>
          </a:xfrm>
          <a:prstGeom prst="roundRect">
            <a:avLst>
              <a:gd name="adj" fmla="val 9524"/>
            </a:avLst>
          </a:prstGeom>
          <a:solidFill>
            <a:srgbClr val="EEF3F8"/>
          </a:solidFill>
          <a:ln/>
        </p:spPr>
      </p:sp>
      <p:sp>
        <p:nvSpPr>
          <p:cNvPr id="7" name="Text 4"/>
          <p:cNvSpPr/>
          <p:nvPr/>
        </p:nvSpPr>
        <p:spPr>
          <a:xfrm>
            <a:off x="914400" y="1737360"/>
            <a:ext cx="10332720" cy="960120"/>
          </a:xfrm>
          <a:prstGeom prst="rect">
            <a:avLst/>
          </a:prstGeom>
          <a:noFill/>
          <a:ln/>
        </p:spPr>
        <p:txBody>
          <a:bodyPr wrap="square" lIns="0" tIns="0" rIns="0" bIns="0" rtlCol="0" anchor="ctr"/>
          <a:lstStyle/>
          <a:p>
            <a:pPr marL="0" indent="0">
              <a:buNone/>
            </a:pPr>
            <a:r>
              <a:rPr lang="en-US" sz="1850" b="1" dirty="0">
                <a:solidFill>
                  <a:srgbClr val="1E3A5F"/>
                </a:solidFill>
                <a:latin typeface="Calibri" pitchFamily="34" charset="0"/>
                <a:ea typeface="Calibri" pitchFamily="34" charset="-122"/>
                <a:cs typeface="Calibri" pitchFamily="34" charset="-120"/>
              </a:rPr>
              <a:t>Gözlem:  </a:t>
            </a:r>
            <a:r>
              <a:rPr lang="en-US" sz="1850" dirty="0">
                <a:solidFill>
                  <a:srgbClr val="1E2761"/>
                </a:solidFill>
                <a:latin typeface="Calibri" pitchFamily="34" charset="0"/>
                <a:ea typeface="Calibri" pitchFamily="34" charset="-122"/>
                <a:cs typeface="Calibri" pitchFamily="34" charset="-120"/>
              </a:rPr>
              <a:t>ÖSYM bu soru tipini her zaman aynı mantıkla kurar: I-V arasındaki 5 sözden YALNIZCA 1 tanesi parantez içindeki açıklamayla uyuşmaz, diğer 4'ü KESİN olarak doğrudur.</a:t>
            </a:r>
            <a:endParaRPr lang="en-US" sz="1850" dirty="0"/>
          </a:p>
        </p:txBody>
      </p:sp>
      <p:sp>
        <p:nvSpPr>
          <p:cNvPr id="8" name="Shape 5"/>
          <p:cNvSpPr/>
          <p:nvPr/>
        </p:nvSpPr>
        <p:spPr>
          <a:xfrm>
            <a:off x="640080" y="2880360"/>
            <a:ext cx="10881360" cy="777240"/>
          </a:xfrm>
          <a:prstGeom prst="roundRect">
            <a:avLst>
              <a:gd name="adj" fmla="val 11765"/>
            </a:avLst>
          </a:prstGeom>
          <a:solidFill>
            <a:srgbClr val="EEF3F8"/>
          </a:solidFill>
          <a:ln/>
        </p:spPr>
      </p:sp>
      <p:sp>
        <p:nvSpPr>
          <p:cNvPr id="9" name="Shape 6"/>
          <p:cNvSpPr/>
          <p:nvPr/>
        </p:nvSpPr>
        <p:spPr>
          <a:xfrm>
            <a:off x="868680" y="3017520"/>
            <a:ext cx="502920" cy="502920"/>
          </a:xfrm>
          <a:prstGeom prst="ellipse">
            <a:avLst/>
          </a:prstGeom>
          <a:solidFill>
            <a:srgbClr val="1E3A5F"/>
          </a:solidFill>
          <a:ln/>
        </p:spPr>
      </p:sp>
      <p:sp>
        <p:nvSpPr>
          <p:cNvPr id="10" name="Text 7"/>
          <p:cNvSpPr/>
          <p:nvPr/>
        </p:nvSpPr>
        <p:spPr>
          <a:xfrm>
            <a:off x="868680" y="301752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11" name="Text 8"/>
          <p:cNvSpPr/>
          <p:nvPr/>
        </p:nvSpPr>
        <p:spPr>
          <a:xfrm>
            <a:off x="1600200" y="2971800"/>
            <a:ext cx="6035040" cy="365760"/>
          </a:xfrm>
          <a:prstGeom prst="rect">
            <a:avLst/>
          </a:prstGeom>
          <a:noFill/>
          <a:ln/>
        </p:spPr>
        <p:txBody>
          <a:bodyPr wrap="square" lIns="0" tIns="0" rIns="0" bIns="0" rtlCol="0" anchor="ctr"/>
          <a:lstStyle/>
          <a:p>
            <a:pPr marL="0" indent="0">
              <a:buNone/>
            </a:pPr>
            <a:r>
              <a:rPr lang="en-US" sz="2050" b="1" dirty="0">
                <a:solidFill>
                  <a:srgbClr val="1E3A5F"/>
                </a:solidFill>
                <a:latin typeface="Calibri" pitchFamily="34" charset="0"/>
                <a:ea typeface="Calibri" pitchFamily="34" charset="-122"/>
                <a:cs typeface="Calibri" pitchFamily="34" charset="-120"/>
              </a:rPr>
              <a:t>Sırayla okuyun, doğruları geçin</a:t>
            </a:r>
            <a:endParaRPr lang="en-US" sz="2050" dirty="0"/>
          </a:p>
        </p:txBody>
      </p:sp>
      <p:sp>
        <p:nvSpPr>
          <p:cNvPr id="12" name="Text 9"/>
          <p:cNvSpPr/>
          <p:nvPr/>
        </p:nvSpPr>
        <p:spPr>
          <a:xfrm>
            <a:off x="1600200" y="3337560"/>
            <a:ext cx="6035040" cy="274320"/>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I'den başlayarak her sözü okuyun; açıklamayla açıkça uyuşuyorsa (kesin doğruysa) bir sonrakine geçin, zaman kaybetmeyin.</a:t>
            </a:r>
            <a:endParaRPr lang="en-US" sz="1200" dirty="0"/>
          </a:p>
        </p:txBody>
      </p:sp>
      <p:sp>
        <p:nvSpPr>
          <p:cNvPr id="13" name="Shape 10"/>
          <p:cNvSpPr/>
          <p:nvPr/>
        </p:nvSpPr>
        <p:spPr>
          <a:xfrm>
            <a:off x="640080" y="3776472"/>
            <a:ext cx="10881360" cy="777240"/>
          </a:xfrm>
          <a:prstGeom prst="roundRect">
            <a:avLst>
              <a:gd name="adj" fmla="val 11765"/>
            </a:avLst>
          </a:prstGeom>
          <a:solidFill>
            <a:srgbClr val="EEF3F8"/>
          </a:solidFill>
          <a:ln/>
        </p:spPr>
      </p:sp>
      <p:sp>
        <p:nvSpPr>
          <p:cNvPr id="14" name="Shape 11"/>
          <p:cNvSpPr/>
          <p:nvPr/>
        </p:nvSpPr>
        <p:spPr>
          <a:xfrm>
            <a:off x="868680" y="3913632"/>
            <a:ext cx="502920" cy="502920"/>
          </a:xfrm>
          <a:prstGeom prst="ellipse">
            <a:avLst/>
          </a:prstGeom>
          <a:solidFill>
            <a:srgbClr val="1E3A5F"/>
          </a:solidFill>
          <a:ln/>
        </p:spPr>
      </p:sp>
      <p:sp>
        <p:nvSpPr>
          <p:cNvPr id="15" name="Text 12"/>
          <p:cNvSpPr/>
          <p:nvPr/>
        </p:nvSpPr>
        <p:spPr>
          <a:xfrm>
            <a:off x="868680" y="3913632"/>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6" name="Text 13"/>
          <p:cNvSpPr/>
          <p:nvPr/>
        </p:nvSpPr>
        <p:spPr>
          <a:xfrm>
            <a:off x="1600200" y="3867912"/>
            <a:ext cx="6035040" cy="365760"/>
          </a:xfrm>
          <a:prstGeom prst="rect">
            <a:avLst/>
          </a:prstGeom>
          <a:noFill/>
          <a:ln/>
        </p:spPr>
        <p:txBody>
          <a:bodyPr wrap="square" lIns="0" tIns="0" rIns="0" bIns="0" rtlCol="0" anchor="ctr"/>
          <a:lstStyle/>
          <a:p>
            <a:pPr marL="0" indent="0">
              <a:buNone/>
            </a:pPr>
            <a:r>
              <a:rPr lang="en-US" sz="2050" b="1" dirty="0">
                <a:solidFill>
                  <a:srgbClr val="1E3A5F"/>
                </a:solidFill>
                <a:latin typeface="Calibri" pitchFamily="34" charset="0"/>
                <a:ea typeface="Calibri" pitchFamily="34" charset="-122"/>
                <a:cs typeface="Calibri" pitchFamily="34" charset="-120"/>
              </a:rPr>
              <a:t>Şüphelendiğinizde işaretleyin</a:t>
            </a:r>
            <a:endParaRPr lang="en-US" sz="2050" dirty="0"/>
          </a:p>
        </p:txBody>
      </p:sp>
      <p:sp>
        <p:nvSpPr>
          <p:cNvPr id="17" name="Text 14"/>
          <p:cNvSpPr/>
          <p:nvPr/>
        </p:nvSpPr>
        <p:spPr>
          <a:xfrm>
            <a:off x="1600200" y="4233672"/>
            <a:ext cx="6035040" cy="274320"/>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Bir sözün açıklamasında küçük bir tereddüt hissettiğiniz an, o seçeneği güçlü bir aday olarak not edin.</a:t>
            </a:r>
            <a:endParaRPr lang="en-US" sz="1200" dirty="0"/>
          </a:p>
        </p:txBody>
      </p:sp>
      <p:sp>
        <p:nvSpPr>
          <p:cNvPr id="18" name="Shape 15"/>
          <p:cNvSpPr/>
          <p:nvPr/>
        </p:nvSpPr>
        <p:spPr>
          <a:xfrm>
            <a:off x="640080" y="4672584"/>
            <a:ext cx="10881360" cy="777240"/>
          </a:xfrm>
          <a:prstGeom prst="roundRect">
            <a:avLst>
              <a:gd name="adj" fmla="val 11765"/>
            </a:avLst>
          </a:prstGeom>
          <a:solidFill>
            <a:srgbClr val="EEF3F8"/>
          </a:solidFill>
          <a:ln/>
        </p:spPr>
      </p:sp>
      <p:sp>
        <p:nvSpPr>
          <p:cNvPr id="19" name="Shape 16"/>
          <p:cNvSpPr/>
          <p:nvPr/>
        </p:nvSpPr>
        <p:spPr>
          <a:xfrm>
            <a:off x="868680" y="4809744"/>
            <a:ext cx="502920" cy="502920"/>
          </a:xfrm>
          <a:prstGeom prst="ellipse">
            <a:avLst/>
          </a:prstGeom>
          <a:solidFill>
            <a:srgbClr val="1E3A5F"/>
          </a:solidFill>
          <a:ln/>
        </p:spPr>
      </p:sp>
      <p:sp>
        <p:nvSpPr>
          <p:cNvPr id="20" name="Text 17"/>
          <p:cNvSpPr/>
          <p:nvPr/>
        </p:nvSpPr>
        <p:spPr>
          <a:xfrm>
            <a:off x="868680" y="4809744"/>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1" name="Text 18"/>
          <p:cNvSpPr/>
          <p:nvPr/>
        </p:nvSpPr>
        <p:spPr>
          <a:xfrm>
            <a:off x="1600200" y="4764024"/>
            <a:ext cx="6035040" cy="365760"/>
          </a:xfrm>
          <a:prstGeom prst="rect">
            <a:avLst/>
          </a:prstGeom>
          <a:noFill/>
          <a:ln/>
        </p:spPr>
        <p:txBody>
          <a:bodyPr wrap="square" lIns="0" tIns="0" rIns="0" bIns="0" rtlCol="0" anchor="ctr"/>
          <a:lstStyle/>
          <a:p>
            <a:pPr marL="0" indent="0">
              <a:buNone/>
            </a:pPr>
            <a:r>
              <a:rPr lang="en-US" sz="2050" b="1" dirty="0">
                <a:solidFill>
                  <a:srgbClr val="1E3A5F"/>
                </a:solidFill>
                <a:latin typeface="Calibri" pitchFamily="34" charset="0"/>
                <a:ea typeface="Calibri" pitchFamily="34" charset="-122"/>
                <a:cs typeface="Calibri" pitchFamily="34" charset="-120"/>
              </a:rPr>
              <a:t>4'ü kesinse 5.'yi aramaya gerek yok</a:t>
            </a:r>
            <a:endParaRPr lang="en-US" sz="2050" dirty="0"/>
          </a:p>
        </p:txBody>
      </p:sp>
      <p:sp>
        <p:nvSpPr>
          <p:cNvPr id="22" name="Text 19"/>
          <p:cNvSpPr/>
          <p:nvPr/>
        </p:nvSpPr>
        <p:spPr>
          <a:xfrm>
            <a:off x="1600200" y="5129784"/>
            <a:ext cx="6035040" cy="274320"/>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Dört söz de açıkça doğruysa, kalan tek seçenek otomatik olarak cevaptır — o sözü tekrar didiklemenize gerek kalmaz.</a:t>
            </a:r>
            <a:endParaRPr lang="en-US" sz="1200" dirty="0"/>
          </a:p>
        </p:txBody>
      </p:sp>
      <p:sp>
        <p:nvSpPr>
          <p:cNvPr id="23" name="Shape 20"/>
          <p:cNvSpPr/>
          <p:nvPr/>
        </p:nvSpPr>
        <p:spPr>
          <a:xfrm>
            <a:off x="640080" y="5577840"/>
            <a:ext cx="10881360" cy="502920"/>
          </a:xfrm>
          <a:prstGeom prst="roundRect">
            <a:avLst>
              <a:gd name="adj" fmla="val 18182"/>
            </a:avLst>
          </a:prstGeom>
          <a:solidFill>
            <a:srgbClr val="FBF3E3"/>
          </a:solidFill>
          <a:ln/>
        </p:spPr>
      </p:sp>
      <p:sp>
        <p:nvSpPr>
          <p:cNvPr id="24" name="Text 21"/>
          <p:cNvSpPr/>
          <p:nvPr/>
        </p:nvSpPr>
        <p:spPr>
          <a:xfrm>
            <a:off x="914400" y="5577840"/>
            <a:ext cx="10332720" cy="502920"/>
          </a:xfrm>
          <a:prstGeom prst="rect">
            <a:avLst/>
          </a:prstGeom>
          <a:noFill/>
          <a:ln/>
        </p:spPr>
        <p:txBody>
          <a:bodyPr wrap="square" lIns="0" tIns="0" rIns="0" bIns="0" rtlCol="0" anchor="ctr"/>
          <a:lstStyle/>
          <a:p>
            <a:pPr marL="0" indent="0">
              <a:buNone/>
            </a:pPr>
            <a:r>
              <a:rPr lang="en-US" sz="1700" dirty="0">
                <a:solidFill>
                  <a:srgbClr val="1E2761"/>
                </a:solidFill>
                <a:latin typeface="Calibri" pitchFamily="34" charset="0"/>
                <a:ea typeface="Calibri" pitchFamily="34" charset="-122"/>
                <a:cs typeface="Calibri" pitchFamily="34" charset="-120"/>
              </a:rPr>
              <a:t>Pratik ipucu: </a:t>
            </a:r>
            <a:r>
              <a:rPr lang="tr-TR" sz="1700" dirty="0">
                <a:solidFill>
                  <a:srgbClr val="1E2761"/>
                </a:solidFill>
                <a:latin typeface="Calibri" pitchFamily="34" charset="0"/>
                <a:ea typeface="Calibri" pitchFamily="34" charset="-122"/>
                <a:cs typeface="Calibri" pitchFamily="34" charset="-120"/>
              </a:rPr>
              <a:t>B</a:t>
            </a:r>
            <a:r>
              <a:rPr lang="en-US" sz="1700" dirty="0">
                <a:solidFill>
                  <a:srgbClr val="1E2761"/>
                </a:solidFill>
                <a:latin typeface="Calibri" pitchFamily="34" charset="0"/>
                <a:ea typeface="Calibri" pitchFamily="34" charset="-122"/>
                <a:cs typeface="Calibri" pitchFamily="34" charset="-120"/>
              </a:rPr>
              <a:t>u strateji süre kazandırır — TYT'de Türkçe testi süre baskısı yüksek bir testtir.</a:t>
            </a:r>
            <a:endParaRPr lang="en-US" sz="1700" dirty="0"/>
          </a:p>
        </p:txBody>
      </p:sp>
      <p:sp>
        <p:nvSpPr>
          <p:cNvPr id="25" name="Text 22"/>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TYT TÜRKÇE  ·  SÖZCÜKTE ANLAM  ·  Derinleşme — Hızlı Eleme</a:t>
            </a:r>
            <a:endParaRPr lang="en-US" sz="900" dirty="0"/>
          </a:p>
        </p:txBody>
      </p:sp>
      <p:sp>
        <p:nvSpPr>
          <p:cNvPr id="26" name="Text 23"/>
          <p:cNvSpPr/>
          <p:nvPr/>
        </p:nvSpPr>
        <p:spPr>
          <a:xfrm>
            <a:off x="9902952" y="6537960"/>
            <a:ext cx="18288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Ders 2 / 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48640"/>
            <a:ext cx="640080" cy="640080"/>
          </a:xfrm>
          <a:prstGeom prst="ellipse">
            <a:avLst/>
          </a:prstGeom>
          <a:solidFill>
            <a:srgbClr val="1E3A5F"/>
          </a:solidFill>
          <a:ln/>
        </p:spPr>
      </p:sp>
      <p:pic>
        <p:nvPicPr>
          <p:cNvPr id="3" name="Image 0" descr="icons/soru_white.png"/>
          <p:cNvPicPr>
            <a:picLocks noChangeAspect="1"/>
          </p:cNvPicPr>
          <p:nvPr/>
        </p:nvPicPr>
        <p:blipFill>
          <a:blip r:embed="rId3"/>
          <a:stretch>
            <a:fillRect/>
          </a:stretch>
        </p:blipFill>
        <p:spPr>
          <a:xfrm>
            <a:off x="784098" y="692658"/>
            <a:ext cx="352044" cy="352044"/>
          </a:xfrm>
          <a:prstGeom prst="rect">
            <a:avLst/>
          </a:prstGeom>
        </p:spPr>
      </p:pic>
      <p:sp>
        <p:nvSpPr>
          <p:cNvPr id="4" name="Text 1"/>
          <p:cNvSpPr/>
          <p:nvPr/>
        </p:nvSpPr>
        <p:spPr>
          <a:xfrm>
            <a:off x="1508760" y="566928"/>
            <a:ext cx="7315200" cy="320040"/>
          </a:xfrm>
          <a:prstGeom prst="rect">
            <a:avLst/>
          </a:prstGeom>
          <a:noFill/>
          <a:ln/>
        </p:spPr>
        <p:txBody>
          <a:bodyPr wrap="square" lIns="0" tIns="0" rIns="0" bIns="0"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ÖRNEK SORU · 1/3</a:t>
            </a:r>
            <a:endParaRPr lang="en-US" sz="1300" dirty="0"/>
          </a:p>
        </p:txBody>
      </p:sp>
      <p:sp>
        <p:nvSpPr>
          <p:cNvPr id="5" name="Text 2"/>
          <p:cNvSpPr/>
          <p:nvPr/>
        </p:nvSpPr>
        <p:spPr>
          <a:xfrm>
            <a:off x="1463040" y="841248"/>
            <a:ext cx="7863840" cy="640080"/>
          </a:xfrm>
          <a:prstGeom prst="rect">
            <a:avLst/>
          </a:prstGeom>
          <a:noFill/>
          <a:ln/>
        </p:spPr>
        <p:txBody>
          <a:bodyPr wrap="square" lIns="0" tIns="0" rIns="0" bIns="0" rtlCol="0" anchor="ctr"/>
          <a:lstStyle/>
          <a:p>
            <a:pPr marL="0" indent="0">
              <a:buNone/>
            </a:pPr>
            <a:r>
              <a:rPr lang="en-US" sz="2800" b="1" dirty="0">
                <a:solidFill>
                  <a:srgbClr val="1E3A5F"/>
                </a:solidFill>
                <a:latin typeface="Cambria" pitchFamily="34" charset="0"/>
                <a:ea typeface="Cambria" pitchFamily="34" charset="-122"/>
                <a:cs typeface="Cambria" pitchFamily="34" charset="-120"/>
              </a:rPr>
              <a:t>Soru Çözümü</a:t>
            </a:r>
            <a:endParaRPr lang="en-US" sz="2800" dirty="0"/>
          </a:p>
        </p:txBody>
      </p:sp>
      <p:sp>
        <p:nvSpPr>
          <p:cNvPr id="6" name="Shape 3"/>
          <p:cNvSpPr/>
          <p:nvPr/>
        </p:nvSpPr>
        <p:spPr>
          <a:xfrm>
            <a:off x="9464040" y="621792"/>
            <a:ext cx="2057400" cy="365760"/>
          </a:xfrm>
          <a:prstGeom prst="roundRect">
            <a:avLst>
              <a:gd name="adj" fmla="val 50000"/>
            </a:avLst>
          </a:prstGeom>
          <a:solidFill>
            <a:srgbClr val="EEF3F8"/>
          </a:solidFill>
          <a:ln w="12700">
            <a:solidFill>
              <a:srgbClr val="D9A441"/>
            </a:solidFill>
            <a:prstDash val="solid"/>
          </a:ln>
        </p:spPr>
      </p:sp>
      <p:sp>
        <p:nvSpPr>
          <p:cNvPr id="7" name="Text 4"/>
          <p:cNvSpPr/>
          <p:nvPr/>
        </p:nvSpPr>
        <p:spPr>
          <a:xfrm>
            <a:off x="9464040" y="621792"/>
            <a:ext cx="2057400" cy="365760"/>
          </a:xfrm>
          <a:prstGeom prst="rect">
            <a:avLst/>
          </a:prstGeom>
          <a:noFill/>
          <a:ln/>
        </p:spPr>
        <p:txBody>
          <a:bodyPr wrap="square" lIns="0" tIns="0" rIns="0" bIns="0" rtlCol="0" anchor="ctr"/>
          <a:lstStyle/>
          <a:p>
            <a:pPr marL="0" indent="0" algn="ctr">
              <a:buNone/>
            </a:pPr>
            <a:r>
              <a:rPr lang="en-US" sz="1050" b="1" dirty="0">
                <a:solidFill>
                  <a:srgbClr val="1E3A5F"/>
                </a:solidFill>
                <a:latin typeface="Calibri" pitchFamily="34" charset="0"/>
                <a:ea typeface="Calibri" pitchFamily="34" charset="-122"/>
                <a:cs typeface="Calibri" pitchFamily="34" charset="-120"/>
              </a:rPr>
              <a:t>ÖSYM (TYT - 2023)</a:t>
            </a:r>
            <a:endParaRPr lang="en-US" sz="1050" dirty="0"/>
          </a:p>
        </p:txBody>
      </p:sp>
      <p:sp>
        <p:nvSpPr>
          <p:cNvPr id="8" name="Shape 5"/>
          <p:cNvSpPr/>
          <p:nvPr/>
        </p:nvSpPr>
        <p:spPr>
          <a:xfrm>
            <a:off x="640080" y="1645920"/>
            <a:ext cx="10908792" cy="4564684"/>
          </a:xfrm>
          <a:prstGeom prst="roundRect">
            <a:avLst>
              <a:gd name="adj" fmla="val 2474"/>
            </a:avLst>
          </a:prstGeom>
          <a:solidFill>
            <a:srgbClr val="EEF3F8"/>
          </a:solidFill>
          <a:ln/>
        </p:spPr>
      </p:sp>
      <p:sp>
        <p:nvSpPr>
          <p:cNvPr id="9" name="Text 6"/>
          <p:cNvSpPr/>
          <p:nvPr/>
        </p:nvSpPr>
        <p:spPr>
          <a:xfrm>
            <a:off x="914400" y="1828800"/>
            <a:ext cx="10360152" cy="1471168"/>
          </a:xfrm>
          <a:prstGeom prst="rect">
            <a:avLst/>
          </a:prstGeom>
          <a:noFill/>
          <a:ln/>
        </p:spPr>
        <p:txBody>
          <a:bodyPr wrap="square" lIns="0" tIns="0" rIns="0" bIns="0" rtlCol="0" anchor="t"/>
          <a:lstStyle/>
          <a:p>
            <a:pPr marL="0" indent="0">
              <a:buNone/>
            </a:pPr>
            <a:r>
              <a:rPr lang="en-US" sz="2000" dirty="0">
                <a:solidFill>
                  <a:srgbClr val="1E3A5F"/>
                </a:solidFill>
                <a:latin typeface="Calibri" pitchFamily="34" charset="0"/>
                <a:ea typeface="Calibri" pitchFamily="34" charset="-122"/>
                <a:cs typeface="Calibri" pitchFamily="34" charset="-120"/>
              </a:rPr>
              <a:t>Birine "Gerçekçi ol!" dediğinizde aslında beklentilerini düşür demek istersiniz çünkü karşınızdaki kişinin, sizin çoktan ---- ya da zaten hiç sahip olmadığınız bu hayatın ---- meydan okuyan </a:t>
            </a:r>
            <a:r>
              <a:rPr lang="en-US" sz="2000" dirty="0" err="1">
                <a:solidFill>
                  <a:srgbClr val="1E3A5F"/>
                </a:solidFill>
                <a:latin typeface="Calibri" pitchFamily="34" charset="0"/>
                <a:ea typeface="Calibri" pitchFamily="34" charset="-122"/>
                <a:cs typeface="Calibri" pitchFamily="34" charset="-120"/>
              </a:rPr>
              <a:t>hayalleri</a:t>
            </a:r>
            <a:r>
              <a:rPr lang="en-US" sz="2000" dirty="0">
                <a:solidFill>
                  <a:srgbClr val="1E3A5F"/>
                </a:solidFill>
                <a:latin typeface="Calibri" pitchFamily="34" charset="0"/>
                <a:ea typeface="Calibri" pitchFamily="34" charset="-122"/>
                <a:cs typeface="Calibri" pitchFamily="34" charset="-120"/>
              </a:rPr>
              <a:t> </a:t>
            </a:r>
            <a:r>
              <a:rPr lang="en-US" sz="2000" dirty="0" err="1">
                <a:solidFill>
                  <a:srgbClr val="1E3A5F"/>
                </a:solidFill>
                <a:latin typeface="Calibri" pitchFamily="34" charset="0"/>
                <a:ea typeface="Calibri" pitchFamily="34" charset="-122"/>
                <a:cs typeface="Calibri" pitchFamily="34" charset="-120"/>
              </a:rPr>
              <a:t>vardır</a:t>
            </a:r>
            <a:r>
              <a:rPr lang="tr-TR" sz="2000" dirty="0">
                <a:solidFill>
                  <a:srgbClr val="1E3A5F"/>
                </a:solidFill>
                <a:latin typeface="Calibri" pitchFamily="34" charset="0"/>
                <a:ea typeface="Calibri" pitchFamily="34" charset="-122"/>
                <a:cs typeface="Calibri" pitchFamily="34" charset="-120"/>
              </a:rPr>
              <a:t>.</a:t>
            </a:r>
            <a:endParaRPr lang="en-US" sz="2000" dirty="0"/>
          </a:p>
          <a:p>
            <a:pPr marL="0" indent="0">
              <a:buNone/>
            </a:pPr>
            <a:r>
              <a:rPr lang="en-US" sz="2000" b="1" dirty="0">
                <a:solidFill>
                  <a:srgbClr val="1E3A5F"/>
                </a:solidFill>
                <a:latin typeface="Calibri" pitchFamily="34" charset="0"/>
                <a:ea typeface="Calibri" pitchFamily="34" charset="-122"/>
                <a:cs typeface="Calibri" pitchFamily="34" charset="-120"/>
              </a:rPr>
              <a:t>Bu cümlede boş bırakılan yerlere sırasıyla aşağıdakilerden hangisi getirilmelidir?</a:t>
            </a:r>
            <a:endParaRPr lang="en-US" sz="2000" dirty="0"/>
          </a:p>
        </p:txBody>
      </p:sp>
      <p:sp>
        <p:nvSpPr>
          <p:cNvPr id="10" name="Text 7"/>
          <p:cNvSpPr/>
          <p:nvPr/>
        </p:nvSpPr>
        <p:spPr>
          <a:xfrm>
            <a:off x="914400" y="3537712"/>
            <a:ext cx="10360152" cy="342646"/>
          </a:xfrm>
          <a:prstGeom prst="rect">
            <a:avLst/>
          </a:prstGeom>
          <a:noFill/>
          <a:ln/>
        </p:spPr>
        <p:txBody>
          <a:bodyPr wrap="square" lIns="0" tIns="0" rIns="0" bIns="0" rtlCol="0" anchor="t"/>
          <a:lstStyle/>
          <a:p>
            <a:pPr marL="0" indent="0">
              <a:buNone/>
            </a:pPr>
            <a:r>
              <a:rPr lang="en-US" sz="2400" b="1" dirty="0">
                <a:solidFill>
                  <a:srgbClr val="1E3A5F"/>
                </a:solidFill>
                <a:latin typeface="Calibri" pitchFamily="34" charset="0"/>
                <a:ea typeface="Calibri" pitchFamily="34" charset="-122"/>
                <a:cs typeface="Calibri" pitchFamily="34" charset="-120"/>
              </a:rPr>
              <a:t>A)  </a:t>
            </a:r>
            <a:r>
              <a:rPr lang="en-US" sz="2400" dirty="0">
                <a:solidFill>
                  <a:srgbClr val="1E2761"/>
                </a:solidFill>
                <a:latin typeface="Calibri" pitchFamily="34" charset="0"/>
                <a:ea typeface="Calibri" pitchFamily="34" charset="-122"/>
                <a:cs typeface="Calibri" pitchFamily="34" charset="-120"/>
              </a:rPr>
              <a:t>yok saydığınız - güzelliklerine</a:t>
            </a:r>
            <a:endParaRPr lang="en-US" sz="2400" dirty="0"/>
          </a:p>
        </p:txBody>
      </p:sp>
      <p:sp>
        <p:nvSpPr>
          <p:cNvPr id="11" name="Text 8"/>
          <p:cNvSpPr/>
          <p:nvPr/>
        </p:nvSpPr>
        <p:spPr>
          <a:xfrm>
            <a:off x="914400" y="4026571"/>
            <a:ext cx="10360152" cy="342646"/>
          </a:xfrm>
          <a:prstGeom prst="rect">
            <a:avLst/>
          </a:prstGeom>
          <a:noFill/>
          <a:ln/>
        </p:spPr>
        <p:txBody>
          <a:bodyPr wrap="square" lIns="0" tIns="0" rIns="0" bIns="0" rtlCol="0" anchor="t"/>
          <a:lstStyle/>
          <a:p>
            <a:pPr marL="0" indent="0">
              <a:buNone/>
            </a:pPr>
            <a:r>
              <a:rPr lang="en-US" sz="2400" b="1" dirty="0">
                <a:solidFill>
                  <a:srgbClr val="1E3A5F"/>
                </a:solidFill>
                <a:latin typeface="Calibri" pitchFamily="34" charset="0"/>
                <a:ea typeface="Calibri" pitchFamily="34" charset="-122"/>
                <a:cs typeface="Calibri" pitchFamily="34" charset="-120"/>
              </a:rPr>
              <a:t>B)  </a:t>
            </a:r>
            <a:r>
              <a:rPr lang="en-US" sz="2400" dirty="0">
                <a:solidFill>
                  <a:srgbClr val="1E2761"/>
                </a:solidFill>
                <a:latin typeface="Calibri" pitchFamily="34" charset="0"/>
                <a:ea typeface="Calibri" pitchFamily="34" charset="-122"/>
                <a:cs typeface="Calibri" pitchFamily="34" charset="-120"/>
              </a:rPr>
              <a:t>kabullendiğiniz - durağanlığına</a:t>
            </a:r>
            <a:endParaRPr lang="en-US" sz="2400" dirty="0"/>
          </a:p>
        </p:txBody>
      </p:sp>
      <p:sp>
        <p:nvSpPr>
          <p:cNvPr id="12" name="Text 9"/>
          <p:cNvSpPr/>
          <p:nvPr/>
        </p:nvSpPr>
        <p:spPr>
          <a:xfrm>
            <a:off x="914400" y="4515429"/>
            <a:ext cx="10360152" cy="342646"/>
          </a:xfrm>
          <a:prstGeom prst="rect">
            <a:avLst/>
          </a:prstGeom>
          <a:noFill/>
          <a:ln/>
        </p:spPr>
        <p:txBody>
          <a:bodyPr wrap="square" lIns="0" tIns="0" rIns="0" bIns="0" rtlCol="0" anchor="t"/>
          <a:lstStyle/>
          <a:p>
            <a:pPr marL="0" indent="0">
              <a:buNone/>
            </a:pPr>
            <a:r>
              <a:rPr lang="en-US" sz="2400" b="1" dirty="0">
                <a:solidFill>
                  <a:srgbClr val="1E3A5F"/>
                </a:solidFill>
                <a:latin typeface="Calibri" pitchFamily="34" charset="0"/>
                <a:ea typeface="Calibri" pitchFamily="34" charset="-122"/>
                <a:cs typeface="Calibri" pitchFamily="34" charset="-120"/>
              </a:rPr>
              <a:t>C)  </a:t>
            </a:r>
            <a:r>
              <a:rPr lang="en-US" sz="2400" dirty="0">
                <a:solidFill>
                  <a:srgbClr val="1E2761"/>
                </a:solidFill>
                <a:latin typeface="Calibri" pitchFamily="34" charset="0"/>
                <a:ea typeface="Calibri" pitchFamily="34" charset="-122"/>
                <a:cs typeface="Calibri" pitchFamily="34" charset="-120"/>
              </a:rPr>
              <a:t>unuttuğunuz - imkânlarına</a:t>
            </a:r>
            <a:endParaRPr lang="en-US" sz="2400" dirty="0"/>
          </a:p>
        </p:txBody>
      </p:sp>
      <p:sp>
        <p:nvSpPr>
          <p:cNvPr id="13" name="Text 10"/>
          <p:cNvSpPr/>
          <p:nvPr/>
        </p:nvSpPr>
        <p:spPr>
          <a:xfrm>
            <a:off x="914400" y="5004287"/>
            <a:ext cx="10360152" cy="342646"/>
          </a:xfrm>
          <a:prstGeom prst="rect">
            <a:avLst/>
          </a:prstGeom>
          <a:noFill/>
          <a:ln/>
        </p:spPr>
        <p:txBody>
          <a:bodyPr wrap="square" lIns="0" tIns="0" rIns="0" bIns="0" rtlCol="0" anchor="t"/>
          <a:lstStyle/>
          <a:p>
            <a:pPr marL="0" indent="0">
              <a:buNone/>
            </a:pPr>
            <a:r>
              <a:rPr lang="en-US" sz="2400" b="1" dirty="0">
                <a:solidFill>
                  <a:srgbClr val="1E3A5F"/>
                </a:solidFill>
                <a:latin typeface="Calibri" pitchFamily="34" charset="0"/>
                <a:ea typeface="Calibri" pitchFamily="34" charset="-122"/>
                <a:cs typeface="Calibri" pitchFamily="34" charset="-120"/>
              </a:rPr>
              <a:t>D)  </a:t>
            </a:r>
            <a:r>
              <a:rPr lang="en-US" sz="2400" dirty="0">
                <a:solidFill>
                  <a:srgbClr val="1E2761"/>
                </a:solidFill>
                <a:latin typeface="Calibri" pitchFamily="34" charset="0"/>
                <a:ea typeface="Calibri" pitchFamily="34" charset="-122"/>
                <a:cs typeface="Calibri" pitchFamily="34" charset="-120"/>
              </a:rPr>
              <a:t>yenildiğiniz - güçlüklerine</a:t>
            </a:r>
            <a:endParaRPr lang="en-US" sz="2400" dirty="0"/>
          </a:p>
        </p:txBody>
      </p:sp>
      <p:sp>
        <p:nvSpPr>
          <p:cNvPr id="14" name="Text 11"/>
          <p:cNvSpPr/>
          <p:nvPr/>
        </p:nvSpPr>
        <p:spPr>
          <a:xfrm>
            <a:off x="914400" y="5493146"/>
            <a:ext cx="10360152" cy="342646"/>
          </a:xfrm>
          <a:prstGeom prst="rect">
            <a:avLst/>
          </a:prstGeom>
          <a:noFill/>
          <a:ln/>
        </p:spPr>
        <p:txBody>
          <a:bodyPr wrap="square" lIns="0" tIns="0" rIns="0" bIns="0" rtlCol="0" anchor="t"/>
          <a:lstStyle/>
          <a:p>
            <a:pPr marL="0" indent="0">
              <a:buNone/>
            </a:pPr>
            <a:r>
              <a:rPr lang="en-US" sz="2400" b="1" dirty="0">
                <a:solidFill>
                  <a:srgbClr val="1E3A5F"/>
                </a:solidFill>
                <a:latin typeface="Calibri" pitchFamily="34" charset="0"/>
                <a:ea typeface="Calibri" pitchFamily="34" charset="-122"/>
                <a:cs typeface="Calibri" pitchFamily="34" charset="-120"/>
              </a:rPr>
              <a:t>E)  </a:t>
            </a:r>
            <a:r>
              <a:rPr lang="en-US" sz="2400" dirty="0">
                <a:solidFill>
                  <a:srgbClr val="1E2761"/>
                </a:solidFill>
                <a:latin typeface="Calibri" pitchFamily="34" charset="0"/>
                <a:ea typeface="Calibri" pitchFamily="34" charset="-122"/>
                <a:cs typeface="Calibri" pitchFamily="34" charset="-120"/>
              </a:rPr>
              <a:t>vazgeçtiğiniz - sınırlarına</a:t>
            </a:r>
            <a:endParaRPr lang="en-US" sz="2400" dirty="0"/>
          </a:p>
        </p:txBody>
      </p:sp>
      <p:sp>
        <p:nvSpPr>
          <p:cNvPr id="21" name="Text 18"/>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TYT TÜRKÇE  ·  SÖZCÜKTE ANLAM  ·  Örnek Soru 1 — gerçek ÖSYM sorusu (Tip 1)</a:t>
            </a:r>
            <a:endParaRPr lang="en-US" sz="900" dirty="0"/>
          </a:p>
        </p:txBody>
      </p:sp>
      <p:sp>
        <p:nvSpPr>
          <p:cNvPr id="22" name="Text 19"/>
          <p:cNvSpPr/>
          <p:nvPr/>
        </p:nvSpPr>
        <p:spPr>
          <a:xfrm>
            <a:off x="9902952" y="6537960"/>
            <a:ext cx="18288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Ders 2 / 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48640"/>
            <a:ext cx="640080" cy="640080"/>
          </a:xfrm>
          <a:prstGeom prst="ellipse">
            <a:avLst/>
          </a:prstGeom>
          <a:solidFill>
            <a:srgbClr val="1E3A5F"/>
          </a:solidFill>
          <a:ln/>
        </p:spPr>
      </p:sp>
      <p:pic>
        <p:nvPicPr>
          <p:cNvPr id="3" name="Image 0" descr="icons/soru_white.png"/>
          <p:cNvPicPr>
            <a:picLocks noChangeAspect="1"/>
          </p:cNvPicPr>
          <p:nvPr/>
        </p:nvPicPr>
        <p:blipFill>
          <a:blip r:embed="rId2"/>
          <a:stretch>
            <a:fillRect/>
          </a:stretch>
        </p:blipFill>
        <p:spPr>
          <a:xfrm>
            <a:off x="784098" y="692658"/>
            <a:ext cx="352044" cy="352044"/>
          </a:xfrm>
          <a:prstGeom prst="rect">
            <a:avLst/>
          </a:prstGeom>
        </p:spPr>
      </p:pic>
      <p:sp>
        <p:nvSpPr>
          <p:cNvPr id="4" name="Text 1"/>
          <p:cNvSpPr/>
          <p:nvPr/>
        </p:nvSpPr>
        <p:spPr>
          <a:xfrm>
            <a:off x="1508760" y="566928"/>
            <a:ext cx="7315200" cy="320040"/>
          </a:xfrm>
          <a:prstGeom prst="rect">
            <a:avLst/>
          </a:prstGeom>
          <a:noFill/>
          <a:ln/>
        </p:spPr>
        <p:txBody>
          <a:bodyPr wrap="square" lIns="0" tIns="0" rIns="0" bIns="0"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ÖRNEK SORU · 1/3  ·  ÇÖZÜM</a:t>
            </a:r>
            <a:endParaRPr lang="en-US" sz="1300" dirty="0"/>
          </a:p>
        </p:txBody>
      </p:sp>
      <p:sp>
        <p:nvSpPr>
          <p:cNvPr id="5" name="Text 2"/>
          <p:cNvSpPr/>
          <p:nvPr/>
        </p:nvSpPr>
        <p:spPr>
          <a:xfrm>
            <a:off x="1463040" y="841248"/>
            <a:ext cx="7863840" cy="640080"/>
          </a:xfrm>
          <a:prstGeom prst="rect">
            <a:avLst/>
          </a:prstGeom>
          <a:noFill/>
          <a:ln/>
        </p:spPr>
        <p:txBody>
          <a:bodyPr wrap="square" lIns="0" tIns="0" rIns="0" bIns="0" rtlCol="0" anchor="ctr"/>
          <a:lstStyle/>
          <a:p>
            <a:pPr marL="0" indent="0">
              <a:buNone/>
            </a:pPr>
            <a:r>
              <a:rPr lang="en-US" sz="2800" b="1" dirty="0">
                <a:solidFill>
                  <a:srgbClr val="1E3A5F"/>
                </a:solidFill>
                <a:latin typeface="Cambria" pitchFamily="34" charset="0"/>
                <a:ea typeface="Cambria" pitchFamily="34" charset="-122"/>
                <a:cs typeface="Cambria" pitchFamily="34" charset="-120"/>
              </a:rPr>
              <a:t>Çözüm</a:t>
            </a:r>
            <a:endParaRPr lang="en-US" sz="2800" dirty="0"/>
          </a:p>
        </p:txBody>
      </p:sp>
      <p:sp>
        <p:nvSpPr>
          <p:cNvPr id="6" name="Shape 3"/>
          <p:cNvSpPr/>
          <p:nvPr/>
        </p:nvSpPr>
        <p:spPr>
          <a:xfrm>
            <a:off x="9464040" y="621792"/>
            <a:ext cx="2057400" cy="365760"/>
          </a:xfrm>
          <a:prstGeom prst="roundRect">
            <a:avLst>
              <a:gd name="adj" fmla="val 50000"/>
            </a:avLst>
          </a:prstGeom>
          <a:solidFill>
            <a:srgbClr val="EEF3F8"/>
          </a:solidFill>
          <a:ln w="12700">
            <a:solidFill>
              <a:srgbClr val="D9A441"/>
            </a:solidFill>
            <a:prstDash val="solid"/>
          </a:ln>
        </p:spPr>
      </p:sp>
      <p:sp>
        <p:nvSpPr>
          <p:cNvPr id="7" name="Text 4"/>
          <p:cNvSpPr/>
          <p:nvPr/>
        </p:nvSpPr>
        <p:spPr>
          <a:xfrm>
            <a:off x="9464040" y="621792"/>
            <a:ext cx="2057400" cy="365760"/>
          </a:xfrm>
          <a:prstGeom prst="rect">
            <a:avLst/>
          </a:prstGeom>
          <a:noFill/>
          <a:ln/>
        </p:spPr>
        <p:txBody>
          <a:bodyPr wrap="square" lIns="0" tIns="0" rIns="0" bIns="0" rtlCol="0" anchor="ctr"/>
          <a:lstStyle/>
          <a:p>
            <a:pPr marL="0" indent="0" algn="ctr">
              <a:buNone/>
            </a:pPr>
            <a:r>
              <a:rPr lang="en-US" sz="1050" b="1" dirty="0">
                <a:solidFill>
                  <a:srgbClr val="1E3A5F"/>
                </a:solidFill>
                <a:latin typeface="Calibri" pitchFamily="34" charset="0"/>
                <a:ea typeface="Calibri" pitchFamily="34" charset="-122"/>
                <a:cs typeface="Calibri" pitchFamily="34" charset="-120"/>
              </a:rPr>
              <a:t>ÖSYM (TYT - 2023)</a:t>
            </a:r>
            <a:endParaRPr lang="en-US" sz="1050" dirty="0"/>
          </a:p>
        </p:txBody>
      </p:sp>
      <p:sp>
        <p:nvSpPr>
          <p:cNvPr id="15" name="Shape 12"/>
          <p:cNvSpPr/>
          <p:nvPr/>
        </p:nvSpPr>
        <p:spPr>
          <a:xfrm>
            <a:off x="640080" y="1783080"/>
            <a:ext cx="10908792" cy="4434840"/>
          </a:xfrm>
          <a:prstGeom prst="roundRect">
            <a:avLst>
              <a:gd name="adj" fmla="val 2526"/>
            </a:avLst>
          </a:prstGeom>
          <a:solidFill>
            <a:srgbClr val="1E3A5F"/>
          </a:solidFill>
          <a:ln/>
        </p:spPr>
      </p:sp>
      <p:sp>
        <p:nvSpPr>
          <p:cNvPr id="17" name="Shape 14"/>
          <p:cNvSpPr/>
          <p:nvPr/>
        </p:nvSpPr>
        <p:spPr>
          <a:xfrm>
            <a:off x="914400" y="1933483"/>
            <a:ext cx="777240" cy="777240"/>
          </a:xfrm>
          <a:prstGeom prst="ellipse">
            <a:avLst/>
          </a:prstGeom>
          <a:solidFill>
            <a:srgbClr val="D9A441"/>
          </a:solidFill>
          <a:ln/>
        </p:spPr>
      </p:sp>
      <p:sp>
        <p:nvSpPr>
          <p:cNvPr id="18" name="Text 15"/>
          <p:cNvSpPr/>
          <p:nvPr/>
        </p:nvSpPr>
        <p:spPr>
          <a:xfrm>
            <a:off x="914400" y="1933483"/>
            <a:ext cx="777240" cy="777240"/>
          </a:xfrm>
          <a:prstGeom prst="rect">
            <a:avLst/>
          </a:prstGeom>
          <a:noFill/>
          <a:ln/>
        </p:spPr>
        <p:txBody>
          <a:bodyPr wrap="square" lIns="0" tIns="0" rIns="0" bIns="0" rtlCol="0" anchor="ctr"/>
          <a:lstStyle/>
          <a:p>
            <a:pPr marL="0" indent="0" algn="ctr">
              <a:buNone/>
            </a:pPr>
            <a:r>
              <a:rPr lang="en-US" sz="2700" b="1" dirty="0">
                <a:solidFill>
                  <a:srgbClr val="1E3A5F"/>
                </a:solidFill>
                <a:latin typeface="Cambria" pitchFamily="34" charset="0"/>
                <a:ea typeface="Cambria" pitchFamily="34" charset="-122"/>
                <a:cs typeface="Cambria" pitchFamily="34" charset="-120"/>
              </a:rPr>
              <a:t>E</a:t>
            </a:r>
            <a:endParaRPr lang="en-US" sz="2700" dirty="0"/>
          </a:p>
        </p:txBody>
      </p:sp>
      <p:sp>
        <p:nvSpPr>
          <p:cNvPr id="19" name="Text 16"/>
          <p:cNvSpPr/>
          <p:nvPr/>
        </p:nvSpPr>
        <p:spPr>
          <a:xfrm>
            <a:off x="1874520" y="1933483"/>
            <a:ext cx="4572000" cy="777240"/>
          </a:xfrm>
          <a:prstGeom prst="rect">
            <a:avLst/>
          </a:prstGeom>
          <a:noFill/>
          <a:ln/>
        </p:spPr>
        <p:txBody>
          <a:bodyPr wrap="square" lIns="0" tIns="0" rIns="0" bIns="0" rtlCol="0" anchor="ctr"/>
          <a:lstStyle/>
          <a:p>
            <a:pPr marL="0" indent="0">
              <a:buNone/>
            </a:pPr>
            <a:r>
              <a:rPr lang="en-US" sz="1900" dirty="0">
                <a:solidFill>
                  <a:srgbClr val="CADCFC"/>
                </a:solidFill>
                <a:latin typeface="Calibri" pitchFamily="34" charset="0"/>
                <a:ea typeface="Calibri" pitchFamily="34" charset="-122"/>
                <a:cs typeface="Calibri" pitchFamily="34" charset="-120"/>
              </a:rPr>
              <a:t>Doğru cevap</a:t>
            </a:r>
            <a:endParaRPr lang="en-US" sz="1900" dirty="0"/>
          </a:p>
        </p:txBody>
      </p:sp>
      <p:sp>
        <p:nvSpPr>
          <p:cNvPr id="20" name="Text 17"/>
          <p:cNvSpPr/>
          <p:nvPr/>
        </p:nvSpPr>
        <p:spPr>
          <a:xfrm>
            <a:off x="914400" y="3012475"/>
            <a:ext cx="10360152" cy="2423160"/>
          </a:xfrm>
          <a:prstGeom prst="rect">
            <a:avLst/>
          </a:prstGeom>
          <a:noFill/>
          <a:ln/>
        </p:spPr>
        <p:txBody>
          <a:bodyPr wrap="square" lIns="0" tIns="0" rIns="0" bIns="0" rtlCol="0" anchor="t"/>
          <a:lstStyle/>
          <a:p>
            <a:pPr marL="0" indent="0">
              <a:buNone/>
            </a:pPr>
            <a:r>
              <a:rPr lang="en-US" sz="2400" b="1" dirty="0">
                <a:solidFill>
                  <a:srgbClr val="D9A441"/>
                </a:solidFill>
                <a:latin typeface="Calibri" pitchFamily="34" charset="0"/>
                <a:ea typeface="Calibri" pitchFamily="34" charset="-122"/>
                <a:cs typeface="Calibri" pitchFamily="34" charset="-120"/>
              </a:rPr>
              <a:t>E  </a:t>
            </a:r>
            <a:r>
              <a:rPr lang="en-US" sz="2400" b="1" dirty="0">
                <a:solidFill>
                  <a:srgbClr val="FFFFFF"/>
                </a:solidFill>
                <a:latin typeface="Calibri" pitchFamily="34" charset="0"/>
                <a:ea typeface="Calibri" pitchFamily="34" charset="-122"/>
                <a:cs typeface="Calibri" pitchFamily="34" charset="-120"/>
              </a:rPr>
              <a:t>→ doğru cevap.
</a:t>
            </a:r>
            <a:r>
              <a:rPr lang="en-US" sz="2400" dirty="0">
                <a:solidFill>
                  <a:srgbClr val="CADCFC"/>
                </a:solidFill>
                <a:latin typeface="Calibri" pitchFamily="34" charset="0"/>
                <a:ea typeface="Calibri" pitchFamily="34" charset="-122"/>
                <a:cs typeface="Calibri" pitchFamily="34" charset="-120"/>
              </a:rPr>
              <a:t>İlk boşluk "ya da zaten hiç sahip olmadığınız" ile PARALEL olmalı — "vazgeçtiğiniz" ("çoktan vazgeçtiğiniz ya da hiç sahip olmadığınız") bu paralelliği kurar. İkinci boşlukta "meydan okumak" ("sınırlarına meydan okuyan hayaller") güçlü ve doğal bir Türkçe eşleşmedir. Diğer çiftlerin bir yarısı bağlamla çelişir.</a:t>
            </a:r>
            <a:endParaRPr lang="en-US" sz="2400" dirty="0"/>
          </a:p>
        </p:txBody>
      </p:sp>
      <p:sp>
        <p:nvSpPr>
          <p:cNvPr id="21" name="Text 18"/>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TYT TÜRKÇE  ·  SÖZCÜKTE ANLAM  ·  Örnek Soru 1 — çözüm — gerçek ÖSYM sorusu (Tip 1)</a:t>
            </a:r>
            <a:endParaRPr lang="en-US" sz="900" dirty="0"/>
          </a:p>
        </p:txBody>
      </p:sp>
      <p:sp>
        <p:nvSpPr>
          <p:cNvPr id="22" name="Text 19"/>
          <p:cNvSpPr/>
          <p:nvPr/>
        </p:nvSpPr>
        <p:spPr>
          <a:xfrm>
            <a:off x="9902952" y="6537960"/>
            <a:ext cx="18288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Ders 2 / 3</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48640"/>
            <a:ext cx="640080" cy="640080"/>
          </a:xfrm>
          <a:prstGeom prst="ellipse">
            <a:avLst/>
          </a:prstGeom>
          <a:solidFill>
            <a:srgbClr val="1E3A5F"/>
          </a:solidFill>
          <a:ln/>
        </p:spPr>
      </p:sp>
      <p:pic>
        <p:nvPicPr>
          <p:cNvPr id="3" name="Image 0" descr="icons/soru_white.png"/>
          <p:cNvPicPr>
            <a:picLocks noChangeAspect="1"/>
          </p:cNvPicPr>
          <p:nvPr/>
        </p:nvPicPr>
        <p:blipFill>
          <a:blip r:embed="rId3"/>
          <a:stretch>
            <a:fillRect/>
          </a:stretch>
        </p:blipFill>
        <p:spPr>
          <a:xfrm>
            <a:off x="784098" y="692658"/>
            <a:ext cx="352044" cy="352044"/>
          </a:xfrm>
          <a:prstGeom prst="rect">
            <a:avLst/>
          </a:prstGeom>
        </p:spPr>
      </p:pic>
      <p:sp>
        <p:nvSpPr>
          <p:cNvPr id="4" name="Text 1"/>
          <p:cNvSpPr/>
          <p:nvPr/>
        </p:nvSpPr>
        <p:spPr>
          <a:xfrm>
            <a:off x="1508760" y="566928"/>
            <a:ext cx="7315200" cy="320040"/>
          </a:xfrm>
          <a:prstGeom prst="rect">
            <a:avLst/>
          </a:prstGeom>
          <a:noFill/>
          <a:ln/>
        </p:spPr>
        <p:txBody>
          <a:bodyPr wrap="square" lIns="0" tIns="0" rIns="0" bIns="0"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ÖRNEK SORU · 2/3</a:t>
            </a:r>
            <a:endParaRPr lang="en-US" sz="1300" dirty="0"/>
          </a:p>
        </p:txBody>
      </p:sp>
      <p:sp>
        <p:nvSpPr>
          <p:cNvPr id="5" name="Text 2"/>
          <p:cNvSpPr/>
          <p:nvPr/>
        </p:nvSpPr>
        <p:spPr>
          <a:xfrm>
            <a:off x="1463040" y="841248"/>
            <a:ext cx="7863840" cy="640080"/>
          </a:xfrm>
          <a:prstGeom prst="rect">
            <a:avLst/>
          </a:prstGeom>
          <a:noFill/>
          <a:ln/>
        </p:spPr>
        <p:txBody>
          <a:bodyPr wrap="square" lIns="0" tIns="0" rIns="0" bIns="0" rtlCol="0" anchor="ctr"/>
          <a:lstStyle/>
          <a:p>
            <a:pPr marL="0" indent="0">
              <a:buNone/>
            </a:pPr>
            <a:r>
              <a:rPr lang="en-US" sz="2800" b="1" dirty="0">
                <a:solidFill>
                  <a:srgbClr val="1E3A5F"/>
                </a:solidFill>
                <a:latin typeface="Cambria" pitchFamily="34" charset="0"/>
                <a:ea typeface="Cambria" pitchFamily="34" charset="-122"/>
                <a:cs typeface="Cambria" pitchFamily="34" charset="-120"/>
              </a:rPr>
              <a:t>Soru Çözümü</a:t>
            </a:r>
            <a:endParaRPr lang="en-US" sz="2800" dirty="0"/>
          </a:p>
        </p:txBody>
      </p:sp>
      <p:sp>
        <p:nvSpPr>
          <p:cNvPr id="6" name="Shape 3"/>
          <p:cNvSpPr/>
          <p:nvPr/>
        </p:nvSpPr>
        <p:spPr>
          <a:xfrm>
            <a:off x="9464040" y="621792"/>
            <a:ext cx="2057400" cy="365760"/>
          </a:xfrm>
          <a:prstGeom prst="roundRect">
            <a:avLst>
              <a:gd name="adj" fmla="val 50000"/>
            </a:avLst>
          </a:prstGeom>
          <a:solidFill>
            <a:srgbClr val="EEF3F8"/>
          </a:solidFill>
          <a:ln w="12700">
            <a:solidFill>
              <a:srgbClr val="D9A441"/>
            </a:solidFill>
            <a:prstDash val="solid"/>
          </a:ln>
        </p:spPr>
      </p:sp>
      <p:sp>
        <p:nvSpPr>
          <p:cNvPr id="7" name="Text 4"/>
          <p:cNvSpPr/>
          <p:nvPr/>
        </p:nvSpPr>
        <p:spPr>
          <a:xfrm>
            <a:off x="9464040" y="621792"/>
            <a:ext cx="2057400" cy="365760"/>
          </a:xfrm>
          <a:prstGeom prst="rect">
            <a:avLst/>
          </a:prstGeom>
          <a:noFill/>
          <a:ln/>
        </p:spPr>
        <p:txBody>
          <a:bodyPr wrap="square" lIns="0" tIns="0" rIns="0" bIns="0" rtlCol="0" anchor="ctr"/>
          <a:lstStyle/>
          <a:p>
            <a:pPr marL="0" indent="0" algn="ctr">
              <a:buNone/>
            </a:pPr>
            <a:r>
              <a:rPr lang="en-US" sz="1050" b="1" dirty="0">
                <a:solidFill>
                  <a:srgbClr val="1E3A5F"/>
                </a:solidFill>
                <a:latin typeface="Calibri" pitchFamily="34" charset="0"/>
                <a:ea typeface="Calibri" pitchFamily="34" charset="-122"/>
                <a:cs typeface="Calibri" pitchFamily="34" charset="-120"/>
              </a:rPr>
              <a:t>ÖSYM (TYT - 2022)</a:t>
            </a:r>
            <a:endParaRPr lang="en-US" sz="1050" dirty="0"/>
          </a:p>
        </p:txBody>
      </p:sp>
      <p:sp>
        <p:nvSpPr>
          <p:cNvPr id="8" name="Shape 5"/>
          <p:cNvSpPr/>
          <p:nvPr/>
        </p:nvSpPr>
        <p:spPr>
          <a:xfrm>
            <a:off x="640080" y="1783080"/>
            <a:ext cx="10908792" cy="4434840"/>
          </a:xfrm>
          <a:prstGeom prst="roundRect">
            <a:avLst>
              <a:gd name="adj" fmla="val 2474"/>
            </a:avLst>
          </a:prstGeom>
          <a:solidFill>
            <a:srgbClr val="EEF3F8"/>
          </a:solidFill>
          <a:ln/>
        </p:spPr>
      </p:sp>
      <p:sp>
        <p:nvSpPr>
          <p:cNvPr id="9" name="Text 6"/>
          <p:cNvSpPr/>
          <p:nvPr/>
        </p:nvSpPr>
        <p:spPr>
          <a:xfrm>
            <a:off x="914400" y="1906524"/>
            <a:ext cx="10360152" cy="1448625"/>
          </a:xfrm>
          <a:prstGeom prst="rect">
            <a:avLst/>
          </a:prstGeom>
          <a:noFill/>
          <a:ln/>
        </p:spPr>
        <p:txBody>
          <a:bodyPr wrap="square" lIns="0" tIns="0" rIns="0" bIns="0" rtlCol="0" anchor="t"/>
          <a:lstStyle/>
          <a:p>
            <a:pPr marL="0" indent="0">
              <a:buNone/>
            </a:pPr>
            <a:r>
              <a:rPr lang="en-US" sz="2000" dirty="0">
                <a:solidFill>
                  <a:srgbClr val="1E3A5F"/>
                </a:solidFill>
                <a:latin typeface="Calibri" pitchFamily="34" charset="0"/>
                <a:ea typeface="Calibri" pitchFamily="34" charset="-122"/>
                <a:cs typeface="Calibri" pitchFamily="34" charset="-120"/>
              </a:rPr>
              <a:t>Özellikle nezle veya grip olduğumuzda gündüz saatlerinde görece (genellikle) (I) daha iyi hissederken gece olduğunda hastalık belirtilerini (göstergelerini) (II) daha şiddetli hissederiz. Bunun nedeni, vücudun bağışıklık sisteminin belli bir düzen (uyum) (III) içinde olmasıdır. Gün boyunca (süresince) (IV) vücudu savunan bağışıklık sistemi aktifken (çalışırken) (V) geceleri dinlenmeye geçer ve hücresel savunma </a:t>
            </a:r>
            <a:r>
              <a:rPr lang="en-US" sz="2000" dirty="0" err="1">
                <a:solidFill>
                  <a:srgbClr val="1E3A5F"/>
                </a:solidFill>
                <a:latin typeface="Calibri" pitchFamily="34" charset="0"/>
                <a:ea typeface="Calibri" pitchFamily="34" charset="-122"/>
                <a:cs typeface="Calibri" pitchFamily="34" charset="-120"/>
              </a:rPr>
              <a:t>azalır</a:t>
            </a:r>
            <a:r>
              <a:rPr lang="en-US" sz="2000" dirty="0">
                <a:solidFill>
                  <a:srgbClr val="1E3A5F"/>
                </a:solidFill>
                <a:latin typeface="Calibri" pitchFamily="34" charset="0"/>
                <a:ea typeface="Calibri" pitchFamily="34" charset="-122"/>
                <a:cs typeface="Calibri" pitchFamily="34" charset="-120"/>
              </a:rPr>
              <a:t>.</a:t>
            </a:r>
            <a:endParaRPr lang="en-US" sz="2000" dirty="0"/>
          </a:p>
          <a:p>
            <a:pPr marL="0" indent="0">
              <a:buNone/>
            </a:pPr>
            <a:r>
              <a:rPr lang="en-US" sz="2000" b="1" dirty="0">
                <a:solidFill>
                  <a:srgbClr val="1E3A5F"/>
                </a:solidFill>
                <a:latin typeface="Calibri" pitchFamily="34" charset="0"/>
                <a:ea typeface="Calibri" pitchFamily="34" charset="-122"/>
                <a:cs typeface="Calibri" pitchFamily="34" charset="-120"/>
              </a:rPr>
              <a:t>Bu parçada numaralanmış sözcüklerden hangisinin anlamı, ayraç içinde verilenle uyuşmamaktadır?</a:t>
            </a:r>
            <a:endParaRPr lang="en-US" sz="2000" dirty="0"/>
          </a:p>
        </p:txBody>
      </p:sp>
      <p:sp>
        <p:nvSpPr>
          <p:cNvPr id="10" name="Text 7"/>
          <p:cNvSpPr/>
          <p:nvPr/>
        </p:nvSpPr>
        <p:spPr>
          <a:xfrm>
            <a:off x="914400" y="4113803"/>
            <a:ext cx="10360152" cy="281330"/>
          </a:xfrm>
          <a:prstGeom prst="rect">
            <a:avLst/>
          </a:prstGeom>
          <a:noFill/>
          <a:ln/>
        </p:spPr>
        <p:txBody>
          <a:bodyPr wrap="square" lIns="0" tIns="0" rIns="0" bIns="0" rtlCol="0" anchor="t"/>
          <a:lstStyle/>
          <a:p>
            <a:pPr marL="0" indent="0">
              <a:buNone/>
            </a:pPr>
            <a:r>
              <a:rPr lang="en-US" b="1" dirty="0">
                <a:solidFill>
                  <a:srgbClr val="1E3A5F"/>
                </a:solidFill>
                <a:latin typeface="Calibri" pitchFamily="34" charset="0"/>
                <a:ea typeface="Calibri" pitchFamily="34" charset="-122"/>
                <a:cs typeface="Calibri" pitchFamily="34" charset="-120"/>
              </a:rPr>
              <a:t>A)  </a:t>
            </a:r>
            <a:r>
              <a:rPr lang="en-US" dirty="0">
                <a:solidFill>
                  <a:srgbClr val="1E2761"/>
                </a:solidFill>
                <a:latin typeface="Calibri" pitchFamily="34" charset="0"/>
                <a:ea typeface="Calibri" pitchFamily="34" charset="-122"/>
                <a:cs typeface="Calibri" pitchFamily="34" charset="-120"/>
              </a:rPr>
              <a:t>I</a:t>
            </a:r>
            <a:endParaRPr lang="en-US" dirty="0"/>
          </a:p>
        </p:txBody>
      </p:sp>
      <p:sp>
        <p:nvSpPr>
          <p:cNvPr id="11" name="Text 8"/>
          <p:cNvSpPr/>
          <p:nvPr/>
        </p:nvSpPr>
        <p:spPr>
          <a:xfrm>
            <a:off x="914400" y="4581202"/>
            <a:ext cx="10360152" cy="281330"/>
          </a:xfrm>
          <a:prstGeom prst="rect">
            <a:avLst/>
          </a:prstGeom>
          <a:noFill/>
          <a:ln/>
        </p:spPr>
        <p:txBody>
          <a:bodyPr wrap="square" lIns="0" tIns="0" rIns="0" bIns="0" rtlCol="0" anchor="t"/>
          <a:lstStyle/>
          <a:p>
            <a:pPr marL="0" indent="0">
              <a:buNone/>
            </a:pPr>
            <a:r>
              <a:rPr lang="en-US" b="1" dirty="0">
                <a:solidFill>
                  <a:srgbClr val="1E3A5F"/>
                </a:solidFill>
                <a:latin typeface="Calibri" pitchFamily="34" charset="0"/>
                <a:ea typeface="Calibri" pitchFamily="34" charset="-122"/>
                <a:cs typeface="Calibri" pitchFamily="34" charset="-120"/>
              </a:rPr>
              <a:t>B)  </a:t>
            </a:r>
            <a:r>
              <a:rPr lang="en-US" dirty="0">
                <a:solidFill>
                  <a:srgbClr val="1E2761"/>
                </a:solidFill>
                <a:latin typeface="Calibri" pitchFamily="34" charset="0"/>
                <a:ea typeface="Calibri" pitchFamily="34" charset="-122"/>
                <a:cs typeface="Calibri" pitchFamily="34" charset="-120"/>
              </a:rPr>
              <a:t>II</a:t>
            </a:r>
            <a:endParaRPr lang="en-US" dirty="0"/>
          </a:p>
        </p:txBody>
      </p:sp>
      <p:sp>
        <p:nvSpPr>
          <p:cNvPr id="12" name="Text 9"/>
          <p:cNvSpPr/>
          <p:nvPr/>
        </p:nvSpPr>
        <p:spPr>
          <a:xfrm>
            <a:off x="914400" y="5048600"/>
            <a:ext cx="10360152" cy="281330"/>
          </a:xfrm>
          <a:prstGeom prst="rect">
            <a:avLst/>
          </a:prstGeom>
          <a:noFill/>
          <a:ln/>
        </p:spPr>
        <p:txBody>
          <a:bodyPr wrap="square" lIns="0" tIns="0" rIns="0" bIns="0" rtlCol="0" anchor="t"/>
          <a:lstStyle/>
          <a:p>
            <a:pPr marL="0" indent="0">
              <a:buNone/>
            </a:pPr>
            <a:r>
              <a:rPr lang="en-US" b="1" dirty="0">
                <a:solidFill>
                  <a:srgbClr val="1E3A5F"/>
                </a:solidFill>
                <a:latin typeface="Calibri" pitchFamily="34" charset="0"/>
                <a:ea typeface="Calibri" pitchFamily="34" charset="-122"/>
                <a:cs typeface="Calibri" pitchFamily="34" charset="-120"/>
              </a:rPr>
              <a:t>C)  </a:t>
            </a:r>
            <a:r>
              <a:rPr lang="en-US" dirty="0">
                <a:solidFill>
                  <a:srgbClr val="1E2761"/>
                </a:solidFill>
                <a:latin typeface="Calibri" pitchFamily="34" charset="0"/>
                <a:ea typeface="Calibri" pitchFamily="34" charset="-122"/>
                <a:cs typeface="Calibri" pitchFamily="34" charset="-120"/>
              </a:rPr>
              <a:t>III</a:t>
            </a:r>
            <a:endParaRPr lang="en-US" dirty="0"/>
          </a:p>
        </p:txBody>
      </p:sp>
      <p:sp>
        <p:nvSpPr>
          <p:cNvPr id="13" name="Text 10"/>
          <p:cNvSpPr/>
          <p:nvPr/>
        </p:nvSpPr>
        <p:spPr>
          <a:xfrm>
            <a:off x="914400" y="5515998"/>
            <a:ext cx="10360152" cy="281330"/>
          </a:xfrm>
          <a:prstGeom prst="rect">
            <a:avLst/>
          </a:prstGeom>
          <a:noFill/>
          <a:ln/>
        </p:spPr>
        <p:txBody>
          <a:bodyPr wrap="square" lIns="0" tIns="0" rIns="0" bIns="0" rtlCol="0" anchor="t"/>
          <a:lstStyle/>
          <a:p>
            <a:pPr marL="0" indent="0">
              <a:buNone/>
            </a:pPr>
            <a:r>
              <a:rPr lang="en-US" b="1" dirty="0">
                <a:solidFill>
                  <a:srgbClr val="1E3A5F"/>
                </a:solidFill>
                <a:latin typeface="Calibri" pitchFamily="34" charset="0"/>
                <a:ea typeface="Calibri" pitchFamily="34" charset="-122"/>
                <a:cs typeface="Calibri" pitchFamily="34" charset="-120"/>
              </a:rPr>
              <a:t>D)  </a:t>
            </a:r>
            <a:r>
              <a:rPr lang="en-US" dirty="0">
                <a:solidFill>
                  <a:srgbClr val="1E2761"/>
                </a:solidFill>
                <a:latin typeface="Calibri" pitchFamily="34" charset="0"/>
                <a:ea typeface="Calibri" pitchFamily="34" charset="-122"/>
                <a:cs typeface="Calibri" pitchFamily="34" charset="-120"/>
              </a:rPr>
              <a:t>IV</a:t>
            </a:r>
            <a:endParaRPr lang="en-US" dirty="0"/>
          </a:p>
        </p:txBody>
      </p:sp>
      <p:sp>
        <p:nvSpPr>
          <p:cNvPr id="14" name="Text 11"/>
          <p:cNvSpPr/>
          <p:nvPr/>
        </p:nvSpPr>
        <p:spPr>
          <a:xfrm>
            <a:off x="914400" y="5983396"/>
            <a:ext cx="10360152" cy="281330"/>
          </a:xfrm>
          <a:prstGeom prst="rect">
            <a:avLst/>
          </a:prstGeom>
          <a:noFill/>
          <a:ln/>
        </p:spPr>
        <p:txBody>
          <a:bodyPr wrap="square" lIns="0" tIns="0" rIns="0" bIns="0" rtlCol="0" anchor="t"/>
          <a:lstStyle/>
          <a:p>
            <a:pPr marL="0" indent="0">
              <a:buNone/>
            </a:pPr>
            <a:r>
              <a:rPr lang="en-US" b="1" dirty="0">
                <a:solidFill>
                  <a:srgbClr val="1E3A5F"/>
                </a:solidFill>
                <a:latin typeface="Calibri" pitchFamily="34" charset="0"/>
                <a:ea typeface="Calibri" pitchFamily="34" charset="-122"/>
                <a:cs typeface="Calibri" pitchFamily="34" charset="-120"/>
              </a:rPr>
              <a:t>E)  </a:t>
            </a:r>
            <a:r>
              <a:rPr lang="en-US" dirty="0">
                <a:solidFill>
                  <a:srgbClr val="1E2761"/>
                </a:solidFill>
                <a:latin typeface="Calibri" pitchFamily="34" charset="0"/>
                <a:ea typeface="Calibri" pitchFamily="34" charset="-122"/>
                <a:cs typeface="Calibri" pitchFamily="34" charset="-120"/>
              </a:rPr>
              <a:t>V</a:t>
            </a:r>
            <a:endParaRPr lang="en-US" dirty="0"/>
          </a:p>
        </p:txBody>
      </p:sp>
      <p:sp>
        <p:nvSpPr>
          <p:cNvPr id="21" name="Text 18"/>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TYT TÜRKÇE  ·  SÖZCÜKTE ANLAM  ·  Örnek Soru 2 — gerçek ÖSYM sorusu (Tip 2)</a:t>
            </a:r>
            <a:endParaRPr lang="en-US" sz="900" dirty="0"/>
          </a:p>
        </p:txBody>
      </p:sp>
      <p:sp>
        <p:nvSpPr>
          <p:cNvPr id="22" name="Text 19"/>
          <p:cNvSpPr/>
          <p:nvPr/>
        </p:nvSpPr>
        <p:spPr>
          <a:xfrm>
            <a:off x="9902952" y="6537960"/>
            <a:ext cx="18288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Ders 2 / 3</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48640"/>
            <a:ext cx="640080" cy="640080"/>
          </a:xfrm>
          <a:prstGeom prst="ellipse">
            <a:avLst/>
          </a:prstGeom>
          <a:solidFill>
            <a:srgbClr val="1E3A5F"/>
          </a:solidFill>
          <a:ln/>
        </p:spPr>
      </p:sp>
      <p:pic>
        <p:nvPicPr>
          <p:cNvPr id="3" name="Image 0" descr="icons/soru_white.png"/>
          <p:cNvPicPr>
            <a:picLocks noChangeAspect="1"/>
          </p:cNvPicPr>
          <p:nvPr/>
        </p:nvPicPr>
        <p:blipFill>
          <a:blip r:embed="rId2"/>
          <a:stretch>
            <a:fillRect/>
          </a:stretch>
        </p:blipFill>
        <p:spPr>
          <a:xfrm>
            <a:off x="784098" y="692658"/>
            <a:ext cx="352044" cy="352044"/>
          </a:xfrm>
          <a:prstGeom prst="rect">
            <a:avLst/>
          </a:prstGeom>
        </p:spPr>
      </p:pic>
      <p:sp>
        <p:nvSpPr>
          <p:cNvPr id="4" name="Text 1"/>
          <p:cNvSpPr/>
          <p:nvPr/>
        </p:nvSpPr>
        <p:spPr>
          <a:xfrm>
            <a:off x="1508760" y="566928"/>
            <a:ext cx="7315200" cy="320040"/>
          </a:xfrm>
          <a:prstGeom prst="rect">
            <a:avLst/>
          </a:prstGeom>
          <a:noFill/>
          <a:ln/>
        </p:spPr>
        <p:txBody>
          <a:bodyPr wrap="square" lIns="0" tIns="0" rIns="0" bIns="0"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ÖRNEK SORU · 2/3  ·  ÇÖZÜM</a:t>
            </a:r>
            <a:endParaRPr lang="en-US" sz="1300" dirty="0"/>
          </a:p>
        </p:txBody>
      </p:sp>
      <p:sp>
        <p:nvSpPr>
          <p:cNvPr id="5" name="Text 2"/>
          <p:cNvSpPr/>
          <p:nvPr/>
        </p:nvSpPr>
        <p:spPr>
          <a:xfrm>
            <a:off x="1463040" y="841248"/>
            <a:ext cx="7863840" cy="640080"/>
          </a:xfrm>
          <a:prstGeom prst="rect">
            <a:avLst/>
          </a:prstGeom>
          <a:noFill/>
          <a:ln/>
        </p:spPr>
        <p:txBody>
          <a:bodyPr wrap="square" lIns="0" tIns="0" rIns="0" bIns="0" rtlCol="0" anchor="ctr"/>
          <a:lstStyle/>
          <a:p>
            <a:pPr marL="0" indent="0">
              <a:buNone/>
            </a:pPr>
            <a:r>
              <a:rPr lang="en-US" sz="2800" b="1" dirty="0">
                <a:solidFill>
                  <a:srgbClr val="1E3A5F"/>
                </a:solidFill>
                <a:latin typeface="Cambria" pitchFamily="34" charset="0"/>
                <a:ea typeface="Cambria" pitchFamily="34" charset="-122"/>
                <a:cs typeface="Cambria" pitchFamily="34" charset="-120"/>
              </a:rPr>
              <a:t>Çözüm</a:t>
            </a:r>
            <a:endParaRPr lang="en-US" sz="2800" dirty="0"/>
          </a:p>
        </p:txBody>
      </p:sp>
      <p:sp>
        <p:nvSpPr>
          <p:cNvPr id="6" name="Shape 3"/>
          <p:cNvSpPr/>
          <p:nvPr/>
        </p:nvSpPr>
        <p:spPr>
          <a:xfrm>
            <a:off x="9464040" y="621792"/>
            <a:ext cx="2057400" cy="365760"/>
          </a:xfrm>
          <a:prstGeom prst="roundRect">
            <a:avLst>
              <a:gd name="adj" fmla="val 50000"/>
            </a:avLst>
          </a:prstGeom>
          <a:solidFill>
            <a:srgbClr val="EEF3F8"/>
          </a:solidFill>
          <a:ln w="12700">
            <a:solidFill>
              <a:srgbClr val="D9A441"/>
            </a:solidFill>
            <a:prstDash val="solid"/>
          </a:ln>
        </p:spPr>
      </p:sp>
      <p:sp>
        <p:nvSpPr>
          <p:cNvPr id="7" name="Text 4"/>
          <p:cNvSpPr/>
          <p:nvPr/>
        </p:nvSpPr>
        <p:spPr>
          <a:xfrm>
            <a:off x="9464040" y="621792"/>
            <a:ext cx="2057400" cy="365760"/>
          </a:xfrm>
          <a:prstGeom prst="rect">
            <a:avLst/>
          </a:prstGeom>
          <a:noFill/>
          <a:ln/>
        </p:spPr>
        <p:txBody>
          <a:bodyPr wrap="square" lIns="0" tIns="0" rIns="0" bIns="0" rtlCol="0" anchor="ctr"/>
          <a:lstStyle/>
          <a:p>
            <a:pPr marL="0" indent="0" algn="ctr">
              <a:buNone/>
            </a:pPr>
            <a:r>
              <a:rPr lang="en-US" sz="1050" b="1" dirty="0">
                <a:solidFill>
                  <a:srgbClr val="1E3A5F"/>
                </a:solidFill>
                <a:latin typeface="Calibri" pitchFamily="34" charset="0"/>
                <a:ea typeface="Calibri" pitchFamily="34" charset="-122"/>
                <a:cs typeface="Calibri" pitchFamily="34" charset="-120"/>
              </a:rPr>
              <a:t>ÖSYM (TYT - 2022)</a:t>
            </a:r>
            <a:endParaRPr lang="en-US" sz="1050" dirty="0"/>
          </a:p>
        </p:txBody>
      </p:sp>
      <p:sp>
        <p:nvSpPr>
          <p:cNvPr id="15" name="Shape 12"/>
          <p:cNvSpPr/>
          <p:nvPr/>
        </p:nvSpPr>
        <p:spPr>
          <a:xfrm>
            <a:off x="640080" y="1728814"/>
            <a:ext cx="10908792" cy="4434840"/>
          </a:xfrm>
          <a:prstGeom prst="roundRect">
            <a:avLst>
              <a:gd name="adj" fmla="val 2526"/>
            </a:avLst>
          </a:prstGeom>
          <a:solidFill>
            <a:srgbClr val="1E3A5F"/>
          </a:solidFill>
          <a:ln/>
        </p:spPr>
      </p:sp>
      <p:sp>
        <p:nvSpPr>
          <p:cNvPr id="17" name="Shape 14"/>
          <p:cNvSpPr/>
          <p:nvPr/>
        </p:nvSpPr>
        <p:spPr>
          <a:xfrm>
            <a:off x="914400" y="1822388"/>
            <a:ext cx="777240" cy="777240"/>
          </a:xfrm>
          <a:prstGeom prst="ellipse">
            <a:avLst/>
          </a:prstGeom>
          <a:solidFill>
            <a:srgbClr val="D9A441"/>
          </a:solidFill>
          <a:ln/>
        </p:spPr>
      </p:sp>
      <p:sp>
        <p:nvSpPr>
          <p:cNvPr id="18" name="Text 15"/>
          <p:cNvSpPr/>
          <p:nvPr/>
        </p:nvSpPr>
        <p:spPr>
          <a:xfrm>
            <a:off x="914400" y="1822388"/>
            <a:ext cx="777240" cy="777240"/>
          </a:xfrm>
          <a:prstGeom prst="rect">
            <a:avLst/>
          </a:prstGeom>
          <a:noFill/>
          <a:ln/>
        </p:spPr>
        <p:txBody>
          <a:bodyPr wrap="square" lIns="0" tIns="0" rIns="0" bIns="0" rtlCol="0" anchor="ctr"/>
          <a:lstStyle/>
          <a:p>
            <a:pPr marL="0" indent="0" algn="ctr">
              <a:buNone/>
            </a:pPr>
            <a:r>
              <a:rPr lang="en-US" sz="2700" b="1" dirty="0">
                <a:solidFill>
                  <a:srgbClr val="1E3A5F"/>
                </a:solidFill>
                <a:latin typeface="Cambria" pitchFamily="34" charset="0"/>
                <a:ea typeface="Cambria" pitchFamily="34" charset="-122"/>
                <a:cs typeface="Cambria" pitchFamily="34" charset="-120"/>
              </a:rPr>
              <a:t>A</a:t>
            </a:r>
            <a:endParaRPr lang="en-US" sz="2700" dirty="0"/>
          </a:p>
        </p:txBody>
      </p:sp>
      <p:sp>
        <p:nvSpPr>
          <p:cNvPr id="19" name="Text 16"/>
          <p:cNvSpPr/>
          <p:nvPr/>
        </p:nvSpPr>
        <p:spPr>
          <a:xfrm>
            <a:off x="1874520" y="1822388"/>
            <a:ext cx="4572000" cy="777240"/>
          </a:xfrm>
          <a:prstGeom prst="rect">
            <a:avLst/>
          </a:prstGeom>
          <a:noFill/>
          <a:ln/>
        </p:spPr>
        <p:txBody>
          <a:bodyPr wrap="square" lIns="0" tIns="0" rIns="0" bIns="0" rtlCol="0" anchor="ctr"/>
          <a:lstStyle/>
          <a:p>
            <a:pPr marL="0" indent="0">
              <a:buNone/>
            </a:pPr>
            <a:r>
              <a:rPr lang="en-US" sz="1900" dirty="0">
                <a:solidFill>
                  <a:srgbClr val="CADCFC"/>
                </a:solidFill>
                <a:latin typeface="Calibri" pitchFamily="34" charset="0"/>
                <a:ea typeface="Calibri" pitchFamily="34" charset="-122"/>
                <a:cs typeface="Calibri" pitchFamily="34" charset="-120"/>
              </a:rPr>
              <a:t>Doğru cevap</a:t>
            </a:r>
            <a:endParaRPr lang="en-US" sz="1900" dirty="0"/>
          </a:p>
        </p:txBody>
      </p:sp>
      <p:sp>
        <p:nvSpPr>
          <p:cNvPr id="20" name="Text 17"/>
          <p:cNvSpPr/>
          <p:nvPr/>
        </p:nvSpPr>
        <p:spPr>
          <a:xfrm>
            <a:off x="960120" y="2847114"/>
            <a:ext cx="10360152" cy="2423160"/>
          </a:xfrm>
          <a:prstGeom prst="rect">
            <a:avLst/>
          </a:prstGeom>
          <a:noFill/>
          <a:ln/>
        </p:spPr>
        <p:txBody>
          <a:bodyPr wrap="square" lIns="0" tIns="0" rIns="0" bIns="0" rtlCol="0" anchor="t"/>
          <a:lstStyle/>
          <a:p>
            <a:pPr marL="0" indent="0">
              <a:buNone/>
            </a:pPr>
            <a:r>
              <a:rPr lang="en-US" sz="2800" b="1" dirty="0">
                <a:solidFill>
                  <a:srgbClr val="D9A441"/>
                </a:solidFill>
                <a:latin typeface="Calibri" pitchFamily="34" charset="0"/>
                <a:ea typeface="Calibri" pitchFamily="34" charset="-122"/>
                <a:cs typeface="Calibri" pitchFamily="34" charset="-120"/>
              </a:rPr>
              <a:t>A  </a:t>
            </a:r>
            <a:r>
              <a:rPr lang="en-US" sz="2800" b="1" dirty="0">
                <a:solidFill>
                  <a:srgbClr val="FFFFFF"/>
                </a:solidFill>
                <a:latin typeface="Calibri" pitchFamily="34" charset="0"/>
                <a:ea typeface="Calibri" pitchFamily="34" charset="-122"/>
                <a:cs typeface="Calibri" pitchFamily="34" charset="-120"/>
              </a:rPr>
              <a:t>→ doğru cevap.
</a:t>
            </a:r>
            <a:r>
              <a:rPr lang="en-US" sz="2800" dirty="0">
                <a:solidFill>
                  <a:srgbClr val="CADCFC"/>
                </a:solidFill>
                <a:latin typeface="Calibri" pitchFamily="34" charset="0"/>
                <a:ea typeface="Calibri" pitchFamily="34" charset="-122"/>
                <a:cs typeface="Calibri" pitchFamily="34" charset="-120"/>
              </a:rPr>
              <a:t>I'deki "görece" (nispeten, kıyasla) ile parantezdeki "genellikle" (çoğunlukla) FARKLI kavramlardır — biri KIYASLAMA, diğeri SIKLIK anlatır, uyuşmazlar. II "belirtiler-göstergeler", III "düzen-uyum", IV "boyunca-süresince", V "aktifken-çalışırken" ise gerçekten örtüşen eş anlamlardır.</a:t>
            </a:r>
            <a:endParaRPr lang="en-US" sz="2800" dirty="0"/>
          </a:p>
        </p:txBody>
      </p:sp>
      <p:sp>
        <p:nvSpPr>
          <p:cNvPr id="21" name="Text 18"/>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TYT TÜRKÇE  ·  SÖZCÜKTE ANLAM  ·  Örnek Soru 2 — çözüm — gerçek ÖSYM sorusu (Tip 2)</a:t>
            </a:r>
            <a:endParaRPr lang="en-US" sz="900" dirty="0"/>
          </a:p>
        </p:txBody>
      </p:sp>
      <p:sp>
        <p:nvSpPr>
          <p:cNvPr id="22" name="Text 19"/>
          <p:cNvSpPr/>
          <p:nvPr/>
        </p:nvSpPr>
        <p:spPr>
          <a:xfrm>
            <a:off x="9902952" y="6537960"/>
            <a:ext cx="18288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Ders 2 / 3</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48640"/>
            <a:ext cx="640080" cy="640080"/>
          </a:xfrm>
          <a:prstGeom prst="ellipse">
            <a:avLst/>
          </a:prstGeom>
          <a:solidFill>
            <a:srgbClr val="1E3A5F"/>
          </a:solidFill>
          <a:ln/>
        </p:spPr>
      </p:sp>
      <p:pic>
        <p:nvPicPr>
          <p:cNvPr id="3" name="Image 0" descr="icons/soru_white.png"/>
          <p:cNvPicPr>
            <a:picLocks noChangeAspect="1"/>
          </p:cNvPicPr>
          <p:nvPr/>
        </p:nvPicPr>
        <p:blipFill>
          <a:blip r:embed="rId3"/>
          <a:stretch>
            <a:fillRect/>
          </a:stretch>
        </p:blipFill>
        <p:spPr>
          <a:xfrm>
            <a:off x="784098" y="692658"/>
            <a:ext cx="352044" cy="352044"/>
          </a:xfrm>
          <a:prstGeom prst="rect">
            <a:avLst/>
          </a:prstGeom>
        </p:spPr>
      </p:pic>
      <p:sp>
        <p:nvSpPr>
          <p:cNvPr id="4" name="Text 1"/>
          <p:cNvSpPr/>
          <p:nvPr/>
        </p:nvSpPr>
        <p:spPr>
          <a:xfrm>
            <a:off x="1508760" y="566928"/>
            <a:ext cx="7315200" cy="320040"/>
          </a:xfrm>
          <a:prstGeom prst="rect">
            <a:avLst/>
          </a:prstGeom>
          <a:noFill/>
          <a:ln/>
        </p:spPr>
        <p:txBody>
          <a:bodyPr wrap="square" lIns="0" tIns="0" rIns="0" bIns="0"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ÖRNEK SORU · 3/3</a:t>
            </a:r>
            <a:endParaRPr lang="en-US" sz="1300" dirty="0"/>
          </a:p>
        </p:txBody>
      </p:sp>
      <p:sp>
        <p:nvSpPr>
          <p:cNvPr id="5" name="Text 2"/>
          <p:cNvSpPr/>
          <p:nvPr/>
        </p:nvSpPr>
        <p:spPr>
          <a:xfrm>
            <a:off x="1463040" y="841248"/>
            <a:ext cx="7863840" cy="640080"/>
          </a:xfrm>
          <a:prstGeom prst="rect">
            <a:avLst/>
          </a:prstGeom>
          <a:noFill/>
          <a:ln/>
        </p:spPr>
        <p:txBody>
          <a:bodyPr wrap="square" lIns="0" tIns="0" rIns="0" bIns="0" rtlCol="0" anchor="ctr"/>
          <a:lstStyle/>
          <a:p>
            <a:pPr marL="0" indent="0">
              <a:buNone/>
            </a:pPr>
            <a:r>
              <a:rPr lang="en-US" sz="2800" b="1" dirty="0">
                <a:solidFill>
                  <a:srgbClr val="1E3A5F"/>
                </a:solidFill>
                <a:latin typeface="Cambria" pitchFamily="34" charset="0"/>
                <a:ea typeface="Cambria" pitchFamily="34" charset="-122"/>
                <a:cs typeface="Cambria" pitchFamily="34" charset="-120"/>
              </a:rPr>
              <a:t>Soru Çözümü</a:t>
            </a:r>
            <a:endParaRPr lang="en-US" sz="2800" dirty="0"/>
          </a:p>
        </p:txBody>
      </p:sp>
      <p:sp>
        <p:nvSpPr>
          <p:cNvPr id="6" name="Shape 3"/>
          <p:cNvSpPr/>
          <p:nvPr/>
        </p:nvSpPr>
        <p:spPr>
          <a:xfrm>
            <a:off x="9464040" y="621792"/>
            <a:ext cx="2057400" cy="365760"/>
          </a:xfrm>
          <a:prstGeom prst="roundRect">
            <a:avLst>
              <a:gd name="adj" fmla="val 50000"/>
            </a:avLst>
          </a:prstGeom>
          <a:solidFill>
            <a:srgbClr val="EEF3F8"/>
          </a:solidFill>
          <a:ln w="12700">
            <a:solidFill>
              <a:srgbClr val="D9A441"/>
            </a:solidFill>
            <a:prstDash val="solid"/>
          </a:ln>
        </p:spPr>
      </p:sp>
      <p:sp>
        <p:nvSpPr>
          <p:cNvPr id="7" name="Text 4"/>
          <p:cNvSpPr/>
          <p:nvPr/>
        </p:nvSpPr>
        <p:spPr>
          <a:xfrm>
            <a:off x="9464040" y="621792"/>
            <a:ext cx="2057400" cy="365760"/>
          </a:xfrm>
          <a:prstGeom prst="rect">
            <a:avLst/>
          </a:prstGeom>
          <a:noFill/>
          <a:ln/>
        </p:spPr>
        <p:txBody>
          <a:bodyPr wrap="square" lIns="0" tIns="0" rIns="0" bIns="0" rtlCol="0" anchor="ctr"/>
          <a:lstStyle/>
          <a:p>
            <a:pPr marL="0" indent="0" algn="ctr">
              <a:buNone/>
            </a:pPr>
            <a:r>
              <a:rPr lang="en-US" sz="1050" b="1" dirty="0">
                <a:solidFill>
                  <a:srgbClr val="1E3A5F"/>
                </a:solidFill>
                <a:latin typeface="Calibri" pitchFamily="34" charset="0"/>
                <a:ea typeface="Calibri" pitchFamily="34" charset="-122"/>
                <a:cs typeface="Calibri" pitchFamily="34" charset="-120"/>
              </a:rPr>
              <a:t>ÖSYM (TYT - 2026)</a:t>
            </a:r>
            <a:endParaRPr lang="en-US" sz="1050" dirty="0"/>
          </a:p>
        </p:txBody>
      </p:sp>
      <p:sp>
        <p:nvSpPr>
          <p:cNvPr id="8" name="Shape 5"/>
          <p:cNvSpPr/>
          <p:nvPr/>
        </p:nvSpPr>
        <p:spPr>
          <a:xfrm>
            <a:off x="640080" y="1645920"/>
            <a:ext cx="10908792" cy="4698586"/>
          </a:xfrm>
          <a:prstGeom prst="roundRect">
            <a:avLst>
              <a:gd name="adj" fmla="val 2474"/>
            </a:avLst>
          </a:prstGeom>
          <a:solidFill>
            <a:srgbClr val="EEF3F8"/>
          </a:solidFill>
          <a:ln/>
        </p:spPr>
      </p:sp>
      <p:sp>
        <p:nvSpPr>
          <p:cNvPr id="9" name="Text 6"/>
          <p:cNvSpPr/>
          <p:nvPr/>
        </p:nvSpPr>
        <p:spPr>
          <a:xfrm>
            <a:off x="914400" y="1828800"/>
            <a:ext cx="10360152" cy="1723644"/>
          </a:xfrm>
          <a:prstGeom prst="rect">
            <a:avLst/>
          </a:prstGeom>
          <a:noFill/>
          <a:ln/>
        </p:spPr>
        <p:txBody>
          <a:bodyPr wrap="square" lIns="0" tIns="0" rIns="0" bIns="0" rtlCol="0" anchor="t"/>
          <a:lstStyle/>
          <a:p>
            <a:pPr marL="0" indent="0">
              <a:buNone/>
            </a:pPr>
            <a:r>
              <a:rPr lang="en-US" sz="2400" dirty="0">
                <a:solidFill>
                  <a:srgbClr val="1E3A5F"/>
                </a:solidFill>
                <a:latin typeface="Calibri" pitchFamily="34" charset="0"/>
                <a:ea typeface="Calibri" pitchFamily="34" charset="-122"/>
                <a:cs typeface="Calibri" pitchFamily="34" charset="-120"/>
              </a:rPr>
              <a:t>Bu çalışmayı yürütürken Erkan ile iyi bir ikili olduk. İş birliğimizde beni en çok sevindiren ayrıntılardan biri onun ---- fikirlerimin özünü benden çok daha açık bir şekilde görmesiydi. O, daha akılcı ve irdeleyici olandı. Bense aksine daha ----. Birbirimizi kolayca anlayacak kadar benzer, şaşırtacak kadar </a:t>
            </a:r>
            <a:r>
              <a:rPr lang="en-US" sz="2400" dirty="0" err="1">
                <a:solidFill>
                  <a:srgbClr val="1E3A5F"/>
                </a:solidFill>
                <a:latin typeface="Calibri" pitchFamily="34" charset="0"/>
                <a:ea typeface="Calibri" pitchFamily="34" charset="-122"/>
                <a:cs typeface="Calibri" pitchFamily="34" charset="-120"/>
              </a:rPr>
              <a:t>farklıydık</a:t>
            </a:r>
            <a:r>
              <a:rPr lang="en-US" sz="2400" dirty="0">
                <a:solidFill>
                  <a:srgbClr val="1E3A5F"/>
                </a:solidFill>
                <a:latin typeface="Calibri" pitchFamily="34" charset="0"/>
                <a:ea typeface="Calibri" pitchFamily="34" charset="-122"/>
                <a:cs typeface="Calibri" pitchFamily="34" charset="-120"/>
              </a:rPr>
              <a:t>.</a:t>
            </a:r>
            <a:endParaRPr lang="en-US" sz="2400" dirty="0"/>
          </a:p>
          <a:p>
            <a:pPr marL="0" indent="0">
              <a:buNone/>
            </a:pPr>
            <a:r>
              <a:rPr lang="en-US" sz="2400" b="1" dirty="0">
                <a:solidFill>
                  <a:srgbClr val="1E3A5F"/>
                </a:solidFill>
                <a:latin typeface="Calibri" pitchFamily="34" charset="0"/>
                <a:ea typeface="Calibri" pitchFamily="34" charset="-122"/>
                <a:cs typeface="Calibri" pitchFamily="34" charset="-120"/>
              </a:rPr>
              <a:t>Bu parçada boş bırakılan yerlere sırasıyla aşağıdakilerden hangisi getirilmelidir?</a:t>
            </a:r>
            <a:endParaRPr lang="en-US" sz="2400" dirty="0"/>
          </a:p>
        </p:txBody>
      </p:sp>
      <p:sp>
        <p:nvSpPr>
          <p:cNvPr id="10" name="Text 7"/>
          <p:cNvSpPr/>
          <p:nvPr/>
        </p:nvSpPr>
        <p:spPr>
          <a:xfrm>
            <a:off x="914400" y="3790188"/>
            <a:ext cx="10360152" cy="324612"/>
          </a:xfrm>
          <a:prstGeom prst="rect">
            <a:avLst/>
          </a:prstGeom>
          <a:noFill/>
          <a:ln/>
        </p:spPr>
        <p:txBody>
          <a:bodyPr wrap="square" lIns="0" tIns="0" rIns="0" bIns="0" rtlCol="0" anchor="t"/>
          <a:lstStyle/>
          <a:p>
            <a:pPr marL="0" indent="0">
              <a:buNone/>
            </a:pPr>
            <a:r>
              <a:rPr lang="en-US" sz="2000" b="1" dirty="0">
                <a:solidFill>
                  <a:srgbClr val="1E3A5F"/>
                </a:solidFill>
                <a:latin typeface="Calibri" pitchFamily="34" charset="0"/>
                <a:ea typeface="Calibri" pitchFamily="34" charset="-122"/>
                <a:cs typeface="Calibri" pitchFamily="34" charset="-120"/>
              </a:rPr>
              <a:t>A)  </a:t>
            </a:r>
            <a:r>
              <a:rPr lang="en-US" sz="2000" dirty="0">
                <a:solidFill>
                  <a:srgbClr val="1E2761"/>
                </a:solidFill>
                <a:latin typeface="Calibri" pitchFamily="34" charset="0"/>
                <a:ea typeface="Calibri" pitchFamily="34" charset="-122"/>
                <a:cs typeface="Calibri" pitchFamily="34" charset="-120"/>
              </a:rPr>
              <a:t>yenilikçi - araştırmacıydım</a:t>
            </a:r>
            <a:endParaRPr lang="en-US" sz="2000" dirty="0"/>
          </a:p>
        </p:txBody>
      </p:sp>
      <p:sp>
        <p:nvSpPr>
          <p:cNvPr id="11" name="Text 8"/>
          <p:cNvSpPr/>
          <p:nvPr/>
        </p:nvSpPr>
        <p:spPr>
          <a:xfrm>
            <a:off x="914400" y="4255332"/>
            <a:ext cx="10360152" cy="324612"/>
          </a:xfrm>
          <a:prstGeom prst="rect">
            <a:avLst/>
          </a:prstGeom>
          <a:noFill/>
          <a:ln/>
        </p:spPr>
        <p:txBody>
          <a:bodyPr wrap="square" lIns="0" tIns="0" rIns="0" bIns="0" rtlCol="0" anchor="t"/>
          <a:lstStyle/>
          <a:p>
            <a:pPr marL="0" indent="0">
              <a:buNone/>
            </a:pPr>
            <a:r>
              <a:rPr lang="en-US" sz="2000" b="1" dirty="0">
                <a:solidFill>
                  <a:srgbClr val="1E3A5F"/>
                </a:solidFill>
                <a:latin typeface="Calibri" pitchFamily="34" charset="0"/>
                <a:ea typeface="Calibri" pitchFamily="34" charset="-122"/>
                <a:cs typeface="Calibri" pitchFamily="34" charset="-120"/>
              </a:rPr>
              <a:t>B)  </a:t>
            </a:r>
            <a:r>
              <a:rPr lang="en-US" sz="2000" dirty="0">
                <a:solidFill>
                  <a:srgbClr val="1E2761"/>
                </a:solidFill>
                <a:latin typeface="Calibri" pitchFamily="34" charset="0"/>
                <a:ea typeface="Calibri" pitchFamily="34" charset="-122"/>
                <a:cs typeface="Calibri" pitchFamily="34" charset="-120"/>
              </a:rPr>
              <a:t>karmaşık - sezgiseldim</a:t>
            </a:r>
            <a:endParaRPr lang="en-US" sz="2000" dirty="0"/>
          </a:p>
        </p:txBody>
      </p:sp>
      <p:sp>
        <p:nvSpPr>
          <p:cNvPr id="12" name="Text 9"/>
          <p:cNvSpPr/>
          <p:nvPr/>
        </p:nvSpPr>
        <p:spPr>
          <a:xfrm>
            <a:off x="914400" y="4720475"/>
            <a:ext cx="10360152" cy="324612"/>
          </a:xfrm>
          <a:prstGeom prst="rect">
            <a:avLst/>
          </a:prstGeom>
          <a:noFill/>
          <a:ln/>
        </p:spPr>
        <p:txBody>
          <a:bodyPr wrap="square" lIns="0" tIns="0" rIns="0" bIns="0" rtlCol="0" anchor="t"/>
          <a:lstStyle/>
          <a:p>
            <a:pPr marL="0" indent="0">
              <a:buNone/>
            </a:pPr>
            <a:r>
              <a:rPr lang="en-US" sz="2000" b="1" dirty="0">
                <a:solidFill>
                  <a:srgbClr val="1E3A5F"/>
                </a:solidFill>
                <a:latin typeface="Calibri" pitchFamily="34" charset="0"/>
                <a:ea typeface="Calibri" pitchFamily="34" charset="-122"/>
                <a:cs typeface="Calibri" pitchFamily="34" charset="-120"/>
              </a:rPr>
              <a:t>C)  </a:t>
            </a:r>
            <a:r>
              <a:rPr lang="en-US" sz="2000" dirty="0">
                <a:solidFill>
                  <a:srgbClr val="1E2761"/>
                </a:solidFill>
                <a:latin typeface="Calibri" pitchFamily="34" charset="0"/>
                <a:ea typeface="Calibri" pitchFamily="34" charset="-122"/>
                <a:cs typeface="Calibri" pitchFamily="34" charset="-120"/>
              </a:rPr>
              <a:t>dağınık - rasyoneldim</a:t>
            </a:r>
            <a:endParaRPr lang="en-US" sz="2000" dirty="0"/>
          </a:p>
        </p:txBody>
      </p:sp>
      <p:sp>
        <p:nvSpPr>
          <p:cNvPr id="13" name="Text 10"/>
          <p:cNvSpPr/>
          <p:nvPr/>
        </p:nvSpPr>
        <p:spPr>
          <a:xfrm>
            <a:off x="914400" y="5185619"/>
            <a:ext cx="10360152" cy="324612"/>
          </a:xfrm>
          <a:prstGeom prst="rect">
            <a:avLst/>
          </a:prstGeom>
          <a:noFill/>
          <a:ln/>
        </p:spPr>
        <p:txBody>
          <a:bodyPr wrap="square" lIns="0" tIns="0" rIns="0" bIns="0" rtlCol="0" anchor="t"/>
          <a:lstStyle/>
          <a:p>
            <a:pPr marL="0" indent="0">
              <a:buNone/>
            </a:pPr>
            <a:r>
              <a:rPr lang="en-US" sz="2000" b="1" dirty="0">
                <a:solidFill>
                  <a:srgbClr val="1E3A5F"/>
                </a:solidFill>
                <a:latin typeface="Calibri" pitchFamily="34" charset="0"/>
                <a:ea typeface="Calibri" pitchFamily="34" charset="-122"/>
                <a:cs typeface="Calibri" pitchFamily="34" charset="-120"/>
              </a:rPr>
              <a:t>D)  </a:t>
            </a:r>
            <a:r>
              <a:rPr lang="en-US" sz="2000" dirty="0">
                <a:solidFill>
                  <a:srgbClr val="1E2761"/>
                </a:solidFill>
                <a:latin typeface="Calibri" pitchFamily="34" charset="0"/>
                <a:ea typeface="Calibri" pitchFamily="34" charset="-122"/>
                <a:cs typeface="Calibri" pitchFamily="34" charset="-120"/>
              </a:rPr>
              <a:t>temelsiz - dikkatliydim</a:t>
            </a:r>
            <a:endParaRPr lang="en-US" sz="2000" dirty="0"/>
          </a:p>
        </p:txBody>
      </p:sp>
      <p:sp>
        <p:nvSpPr>
          <p:cNvPr id="14" name="Text 11"/>
          <p:cNvSpPr/>
          <p:nvPr/>
        </p:nvSpPr>
        <p:spPr>
          <a:xfrm>
            <a:off x="914400" y="5650762"/>
            <a:ext cx="10360152" cy="324612"/>
          </a:xfrm>
          <a:prstGeom prst="rect">
            <a:avLst/>
          </a:prstGeom>
          <a:noFill/>
          <a:ln/>
        </p:spPr>
        <p:txBody>
          <a:bodyPr wrap="square" lIns="0" tIns="0" rIns="0" bIns="0" rtlCol="0" anchor="t"/>
          <a:lstStyle/>
          <a:p>
            <a:pPr marL="0" indent="0">
              <a:buNone/>
            </a:pPr>
            <a:r>
              <a:rPr lang="en-US" sz="2000" b="1" dirty="0">
                <a:solidFill>
                  <a:srgbClr val="1E3A5F"/>
                </a:solidFill>
                <a:latin typeface="Calibri" pitchFamily="34" charset="0"/>
                <a:ea typeface="Calibri" pitchFamily="34" charset="-122"/>
                <a:cs typeface="Calibri" pitchFamily="34" charset="-120"/>
              </a:rPr>
              <a:t>E)  </a:t>
            </a:r>
            <a:r>
              <a:rPr lang="en-US" sz="2000" dirty="0">
                <a:solidFill>
                  <a:srgbClr val="1E2761"/>
                </a:solidFill>
                <a:latin typeface="Calibri" pitchFamily="34" charset="0"/>
                <a:ea typeface="Calibri" pitchFamily="34" charset="-122"/>
                <a:cs typeface="Calibri" pitchFamily="34" charset="-120"/>
              </a:rPr>
              <a:t>yüzeysel - meraklıydım</a:t>
            </a:r>
            <a:endParaRPr lang="en-US" sz="2000" dirty="0"/>
          </a:p>
        </p:txBody>
      </p:sp>
      <p:sp>
        <p:nvSpPr>
          <p:cNvPr id="21" name="Text 18"/>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TYT TÜRKÇE  ·  SÖZCÜKTE ANLAM  ·  Örnek Soru 3 — gerçek ÖSYM sorusu (Tip 1)</a:t>
            </a:r>
            <a:endParaRPr lang="en-US" sz="900" dirty="0"/>
          </a:p>
        </p:txBody>
      </p:sp>
      <p:sp>
        <p:nvSpPr>
          <p:cNvPr id="22" name="Text 19"/>
          <p:cNvSpPr/>
          <p:nvPr/>
        </p:nvSpPr>
        <p:spPr>
          <a:xfrm>
            <a:off x="9902952" y="6537960"/>
            <a:ext cx="18288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Ders 2 / 3</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48640"/>
            <a:ext cx="640080" cy="640080"/>
          </a:xfrm>
          <a:prstGeom prst="ellipse">
            <a:avLst/>
          </a:prstGeom>
          <a:solidFill>
            <a:srgbClr val="1E3A5F"/>
          </a:solidFill>
          <a:ln/>
        </p:spPr>
      </p:sp>
      <p:pic>
        <p:nvPicPr>
          <p:cNvPr id="3" name="Image 0" descr="icons/soru_white.png"/>
          <p:cNvPicPr>
            <a:picLocks noChangeAspect="1"/>
          </p:cNvPicPr>
          <p:nvPr/>
        </p:nvPicPr>
        <p:blipFill>
          <a:blip r:embed="rId2"/>
          <a:stretch>
            <a:fillRect/>
          </a:stretch>
        </p:blipFill>
        <p:spPr>
          <a:xfrm>
            <a:off x="784098" y="692658"/>
            <a:ext cx="352044" cy="352044"/>
          </a:xfrm>
          <a:prstGeom prst="rect">
            <a:avLst/>
          </a:prstGeom>
        </p:spPr>
      </p:pic>
      <p:sp>
        <p:nvSpPr>
          <p:cNvPr id="4" name="Text 1"/>
          <p:cNvSpPr/>
          <p:nvPr/>
        </p:nvSpPr>
        <p:spPr>
          <a:xfrm>
            <a:off x="1508760" y="566928"/>
            <a:ext cx="7315200" cy="320040"/>
          </a:xfrm>
          <a:prstGeom prst="rect">
            <a:avLst/>
          </a:prstGeom>
          <a:noFill/>
          <a:ln/>
        </p:spPr>
        <p:txBody>
          <a:bodyPr wrap="square" lIns="0" tIns="0" rIns="0" bIns="0"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ÖRNEK SORU · 3/3  ·  ÇÖZÜM</a:t>
            </a:r>
            <a:endParaRPr lang="en-US" sz="1300" dirty="0"/>
          </a:p>
        </p:txBody>
      </p:sp>
      <p:sp>
        <p:nvSpPr>
          <p:cNvPr id="5" name="Text 2"/>
          <p:cNvSpPr/>
          <p:nvPr/>
        </p:nvSpPr>
        <p:spPr>
          <a:xfrm>
            <a:off x="1463040" y="841248"/>
            <a:ext cx="7863840" cy="640080"/>
          </a:xfrm>
          <a:prstGeom prst="rect">
            <a:avLst/>
          </a:prstGeom>
          <a:noFill/>
          <a:ln/>
        </p:spPr>
        <p:txBody>
          <a:bodyPr wrap="square" lIns="0" tIns="0" rIns="0" bIns="0" rtlCol="0" anchor="ctr"/>
          <a:lstStyle/>
          <a:p>
            <a:pPr marL="0" indent="0">
              <a:buNone/>
            </a:pPr>
            <a:r>
              <a:rPr lang="en-US" sz="2800" b="1" dirty="0">
                <a:solidFill>
                  <a:srgbClr val="1E3A5F"/>
                </a:solidFill>
                <a:latin typeface="Cambria" pitchFamily="34" charset="0"/>
                <a:ea typeface="Cambria" pitchFamily="34" charset="-122"/>
                <a:cs typeface="Cambria" pitchFamily="34" charset="-120"/>
              </a:rPr>
              <a:t>Çözüm</a:t>
            </a:r>
            <a:endParaRPr lang="en-US" sz="2800" dirty="0"/>
          </a:p>
        </p:txBody>
      </p:sp>
      <p:sp>
        <p:nvSpPr>
          <p:cNvPr id="6" name="Shape 3"/>
          <p:cNvSpPr/>
          <p:nvPr/>
        </p:nvSpPr>
        <p:spPr>
          <a:xfrm>
            <a:off x="9464040" y="621792"/>
            <a:ext cx="2057400" cy="365760"/>
          </a:xfrm>
          <a:prstGeom prst="roundRect">
            <a:avLst>
              <a:gd name="adj" fmla="val 50000"/>
            </a:avLst>
          </a:prstGeom>
          <a:solidFill>
            <a:srgbClr val="EEF3F8"/>
          </a:solidFill>
          <a:ln w="12700">
            <a:solidFill>
              <a:srgbClr val="D9A441"/>
            </a:solidFill>
            <a:prstDash val="solid"/>
          </a:ln>
        </p:spPr>
      </p:sp>
      <p:sp>
        <p:nvSpPr>
          <p:cNvPr id="7" name="Text 4"/>
          <p:cNvSpPr/>
          <p:nvPr/>
        </p:nvSpPr>
        <p:spPr>
          <a:xfrm>
            <a:off x="9464040" y="621792"/>
            <a:ext cx="2057400" cy="365760"/>
          </a:xfrm>
          <a:prstGeom prst="rect">
            <a:avLst/>
          </a:prstGeom>
          <a:noFill/>
          <a:ln/>
        </p:spPr>
        <p:txBody>
          <a:bodyPr wrap="square" lIns="0" tIns="0" rIns="0" bIns="0" rtlCol="0" anchor="ctr"/>
          <a:lstStyle/>
          <a:p>
            <a:pPr marL="0" indent="0" algn="ctr">
              <a:buNone/>
            </a:pPr>
            <a:r>
              <a:rPr lang="en-US" sz="1050" b="1" dirty="0">
                <a:solidFill>
                  <a:srgbClr val="1E3A5F"/>
                </a:solidFill>
                <a:latin typeface="Calibri" pitchFamily="34" charset="0"/>
                <a:ea typeface="Calibri" pitchFamily="34" charset="-122"/>
                <a:cs typeface="Calibri" pitchFamily="34" charset="-120"/>
              </a:rPr>
              <a:t>ÖSYM (TYT - 2026)</a:t>
            </a:r>
            <a:endParaRPr lang="en-US" sz="1050" dirty="0"/>
          </a:p>
        </p:txBody>
      </p:sp>
      <p:sp>
        <p:nvSpPr>
          <p:cNvPr id="15" name="Shape 12"/>
          <p:cNvSpPr/>
          <p:nvPr/>
        </p:nvSpPr>
        <p:spPr>
          <a:xfrm>
            <a:off x="640080" y="1783080"/>
            <a:ext cx="10908792" cy="4434840"/>
          </a:xfrm>
          <a:prstGeom prst="roundRect">
            <a:avLst>
              <a:gd name="adj" fmla="val 2526"/>
            </a:avLst>
          </a:prstGeom>
          <a:solidFill>
            <a:srgbClr val="1E3A5F"/>
          </a:solidFill>
          <a:ln/>
        </p:spPr>
      </p:sp>
      <p:sp>
        <p:nvSpPr>
          <p:cNvPr id="17" name="Shape 14"/>
          <p:cNvSpPr/>
          <p:nvPr/>
        </p:nvSpPr>
        <p:spPr>
          <a:xfrm>
            <a:off x="914400" y="1942030"/>
            <a:ext cx="777240" cy="777240"/>
          </a:xfrm>
          <a:prstGeom prst="ellipse">
            <a:avLst/>
          </a:prstGeom>
          <a:solidFill>
            <a:srgbClr val="D9A441"/>
          </a:solidFill>
          <a:ln/>
        </p:spPr>
      </p:sp>
      <p:sp>
        <p:nvSpPr>
          <p:cNvPr id="18" name="Text 15"/>
          <p:cNvSpPr/>
          <p:nvPr/>
        </p:nvSpPr>
        <p:spPr>
          <a:xfrm>
            <a:off x="914400" y="1942030"/>
            <a:ext cx="777240" cy="777240"/>
          </a:xfrm>
          <a:prstGeom prst="rect">
            <a:avLst/>
          </a:prstGeom>
          <a:noFill/>
          <a:ln/>
        </p:spPr>
        <p:txBody>
          <a:bodyPr wrap="square" lIns="0" tIns="0" rIns="0" bIns="0" rtlCol="0" anchor="ctr"/>
          <a:lstStyle/>
          <a:p>
            <a:pPr marL="0" indent="0" algn="ctr">
              <a:buNone/>
            </a:pPr>
            <a:r>
              <a:rPr lang="en-US" sz="2700" b="1" dirty="0">
                <a:solidFill>
                  <a:srgbClr val="1E3A5F"/>
                </a:solidFill>
                <a:latin typeface="Cambria" pitchFamily="34" charset="0"/>
                <a:ea typeface="Cambria" pitchFamily="34" charset="-122"/>
                <a:cs typeface="Cambria" pitchFamily="34" charset="-120"/>
              </a:rPr>
              <a:t>B</a:t>
            </a:r>
            <a:endParaRPr lang="en-US" sz="2700" dirty="0"/>
          </a:p>
        </p:txBody>
      </p:sp>
      <p:sp>
        <p:nvSpPr>
          <p:cNvPr id="19" name="Text 16"/>
          <p:cNvSpPr/>
          <p:nvPr/>
        </p:nvSpPr>
        <p:spPr>
          <a:xfrm>
            <a:off x="1874520" y="1942030"/>
            <a:ext cx="4572000" cy="777240"/>
          </a:xfrm>
          <a:prstGeom prst="rect">
            <a:avLst/>
          </a:prstGeom>
          <a:noFill/>
          <a:ln/>
        </p:spPr>
        <p:txBody>
          <a:bodyPr wrap="square" lIns="0" tIns="0" rIns="0" bIns="0" rtlCol="0" anchor="ctr"/>
          <a:lstStyle/>
          <a:p>
            <a:pPr marL="0" indent="0">
              <a:buNone/>
            </a:pPr>
            <a:r>
              <a:rPr lang="en-US" sz="1900" dirty="0">
                <a:solidFill>
                  <a:srgbClr val="CADCFC"/>
                </a:solidFill>
                <a:latin typeface="Calibri" pitchFamily="34" charset="0"/>
                <a:ea typeface="Calibri" pitchFamily="34" charset="-122"/>
                <a:cs typeface="Calibri" pitchFamily="34" charset="-120"/>
              </a:rPr>
              <a:t>Doğru cevap</a:t>
            </a:r>
            <a:endParaRPr lang="en-US" sz="1900" dirty="0"/>
          </a:p>
        </p:txBody>
      </p:sp>
      <p:sp>
        <p:nvSpPr>
          <p:cNvPr id="20" name="Text 17"/>
          <p:cNvSpPr/>
          <p:nvPr/>
        </p:nvSpPr>
        <p:spPr>
          <a:xfrm>
            <a:off x="914400" y="3067511"/>
            <a:ext cx="10360152" cy="2423160"/>
          </a:xfrm>
          <a:prstGeom prst="rect">
            <a:avLst/>
          </a:prstGeom>
          <a:noFill/>
          <a:ln/>
        </p:spPr>
        <p:txBody>
          <a:bodyPr wrap="square" lIns="0" tIns="0" rIns="0" bIns="0" rtlCol="0" anchor="t"/>
          <a:lstStyle/>
          <a:p>
            <a:pPr marL="0" indent="0">
              <a:buNone/>
            </a:pPr>
            <a:r>
              <a:rPr lang="en-US" sz="2400" b="1" dirty="0">
                <a:solidFill>
                  <a:srgbClr val="D9A441"/>
                </a:solidFill>
                <a:latin typeface="Calibri" pitchFamily="34" charset="0"/>
                <a:ea typeface="Calibri" pitchFamily="34" charset="-122"/>
                <a:cs typeface="Calibri" pitchFamily="34" charset="-120"/>
              </a:rPr>
              <a:t>B  </a:t>
            </a:r>
            <a:r>
              <a:rPr lang="en-US" sz="2400" b="1" dirty="0">
                <a:solidFill>
                  <a:srgbClr val="FFFFFF"/>
                </a:solidFill>
                <a:latin typeface="Calibri" pitchFamily="34" charset="0"/>
                <a:ea typeface="Calibri" pitchFamily="34" charset="-122"/>
                <a:cs typeface="Calibri" pitchFamily="34" charset="-120"/>
              </a:rPr>
              <a:t>→ doğru cevap.
</a:t>
            </a:r>
            <a:r>
              <a:rPr lang="en-US" sz="2400" dirty="0">
                <a:solidFill>
                  <a:srgbClr val="CADCFC"/>
                </a:solidFill>
                <a:latin typeface="Calibri" pitchFamily="34" charset="0"/>
                <a:ea typeface="Calibri" pitchFamily="34" charset="-122"/>
                <a:cs typeface="Calibri" pitchFamily="34" charset="-120"/>
              </a:rPr>
              <a:t>"O, daha akılcı ve irdeleyici olandı. Bense aksine daha ----." cümlesindeki "aksine" sözcüğü KONTRAST ister — "sezgisel" (akılcının karşıtı) bu kontrastı kurar. İlk boşlukta "karmaşık fikirlerimin özünü görmesi", onun akılcı yönüyle tutarlıdır. Diğer çiftlerde ya kontrast kurulmaz ya da anlam tutarsızlaşır.</a:t>
            </a:r>
            <a:endParaRPr lang="en-US" sz="2400" dirty="0"/>
          </a:p>
        </p:txBody>
      </p:sp>
      <p:sp>
        <p:nvSpPr>
          <p:cNvPr id="21" name="Text 18"/>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TYT TÜRKÇE  ·  SÖZCÜKTE ANLAM  ·  Örnek Soru 3 — çözüm — gerçek ÖSYM sorusu (Tip 1)</a:t>
            </a:r>
            <a:endParaRPr lang="en-US" sz="900" dirty="0"/>
          </a:p>
        </p:txBody>
      </p:sp>
      <p:sp>
        <p:nvSpPr>
          <p:cNvPr id="22" name="Text 19"/>
          <p:cNvSpPr/>
          <p:nvPr/>
        </p:nvSpPr>
        <p:spPr>
          <a:xfrm>
            <a:off x="9902952" y="6537960"/>
            <a:ext cx="18288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Ders 2 / 3</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48640"/>
            <a:ext cx="640080" cy="640080"/>
          </a:xfrm>
          <a:prstGeom prst="ellipse">
            <a:avLst/>
          </a:prstGeom>
          <a:solidFill>
            <a:srgbClr val="1E3A5F"/>
          </a:solidFill>
          <a:ln/>
        </p:spPr>
      </p:sp>
      <p:pic>
        <p:nvPicPr>
          <p:cNvPr id="3" name="Image 0" descr="icons/derinlik_white.png"/>
          <p:cNvPicPr>
            <a:picLocks noChangeAspect="1"/>
          </p:cNvPicPr>
          <p:nvPr/>
        </p:nvPicPr>
        <p:blipFill>
          <a:blip r:embed="rId3"/>
          <a:stretch>
            <a:fillRect/>
          </a:stretch>
        </p:blipFill>
        <p:spPr>
          <a:xfrm>
            <a:off x="784098" y="692658"/>
            <a:ext cx="352044" cy="352044"/>
          </a:xfrm>
          <a:prstGeom prst="rect">
            <a:avLst/>
          </a:prstGeom>
        </p:spPr>
      </p:pic>
      <p:sp>
        <p:nvSpPr>
          <p:cNvPr id="4" name="Text 1"/>
          <p:cNvSpPr/>
          <p:nvPr/>
        </p:nvSpPr>
        <p:spPr>
          <a:xfrm>
            <a:off x="1508760" y="566928"/>
            <a:ext cx="7315200" cy="320040"/>
          </a:xfrm>
          <a:prstGeom prst="rect">
            <a:avLst/>
          </a:prstGeom>
          <a:noFill/>
          <a:ln/>
        </p:spPr>
        <p:txBody>
          <a:bodyPr wrap="square" lIns="0" tIns="0" rIns="0" bIns="0"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ÖRNEK SORU · 3/3  ·  DERINLEŞME</a:t>
            </a:r>
            <a:endParaRPr lang="en-US" sz="1300" dirty="0"/>
          </a:p>
        </p:txBody>
      </p:sp>
      <p:sp>
        <p:nvSpPr>
          <p:cNvPr id="5" name="Text 2"/>
          <p:cNvSpPr/>
          <p:nvPr/>
        </p:nvSpPr>
        <p:spPr>
          <a:xfrm>
            <a:off x="1463040" y="841248"/>
            <a:ext cx="8229600" cy="640080"/>
          </a:xfrm>
          <a:prstGeom prst="rect">
            <a:avLst/>
          </a:prstGeom>
          <a:noFill/>
          <a:ln/>
        </p:spPr>
        <p:txBody>
          <a:bodyPr wrap="square" lIns="0" tIns="0" rIns="0" bIns="0" rtlCol="0" anchor="ctr"/>
          <a:lstStyle/>
          <a:p>
            <a:pPr marL="0" indent="0">
              <a:buNone/>
            </a:pPr>
            <a:r>
              <a:rPr lang="en-US" sz="2800" b="1" dirty="0">
                <a:solidFill>
                  <a:srgbClr val="1E3A5F"/>
                </a:solidFill>
                <a:latin typeface="Cambria" pitchFamily="34" charset="0"/>
                <a:ea typeface="Cambria" pitchFamily="34" charset="-122"/>
                <a:cs typeface="Cambria" pitchFamily="34" charset="-120"/>
              </a:rPr>
              <a:t>Boşluk Doldurmada Sözcük Çiftinin TUTARLILIĞI</a:t>
            </a:r>
            <a:endParaRPr lang="en-US" sz="2800" dirty="0"/>
          </a:p>
        </p:txBody>
      </p:sp>
      <p:sp>
        <p:nvSpPr>
          <p:cNvPr id="6" name="Shape 3"/>
          <p:cNvSpPr/>
          <p:nvPr/>
        </p:nvSpPr>
        <p:spPr>
          <a:xfrm>
            <a:off x="640080" y="1737360"/>
            <a:ext cx="10881360" cy="960120"/>
          </a:xfrm>
          <a:prstGeom prst="roundRect">
            <a:avLst>
              <a:gd name="adj" fmla="val 9524"/>
            </a:avLst>
          </a:prstGeom>
          <a:solidFill>
            <a:srgbClr val="EEF3F8"/>
          </a:solidFill>
          <a:ln/>
        </p:spPr>
      </p:sp>
      <p:sp>
        <p:nvSpPr>
          <p:cNvPr id="7" name="Text 4"/>
          <p:cNvSpPr/>
          <p:nvPr/>
        </p:nvSpPr>
        <p:spPr>
          <a:xfrm>
            <a:off x="914400" y="1737360"/>
            <a:ext cx="10332720" cy="960120"/>
          </a:xfrm>
          <a:prstGeom prst="rect">
            <a:avLst/>
          </a:prstGeom>
          <a:noFill/>
          <a:ln/>
        </p:spPr>
        <p:txBody>
          <a:bodyPr wrap="square" lIns="0" tIns="0" rIns="0" bIns="0" rtlCol="0" anchor="ctr"/>
          <a:lstStyle/>
          <a:p>
            <a:pPr marL="0" indent="0">
              <a:buNone/>
            </a:pPr>
            <a:r>
              <a:rPr lang="en-US" sz="1450" b="1" dirty="0">
                <a:solidFill>
                  <a:srgbClr val="1E3A5F"/>
                </a:solidFill>
                <a:latin typeface="Calibri" pitchFamily="34" charset="0"/>
                <a:ea typeface="Calibri" pitchFamily="34" charset="-122"/>
                <a:cs typeface="Calibri" pitchFamily="34" charset="-120"/>
              </a:rPr>
              <a:t>Gözlem:  </a:t>
            </a:r>
            <a:r>
              <a:rPr lang="en-US" sz="1450" dirty="0">
                <a:solidFill>
                  <a:srgbClr val="1E2761"/>
                </a:solidFill>
                <a:latin typeface="Calibri" pitchFamily="34" charset="0"/>
                <a:ea typeface="Calibri" pitchFamily="34" charset="-122"/>
                <a:cs typeface="Calibri" pitchFamily="34" charset="-120"/>
              </a:rPr>
              <a:t>İki boşluklu sorularda doğru seçenek tek bir sözcük değil, bir ÇİFT'tir. Sınavı hazırlayanlar, çiftin bir yarısı doğru diğer yarısı yanlış olan "yarım doğru" çeldiriciler kurar.</a:t>
            </a:r>
            <a:endParaRPr lang="en-US" sz="1450" dirty="0"/>
          </a:p>
        </p:txBody>
      </p:sp>
      <p:sp>
        <p:nvSpPr>
          <p:cNvPr id="8" name="Shape 5"/>
          <p:cNvSpPr/>
          <p:nvPr/>
        </p:nvSpPr>
        <p:spPr>
          <a:xfrm>
            <a:off x="640080" y="2880360"/>
            <a:ext cx="10881360" cy="868680"/>
          </a:xfrm>
          <a:prstGeom prst="roundRect">
            <a:avLst>
              <a:gd name="adj" fmla="val 10526"/>
            </a:avLst>
          </a:prstGeom>
          <a:solidFill>
            <a:srgbClr val="EEF3F8"/>
          </a:solidFill>
          <a:ln/>
        </p:spPr>
      </p:sp>
      <p:sp>
        <p:nvSpPr>
          <p:cNvPr id="9" name="Shape 6"/>
          <p:cNvSpPr/>
          <p:nvPr/>
        </p:nvSpPr>
        <p:spPr>
          <a:xfrm>
            <a:off x="822960" y="3063240"/>
            <a:ext cx="2743200" cy="502920"/>
          </a:xfrm>
          <a:prstGeom prst="roundRect">
            <a:avLst>
              <a:gd name="adj" fmla="val 14545"/>
            </a:avLst>
          </a:prstGeom>
          <a:solidFill>
            <a:srgbClr val="6B7280"/>
          </a:solidFill>
          <a:ln/>
          <a:effectLst>
            <a:outerShdw blurRad="76200" dist="25400" dir="5400000" algn="bl" rotWithShape="0">
              <a:srgbClr val="1E2761">
                <a:alpha val="18000"/>
              </a:srgbClr>
            </a:outerShdw>
          </a:effectLst>
        </p:spPr>
      </p:sp>
      <p:sp>
        <p:nvSpPr>
          <p:cNvPr id="10" name="Text 7"/>
          <p:cNvSpPr/>
          <p:nvPr/>
        </p:nvSpPr>
        <p:spPr>
          <a:xfrm>
            <a:off x="822960" y="3063240"/>
            <a:ext cx="274320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 yenilikçi - araştırmacıydım</a:t>
            </a:r>
            <a:endParaRPr lang="en-US" sz="1300" dirty="0"/>
          </a:p>
        </p:txBody>
      </p:sp>
      <p:sp>
        <p:nvSpPr>
          <p:cNvPr id="11" name="Text 8"/>
          <p:cNvSpPr/>
          <p:nvPr/>
        </p:nvSpPr>
        <p:spPr>
          <a:xfrm>
            <a:off x="3794760" y="2880360"/>
            <a:ext cx="7498080" cy="868680"/>
          </a:xfrm>
          <a:prstGeom prst="rect">
            <a:avLst/>
          </a:prstGeom>
          <a:noFill/>
          <a:ln/>
        </p:spPr>
        <p:txBody>
          <a:bodyPr wrap="square" lIns="0" tIns="0" rIns="0" bIns="0" rtlCol="0" anchor="ctr"/>
          <a:lstStyle/>
          <a:p>
            <a:pPr marL="0" indent="0">
              <a:buNone/>
            </a:pPr>
            <a:r>
              <a:rPr lang="en-US" sz="1150" dirty="0">
                <a:solidFill>
                  <a:srgbClr val="1E2761"/>
                </a:solidFill>
                <a:latin typeface="Calibri" pitchFamily="34" charset="0"/>
                <a:ea typeface="Calibri" pitchFamily="34" charset="-122"/>
                <a:cs typeface="Calibri" pitchFamily="34" charset="-120"/>
              </a:rPr>
              <a:t>"araştırmacıydım" sözcüğü "akılcı ve irdeleyici" ile ZITLIK kurmuyor — kontrast beklenirken uyum var, YANLIŞ çift.</a:t>
            </a:r>
            <a:endParaRPr lang="en-US" sz="1150" dirty="0"/>
          </a:p>
        </p:txBody>
      </p:sp>
      <p:sp>
        <p:nvSpPr>
          <p:cNvPr id="12" name="Shape 9"/>
          <p:cNvSpPr/>
          <p:nvPr/>
        </p:nvSpPr>
        <p:spPr>
          <a:xfrm>
            <a:off x="640080" y="3867912"/>
            <a:ext cx="10881360" cy="868680"/>
          </a:xfrm>
          <a:prstGeom prst="roundRect">
            <a:avLst>
              <a:gd name="adj" fmla="val 10526"/>
            </a:avLst>
          </a:prstGeom>
          <a:solidFill>
            <a:srgbClr val="EEF3F8"/>
          </a:solidFill>
          <a:ln/>
        </p:spPr>
      </p:sp>
      <p:sp>
        <p:nvSpPr>
          <p:cNvPr id="13" name="Shape 10"/>
          <p:cNvSpPr/>
          <p:nvPr/>
        </p:nvSpPr>
        <p:spPr>
          <a:xfrm>
            <a:off x="822960" y="4050792"/>
            <a:ext cx="2743200" cy="502920"/>
          </a:xfrm>
          <a:prstGeom prst="roundRect">
            <a:avLst>
              <a:gd name="adj" fmla="val 14545"/>
            </a:avLst>
          </a:prstGeom>
          <a:solidFill>
            <a:srgbClr val="D9A441"/>
          </a:solidFill>
          <a:ln/>
          <a:effectLst>
            <a:outerShdw blurRad="76200" dist="25400" dir="5400000" algn="bl" rotWithShape="0">
              <a:srgbClr val="1E2761">
                <a:alpha val="18000"/>
              </a:srgbClr>
            </a:outerShdw>
          </a:effectLst>
        </p:spPr>
      </p:sp>
      <p:sp>
        <p:nvSpPr>
          <p:cNvPr id="14" name="Text 11"/>
          <p:cNvSpPr/>
          <p:nvPr/>
        </p:nvSpPr>
        <p:spPr>
          <a:xfrm>
            <a:off x="822960" y="4050792"/>
            <a:ext cx="2743200" cy="502920"/>
          </a:xfrm>
          <a:prstGeom prst="rect">
            <a:avLst/>
          </a:prstGeom>
          <a:noFill/>
          <a:ln/>
        </p:spPr>
        <p:txBody>
          <a:bodyPr wrap="square" lIns="0" tIns="0" rIns="0" bIns="0" rtlCol="0" anchor="ctr"/>
          <a:lstStyle/>
          <a:p>
            <a:pPr marL="0" indent="0" algn="ctr">
              <a:buNone/>
            </a:pPr>
            <a:r>
              <a:rPr lang="en-US" sz="1300" b="1" dirty="0">
                <a:solidFill>
                  <a:srgbClr val="142A44"/>
                </a:solidFill>
                <a:latin typeface="Calibri" pitchFamily="34" charset="0"/>
                <a:ea typeface="Calibri" pitchFamily="34" charset="-122"/>
                <a:cs typeface="Calibri" pitchFamily="34" charset="-120"/>
              </a:rPr>
              <a:t>B) karmaşık - sezgiseldim</a:t>
            </a:r>
            <a:endParaRPr lang="en-US" sz="1300" dirty="0"/>
          </a:p>
        </p:txBody>
      </p:sp>
      <p:sp>
        <p:nvSpPr>
          <p:cNvPr id="15" name="Text 12"/>
          <p:cNvSpPr/>
          <p:nvPr/>
        </p:nvSpPr>
        <p:spPr>
          <a:xfrm>
            <a:off x="3794760" y="3867912"/>
            <a:ext cx="7498080" cy="868680"/>
          </a:xfrm>
          <a:prstGeom prst="rect">
            <a:avLst/>
          </a:prstGeom>
          <a:noFill/>
          <a:ln/>
        </p:spPr>
        <p:txBody>
          <a:bodyPr wrap="square" lIns="0" tIns="0" rIns="0" bIns="0" rtlCol="0" anchor="ctr"/>
          <a:lstStyle/>
          <a:p>
            <a:pPr marL="0" indent="0">
              <a:buNone/>
            </a:pPr>
            <a:r>
              <a:rPr lang="en-US" sz="1150" dirty="0">
                <a:solidFill>
                  <a:srgbClr val="1E2761"/>
                </a:solidFill>
                <a:latin typeface="Calibri" pitchFamily="34" charset="0"/>
                <a:ea typeface="Calibri" pitchFamily="34" charset="-122"/>
                <a:cs typeface="Calibri" pitchFamily="34" charset="-120"/>
              </a:rPr>
              <a:t>"sezgisel", metindeki "akılcı ve irdeleyici"nin karşıtıdır — "aksine" sözcüğüyle beklenen KONTRAST burada var, DOĞRU çift.</a:t>
            </a:r>
            <a:endParaRPr lang="en-US" sz="1150" dirty="0"/>
          </a:p>
        </p:txBody>
      </p:sp>
      <p:sp>
        <p:nvSpPr>
          <p:cNvPr id="16" name="Shape 13"/>
          <p:cNvSpPr/>
          <p:nvPr/>
        </p:nvSpPr>
        <p:spPr>
          <a:xfrm>
            <a:off x="640080" y="4855464"/>
            <a:ext cx="10881360" cy="868680"/>
          </a:xfrm>
          <a:prstGeom prst="roundRect">
            <a:avLst>
              <a:gd name="adj" fmla="val 10526"/>
            </a:avLst>
          </a:prstGeom>
          <a:solidFill>
            <a:srgbClr val="EEF3F8"/>
          </a:solidFill>
          <a:ln/>
        </p:spPr>
      </p:sp>
      <p:sp>
        <p:nvSpPr>
          <p:cNvPr id="17" name="Shape 14"/>
          <p:cNvSpPr/>
          <p:nvPr/>
        </p:nvSpPr>
        <p:spPr>
          <a:xfrm>
            <a:off x="822960" y="5038344"/>
            <a:ext cx="2743200" cy="502920"/>
          </a:xfrm>
          <a:prstGeom prst="roundRect">
            <a:avLst>
              <a:gd name="adj" fmla="val 14545"/>
            </a:avLst>
          </a:prstGeom>
          <a:solidFill>
            <a:srgbClr val="6B7280"/>
          </a:solidFill>
          <a:ln/>
          <a:effectLst>
            <a:outerShdw blurRad="76200" dist="25400" dir="5400000" algn="bl" rotWithShape="0">
              <a:srgbClr val="1E2761">
                <a:alpha val="18000"/>
              </a:srgbClr>
            </a:outerShdw>
          </a:effectLst>
        </p:spPr>
      </p:sp>
      <p:sp>
        <p:nvSpPr>
          <p:cNvPr id="18" name="Text 15"/>
          <p:cNvSpPr/>
          <p:nvPr/>
        </p:nvSpPr>
        <p:spPr>
          <a:xfrm>
            <a:off x="822960" y="5038344"/>
            <a:ext cx="274320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 dağınık - rasyoneldim</a:t>
            </a:r>
            <a:endParaRPr lang="en-US" sz="1300" dirty="0"/>
          </a:p>
        </p:txBody>
      </p:sp>
      <p:sp>
        <p:nvSpPr>
          <p:cNvPr id="19" name="Text 16"/>
          <p:cNvSpPr/>
          <p:nvPr/>
        </p:nvSpPr>
        <p:spPr>
          <a:xfrm>
            <a:off x="3794760" y="4855464"/>
            <a:ext cx="7498080" cy="868680"/>
          </a:xfrm>
          <a:prstGeom prst="rect">
            <a:avLst/>
          </a:prstGeom>
          <a:noFill/>
          <a:ln/>
        </p:spPr>
        <p:txBody>
          <a:bodyPr wrap="square" lIns="0" tIns="0" rIns="0" bIns="0" rtlCol="0" anchor="ctr"/>
          <a:lstStyle/>
          <a:p>
            <a:pPr marL="0" indent="0">
              <a:buNone/>
            </a:pPr>
            <a:r>
              <a:rPr lang="en-US" sz="1150" dirty="0">
                <a:solidFill>
                  <a:srgbClr val="1E2761"/>
                </a:solidFill>
                <a:latin typeface="Calibri" pitchFamily="34" charset="0"/>
                <a:ea typeface="Calibri" pitchFamily="34" charset="-122"/>
                <a:cs typeface="Calibri" pitchFamily="34" charset="-120"/>
              </a:rPr>
              <a:t>"rasyonel" (akılcı) ile "O daha akılcı..." cümlesi arasında yine ZITLIK yok — iki kişi de akılcı olamaz, YANLIŞ çift.</a:t>
            </a:r>
            <a:endParaRPr lang="en-US" sz="1150" dirty="0"/>
          </a:p>
        </p:txBody>
      </p:sp>
      <p:sp>
        <p:nvSpPr>
          <p:cNvPr id="20" name="Shape 17"/>
          <p:cNvSpPr/>
          <p:nvPr/>
        </p:nvSpPr>
        <p:spPr>
          <a:xfrm>
            <a:off x="640080" y="5806440"/>
            <a:ext cx="10881360" cy="502920"/>
          </a:xfrm>
          <a:prstGeom prst="roundRect">
            <a:avLst>
              <a:gd name="adj" fmla="val 18182"/>
            </a:avLst>
          </a:prstGeom>
          <a:solidFill>
            <a:srgbClr val="FBF3E3"/>
          </a:solidFill>
          <a:ln/>
        </p:spPr>
      </p:sp>
      <p:sp>
        <p:nvSpPr>
          <p:cNvPr id="21" name="Text 18"/>
          <p:cNvSpPr/>
          <p:nvPr/>
        </p:nvSpPr>
        <p:spPr>
          <a:xfrm>
            <a:off x="914400" y="5806440"/>
            <a:ext cx="10332720" cy="502920"/>
          </a:xfrm>
          <a:prstGeom prst="rect">
            <a:avLst/>
          </a:prstGeom>
          <a:noFill/>
          <a:ln/>
        </p:spPr>
        <p:txBody>
          <a:bodyPr wrap="square" lIns="0" tIns="0" rIns="0" bIns="0" rtlCol="0" anchor="ctr"/>
          <a:lstStyle/>
          <a:p>
            <a:pPr marL="0" indent="0">
              <a:buNone/>
            </a:pPr>
            <a:r>
              <a:rPr lang="en-US" sz="1300" dirty="0">
                <a:solidFill>
                  <a:srgbClr val="1E2761"/>
                </a:solidFill>
                <a:latin typeface="Calibri" pitchFamily="34" charset="0"/>
                <a:ea typeface="Calibri" pitchFamily="34" charset="-122"/>
                <a:cs typeface="Calibri" pitchFamily="34" charset="-120"/>
              </a:rPr>
              <a:t>Önemli: 5 seçeneğin çoğu, çiftin YARISINI doğru kurar — kazanan seçenek İKİ yarının da bağlamla tutarlı olduğu tek çifttir.</a:t>
            </a:r>
            <a:endParaRPr lang="en-US" sz="1300" dirty="0"/>
          </a:p>
        </p:txBody>
      </p:sp>
      <p:sp>
        <p:nvSpPr>
          <p:cNvPr id="22" name="Text 19"/>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TYT TÜRKÇE  ·  SÖZCÜKTE ANLAM  ·  Örnek Soru 3 — derinleşme  ·  gerçek ÖSYM sorusu (TYT-2026)</a:t>
            </a:r>
            <a:endParaRPr lang="en-US" sz="900" dirty="0"/>
          </a:p>
        </p:txBody>
      </p:sp>
      <p:sp>
        <p:nvSpPr>
          <p:cNvPr id="23" name="Text 20"/>
          <p:cNvSpPr/>
          <p:nvPr/>
        </p:nvSpPr>
        <p:spPr>
          <a:xfrm>
            <a:off x="9902952" y="6537960"/>
            <a:ext cx="18288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Ders 2 / 3</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48640"/>
            <a:ext cx="640080" cy="640080"/>
          </a:xfrm>
          <a:prstGeom prst="ellipse">
            <a:avLst/>
          </a:prstGeom>
          <a:solidFill>
            <a:srgbClr val="1E3A5F"/>
          </a:solidFill>
          <a:ln/>
        </p:spPr>
      </p:sp>
      <p:pic>
        <p:nvPicPr>
          <p:cNvPr id="3" name="Image 0" descr="icons/kontrol_white.png"/>
          <p:cNvPicPr>
            <a:picLocks noChangeAspect="1"/>
          </p:cNvPicPr>
          <p:nvPr/>
        </p:nvPicPr>
        <p:blipFill>
          <a:blip r:embed="rId3"/>
          <a:stretch>
            <a:fillRect/>
          </a:stretch>
        </p:blipFill>
        <p:spPr>
          <a:xfrm>
            <a:off x="784098" y="692658"/>
            <a:ext cx="352044" cy="352044"/>
          </a:xfrm>
          <a:prstGeom prst="rect">
            <a:avLst/>
          </a:prstGeom>
        </p:spPr>
      </p:pic>
      <p:sp>
        <p:nvSpPr>
          <p:cNvPr id="4" name="Text 1"/>
          <p:cNvSpPr/>
          <p:nvPr/>
        </p:nvSpPr>
        <p:spPr>
          <a:xfrm>
            <a:off x="1508760" y="566928"/>
            <a:ext cx="7315200" cy="320040"/>
          </a:xfrm>
          <a:prstGeom prst="rect">
            <a:avLst/>
          </a:prstGeom>
          <a:noFill/>
          <a:ln/>
        </p:spPr>
        <p:txBody>
          <a:bodyPr wrap="square" lIns="0" tIns="0" rIns="0" bIns="0"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DERS SONU KONTROL</a:t>
            </a:r>
            <a:endParaRPr lang="en-US" sz="1300" dirty="0"/>
          </a:p>
        </p:txBody>
      </p:sp>
      <p:sp>
        <p:nvSpPr>
          <p:cNvPr id="5" name="Text 2"/>
          <p:cNvSpPr/>
          <p:nvPr/>
        </p:nvSpPr>
        <p:spPr>
          <a:xfrm>
            <a:off x="1463040" y="841248"/>
            <a:ext cx="8229600" cy="640080"/>
          </a:xfrm>
          <a:prstGeom prst="rect">
            <a:avLst/>
          </a:prstGeom>
          <a:noFill/>
          <a:ln/>
        </p:spPr>
        <p:txBody>
          <a:bodyPr wrap="square" lIns="0" tIns="0" rIns="0" bIns="0" rtlCol="0" anchor="ctr"/>
          <a:lstStyle/>
          <a:p>
            <a:pPr marL="0" indent="0">
              <a:buNone/>
            </a:pPr>
            <a:r>
              <a:rPr lang="en-US" sz="2800" b="1" dirty="0">
                <a:solidFill>
                  <a:srgbClr val="1E3A5F"/>
                </a:solidFill>
                <a:latin typeface="Cambria" pitchFamily="34" charset="0"/>
                <a:ea typeface="Cambria" pitchFamily="34" charset="-122"/>
                <a:cs typeface="Cambria" pitchFamily="34" charset="-120"/>
              </a:rPr>
              <a:t>Hızlı Kontrol</a:t>
            </a:r>
            <a:endParaRPr lang="en-US" sz="2800" dirty="0"/>
          </a:p>
        </p:txBody>
      </p:sp>
      <p:sp>
        <p:nvSpPr>
          <p:cNvPr id="6" name="Text 3"/>
          <p:cNvSpPr/>
          <p:nvPr/>
        </p:nvSpPr>
        <p:spPr>
          <a:xfrm>
            <a:off x="640080" y="1645920"/>
            <a:ext cx="10881360" cy="757428"/>
          </a:xfrm>
          <a:prstGeom prst="rect">
            <a:avLst/>
          </a:prstGeom>
          <a:noFill/>
          <a:ln/>
        </p:spPr>
        <p:txBody>
          <a:bodyPr wrap="square" lIns="0" tIns="0" rIns="0" bIns="0" rtlCol="0" anchor="ctr"/>
          <a:lstStyle/>
          <a:p>
            <a:pPr marL="0" indent="0">
              <a:buNone/>
            </a:pPr>
            <a:r>
              <a:rPr lang="en-US" sz="2100" dirty="0">
                <a:solidFill>
                  <a:srgbClr val="1E2761"/>
                </a:solidFill>
                <a:latin typeface="Calibri" pitchFamily="34" charset="0"/>
                <a:ea typeface="Calibri" pitchFamily="34" charset="-122"/>
                <a:cs typeface="Calibri" pitchFamily="34" charset="-120"/>
              </a:rPr>
              <a:t>Aşağıdaki dört soru kalıbını birlikte hızlıca tanıyalım — hangi TİP olduğunu söyleyin:</a:t>
            </a:r>
            <a:endParaRPr lang="en-US" sz="2100" dirty="0"/>
          </a:p>
        </p:txBody>
      </p:sp>
      <p:sp>
        <p:nvSpPr>
          <p:cNvPr id="7" name="Shape 4"/>
          <p:cNvSpPr/>
          <p:nvPr/>
        </p:nvSpPr>
        <p:spPr>
          <a:xfrm>
            <a:off x="777240" y="2449068"/>
            <a:ext cx="2514600" cy="2438400"/>
          </a:xfrm>
          <a:prstGeom prst="roundRect">
            <a:avLst>
              <a:gd name="adj" fmla="val 6250"/>
            </a:avLst>
          </a:prstGeom>
          <a:solidFill>
            <a:srgbClr val="EEF3F8"/>
          </a:solidFill>
          <a:ln/>
        </p:spPr>
      </p:sp>
      <p:sp>
        <p:nvSpPr>
          <p:cNvPr id="8" name="Text 5"/>
          <p:cNvSpPr/>
          <p:nvPr/>
        </p:nvSpPr>
        <p:spPr>
          <a:xfrm>
            <a:off x="868680" y="2540508"/>
            <a:ext cx="2331720" cy="1442720"/>
          </a:xfrm>
          <a:prstGeom prst="rect">
            <a:avLst/>
          </a:prstGeom>
          <a:noFill/>
          <a:ln/>
        </p:spPr>
        <p:txBody>
          <a:bodyPr wrap="square" lIns="0" tIns="0" rIns="0" bIns="0" rtlCol="0" anchor="ctr"/>
          <a:lstStyle/>
          <a:p>
            <a:pPr marL="0" indent="0" algn="ctr">
              <a:buNone/>
            </a:pPr>
            <a:r>
              <a:rPr lang="en-US" sz="2000" i="1" dirty="0">
                <a:solidFill>
                  <a:srgbClr val="6B7280"/>
                </a:solidFill>
                <a:latin typeface="Calibri" pitchFamily="34" charset="0"/>
                <a:ea typeface="Calibri" pitchFamily="34" charset="-122"/>
                <a:cs typeface="Calibri" pitchFamily="34" charset="-120"/>
              </a:rPr>
              <a:t>"Boş bırakılan yerlere sırasıyla hangisi getirilmelidir?"</a:t>
            </a:r>
            <a:endParaRPr lang="en-US" sz="2000" dirty="0"/>
          </a:p>
        </p:txBody>
      </p:sp>
      <p:sp>
        <p:nvSpPr>
          <p:cNvPr id="9" name="Text 6"/>
          <p:cNvSpPr/>
          <p:nvPr/>
        </p:nvSpPr>
        <p:spPr>
          <a:xfrm>
            <a:off x="777240" y="4028948"/>
            <a:ext cx="2514600" cy="360680"/>
          </a:xfrm>
          <a:prstGeom prst="rect">
            <a:avLst/>
          </a:prstGeom>
          <a:noFill/>
          <a:ln/>
        </p:spPr>
        <p:txBody>
          <a:bodyPr wrap="square" lIns="0" tIns="0" rIns="0" bIns="0" rtlCol="0" anchor="ctr"/>
          <a:lstStyle/>
          <a:p>
            <a:pPr marL="0" indent="0" algn="ctr">
              <a:buNone/>
            </a:pPr>
            <a:r>
              <a:rPr lang="en-US" sz="2000" dirty="0">
                <a:solidFill>
                  <a:srgbClr val="D9A441"/>
                </a:solidFill>
                <a:latin typeface="Calibri" pitchFamily="34" charset="0"/>
                <a:ea typeface="Calibri" pitchFamily="34" charset="-122"/>
                <a:cs typeface="Calibri" pitchFamily="34" charset="-120"/>
              </a:rPr>
              <a:t>↓</a:t>
            </a:r>
            <a:endParaRPr lang="en-US" sz="2000" dirty="0"/>
          </a:p>
        </p:txBody>
      </p:sp>
      <p:sp>
        <p:nvSpPr>
          <p:cNvPr id="10" name="Text 7"/>
          <p:cNvSpPr/>
          <p:nvPr/>
        </p:nvSpPr>
        <p:spPr>
          <a:xfrm>
            <a:off x="777240" y="4435348"/>
            <a:ext cx="2514600" cy="360680"/>
          </a:xfrm>
          <a:prstGeom prst="rect">
            <a:avLst/>
          </a:prstGeom>
          <a:noFill/>
          <a:ln/>
        </p:spPr>
        <p:txBody>
          <a:bodyPr wrap="square" lIns="0" tIns="0" rIns="0" bIns="0" rtlCol="0" anchor="ctr"/>
          <a:lstStyle/>
          <a:p>
            <a:pPr marL="0" indent="0" algn="ctr">
              <a:buNone/>
            </a:pPr>
            <a:r>
              <a:rPr lang="en-US" sz="2000" b="1" dirty="0">
                <a:solidFill>
                  <a:srgbClr val="1E3A5F"/>
                </a:solidFill>
                <a:latin typeface="Cambria" pitchFamily="34" charset="0"/>
                <a:ea typeface="Cambria" pitchFamily="34" charset="-122"/>
                <a:cs typeface="Cambria" pitchFamily="34" charset="-120"/>
              </a:rPr>
              <a:t>TİP 1</a:t>
            </a:r>
            <a:endParaRPr lang="en-US" sz="2000" dirty="0"/>
          </a:p>
        </p:txBody>
      </p:sp>
      <p:sp>
        <p:nvSpPr>
          <p:cNvPr id="11" name="Shape 8"/>
          <p:cNvSpPr/>
          <p:nvPr/>
        </p:nvSpPr>
        <p:spPr>
          <a:xfrm>
            <a:off x="3474720" y="2449068"/>
            <a:ext cx="2514600" cy="2077720"/>
          </a:xfrm>
          <a:prstGeom prst="roundRect">
            <a:avLst>
              <a:gd name="adj" fmla="val 6250"/>
            </a:avLst>
          </a:prstGeom>
          <a:solidFill>
            <a:srgbClr val="EEF3F8"/>
          </a:solidFill>
          <a:ln/>
        </p:spPr>
      </p:sp>
      <p:sp>
        <p:nvSpPr>
          <p:cNvPr id="12" name="Text 9"/>
          <p:cNvSpPr/>
          <p:nvPr/>
        </p:nvSpPr>
        <p:spPr>
          <a:xfrm>
            <a:off x="3566160" y="2540508"/>
            <a:ext cx="2331720" cy="1082040"/>
          </a:xfrm>
          <a:prstGeom prst="rect">
            <a:avLst/>
          </a:prstGeom>
          <a:noFill/>
          <a:ln/>
        </p:spPr>
        <p:txBody>
          <a:bodyPr wrap="square" lIns="0" tIns="0" rIns="0" bIns="0" rtlCol="0" anchor="ctr"/>
          <a:lstStyle/>
          <a:p>
            <a:pPr marL="0" indent="0" algn="ctr">
              <a:buNone/>
            </a:pPr>
            <a:r>
              <a:rPr lang="en-US" sz="2000" i="1" dirty="0">
                <a:solidFill>
                  <a:srgbClr val="6B7280"/>
                </a:solidFill>
                <a:latin typeface="Calibri" pitchFamily="34" charset="0"/>
                <a:ea typeface="Calibri" pitchFamily="34" charset="-122"/>
                <a:cs typeface="Calibri" pitchFamily="34" charset="-120"/>
              </a:rPr>
              <a:t>"Numaralanmış sözlerden hangisi parantezle uyuşmaz?"</a:t>
            </a:r>
            <a:endParaRPr lang="en-US" sz="2000" dirty="0"/>
          </a:p>
        </p:txBody>
      </p:sp>
      <p:sp>
        <p:nvSpPr>
          <p:cNvPr id="13" name="Text 10"/>
          <p:cNvSpPr/>
          <p:nvPr/>
        </p:nvSpPr>
        <p:spPr>
          <a:xfrm>
            <a:off x="3474720" y="3668268"/>
            <a:ext cx="2514600" cy="360680"/>
          </a:xfrm>
          <a:prstGeom prst="rect">
            <a:avLst/>
          </a:prstGeom>
          <a:noFill/>
          <a:ln/>
        </p:spPr>
        <p:txBody>
          <a:bodyPr wrap="square" lIns="0" tIns="0" rIns="0" bIns="0" rtlCol="0" anchor="ctr"/>
          <a:lstStyle/>
          <a:p>
            <a:pPr marL="0" indent="0" algn="ctr">
              <a:buNone/>
            </a:pPr>
            <a:r>
              <a:rPr lang="en-US" sz="2000" dirty="0">
                <a:solidFill>
                  <a:srgbClr val="D9A441"/>
                </a:solidFill>
                <a:latin typeface="Calibri" pitchFamily="34" charset="0"/>
                <a:ea typeface="Calibri" pitchFamily="34" charset="-122"/>
                <a:cs typeface="Calibri" pitchFamily="34" charset="-120"/>
              </a:rPr>
              <a:t>↓</a:t>
            </a:r>
            <a:endParaRPr lang="en-US" sz="2000" dirty="0"/>
          </a:p>
        </p:txBody>
      </p:sp>
      <p:sp>
        <p:nvSpPr>
          <p:cNvPr id="14" name="Text 11"/>
          <p:cNvSpPr/>
          <p:nvPr/>
        </p:nvSpPr>
        <p:spPr>
          <a:xfrm>
            <a:off x="3474720" y="4074668"/>
            <a:ext cx="2514600" cy="360680"/>
          </a:xfrm>
          <a:prstGeom prst="rect">
            <a:avLst/>
          </a:prstGeom>
          <a:noFill/>
          <a:ln/>
        </p:spPr>
        <p:txBody>
          <a:bodyPr wrap="square" lIns="0" tIns="0" rIns="0" bIns="0" rtlCol="0" anchor="ctr"/>
          <a:lstStyle/>
          <a:p>
            <a:pPr marL="0" indent="0" algn="ctr">
              <a:buNone/>
            </a:pPr>
            <a:r>
              <a:rPr lang="en-US" sz="2000" b="1" dirty="0">
                <a:solidFill>
                  <a:srgbClr val="1E3A5F"/>
                </a:solidFill>
                <a:latin typeface="Cambria" pitchFamily="34" charset="0"/>
                <a:ea typeface="Cambria" pitchFamily="34" charset="-122"/>
                <a:cs typeface="Cambria" pitchFamily="34" charset="-120"/>
              </a:rPr>
              <a:t>TİP 2</a:t>
            </a:r>
            <a:endParaRPr lang="en-US" sz="2000" dirty="0"/>
          </a:p>
        </p:txBody>
      </p:sp>
      <p:sp>
        <p:nvSpPr>
          <p:cNvPr id="15" name="Shape 12"/>
          <p:cNvSpPr/>
          <p:nvPr/>
        </p:nvSpPr>
        <p:spPr>
          <a:xfrm>
            <a:off x="6172200" y="2449068"/>
            <a:ext cx="2514600" cy="2077720"/>
          </a:xfrm>
          <a:prstGeom prst="roundRect">
            <a:avLst>
              <a:gd name="adj" fmla="val 6250"/>
            </a:avLst>
          </a:prstGeom>
          <a:solidFill>
            <a:srgbClr val="EEF3F8"/>
          </a:solidFill>
          <a:ln/>
        </p:spPr>
      </p:sp>
      <p:sp>
        <p:nvSpPr>
          <p:cNvPr id="16" name="Text 13"/>
          <p:cNvSpPr/>
          <p:nvPr/>
        </p:nvSpPr>
        <p:spPr>
          <a:xfrm>
            <a:off x="6263640" y="2540508"/>
            <a:ext cx="2331720" cy="1082040"/>
          </a:xfrm>
          <a:prstGeom prst="rect">
            <a:avLst/>
          </a:prstGeom>
          <a:noFill/>
          <a:ln/>
        </p:spPr>
        <p:txBody>
          <a:bodyPr wrap="square" lIns="0" tIns="0" rIns="0" bIns="0" rtlCol="0" anchor="ctr"/>
          <a:lstStyle/>
          <a:p>
            <a:pPr marL="0" indent="0" algn="ctr">
              <a:buNone/>
            </a:pPr>
            <a:r>
              <a:rPr lang="en-US" sz="2000" i="1" dirty="0">
                <a:solidFill>
                  <a:srgbClr val="6B7280"/>
                </a:solidFill>
                <a:latin typeface="Calibri" pitchFamily="34" charset="0"/>
                <a:ea typeface="Calibri" pitchFamily="34" charset="-122"/>
                <a:cs typeface="Calibri" pitchFamily="34" charset="-120"/>
              </a:rPr>
              <a:t>"---- ile ---- arasındaki en uygun ifade çifti?"</a:t>
            </a:r>
            <a:endParaRPr lang="en-US" sz="2000" dirty="0"/>
          </a:p>
        </p:txBody>
      </p:sp>
      <p:sp>
        <p:nvSpPr>
          <p:cNvPr id="17" name="Text 14"/>
          <p:cNvSpPr/>
          <p:nvPr/>
        </p:nvSpPr>
        <p:spPr>
          <a:xfrm>
            <a:off x="6172200" y="3668268"/>
            <a:ext cx="2514600" cy="360680"/>
          </a:xfrm>
          <a:prstGeom prst="rect">
            <a:avLst/>
          </a:prstGeom>
          <a:noFill/>
          <a:ln/>
        </p:spPr>
        <p:txBody>
          <a:bodyPr wrap="square" lIns="0" tIns="0" rIns="0" bIns="0" rtlCol="0" anchor="ctr"/>
          <a:lstStyle/>
          <a:p>
            <a:pPr marL="0" indent="0" algn="ctr">
              <a:buNone/>
            </a:pPr>
            <a:r>
              <a:rPr lang="en-US" sz="2000" dirty="0">
                <a:solidFill>
                  <a:srgbClr val="D9A441"/>
                </a:solidFill>
                <a:latin typeface="Calibri" pitchFamily="34" charset="0"/>
                <a:ea typeface="Calibri" pitchFamily="34" charset="-122"/>
                <a:cs typeface="Calibri" pitchFamily="34" charset="-120"/>
              </a:rPr>
              <a:t>↓</a:t>
            </a:r>
            <a:endParaRPr lang="en-US" sz="2000" dirty="0"/>
          </a:p>
        </p:txBody>
      </p:sp>
      <p:sp>
        <p:nvSpPr>
          <p:cNvPr id="18" name="Text 15"/>
          <p:cNvSpPr/>
          <p:nvPr/>
        </p:nvSpPr>
        <p:spPr>
          <a:xfrm>
            <a:off x="6172200" y="4074668"/>
            <a:ext cx="2514600" cy="360680"/>
          </a:xfrm>
          <a:prstGeom prst="rect">
            <a:avLst/>
          </a:prstGeom>
          <a:noFill/>
          <a:ln/>
        </p:spPr>
        <p:txBody>
          <a:bodyPr wrap="square" lIns="0" tIns="0" rIns="0" bIns="0" rtlCol="0" anchor="ctr"/>
          <a:lstStyle/>
          <a:p>
            <a:pPr marL="0" indent="0" algn="ctr">
              <a:buNone/>
            </a:pPr>
            <a:r>
              <a:rPr lang="en-US" sz="2000" b="1" dirty="0">
                <a:solidFill>
                  <a:srgbClr val="1E3A5F"/>
                </a:solidFill>
                <a:latin typeface="Cambria" pitchFamily="34" charset="0"/>
                <a:ea typeface="Cambria" pitchFamily="34" charset="-122"/>
                <a:cs typeface="Cambria" pitchFamily="34" charset="-120"/>
              </a:rPr>
              <a:t>TİP 1</a:t>
            </a:r>
            <a:endParaRPr lang="en-US" sz="2000" dirty="0"/>
          </a:p>
        </p:txBody>
      </p:sp>
      <p:sp>
        <p:nvSpPr>
          <p:cNvPr id="19" name="Shape 16"/>
          <p:cNvSpPr/>
          <p:nvPr/>
        </p:nvSpPr>
        <p:spPr>
          <a:xfrm>
            <a:off x="8869680" y="2449068"/>
            <a:ext cx="2514600" cy="2077720"/>
          </a:xfrm>
          <a:prstGeom prst="roundRect">
            <a:avLst>
              <a:gd name="adj" fmla="val 6250"/>
            </a:avLst>
          </a:prstGeom>
          <a:solidFill>
            <a:srgbClr val="EEF3F8"/>
          </a:solidFill>
          <a:ln/>
        </p:spPr>
      </p:sp>
      <p:sp>
        <p:nvSpPr>
          <p:cNvPr id="20" name="Text 17"/>
          <p:cNvSpPr/>
          <p:nvPr/>
        </p:nvSpPr>
        <p:spPr>
          <a:xfrm>
            <a:off x="8961120" y="2540508"/>
            <a:ext cx="2331720" cy="1082040"/>
          </a:xfrm>
          <a:prstGeom prst="rect">
            <a:avLst/>
          </a:prstGeom>
          <a:noFill/>
          <a:ln/>
        </p:spPr>
        <p:txBody>
          <a:bodyPr wrap="square" lIns="0" tIns="0" rIns="0" bIns="0" rtlCol="0" anchor="ctr"/>
          <a:lstStyle/>
          <a:p>
            <a:pPr marL="0" indent="0" algn="ctr">
              <a:buNone/>
            </a:pPr>
            <a:r>
              <a:rPr lang="en-US" sz="2000" i="1" dirty="0">
                <a:solidFill>
                  <a:srgbClr val="6B7280"/>
                </a:solidFill>
                <a:latin typeface="Calibri" pitchFamily="34" charset="0"/>
                <a:ea typeface="Calibri" pitchFamily="34" charset="-122"/>
                <a:cs typeface="Calibri" pitchFamily="34" charset="-120"/>
              </a:rPr>
              <a:t>"I-V'ten hangisinin anlamı açıklamayla çelişir?"</a:t>
            </a:r>
            <a:endParaRPr lang="en-US" sz="2000" dirty="0"/>
          </a:p>
        </p:txBody>
      </p:sp>
      <p:sp>
        <p:nvSpPr>
          <p:cNvPr id="21" name="Text 18"/>
          <p:cNvSpPr/>
          <p:nvPr/>
        </p:nvSpPr>
        <p:spPr>
          <a:xfrm>
            <a:off x="8869680" y="3668268"/>
            <a:ext cx="2514600" cy="360680"/>
          </a:xfrm>
          <a:prstGeom prst="rect">
            <a:avLst/>
          </a:prstGeom>
          <a:noFill/>
          <a:ln/>
        </p:spPr>
        <p:txBody>
          <a:bodyPr wrap="square" lIns="0" tIns="0" rIns="0" bIns="0" rtlCol="0" anchor="ctr"/>
          <a:lstStyle/>
          <a:p>
            <a:pPr marL="0" indent="0" algn="ctr">
              <a:buNone/>
            </a:pPr>
            <a:r>
              <a:rPr lang="en-US" sz="2000" dirty="0">
                <a:solidFill>
                  <a:srgbClr val="D9A441"/>
                </a:solidFill>
                <a:latin typeface="Calibri" pitchFamily="34" charset="0"/>
                <a:ea typeface="Calibri" pitchFamily="34" charset="-122"/>
                <a:cs typeface="Calibri" pitchFamily="34" charset="-120"/>
              </a:rPr>
              <a:t>↓</a:t>
            </a:r>
            <a:endParaRPr lang="en-US" sz="2000" dirty="0"/>
          </a:p>
        </p:txBody>
      </p:sp>
      <p:sp>
        <p:nvSpPr>
          <p:cNvPr id="22" name="Text 19"/>
          <p:cNvSpPr/>
          <p:nvPr/>
        </p:nvSpPr>
        <p:spPr>
          <a:xfrm>
            <a:off x="8869680" y="4074668"/>
            <a:ext cx="2514600" cy="360680"/>
          </a:xfrm>
          <a:prstGeom prst="rect">
            <a:avLst/>
          </a:prstGeom>
          <a:noFill/>
          <a:ln/>
        </p:spPr>
        <p:txBody>
          <a:bodyPr wrap="square" lIns="0" tIns="0" rIns="0" bIns="0" rtlCol="0" anchor="ctr"/>
          <a:lstStyle/>
          <a:p>
            <a:pPr marL="0" indent="0" algn="ctr">
              <a:buNone/>
            </a:pPr>
            <a:r>
              <a:rPr lang="en-US" sz="2000" b="1" dirty="0">
                <a:solidFill>
                  <a:srgbClr val="1E3A5F"/>
                </a:solidFill>
                <a:latin typeface="Cambria" pitchFamily="34" charset="0"/>
                <a:ea typeface="Cambria" pitchFamily="34" charset="-122"/>
                <a:cs typeface="Cambria" pitchFamily="34" charset="-120"/>
              </a:rPr>
              <a:t>TİP 2</a:t>
            </a:r>
            <a:endParaRPr lang="en-US" sz="2000" dirty="0"/>
          </a:p>
        </p:txBody>
      </p:sp>
      <p:sp>
        <p:nvSpPr>
          <p:cNvPr id="23" name="Shape 20"/>
          <p:cNvSpPr/>
          <p:nvPr/>
        </p:nvSpPr>
        <p:spPr>
          <a:xfrm>
            <a:off x="640080" y="5253228"/>
            <a:ext cx="10881360" cy="830834"/>
          </a:xfrm>
          <a:prstGeom prst="roundRect">
            <a:avLst>
              <a:gd name="adj" fmla="val 16667"/>
            </a:avLst>
          </a:prstGeom>
          <a:solidFill>
            <a:srgbClr val="FBF3E3"/>
          </a:solidFill>
          <a:ln/>
        </p:spPr>
      </p:sp>
      <p:sp>
        <p:nvSpPr>
          <p:cNvPr id="24" name="Text 21"/>
          <p:cNvSpPr/>
          <p:nvPr/>
        </p:nvSpPr>
        <p:spPr>
          <a:xfrm>
            <a:off x="914400" y="5253228"/>
            <a:ext cx="10332720" cy="739394"/>
          </a:xfrm>
          <a:prstGeom prst="rect">
            <a:avLst/>
          </a:prstGeom>
          <a:noFill/>
          <a:ln/>
        </p:spPr>
        <p:txBody>
          <a:bodyPr wrap="square" lIns="0" tIns="0" rIns="0" bIns="0" rtlCol="0" anchor="ctr"/>
          <a:lstStyle/>
          <a:p>
            <a:pPr marL="0" indent="0">
              <a:buNone/>
            </a:pPr>
            <a:r>
              <a:rPr lang="en-US" sz="2050" dirty="0">
                <a:solidFill>
                  <a:srgbClr val="1E2761"/>
                </a:solidFill>
                <a:latin typeface="Calibri" pitchFamily="34" charset="0"/>
                <a:ea typeface="Calibri" pitchFamily="34" charset="-122"/>
                <a:cs typeface="Calibri" pitchFamily="34" charset="-120"/>
              </a:rPr>
              <a:t>Bu iki tipi soru kökünden hızlıca tanıyabiliyorsanız, bugünkü hedefe ulaştınız!</a:t>
            </a:r>
            <a:endParaRPr lang="en-US" sz="2050" dirty="0"/>
          </a:p>
        </p:txBody>
      </p:sp>
      <p:sp>
        <p:nvSpPr>
          <p:cNvPr id="25" name="Text 22"/>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TYT TÜRKÇE  ·  SÖZCÜKTE ANLAM  ·  Hızlı Kontrol</a:t>
            </a:r>
            <a:endParaRPr lang="en-US" sz="900" dirty="0"/>
          </a:p>
        </p:txBody>
      </p:sp>
      <p:sp>
        <p:nvSpPr>
          <p:cNvPr id="26" name="Text 23"/>
          <p:cNvSpPr/>
          <p:nvPr/>
        </p:nvSpPr>
        <p:spPr>
          <a:xfrm>
            <a:off x="9902952" y="6537960"/>
            <a:ext cx="18288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Ders 2 / 3</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1E3A5F"/>
        </a:solidFill>
        <a:effectLst/>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42A44"/>
          </a:solidFill>
          <a:ln/>
        </p:spPr>
      </p:sp>
      <p:sp>
        <p:nvSpPr>
          <p:cNvPr id="3" name="Shape 1"/>
          <p:cNvSpPr/>
          <p:nvPr/>
        </p:nvSpPr>
        <p:spPr>
          <a:xfrm>
            <a:off x="822960" y="1005840"/>
            <a:ext cx="822960" cy="822960"/>
          </a:xfrm>
          <a:prstGeom prst="ellipse">
            <a:avLst/>
          </a:prstGeom>
          <a:solidFill>
            <a:srgbClr val="254B78"/>
          </a:solidFill>
          <a:ln/>
        </p:spPr>
      </p:sp>
      <p:pic>
        <p:nvPicPr>
          <p:cNvPr id="4" name="Image 0" descr="icons/liste_amber.png"/>
          <p:cNvPicPr>
            <a:picLocks noChangeAspect="1"/>
          </p:cNvPicPr>
          <p:nvPr/>
        </p:nvPicPr>
        <p:blipFill>
          <a:blip r:embed="rId3"/>
          <a:stretch>
            <a:fillRect/>
          </a:stretch>
        </p:blipFill>
        <p:spPr>
          <a:xfrm>
            <a:off x="1008126" y="1191006"/>
            <a:ext cx="452628" cy="452628"/>
          </a:xfrm>
          <a:prstGeom prst="rect">
            <a:avLst/>
          </a:prstGeom>
        </p:spPr>
      </p:pic>
      <p:sp>
        <p:nvSpPr>
          <p:cNvPr id="5" name="Text 2"/>
          <p:cNvSpPr/>
          <p:nvPr/>
        </p:nvSpPr>
        <p:spPr>
          <a:xfrm>
            <a:off x="640080" y="2103120"/>
            <a:ext cx="3200400" cy="64008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Ders Özeti</a:t>
            </a:r>
            <a:endParaRPr lang="en-US" sz="2400" dirty="0"/>
          </a:p>
        </p:txBody>
      </p:sp>
      <p:sp>
        <p:nvSpPr>
          <p:cNvPr id="6" name="Text 3"/>
          <p:cNvSpPr/>
          <p:nvPr/>
        </p:nvSpPr>
        <p:spPr>
          <a:xfrm>
            <a:off x="640080" y="2743200"/>
            <a:ext cx="3291840" cy="577088"/>
          </a:xfrm>
          <a:prstGeom prst="rect">
            <a:avLst/>
          </a:prstGeom>
          <a:noFill/>
          <a:ln/>
        </p:spPr>
        <p:txBody>
          <a:bodyPr wrap="square" lIns="0" tIns="0" rIns="0" bIns="0" rtlCol="0" anchor="ctr"/>
          <a:lstStyle/>
          <a:p>
            <a:pPr marL="0" indent="0">
              <a:buNone/>
            </a:pPr>
            <a:r>
              <a:rPr lang="en-US" sz="1600" i="1" dirty="0">
                <a:solidFill>
                  <a:srgbClr val="9FB8D6"/>
                </a:solidFill>
                <a:latin typeface="Calibri" pitchFamily="34" charset="0"/>
                <a:ea typeface="Calibri" pitchFamily="34" charset="-122"/>
                <a:cs typeface="Calibri" pitchFamily="34" charset="-120"/>
              </a:rPr>
              <a:t>Çok Anlamlılık ve Bağlama Uygun Sözcük — Ders 2/3</a:t>
            </a:r>
            <a:endParaRPr lang="en-US" sz="1600" dirty="0"/>
          </a:p>
        </p:txBody>
      </p:sp>
      <p:sp>
        <p:nvSpPr>
          <p:cNvPr id="7" name="Text 4"/>
          <p:cNvSpPr/>
          <p:nvPr/>
        </p:nvSpPr>
        <p:spPr>
          <a:xfrm>
            <a:off x="4663440" y="777240"/>
            <a:ext cx="7315200" cy="320040"/>
          </a:xfrm>
          <a:prstGeom prst="rect">
            <a:avLst/>
          </a:prstGeom>
          <a:noFill/>
          <a:ln/>
        </p:spPr>
        <p:txBody>
          <a:bodyPr wrap="square" lIns="0" tIns="0" rIns="0" bIns="0"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BUGÜN ÖĞRENDIKLERIMIZ</a:t>
            </a:r>
            <a:endParaRPr lang="en-US" sz="1300" dirty="0"/>
          </a:p>
        </p:txBody>
      </p:sp>
      <p:sp>
        <p:nvSpPr>
          <p:cNvPr id="8" name="Shape 5"/>
          <p:cNvSpPr/>
          <p:nvPr/>
        </p:nvSpPr>
        <p:spPr>
          <a:xfrm>
            <a:off x="4663440" y="1234440"/>
            <a:ext cx="3566160" cy="457200"/>
          </a:xfrm>
          <a:prstGeom prst="roundRect">
            <a:avLst>
              <a:gd name="adj" fmla="val 50000"/>
            </a:avLst>
          </a:prstGeom>
          <a:solidFill>
            <a:srgbClr val="254B78"/>
          </a:solidFill>
          <a:ln/>
        </p:spPr>
      </p:sp>
      <p:sp>
        <p:nvSpPr>
          <p:cNvPr id="9" name="Text 6"/>
          <p:cNvSpPr/>
          <p:nvPr/>
        </p:nvSpPr>
        <p:spPr>
          <a:xfrm>
            <a:off x="4663440" y="1234440"/>
            <a:ext cx="3566160" cy="457200"/>
          </a:xfrm>
          <a:prstGeom prst="rect">
            <a:avLst/>
          </a:prstGeom>
          <a:noFill/>
          <a:ln/>
        </p:spPr>
        <p:txBody>
          <a:bodyPr wrap="square" lIns="0" tIns="0" rIns="0" bIns="0" rtlCol="0" anchor="ctr"/>
          <a:lstStyle/>
          <a:p>
            <a:pPr marL="0" indent="0" algn="ctr">
              <a:buNone/>
            </a:pPr>
            <a:r>
              <a:rPr lang="en-US" sz="2000" dirty="0">
                <a:solidFill>
                  <a:srgbClr val="FFFFFF"/>
                </a:solidFill>
                <a:latin typeface="Calibri" pitchFamily="34" charset="0"/>
                <a:ea typeface="Calibri" pitchFamily="34" charset="-122"/>
                <a:cs typeface="Calibri" pitchFamily="34" charset="-120"/>
              </a:rPr>
              <a:t>Tip 1: Boşluk Doldurma</a:t>
            </a:r>
            <a:endParaRPr lang="en-US" sz="2000" dirty="0"/>
          </a:p>
        </p:txBody>
      </p:sp>
      <p:sp>
        <p:nvSpPr>
          <p:cNvPr id="10" name="Shape 7"/>
          <p:cNvSpPr/>
          <p:nvPr/>
        </p:nvSpPr>
        <p:spPr>
          <a:xfrm>
            <a:off x="4663440" y="1828800"/>
            <a:ext cx="4114800" cy="457200"/>
          </a:xfrm>
          <a:prstGeom prst="roundRect">
            <a:avLst>
              <a:gd name="adj" fmla="val 50000"/>
            </a:avLst>
          </a:prstGeom>
          <a:solidFill>
            <a:srgbClr val="254B78"/>
          </a:solidFill>
          <a:ln/>
        </p:spPr>
      </p:sp>
      <p:sp>
        <p:nvSpPr>
          <p:cNvPr id="11" name="Text 8"/>
          <p:cNvSpPr/>
          <p:nvPr/>
        </p:nvSpPr>
        <p:spPr>
          <a:xfrm>
            <a:off x="4663440" y="1828800"/>
            <a:ext cx="4114800" cy="457200"/>
          </a:xfrm>
          <a:prstGeom prst="rect">
            <a:avLst/>
          </a:prstGeom>
          <a:noFill/>
          <a:ln/>
        </p:spPr>
        <p:txBody>
          <a:bodyPr wrap="square" lIns="0" tIns="0" rIns="0" bIns="0" rtlCol="0" anchor="ctr"/>
          <a:lstStyle/>
          <a:p>
            <a:pPr marL="0" indent="0" algn="ctr">
              <a:buNone/>
            </a:pPr>
            <a:r>
              <a:rPr lang="en-US" sz="2000" dirty="0">
                <a:solidFill>
                  <a:srgbClr val="FFFFFF"/>
                </a:solidFill>
                <a:latin typeface="Calibri" pitchFamily="34" charset="0"/>
                <a:ea typeface="Calibri" pitchFamily="34" charset="-122"/>
                <a:cs typeface="Calibri" pitchFamily="34" charset="-120"/>
              </a:rPr>
              <a:t>Tip 2: Numaralanmış Sözler</a:t>
            </a:r>
            <a:endParaRPr lang="en-US" sz="2000" dirty="0"/>
          </a:p>
        </p:txBody>
      </p:sp>
      <p:sp>
        <p:nvSpPr>
          <p:cNvPr id="12" name="Shape 9"/>
          <p:cNvSpPr/>
          <p:nvPr/>
        </p:nvSpPr>
        <p:spPr>
          <a:xfrm>
            <a:off x="4663440" y="2423160"/>
            <a:ext cx="2743200" cy="457200"/>
          </a:xfrm>
          <a:prstGeom prst="roundRect">
            <a:avLst>
              <a:gd name="adj" fmla="val 50000"/>
            </a:avLst>
          </a:prstGeom>
          <a:solidFill>
            <a:srgbClr val="254B78"/>
          </a:solidFill>
          <a:ln/>
        </p:spPr>
      </p:sp>
      <p:sp>
        <p:nvSpPr>
          <p:cNvPr id="13" name="Text 10"/>
          <p:cNvSpPr/>
          <p:nvPr/>
        </p:nvSpPr>
        <p:spPr>
          <a:xfrm>
            <a:off x="4663440" y="2423160"/>
            <a:ext cx="2743200" cy="457200"/>
          </a:xfrm>
          <a:prstGeom prst="rect">
            <a:avLst/>
          </a:prstGeom>
          <a:noFill/>
          <a:ln/>
        </p:spPr>
        <p:txBody>
          <a:bodyPr wrap="square" lIns="0" tIns="0" rIns="0" bIns="0" rtlCol="0" anchor="ctr"/>
          <a:lstStyle/>
          <a:p>
            <a:pPr marL="0" indent="0" algn="ctr">
              <a:buNone/>
            </a:pPr>
            <a:r>
              <a:rPr lang="en-US" sz="2000" dirty="0">
                <a:solidFill>
                  <a:srgbClr val="FFFFFF"/>
                </a:solidFill>
                <a:latin typeface="Calibri" pitchFamily="34" charset="0"/>
                <a:ea typeface="Calibri" pitchFamily="34" charset="-122"/>
                <a:cs typeface="Calibri" pitchFamily="34" charset="-120"/>
              </a:rPr>
              <a:t>Çift Tutarlılığı</a:t>
            </a:r>
            <a:endParaRPr lang="en-US" sz="2000" dirty="0"/>
          </a:p>
        </p:txBody>
      </p:sp>
      <p:sp>
        <p:nvSpPr>
          <p:cNvPr id="14" name="Shape 11"/>
          <p:cNvSpPr/>
          <p:nvPr/>
        </p:nvSpPr>
        <p:spPr>
          <a:xfrm>
            <a:off x="7589520" y="2423160"/>
            <a:ext cx="2057400" cy="457200"/>
          </a:xfrm>
          <a:prstGeom prst="roundRect">
            <a:avLst>
              <a:gd name="adj" fmla="val 50000"/>
            </a:avLst>
          </a:prstGeom>
          <a:solidFill>
            <a:srgbClr val="254B78"/>
          </a:solidFill>
          <a:ln/>
        </p:spPr>
      </p:sp>
      <p:sp>
        <p:nvSpPr>
          <p:cNvPr id="15" name="Text 12"/>
          <p:cNvSpPr/>
          <p:nvPr/>
        </p:nvSpPr>
        <p:spPr>
          <a:xfrm>
            <a:off x="7589520" y="2423160"/>
            <a:ext cx="2057400" cy="457200"/>
          </a:xfrm>
          <a:prstGeom prst="rect">
            <a:avLst/>
          </a:prstGeom>
          <a:noFill/>
          <a:ln/>
        </p:spPr>
        <p:txBody>
          <a:bodyPr wrap="square" lIns="0" tIns="0" rIns="0" bIns="0" rtlCol="0" anchor="ctr"/>
          <a:lstStyle/>
          <a:p>
            <a:pPr marL="0" indent="0" algn="ctr">
              <a:buNone/>
            </a:pPr>
            <a:r>
              <a:rPr lang="en-US" sz="2000" dirty="0">
                <a:solidFill>
                  <a:srgbClr val="FFFFFF"/>
                </a:solidFill>
                <a:latin typeface="Calibri" pitchFamily="34" charset="0"/>
                <a:ea typeface="Calibri" pitchFamily="34" charset="-122"/>
                <a:cs typeface="Calibri" pitchFamily="34" charset="-120"/>
              </a:rPr>
              <a:t>Hızlı Eleme</a:t>
            </a:r>
            <a:endParaRPr lang="en-US" sz="2000" dirty="0"/>
          </a:p>
        </p:txBody>
      </p:sp>
      <p:sp>
        <p:nvSpPr>
          <p:cNvPr id="16" name="Shape 13"/>
          <p:cNvSpPr/>
          <p:nvPr/>
        </p:nvSpPr>
        <p:spPr>
          <a:xfrm>
            <a:off x="4663440" y="2880360"/>
            <a:ext cx="6903720" cy="1371600"/>
          </a:xfrm>
          <a:prstGeom prst="roundRect">
            <a:avLst>
              <a:gd name="adj" fmla="val 8000"/>
            </a:avLst>
          </a:prstGeom>
          <a:solidFill>
            <a:srgbClr val="254B78"/>
          </a:solidFill>
          <a:ln/>
        </p:spPr>
      </p:sp>
      <p:sp>
        <p:nvSpPr>
          <p:cNvPr id="17" name="Text 14"/>
          <p:cNvSpPr/>
          <p:nvPr/>
        </p:nvSpPr>
        <p:spPr>
          <a:xfrm>
            <a:off x="4937760" y="3017520"/>
            <a:ext cx="6400800" cy="1097280"/>
          </a:xfrm>
          <a:prstGeom prst="rect">
            <a:avLst/>
          </a:prstGeom>
          <a:noFill/>
          <a:ln/>
        </p:spPr>
        <p:txBody>
          <a:bodyPr wrap="square" lIns="0" tIns="0" rIns="0" bIns="0" rtlCol="0" anchor="ctr"/>
          <a:lstStyle/>
          <a:p>
            <a:pPr marL="0" indent="0">
              <a:buNone/>
            </a:pPr>
            <a:r>
              <a:rPr lang="en-US" sz="1500" b="1" dirty="0">
                <a:solidFill>
                  <a:srgbClr val="D9A441"/>
                </a:solidFill>
                <a:latin typeface="Calibri" pitchFamily="34" charset="0"/>
                <a:ea typeface="Calibri" pitchFamily="34" charset="-122"/>
                <a:cs typeface="Calibri" pitchFamily="34" charset="-120"/>
              </a:rPr>
              <a:t>Tip 1 (bağlama uygun sözcük), </a:t>
            </a:r>
            <a:r>
              <a:rPr lang="en-US" sz="1500" dirty="0">
                <a:solidFill>
                  <a:srgbClr val="FFFFFF"/>
                </a:solidFill>
                <a:latin typeface="Calibri" pitchFamily="34" charset="0"/>
                <a:ea typeface="Calibri" pitchFamily="34" charset="-122"/>
                <a:cs typeface="Calibri" pitchFamily="34" charset="-120"/>
              </a:rPr>
              <a:t>boşluklara bağlamla tutarlı bir ÇİFT sözcük yerleştirmeyi ister. </a:t>
            </a:r>
            <a:r>
              <a:rPr lang="en-US" sz="1500" b="1" dirty="0">
                <a:solidFill>
                  <a:srgbClr val="D9A441"/>
                </a:solidFill>
                <a:latin typeface="Calibri" pitchFamily="34" charset="0"/>
                <a:ea typeface="Calibri" pitchFamily="34" charset="-122"/>
                <a:cs typeface="Calibri" pitchFamily="34" charset="-120"/>
              </a:rPr>
              <a:t>Tip 2 (numaralanmış sözler)</a:t>
            </a:r>
            <a:r>
              <a:rPr lang="en-US" sz="1500" dirty="0">
                <a:solidFill>
                  <a:srgbClr val="FFFFFF"/>
                </a:solidFill>
                <a:latin typeface="Calibri" pitchFamily="34" charset="0"/>
                <a:ea typeface="Calibri" pitchFamily="34" charset="-122"/>
                <a:cs typeface="Calibri" pitchFamily="34" charset="-120"/>
              </a:rPr>
              <a:t>, parantez içindeki açıklamanın metindeki kullanımla TAM örtüşüp örtüşmediğini sorar — 5'ten yalnızca 1'i uyuşmaz.</a:t>
            </a:r>
            <a:endParaRPr lang="en-US" sz="1500" dirty="0"/>
          </a:p>
        </p:txBody>
      </p:sp>
      <p:sp>
        <p:nvSpPr>
          <p:cNvPr id="18" name="Shape 15"/>
          <p:cNvSpPr/>
          <p:nvPr/>
        </p:nvSpPr>
        <p:spPr>
          <a:xfrm>
            <a:off x="4663440" y="4434840"/>
            <a:ext cx="6903720" cy="1051560"/>
          </a:xfrm>
          <a:prstGeom prst="roundRect">
            <a:avLst>
              <a:gd name="adj" fmla="val 10435"/>
            </a:avLst>
          </a:prstGeom>
          <a:solidFill>
            <a:srgbClr val="D9A441"/>
          </a:solidFill>
          <a:ln/>
        </p:spPr>
      </p:sp>
      <p:sp>
        <p:nvSpPr>
          <p:cNvPr id="19" name="Text 16"/>
          <p:cNvSpPr/>
          <p:nvPr/>
        </p:nvSpPr>
        <p:spPr>
          <a:xfrm>
            <a:off x="4937760" y="4590288"/>
            <a:ext cx="5943600" cy="320040"/>
          </a:xfrm>
          <a:prstGeom prst="rect">
            <a:avLst/>
          </a:prstGeom>
          <a:noFill/>
          <a:ln/>
        </p:spPr>
        <p:txBody>
          <a:bodyPr wrap="square" lIns="0" tIns="0" rIns="0" bIns="0" rtlCol="0" anchor="ctr"/>
          <a:lstStyle/>
          <a:p>
            <a:pPr marL="0" indent="0">
              <a:buNone/>
            </a:pPr>
            <a:r>
              <a:rPr lang="en-US" sz="1600" b="1" kern="0" spc="200" dirty="0">
                <a:solidFill>
                  <a:srgbClr val="142A44"/>
                </a:solidFill>
                <a:latin typeface="Calibri" pitchFamily="34" charset="0"/>
                <a:ea typeface="Calibri" pitchFamily="34" charset="-122"/>
                <a:cs typeface="Calibri" pitchFamily="34" charset="-120"/>
              </a:rPr>
              <a:t>SIRADAKİ DERS</a:t>
            </a:r>
            <a:endParaRPr lang="en-US" sz="1600" dirty="0"/>
          </a:p>
        </p:txBody>
      </p:sp>
      <p:sp>
        <p:nvSpPr>
          <p:cNvPr id="20" name="Text 17"/>
          <p:cNvSpPr/>
          <p:nvPr/>
        </p:nvSpPr>
        <p:spPr>
          <a:xfrm>
            <a:off x="4937760" y="4864608"/>
            <a:ext cx="6309360" cy="502920"/>
          </a:xfrm>
          <a:prstGeom prst="rect">
            <a:avLst/>
          </a:prstGeom>
          <a:noFill/>
          <a:ln/>
        </p:spPr>
        <p:txBody>
          <a:bodyPr wrap="square" lIns="0" tIns="0" rIns="0" bIns="0" rtlCol="0" anchor="ctr"/>
          <a:lstStyle/>
          <a:p>
            <a:pPr marL="0" indent="0">
              <a:buNone/>
            </a:pPr>
            <a:r>
              <a:rPr lang="en-US" sz="1900" b="1" dirty="0">
                <a:solidFill>
                  <a:srgbClr val="142A44"/>
                </a:solidFill>
                <a:latin typeface="Cambria" pitchFamily="34" charset="0"/>
                <a:ea typeface="Cambria" pitchFamily="34" charset="-122"/>
                <a:cs typeface="Cambria" pitchFamily="34" charset="-120"/>
              </a:rPr>
              <a:t>Bağlamsal Anlam Yorumlama ve Deyimler (Ders 3/3)  →</a:t>
            </a:r>
            <a:endParaRPr lang="en-US" sz="1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48640"/>
            <a:ext cx="640080" cy="640080"/>
          </a:xfrm>
          <a:prstGeom prst="ellipse">
            <a:avLst/>
          </a:prstGeom>
          <a:solidFill>
            <a:srgbClr val="1E3A5F"/>
          </a:solidFill>
          <a:ln/>
        </p:spPr>
      </p:sp>
      <p:pic>
        <p:nvPicPr>
          <p:cNvPr id="3" name="Image 0" descr="icons/odev_white.png"/>
          <p:cNvPicPr>
            <a:picLocks noChangeAspect="1"/>
          </p:cNvPicPr>
          <p:nvPr/>
        </p:nvPicPr>
        <p:blipFill>
          <a:blip r:embed="rId3"/>
          <a:stretch>
            <a:fillRect/>
          </a:stretch>
        </p:blipFill>
        <p:spPr>
          <a:xfrm>
            <a:off x="784098" y="692658"/>
            <a:ext cx="352044" cy="352044"/>
          </a:xfrm>
          <a:prstGeom prst="rect">
            <a:avLst/>
          </a:prstGeom>
        </p:spPr>
      </p:pic>
      <p:sp>
        <p:nvSpPr>
          <p:cNvPr id="4" name="Text 1"/>
          <p:cNvSpPr/>
          <p:nvPr/>
        </p:nvSpPr>
        <p:spPr>
          <a:xfrm>
            <a:off x="1508760" y="566928"/>
            <a:ext cx="7315200" cy="320040"/>
          </a:xfrm>
          <a:prstGeom prst="rect">
            <a:avLst/>
          </a:prstGeom>
          <a:noFill/>
          <a:ln/>
        </p:spPr>
        <p:txBody>
          <a:bodyPr wrap="square" lIns="0" tIns="0" rIns="0" bIns="0"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PEKIŞTIRME</a:t>
            </a:r>
            <a:endParaRPr lang="en-US" sz="1300" dirty="0"/>
          </a:p>
        </p:txBody>
      </p:sp>
      <p:sp>
        <p:nvSpPr>
          <p:cNvPr id="5" name="Text 2"/>
          <p:cNvSpPr/>
          <p:nvPr/>
        </p:nvSpPr>
        <p:spPr>
          <a:xfrm>
            <a:off x="1463040" y="841248"/>
            <a:ext cx="10058400" cy="640080"/>
          </a:xfrm>
          <a:prstGeom prst="rect">
            <a:avLst/>
          </a:prstGeom>
          <a:noFill/>
          <a:ln/>
        </p:spPr>
        <p:txBody>
          <a:bodyPr wrap="square" lIns="0" tIns="0" rIns="0" bIns="0" rtlCol="0" anchor="ctr"/>
          <a:lstStyle/>
          <a:p>
            <a:pPr marL="0" indent="0">
              <a:buNone/>
            </a:pPr>
            <a:r>
              <a:rPr lang="en-US" sz="2800" b="1" dirty="0">
                <a:solidFill>
                  <a:srgbClr val="1E3A5F"/>
                </a:solidFill>
                <a:latin typeface="Cambria" pitchFamily="34" charset="0"/>
                <a:ea typeface="Cambria" pitchFamily="34" charset="-122"/>
                <a:cs typeface="Cambria" pitchFamily="34" charset="-120"/>
              </a:rPr>
              <a:t>Ödev: Boşluğu ve Numaralı Sözü Kontrol Et</a:t>
            </a:r>
            <a:endParaRPr lang="en-US" sz="2800" dirty="0"/>
          </a:p>
        </p:txBody>
      </p:sp>
      <p:sp>
        <p:nvSpPr>
          <p:cNvPr id="6" name="Text 3"/>
          <p:cNvSpPr/>
          <p:nvPr/>
        </p:nvSpPr>
        <p:spPr>
          <a:xfrm>
            <a:off x="640080" y="1645920"/>
            <a:ext cx="10881360" cy="685292"/>
          </a:xfrm>
          <a:prstGeom prst="rect">
            <a:avLst/>
          </a:prstGeom>
          <a:noFill/>
          <a:ln/>
        </p:spPr>
        <p:txBody>
          <a:bodyPr wrap="square" lIns="0" tIns="0" rIns="0" bIns="0" rtlCol="0" anchor="ctr"/>
          <a:lstStyle/>
          <a:p>
            <a:pPr marL="0" indent="0">
              <a:buNone/>
            </a:pPr>
            <a:r>
              <a:rPr lang="en-US" sz="1900" dirty="0">
                <a:solidFill>
                  <a:srgbClr val="1E2761"/>
                </a:solidFill>
                <a:latin typeface="Calibri" pitchFamily="34" charset="0"/>
                <a:ea typeface="Calibri" pitchFamily="34" charset="-122"/>
                <a:cs typeface="Calibri" pitchFamily="34" charset="-120"/>
              </a:rPr>
              <a:t>Sıradaki derse kadar aşağıdaki 8 cümlede boşluğa uygun sözcüğü seçin ve numaralı sözlerin açıklamasının doğruluğunu değerlendirip defterinize yazın:</a:t>
            </a:r>
            <a:endParaRPr lang="en-US" sz="1900" dirty="0"/>
          </a:p>
        </p:txBody>
      </p:sp>
      <p:sp>
        <p:nvSpPr>
          <p:cNvPr id="7" name="Shape 4"/>
          <p:cNvSpPr/>
          <p:nvPr/>
        </p:nvSpPr>
        <p:spPr>
          <a:xfrm>
            <a:off x="640080" y="2372360"/>
            <a:ext cx="5349240" cy="776732"/>
          </a:xfrm>
          <a:prstGeom prst="roundRect">
            <a:avLst>
              <a:gd name="adj" fmla="val 50000"/>
            </a:avLst>
          </a:prstGeom>
          <a:solidFill>
            <a:srgbClr val="EEF3F8"/>
          </a:solidFill>
          <a:ln w="12700">
            <a:solidFill>
              <a:srgbClr val="1E3A5F"/>
            </a:solidFill>
            <a:prstDash val="solid"/>
          </a:ln>
        </p:spPr>
      </p:sp>
      <p:sp>
        <p:nvSpPr>
          <p:cNvPr id="8" name="Text 5"/>
          <p:cNvSpPr/>
          <p:nvPr/>
        </p:nvSpPr>
        <p:spPr>
          <a:xfrm>
            <a:off x="822960" y="2372360"/>
            <a:ext cx="5029200" cy="685292"/>
          </a:xfrm>
          <a:prstGeom prst="rect">
            <a:avLst/>
          </a:prstGeom>
          <a:noFill/>
          <a:ln/>
        </p:spPr>
        <p:txBody>
          <a:bodyPr wrap="square" lIns="0" tIns="0" rIns="0" bIns="0" rtlCol="0" anchor="ctr"/>
          <a:lstStyle/>
          <a:p>
            <a:pPr marL="0" indent="0">
              <a:buNone/>
            </a:pPr>
            <a:r>
              <a:rPr lang="en-US" sz="1900" b="1" dirty="0">
                <a:solidFill>
                  <a:srgbClr val="1E3A5F"/>
                </a:solidFill>
                <a:latin typeface="Calibri" pitchFamily="34" charset="0"/>
                <a:ea typeface="Calibri" pitchFamily="34" charset="-122"/>
                <a:cs typeface="Calibri" pitchFamily="34" charset="-120"/>
              </a:rPr>
              <a:t>1. Emeklerinin karşılığını ---- (aldı / kaybetti).</a:t>
            </a:r>
            <a:endParaRPr lang="en-US" sz="1900" dirty="0"/>
          </a:p>
        </p:txBody>
      </p:sp>
      <p:sp>
        <p:nvSpPr>
          <p:cNvPr id="9" name="Shape 6"/>
          <p:cNvSpPr/>
          <p:nvPr/>
        </p:nvSpPr>
        <p:spPr>
          <a:xfrm>
            <a:off x="6172200" y="2372360"/>
            <a:ext cx="5349240" cy="776732"/>
          </a:xfrm>
          <a:prstGeom prst="roundRect">
            <a:avLst>
              <a:gd name="adj" fmla="val 50000"/>
            </a:avLst>
          </a:prstGeom>
          <a:solidFill>
            <a:srgbClr val="EEF3F8"/>
          </a:solidFill>
          <a:ln w="12700">
            <a:solidFill>
              <a:srgbClr val="1E3A5F"/>
            </a:solidFill>
            <a:prstDash val="solid"/>
          </a:ln>
        </p:spPr>
      </p:sp>
      <p:sp>
        <p:nvSpPr>
          <p:cNvPr id="10" name="Text 7"/>
          <p:cNvSpPr/>
          <p:nvPr/>
        </p:nvSpPr>
        <p:spPr>
          <a:xfrm>
            <a:off x="6355080" y="2372360"/>
            <a:ext cx="5029200" cy="685292"/>
          </a:xfrm>
          <a:prstGeom prst="rect">
            <a:avLst/>
          </a:prstGeom>
          <a:noFill/>
          <a:ln/>
        </p:spPr>
        <p:txBody>
          <a:bodyPr wrap="square" lIns="0" tIns="0" rIns="0" bIns="0" rtlCol="0" anchor="ctr"/>
          <a:lstStyle/>
          <a:p>
            <a:pPr marL="0" indent="0">
              <a:buNone/>
            </a:pPr>
            <a:r>
              <a:rPr lang="en-US" sz="1900" b="1" dirty="0">
                <a:solidFill>
                  <a:srgbClr val="1E3A5F"/>
                </a:solidFill>
                <a:latin typeface="Calibri" pitchFamily="34" charset="0"/>
                <a:ea typeface="Calibri" pitchFamily="34" charset="-122"/>
                <a:cs typeface="Calibri" pitchFamily="34" charset="-120"/>
              </a:rPr>
              <a:t>2. Konuşmacı çok ---- bir üslup kullandı (akıcı / kekeleyerek).</a:t>
            </a:r>
            <a:endParaRPr lang="en-US" sz="1900" dirty="0"/>
          </a:p>
        </p:txBody>
      </p:sp>
      <p:sp>
        <p:nvSpPr>
          <p:cNvPr id="11" name="Shape 8"/>
          <p:cNvSpPr/>
          <p:nvPr/>
        </p:nvSpPr>
        <p:spPr>
          <a:xfrm>
            <a:off x="640080" y="3182010"/>
            <a:ext cx="5349240" cy="776732"/>
          </a:xfrm>
          <a:prstGeom prst="roundRect">
            <a:avLst>
              <a:gd name="adj" fmla="val 50000"/>
            </a:avLst>
          </a:prstGeom>
          <a:solidFill>
            <a:srgbClr val="EEF3F8"/>
          </a:solidFill>
          <a:ln w="12700">
            <a:solidFill>
              <a:srgbClr val="1E3A5F"/>
            </a:solidFill>
            <a:prstDash val="solid"/>
          </a:ln>
        </p:spPr>
      </p:sp>
      <p:sp>
        <p:nvSpPr>
          <p:cNvPr id="12" name="Text 9"/>
          <p:cNvSpPr/>
          <p:nvPr/>
        </p:nvSpPr>
        <p:spPr>
          <a:xfrm>
            <a:off x="857144" y="3216194"/>
            <a:ext cx="5029200" cy="685292"/>
          </a:xfrm>
          <a:prstGeom prst="rect">
            <a:avLst/>
          </a:prstGeom>
          <a:noFill/>
          <a:ln/>
        </p:spPr>
        <p:txBody>
          <a:bodyPr wrap="square" lIns="0" tIns="0" rIns="0" bIns="0" rtlCol="0" anchor="ctr"/>
          <a:lstStyle/>
          <a:p>
            <a:pPr marL="0" indent="0">
              <a:buNone/>
            </a:pPr>
            <a:r>
              <a:rPr lang="en-US" sz="1900" b="1" dirty="0">
                <a:solidFill>
                  <a:srgbClr val="1E3A5F"/>
                </a:solidFill>
                <a:latin typeface="Calibri" pitchFamily="34" charset="0"/>
                <a:ea typeface="Calibri" pitchFamily="34" charset="-122"/>
                <a:cs typeface="Calibri" pitchFamily="34" charset="-120"/>
              </a:rPr>
              <a:t>3. Uzun yoldan sonra ---- bir dinlenmeye ihtiyacı vardı (kısa / derin).</a:t>
            </a:r>
            <a:endParaRPr lang="en-US" sz="1900" dirty="0"/>
          </a:p>
        </p:txBody>
      </p:sp>
      <p:sp>
        <p:nvSpPr>
          <p:cNvPr id="13" name="Shape 10"/>
          <p:cNvSpPr/>
          <p:nvPr/>
        </p:nvSpPr>
        <p:spPr>
          <a:xfrm>
            <a:off x="6172200" y="3182010"/>
            <a:ext cx="5349240" cy="776732"/>
          </a:xfrm>
          <a:prstGeom prst="roundRect">
            <a:avLst>
              <a:gd name="adj" fmla="val 50000"/>
            </a:avLst>
          </a:prstGeom>
          <a:solidFill>
            <a:srgbClr val="EEF3F8"/>
          </a:solidFill>
          <a:ln w="12700">
            <a:solidFill>
              <a:srgbClr val="1E3A5F"/>
            </a:solidFill>
            <a:prstDash val="solid"/>
          </a:ln>
        </p:spPr>
      </p:sp>
      <p:sp>
        <p:nvSpPr>
          <p:cNvPr id="14" name="Text 11"/>
          <p:cNvSpPr/>
          <p:nvPr/>
        </p:nvSpPr>
        <p:spPr>
          <a:xfrm>
            <a:off x="6355080" y="3182010"/>
            <a:ext cx="5029200" cy="685292"/>
          </a:xfrm>
          <a:prstGeom prst="rect">
            <a:avLst/>
          </a:prstGeom>
          <a:noFill/>
          <a:ln/>
        </p:spPr>
        <p:txBody>
          <a:bodyPr wrap="square" lIns="0" tIns="0" rIns="0" bIns="0" rtlCol="0" anchor="ctr"/>
          <a:lstStyle/>
          <a:p>
            <a:pPr marL="0" indent="0">
              <a:buNone/>
            </a:pPr>
            <a:r>
              <a:rPr lang="en-US" sz="1900" b="1" dirty="0">
                <a:solidFill>
                  <a:srgbClr val="1E3A5F"/>
                </a:solidFill>
                <a:latin typeface="Calibri" pitchFamily="34" charset="0"/>
                <a:ea typeface="Calibri" pitchFamily="34" charset="-122"/>
                <a:cs typeface="Calibri" pitchFamily="34" charset="-120"/>
              </a:rPr>
              <a:t>4. Haber herkesi ---- şaşırttı (yavaşça / apansız).</a:t>
            </a:r>
            <a:endParaRPr lang="en-US" sz="1900" dirty="0"/>
          </a:p>
        </p:txBody>
      </p:sp>
      <p:sp>
        <p:nvSpPr>
          <p:cNvPr id="15" name="Shape 12"/>
          <p:cNvSpPr/>
          <p:nvPr/>
        </p:nvSpPr>
        <p:spPr>
          <a:xfrm>
            <a:off x="640080" y="3991661"/>
            <a:ext cx="5349240" cy="776732"/>
          </a:xfrm>
          <a:prstGeom prst="roundRect">
            <a:avLst>
              <a:gd name="adj" fmla="val 50000"/>
            </a:avLst>
          </a:prstGeom>
          <a:solidFill>
            <a:srgbClr val="EEF3F8"/>
          </a:solidFill>
          <a:ln w="12700">
            <a:solidFill>
              <a:srgbClr val="1E3A5F"/>
            </a:solidFill>
            <a:prstDash val="solid"/>
          </a:ln>
        </p:spPr>
      </p:sp>
      <p:sp>
        <p:nvSpPr>
          <p:cNvPr id="16" name="Text 13"/>
          <p:cNvSpPr/>
          <p:nvPr/>
        </p:nvSpPr>
        <p:spPr>
          <a:xfrm>
            <a:off x="822960" y="3991661"/>
            <a:ext cx="5029200" cy="685292"/>
          </a:xfrm>
          <a:prstGeom prst="rect">
            <a:avLst/>
          </a:prstGeom>
          <a:noFill/>
          <a:ln/>
        </p:spPr>
        <p:txBody>
          <a:bodyPr wrap="square" lIns="0" tIns="0" rIns="0" bIns="0" rtlCol="0" anchor="ctr"/>
          <a:lstStyle/>
          <a:p>
            <a:pPr marL="0" indent="0">
              <a:buNone/>
            </a:pPr>
            <a:r>
              <a:rPr lang="en-US" sz="1900" b="1" dirty="0">
                <a:solidFill>
                  <a:srgbClr val="1E3A5F"/>
                </a:solidFill>
                <a:latin typeface="Calibri" pitchFamily="34" charset="0"/>
                <a:ea typeface="Calibri" pitchFamily="34" charset="-122"/>
                <a:cs typeface="Calibri" pitchFamily="34" charset="-120"/>
              </a:rPr>
              <a:t>5. "Eli kalem tutmak" (yazı yazabilmek) — doğru mu?</a:t>
            </a:r>
            <a:endParaRPr lang="en-US" sz="1900" dirty="0"/>
          </a:p>
        </p:txBody>
      </p:sp>
      <p:sp>
        <p:nvSpPr>
          <p:cNvPr id="17" name="Shape 14"/>
          <p:cNvSpPr/>
          <p:nvPr/>
        </p:nvSpPr>
        <p:spPr>
          <a:xfrm>
            <a:off x="6172200" y="3991661"/>
            <a:ext cx="5349240" cy="776732"/>
          </a:xfrm>
          <a:prstGeom prst="roundRect">
            <a:avLst>
              <a:gd name="adj" fmla="val 50000"/>
            </a:avLst>
          </a:prstGeom>
          <a:solidFill>
            <a:srgbClr val="EEF3F8"/>
          </a:solidFill>
          <a:ln w="12700">
            <a:solidFill>
              <a:srgbClr val="1E3A5F"/>
            </a:solidFill>
            <a:prstDash val="solid"/>
          </a:ln>
        </p:spPr>
      </p:sp>
      <p:sp>
        <p:nvSpPr>
          <p:cNvPr id="18" name="Text 15"/>
          <p:cNvSpPr/>
          <p:nvPr/>
        </p:nvSpPr>
        <p:spPr>
          <a:xfrm>
            <a:off x="6355080" y="3991661"/>
            <a:ext cx="5029200" cy="685292"/>
          </a:xfrm>
          <a:prstGeom prst="rect">
            <a:avLst/>
          </a:prstGeom>
          <a:noFill/>
          <a:ln/>
        </p:spPr>
        <p:txBody>
          <a:bodyPr wrap="square" lIns="0" tIns="0" rIns="0" bIns="0" rtlCol="0" anchor="ctr"/>
          <a:lstStyle/>
          <a:p>
            <a:pPr marL="0" indent="0">
              <a:buNone/>
            </a:pPr>
            <a:r>
              <a:rPr lang="en-US" sz="1900" b="1" dirty="0">
                <a:solidFill>
                  <a:srgbClr val="1E3A5F"/>
                </a:solidFill>
                <a:latin typeface="Calibri" pitchFamily="34" charset="0"/>
                <a:ea typeface="Calibri" pitchFamily="34" charset="-122"/>
                <a:cs typeface="Calibri" pitchFamily="34" charset="-120"/>
              </a:rPr>
              <a:t>6. "Ayağı kaymak" (hata yapmak, gerçek anlam) — doğru mu?</a:t>
            </a:r>
            <a:endParaRPr lang="en-US" sz="1900" dirty="0"/>
          </a:p>
        </p:txBody>
      </p:sp>
      <p:sp>
        <p:nvSpPr>
          <p:cNvPr id="19" name="Shape 16"/>
          <p:cNvSpPr/>
          <p:nvPr/>
        </p:nvSpPr>
        <p:spPr>
          <a:xfrm>
            <a:off x="640080" y="4801311"/>
            <a:ext cx="5349240" cy="776732"/>
          </a:xfrm>
          <a:prstGeom prst="roundRect">
            <a:avLst>
              <a:gd name="adj" fmla="val 50000"/>
            </a:avLst>
          </a:prstGeom>
          <a:solidFill>
            <a:srgbClr val="EEF3F8"/>
          </a:solidFill>
          <a:ln w="12700">
            <a:solidFill>
              <a:srgbClr val="1E3A5F"/>
            </a:solidFill>
            <a:prstDash val="solid"/>
          </a:ln>
        </p:spPr>
      </p:sp>
      <p:sp>
        <p:nvSpPr>
          <p:cNvPr id="20" name="Text 17"/>
          <p:cNvSpPr/>
          <p:nvPr/>
        </p:nvSpPr>
        <p:spPr>
          <a:xfrm>
            <a:off x="822960" y="4801311"/>
            <a:ext cx="5029200" cy="685292"/>
          </a:xfrm>
          <a:prstGeom prst="rect">
            <a:avLst/>
          </a:prstGeom>
          <a:noFill/>
          <a:ln/>
        </p:spPr>
        <p:txBody>
          <a:bodyPr wrap="square" lIns="0" tIns="0" rIns="0" bIns="0" rtlCol="0" anchor="ctr"/>
          <a:lstStyle/>
          <a:p>
            <a:pPr marL="0" indent="0">
              <a:buNone/>
            </a:pPr>
            <a:r>
              <a:rPr lang="en-US" sz="1900" b="1" dirty="0">
                <a:solidFill>
                  <a:srgbClr val="1E3A5F"/>
                </a:solidFill>
                <a:latin typeface="Calibri" pitchFamily="34" charset="0"/>
                <a:ea typeface="Calibri" pitchFamily="34" charset="-122"/>
                <a:cs typeface="Calibri" pitchFamily="34" charset="-120"/>
              </a:rPr>
              <a:t>7. "Kulak kabartmak" (dikkatle dinlemeye çalışmak) — doğru mu?</a:t>
            </a:r>
            <a:endParaRPr lang="en-US" sz="1900" dirty="0"/>
          </a:p>
        </p:txBody>
      </p:sp>
      <p:sp>
        <p:nvSpPr>
          <p:cNvPr id="21" name="Shape 18"/>
          <p:cNvSpPr/>
          <p:nvPr/>
        </p:nvSpPr>
        <p:spPr>
          <a:xfrm>
            <a:off x="6172200" y="4801311"/>
            <a:ext cx="5349240" cy="776732"/>
          </a:xfrm>
          <a:prstGeom prst="roundRect">
            <a:avLst>
              <a:gd name="adj" fmla="val 50000"/>
            </a:avLst>
          </a:prstGeom>
          <a:solidFill>
            <a:srgbClr val="EEF3F8"/>
          </a:solidFill>
          <a:ln w="12700">
            <a:solidFill>
              <a:srgbClr val="1E3A5F"/>
            </a:solidFill>
            <a:prstDash val="solid"/>
          </a:ln>
        </p:spPr>
      </p:sp>
      <p:sp>
        <p:nvSpPr>
          <p:cNvPr id="22" name="Text 19"/>
          <p:cNvSpPr/>
          <p:nvPr/>
        </p:nvSpPr>
        <p:spPr>
          <a:xfrm>
            <a:off x="6355080" y="4801311"/>
            <a:ext cx="5029200" cy="685292"/>
          </a:xfrm>
          <a:prstGeom prst="rect">
            <a:avLst/>
          </a:prstGeom>
          <a:noFill/>
          <a:ln/>
        </p:spPr>
        <p:txBody>
          <a:bodyPr wrap="square" lIns="0" tIns="0" rIns="0" bIns="0" rtlCol="0" anchor="ctr"/>
          <a:lstStyle/>
          <a:p>
            <a:pPr marL="0" indent="0">
              <a:buNone/>
            </a:pPr>
            <a:r>
              <a:rPr lang="en-US" sz="1900" b="1" dirty="0">
                <a:solidFill>
                  <a:srgbClr val="1E3A5F"/>
                </a:solidFill>
                <a:latin typeface="Calibri" pitchFamily="34" charset="0"/>
                <a:ea typeface="Calibri" pitchFamily="34" charset="-122"/>
                <a:cs typeface="Calibri" pitchFamily="34" charset="-120"/>
              </a:rPr>
              <a:t>8. "Yüz vermek" (ilgi göstermemek) — doğru mu?</a:t>
            </a:r>
            <a:endParaRPr lang="en-US" sz="1900" dirty="0"/>
          </a:p>
        </p:txBody>
      </p:sp>
      <p:sp>
        <p:nvSpPr>
          <p:cNvPr id="23" name="Shape 20"/>
          <p:cNvSpPr/>
          <p:nvPr/>
        </p:nvSpPr>
        <p:spPr>
          <a:xfrm>
            <a:off x="640080" y="5672684"/>
            <a:ext cx="10881360" cy="776732"/>
          </a:xfrm>
          <a:prstGeom prst="roundRect">
            <a:avLst>
              <a:gd name="adj" fmla="val 15385"/>
            </a:avLst>
          </a:prstGeom>
          <a:solidFill>
            <a:srgbClr val="FBF3E3"/>
          </a:solidFill>
          <a:ln/>
        </p:spPr>
      </p:sp>
      <p:sp>
        <p:nvSpPr>
          <p:cNvPr id="24" name="Text 21"/>
          <p:cNvSpPr/>
          <p:nvPr/>
        </p:nvSpPr>
        <p:spPr>
          <a:xfrm>
            <a:off x="914400" y="5672684"/>
            <a:ext cx="10332720" cy="685292"/>
          </a:xfrm>
          <a:prstGeom prst="rect">
            <a:avLst/>
          </a:prstGeom>
          <a:noFill/>
          <a:ln/>
        </p:spPr>
        <p:txBody>
          <a:bodyPr wrap="square" lIns="0" tIns="0" rIns="0" bIns="0" rtlCol="0" anchor="ctr"/>
          <a:lstStyle/>
          <a:p>
            <a:pPr marL="0" indent="0">
              <a:buNone/>
            </a:pPr>
            <a:r>
              <a:rPr lang="en-US" sz="1900" dirty="0">
                <a:solidFill>
                  <a:srgbClr val="1E2761"/>
                </a:solidFill>
                <a:latin typeface="Calibri" pitchFamily="34" charset="0"/>
                <a:ea typeface="Calibri" pitchFamily="34" charset="-122"/>
                <a:cs typeface="Calibri" pitchFamily="34" charset="-120"/>
              </a:rPr>
              <a:t>Not: 5-8'de dikkat — bazı deyimlerin "gerçek anlam" gibi görünen bir açıklaması aslında YANLIŞ olabilir; deyimin GERÇEK kullanımdaki anlamını düşünün.</a:t>
            </a:r>
            <a:endParaRPr lang="en-US" sz="1900" dirty="0"/>
          </a:p>
        </p:txBody>
      </p:sp>
      <p:sp>
        <p:nvSpPr>
          <p:cNvPr id="25" name="Text 22"/>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TYT TÜRKÇE  ·  SÖZCÜKTE ANLAM  ·  Ödev</a:t>
            </a:r>
            <a:endParaRPr lang="en-US" sz="900" dirty="0"/>
          </a:p>
        </p:txBody>
      </p:sp>
      <p:sp>
        <p:nvSpPr>
          <p:cNvPr id="26" name="Text 23"/>
          <p:cNvSpPr/>
          <p:nvPr/>
        </p:nvSpPr>
        <p:spPr>
          <a:xfrm>
            <a:off x="9902952" y="6537960"/>
            <a:ext cx="18288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Ders 2 / 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1E3A5F"/>
        </a:solidFill>
        <a:effectLst/>
      </p:bgPr>
    </p:bg>
    <p:spTree>
      <p:nvGrpSpPr>
        <p:cNvPr id="1" name=""/>
        <p:cNvGrpSpPr/>
        <p:nvPr/>
      </p:nvGrpSpPr>
      <p:grpSpPr>
        <a:xfrm>
          <a:off x="0" y="0"/>
          <a:ext cx="0" cy="0"/>
          <a:chOff x="0" y="0"/>
          <a:chExt cx="0" cy="0"/>
        </a:xfrm>
      </p:grpSpPr>
      <p:sp>
        <p:nvSpPr>
          <p:cNvPr id="2" name="Shape 0"/>
          <p:cNvSpPr/>
          <p:nvPr/>
        </p:nvSpPr>
        <p:spPr>
          <a:xfrm>
            <a:off x="8138160" y="0"/>
            <a:ext cx="4050792" cy="6858000"/>
          </a:xfrm>
          <a:prstGeom prst="rect">
            <a:avLst/>
          </a:prstGeom>
          <a:solidFill>
            <a:srgbClr val="142A44"/>
          </a:solidFill>
          <a:ln/>
        </p:spPr>
      </p:sp>
      <p:sp>
        <p:nvSpPr>
          <p:cNvPr id="3" name="Shape 1"/>
          <p:cNvSpPr/>
          <p:nvPr/>
        </p:nvSpPr>
        <p:spPr>
          <a:xfrm>
            <a:off x="640080" y="548640"/>
            <a:ext cx="731520" cy="731520"/>
          </a:xfrm>
          <a:prstGeom prst="ellipse">
            <a:avLst/>
          </a:prstGeom>
          <a:solidFill>
            <a:srgbClr val="254B78"/>
          </a:solidFill>
          <a:ln/>
        </p:spPr>
      </p:sp>
      <p:pic>
        <p:nvPicPr>
          <p:cNvPr id="4" name="Image 0" descr="icons/kapanis_amber.png"/>
          <p:cNvPicPr>
            <a:picLocks noChangeAspect="1"/>
          </p:cNvPicPr>
          <p:nvPr/>
        </p:nvPicPr>
        <p:blipFill>
          <a:blip r:embed="rId3"/>
          <a:stretch>
            <a:fillRect/>
          </a:stretch>
        </p:blipFill>
        <p:spPr>
          <a:xfrm>
            <a:off x="804672" y="713232"/>
            <a:ext cx="402336" cy="402336"/>
          </a:xfrm>
          <a:prstGeom prst="rect">
            <a:avLst/>
          </a:prstGeom>
        </p:spPr>
      </p:pic>
      <p:sp>
        <p:nvSpPr>
          <p:cNvPr id="5" name="Text 2"/>
          <p:cNvSpPr/>
          <p:nvPr/>
        </p:nvSpPr>
        <p:spPr>
          <a:xfrm>
            <a:off x="1508760" y="594360"/>
            <a:ext cx="6400800" cy="64008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Ders Tamamlandı</a:t>
            </a:r>
            <a:endParaRPr lang="en-US" sz="2800" dirty="0"/>
          </a:p>
        </p:txBody>
      </p:sp>
      <p:sp>
        <p:nvSpPr>
          <p:cNvPr id="6" name="Text 3"/>
          <p:cNvSpPr/>
          <p:nvPr/>
        </p:nvSpPr>
        <p:spPr>
          <a:xfrm>
            <a:off x="640080" y="1371600"/>
            <a:ext cx="7315200" cy="365760"/>
          </a:xfrm>
          <a:prstGeom prst="rect">
            <a:avLst/>
          </a:prstGeom>
          <a:noFill/>
          <a:ln/>
        </p:spPr>
        <p:txBody>
          <a:bodyPr wrap="square" lIns="0" tIns="0" rIns="0" bIns="0" rtlCol="0" anchor="ctr"/>
          <a:lstStyle/>
          <a:p>
            <a:pPr marL="0" indent="0">
              <a:buNone/>
            </a:pPr>
            <a:r>
              <a:rPr lang="en-US" sz="1300" i="1" dirty="0">
                <a:solidFill>
                  <a:srgbClr val="9FB8D6"/>
                </a:solidFill>
                <a:latin typeface="Calibri" pitchFamily="34" charset="0"/>
                <a:ea typeface="Calibri" pitchFamily="34" charset="-122"/>
                <a:cs typeface="Calibri" pitchFamily="34" charset="-120"/>
              </a:rPr>
              <a:t>Çok Anlamlılık ve Bağlama Uygun Sözcük — Sözcükte Anlam, Ders 2/3</a:t>
            </a:r>
            <a:endParaRPr lang="en-US" sz="1300" dirty="0"/>
          </a:p>
        </p:txBody>
      </p:sp>
      <p:sp>
        <p:nvSpPr>
          <p:cNvPr id="7" name="Shape 4"/>
          <p:cNvSpPr/>
          <p:nvPr/>
        </p:nvSpPr>
        <p:spPr>
          <a:xfrm>
            <a:off x="640080" y="2103120"/>
            <a:ext cx="7040880" cy="1828800"/>
          </a:xfrm>
          <a:prstGeom prst="roundRect">
            <a:avLst>
              <a:gd name="adj" fmla="val 6000"/>
            </a:avLst>
          </a:prstGeom>
          <a:solidFill>
            <a:srgbClr val="254B78"/>
          </a:solidFill>
          <a:ln/>
        </p:spPr>
      </p:sp>
      <p:sp>
        <p:nvSpPr>
          <p:cNvPr id="8" name="Text 5"/>
          <p:cNvSpPr/>
          <p:nvPr/>
        </p:nvSpPr>
        <p:spPr>
          <a:xfrm>
            <a:off x="914400" y="2331720"/>
            <a:ext cx="6492240" cy="1371600"/>
          </a:xfrm>
          <a:prstGeom prst="rect">
            <a:avLst/>
          </a:prstGeom>
          <a:noFill/>
          <a:ln/>
        </p:spPr>
        <p:txBody>
          <a:bodyPr wrap="square" lIns="0" tIns="0" rIns="0" bIns="0" rtlCol="0" anchor="t"/>
          <a:lstStyle/>
          <a:p>
            <a:pPr marL="0" indent="0">
              <a:buNone/>
            </a:pPr>
            <a:r>
              <a:rPr lang="en-US" sz="1550" b="1" dirty="0">
                <a:solidFill>
                  <a:srgbClr val="D9A441"/>
                </a:solidFill>
                <a:latin typeface="Calibri" pitchFamily="34" charset="0"/>
                <a:ea typeface="Calibri" pitchFamily="34" charset="-122"/>
                <a:cs typeface="Calibri" pitchFamily="34" charset="-120"/>
              </a:rPr>
              <a:t>Bugün öğrendik:  </a:t>
            </a:r>
            <a:endParaRPr lang="en-US" sz="1550" dirty="0"/>
          </a:p>
          <a:p>
            <a:pPr marL="0" indent="0">
              <a:buNone/>
            </a:pPr>
            <a:r>
              <a:rPr lang="en-US" sz="1550" dirty="0">
                <a:solidFill>
                  <a:srgbClr val="FFFFFF"/>
                </a:solidFill>
                <a:latin typeface="Calibri" pitchFamily="34" charset="0"/>
                <a:ea typeface="Calibri" pitchFamily="34" charset="-122"/>
                <a:cs typeface="Calibri" pitchFamily="34" charset="-120"/>
              </a:rPr>
              <a:t>TYT'nin en sık çıkan iki Sözcükte Anlam soru tipi — bağlama uygun sözcük/ifade seçme (Tip 1) ve numaralanmış sözlerin anlamını doğrulama (Tip 2) — ve bu iki tipi hızlı ve doğru çözme stratejileri.</a:t>
            </a:r>
            <a:endParaRPr lang="en-US" sz="1550" dirty="0"/>
          </a:p>
        </p:txBody>
      </p:sp>
      <p:sp>
        <p:nvSpPr>
          <p:cNvPr id="9" name="Shape 6"/>
          <p:cNvSpPr/>
          <p:nvPr/>
        </p:nvSpPr>
        <p:spPr>
          <a:xfrm>
            <a:off x="640080" y="4160520"/>
            <a:ext cx="7040880" cy="1051560"/>
          </a:xfrm>
          <a:prstGeom prst="roundRect">
            <a:avLst>
              <a:gd name="adj" fmla="val 10435"/>
            </a:avLst>
          </a:prstGeom>
          <a:solidFill>
            <a:srgbClr val="D9A441"/>
          </a:solidFill>
          <a:ln/>
        </p:spPr>
      </p:sp>
      <p:sp>
        <p:nvSpPr>
          <p:cNvPr id="10" name="Text 7"/>
          <p:cNvSpPr/>
          <p:nvPr/>
        </p:nvSpPr>
        <p:spPr>
          <a:xfrm>
            <a:off x="914400" y="4315968"/>
            <a:ext cx="5943600" cy="320040"/>
          </a:xfrm>
          <a:prstGeom prst="rect">
            <a:avLst/>
          </a:prstGeom>
          <a:noFill/>
          <a:ln/>
        </p:spPr>
        <p:txBody>
          <a:bodyPr wrap="square" lIns="0" tIns="0" rIns="0" bIns="0" rtlCol="0" anchor="ctr"/>
          <a:lstStyle/>
          <a:p>
            <a:pPr marL="0" indent="0">
              <a:buNone/>
            </a:pPr>
            <a:r>
              <a:rPr lang="en-US" sz="1600" b="1" kern="0" spc="200" dirty="0">
                <a:solidFill>
                  <a:srgbClr val="142A44"/>
                </a:solidFill>
                <a:latin typeface="Calibri" pitchFamily="34" charset="0"/>
                <a:ea typeface="Calibri" pitchFamily="34" charset="-122"/>
                <a:cs typeface="Calibri" pitchFamily="34" charset="-120"/>
              </a:rPr>
              <a:t>SIRADAKİ DERS (3/3)</a:t>
            </a:r>
            <a:endParaRPr lang="en-US" sz="1600" dirty="0"/>
          </a:p>
        </p:txBody>
      </p:sp>
      <p:sp>
        <p:nvSpPr>
          <p:cNvPr id="11" name="Text 8"/>
          <p:cNvSpPr/>
          <p:nvPr/>
        </p:nvSpPr>
        <p:spPr>
          <a:xfrm>
            <a:off x="914400" y="4590288"/>
            <a:ext cx="6309360" cy="502920"/>
          </a:xfrm>
          <a:prstGeom prst="rect">
            <a:avLst/>
          </a:prstGeom>
          <a:noFill/>
          <a:ln/>
        </p:spPr>
        <p:txBody>
          <a:bodyPr wrap="square" lIns="0" tIns="0" rIns="0" bIns="0" rtlCol="0" anchor="ctr"/>
          <a:lstStyle/>
          <a:p>
            <a:pPr marL="0" indent="0">
              <a:buNone/>
            </a:pPr>
            <a:r>
              <a:rPr lang="en-US" sz="2100" b="1" dirty="0">
                <a:solidFill>
                  <a:srgbClr val="142A44"/>
                </a:solidFill>
                <a:latin typeface="Cambria" pitchFamily="34" charset="0"/>
                <a:ea typeface="Cambria" pitchFamily="34" charset="-122"/>
                <a:cs typeface="Cambria" pitchFamily="34" charset="-120"/>
              </a:rPr>
              <a:t>Bağlamsal Anlam Yorumlama ve Deyimler  →</a:t>
            </a:r>
            <a:endParaRPr lang="en-US" sz="2100" dirty="0"/>
          </a:p>
        </p:txBody>
      </p:sp>
      <p:sp>
        <p:nvSpPr>
          <p:cNvPr id="12" name="Text 9"/>
          <p:cNvSpPr/>
          <p:nvPr/>
        </p:nvSpPr>
        <p:spPr>
          <a:xfrm>
            <a:off x="640080" y="6309360"/>
            <a:ext cx="5486400" cy="365760"/>
          </a:xfrm>
          <a:prstGeom prst="rect">
            <a:avLst/>
          </a:prstGeom>
          <a:noFill/>
          <a:ln/>
        </p:spPr>
        <p:txBody>
          <a:bodyPr wrap="square" lIns="0" tIns="0" rIns="0" bIns="0" rtlCol="0" anchor="ctr"/>
          <a:lstStyle/>
          <a:p>
            <a:pPr marL="0" indent="0">
              <a:buNone/>
            </a:pPr>
            <a:r>
              <a:rPr lang="en-US" sz="1000" dirty="0">
                <a:solidFill>
                  <a:srgbClr val="6E8CB0"/>
                </a:solidFill>
                <a:latin typeface="Calibri" pitchFamily="34" charset="0"/>
                <a:ea typeface="Calibri" pitchFamily="34" charset="-122"/>
                <a:cs typeface="Calibri" pitchFamily="34" charset="-120"/>
              </a:rPr>
              <a:t>TYT Türkçe Ders Anlatım Projesi  ·  Sedat GÜLER ve Claude Opus 5 tarafından üretilmiştir.</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2064</TotalTime>
  <Words>2805</Words>
  <Application>Microsoft Office PowerPoint</Application>
  <PresentationFormat>Geniş ekran</PresentationFormat>
  <Paragraphs>325</Paragraphs>
  <Slides>24</Slides>
  <Notes>21</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24</vt:i4>
      </vt:variant>
    </vt:vector>
  </HeadingPairs>
  <TitlesOfParts>
    <vt:vector size="28" baseType="lpstr">
      <vt:lpstr>Arial</vt:lpstr>
      <vt:lpstr>Calibri</vt:lpstr>
      <vt:lpstr>Cambria</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trapper404040@outlook.com</cp:lastModifiedBy>
  <cp:revision>3</cp:revision>
  <dcterms:created xsi:type="dcterms:W3CDTF">2026-09-12T19:54:00Z</dcterms:created>
  <dcterms:modified xsi:type="dcterms:W3CDTF">2026-09-22T07:42:01Z</dcterms:modified>
</cp:coreProperties>
</file>