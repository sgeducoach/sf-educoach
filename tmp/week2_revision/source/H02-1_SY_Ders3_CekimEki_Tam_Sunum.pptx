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80" r:id="rId19"/>
    <p:sldId id="274" r:id="rId20"/>
    <p:sldId id="281" r:id="rId21"/>
    <p:sldId id="275" r:id="rId22"/>
    <p:sldId id="282" r:id="rId23"/>
    <p:sldId id="283" r:id="rId24"/>
    <p:sldId id="276" r:id="rId25"/>
    <p:sldId id="277" r:id="rId26"/>
    <p:sldId id="278" r:id="rId27"/>
    <p:sldId id="27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398F-3006-48C0-AF4D-FA9964D4ECAE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CD468-1FFE-4265-B1B4-A8FE3AD955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SÖZCÜKTE YAPI · DERS 3/6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Sözcük Değil, Cümlede İşlerlik Kazandırmak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dk · </a:t>
            </a:r>
            <a:r>
              <a:rPr lang="tr-TR" sz="17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7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lokta</a:t>
            </a:r>
            <a:r>
              <a:rPr lang="en-US" sz="17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föy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3300984" y="3429000"/>
            <a:ext cx="309524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3429000"/>
            <a:ext cx="3095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Bilgisi · Hafta 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11" name="Image 0" descr="icons/cov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 GÜLER ve Claude Opus 5  ·  TYT Türkçe Ders Anlatım Serisi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1554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42A44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6868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8686800" y="2651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-ler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8686800" y="3291840"/>
            <a:ext cx="1828800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çekim eki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210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2104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ÖĞRETMENLER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321040" y="4572000"/>
            <a:ext cx="2560320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sözcük, çoğul işlev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692640" y="5120640"/>
            <a:ext cx="822960" cy="82296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23" name="Image 1" descr="icons/katma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806" y="5305806"/>
            <a:ext cx="452628" cy="452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azani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KAZANIM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 Öğreneceğiz?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98929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098929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828800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ekinin ne olduğunu ve yapım ekinden farkını (yeni sözcük türetmez, işlerlik kazandırır) öğrenecek.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0080" y="3020111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2902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90240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020111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çekim eklerini (hâl, iyelik, tamlayan, çoğul, eşitlik, vasıta) örneklerle tanıyacak.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421142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4481551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1551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211422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 çekim eklerini (kip, şahıs) ve ortak çekim eklerini (ek eylem, soru eki) ayırt edebilecek.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40080" y="540273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5672861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672861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00200" y="5402732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tarzı sorularda çekim eki bulma adımlarını uygulayarak doğru cevaba ulaşabilecek.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Kazanım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baglant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Yapım Ekinden Çekim Ekine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1534160"/>
          </a:xfrm>
          <a:prstGeom prst="roundRect">
            <a:avLst>
              <a:gd name="adj" fmla="val 10526"/>
            </a:avLst>
          </a:prstGeom>
          <a:solidFill>
            <a:srgbClr val="FBF3E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45920"/>
            <a:ext cx="1033272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ders köke eklenip 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sözcük türeten yapım ekini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gördük. Şimdi sözcüğün anlamını değiştirmeden ona cümlede görev kazandıran 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ekini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inceliyoruz — sıradaki derste bu ikisinin birlikte kullanıldığı basit/türemiş sözcük ayrımına geçeceğiz.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225800"/>
            <a:ext cx="3246120" cy="2315464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1022851" y="3442208"/>
            <a:ext cx="27889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Yapım Eki (geçen ders)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221480"/>
            <a:ext cx="278892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Köke eklenip yeni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anlamlı sözcük türetir.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091940" y="3225800"/>
            <a:ext cx="45720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572000" y="3225800"/>
            <a:ext cx="3246120" cy="2315464"/>
          </a:xfrm>
          <a:prstGeom prst="roundRect">
            <a:avLst>
              <a:gd name="adj" fmla="val 5106"/>
            </a:avLst>
          </a:prstGeom>
          <a:solidFill>
            <a:srgbClr val="1E3A5F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3658616"/>
            <a:ext cx="278892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 (bugün)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800600" y="4219750"/>
            <a:ext cx="278892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Anlamı değiştirmeden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cümlede işlerlik katar.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91272" y="3225800"/>
            <a:ext cx="45720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321040" y="3225800"/>
            <a:ext cx="3246120" cy="2315464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/>
        </p:spPr>
      </p:sp>
      <p:sp>
        <p:nvSpPr>
          <p:cNvPr id="17" name="Text 14"/>
          <p:cNvSpPr/>
          <p:nvPr/>
        </p:nvSpPr>
        <p:spPr>
          <a:xfrm>
            <a:off x="8508492" y="3454400"/>
            <a:ext cx="27889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/ Türemiş Sözcük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549640" y="4219750"/>
            <a:ext cx="2788920" cy="1543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konu: bir sözcükte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yapım eki var mı yok mu ayrımı.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Bağlantı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isinm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HAZIRLIK SORUSU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Sözcük, Kaç Farklı Hâl?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88136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ders "öğretmen" sözcüğünü yapım ekiyle türetmiştik. 2 dakika düşünün: </a:t>
            </a:r>
            <a:r>
              <a:rPr lang="tr-TR" sz="21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100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şağıdaki</a:t>
            </a:r>
            <a:r>
              <a:rPr lang="en-US" sz="21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biçimde öğretmen sözcüğü hâlâ aynı sözcük mü, yoksa yeni bir sözcük mü türedi?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2194560" y="335851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194560" y="3533435"/>
            <a:ext cx="23774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</a:t>
            </a:r>
            <a:r>
              <a:rPr lang="tr-TR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800600" y="335851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3525484"/>
            <a:ext cx="23774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öğretmenim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335851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06640" y="3541386"/>
            <a:ext cx="23774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40080" y="4899070"/>
            <a:ext cx="10881360" cy="1173480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899070"/>
            <a:ext cx="1033272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 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de hâlâ "öğretmen"dir — hiçbiri yeni bir sözcük değildir. Eklenen parçalar sadece sözcüğe 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çoğul, iyelik, yönelme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cümle içi görevler kazandırmıştır. İşte bu işlerlik kazandıran eklere bugün odaklanıyoruz: 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ÇEKİM EKİ.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Hazırlık Sorusu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1/5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 Nedir?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45920"/>
            <a:ext cx="1033272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Tanım:  </a:t>
            </a: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Sözcüğün anlamını ve yapısını değiştirmeyen, yalnızca ona cümle içinde işlerlik/görev kazandıran ektir. Yeni bir sözcük türetmez.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2872108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12012"/>
            <a:ext cx="102412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Sözcüğün anlamını değiştirmez — "öğretmen" hangi çekim ekini alırsa alsın hâlâ "öğretmen"dir.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3675888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415792"/>
            <a:ext cx="102412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Sözcüğün türünü değiştirmez; sadece zaman, kişi, çokluk, hâl </a:t>
            </a:r>
            <a:r>
              <a:rPr lang="en-US" sz="20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gibi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</a:t>
            </a:r>
            <a:r>
              <a:rPr lang="tr-TR" sz="20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bilgisel</a:t>
            </a:r>
            <a:r>
              <a:rPr lang="en-US" sz="20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ekler.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4457855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88742"/>
            <a:ext cx="10241280" cy="7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Sözlükte ayrı bir madde başı oluşturmaz — geçicidir, cümle bitince "görevi" biter.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40080" y="5323510"/>
            <a:ext cx="1088136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323510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Kısaca: Çekim eki, sözcüğü "cümlede kullanılabilir hâle getiren" ektir — yapım eki gibi ondan yeni bir sözcük yaratmaz, var olan sözcüğe işlerlik katar.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Çekim Eki Nedir?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2/5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İsim Çekim Ekleri — Hâl Ekleri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881360" cy="336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İsmin cümledeki durumunu belirten 5 hâl eki vardır: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33172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Yalın hâl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834640" y="2240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(hâl eki almamış)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29200" y="2240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masada duruyor.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40080" y="29900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3081528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081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hâli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834640" y="29900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(belirtme)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029200" y="299008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Kitabı masaya bıraktı.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40080" y="37398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3831336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38313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hâli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834640" y="37398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(yönelme)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5029200" y="373989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Kitaba baktı.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640080" y="44897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4581144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5811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 hâli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2834640" y="44897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(bulunma)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5029200" y="448970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Kitapta işaret var.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640080" y="523951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28" name="Shape 25"/>
          <p:cNvSpPr/>
          <p:nvPr/>
        </p:nvSpPr>
        <p:spPr>
          <a:xfrm>
            <a:off x="822960" y="5330952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330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-den hâli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2834640" y="52395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(ayrılma/çıkma)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5029200" y="523951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Kitaptan bir sayfa kaydı.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640080" y="608076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BF3E3"/>
          </a:solidFill>
          <a:ln/>
        </p:spPr>
      </p:sp>
      <p:sp>
        <p:nvSpPr>
          <p:cNvPr id="33" name="Text 30"/>
          <p:cNvSpPr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-de ve -den hâli bazen çekim eki görevinden uzaklaşıp yapım eki olabilir (örn. "gözde öğrenci" — yapım eki).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Hâl Ekleri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3/5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İsim Çekim Ekleri — Diğerleri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0574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057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İyelik Eki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108960" y="1965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(-m, -n, -i, -miz, -niz, -leri)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kalem-i-m (benim kalemim)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271576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80720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28072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Tamlayan Eki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108960" y="2715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(-ın, -in, -un, -ün)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5943600" y="27157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öğrenci-n-in defteri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40080" y="346557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3557016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35570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Çoğul Eki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108960" y="346557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(-ler, -lar)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5943600" y="346557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öğrenci-ler geldi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640080" y="42153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430682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" y="4306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Eşitlik Eki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108960" y="42153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(-ce, -ca)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5943600" y="42153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bence, Türk-çe (görüşe/dile göre)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40080" y="4965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822960" y="5056632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" y="50566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Vasıta Eki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108960" y="49651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(-le, -la / ile)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943600" y="49651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otobüs-le gitti (araç)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BF3E3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"-im" eki 1. tekil/çoğul kişi zamirlerinde ("benim", "bizim") tamlayan eki görevi de üstlenebilir.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İyelik, Tamlayan, Çoğul, Eşitlik, Vasıta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4/5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Fiil Çekim Ekleri — Kip ve Şahıs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 Ekleri: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Eyleme zaman/tasarım anlamı katan eklerdir. İki gruba ayrılır: Haber Kipleri (gerçekleşen/gerçekleşecek bir işi bildirir) ve Dilek (Tasarlama) Kipleri (istek, gereklilik, şart, emir bildirir).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188720" y="3063240"/>
            <a:ext cx="4480560" cy="2423160"/>
          </a:xfrm>
          <a:prstGeom prst="roundRect">
            <a:avLst>
              <a:gd name="adj" fmla="val 4528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329184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Haber Kipleri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3913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gel-di (görülen geçmiş)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54480" y="42199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gel-miş (duyulan geçmiş)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54480" y="4526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gel-iyor (şimdiki zaman)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54480" y="48326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gel-ecek (gelecek zaman)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54480" y="51389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gel-ir (geniş zaman)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17920" y="3063240"/>
            <a:ext cx="4480560" cy="2423160"/>
          </a:xfrm>
          <a:prstGeom prst="roundRect">
            <a:avLst>
              <a:gd name="adj" fmla="val 4528"/>
            </a:avLst>
          </a:prstGeom>
          <a:solidFill>
            <a:srgbClr val="EE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329184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Dilek Kipleri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83680" y="3913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gel-e (istek)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3680" y="42199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gel-meli (gereklilik)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583680" y="4526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gel-se (şart)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83680" y="4832604"/>
            <a:ext cx="37490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(emir)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Şahıs ekleri:  </a:t>
            </a:r>
            <a:r>
              <a:rPr lang="en-US" sz="1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 ekinden sonra gelip "kim yapıyor"u bildirir: gel-di-m, gel-di-n, gel-di, gel-di-k, gel-di-niz, gel-di-ler.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Kip ve Şahıs Ekleri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5/5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Çekim Ekleri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isme hem fiile gelebilen iki çekim eki vardır: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068106"/>
            <a:ext cx="10881360" cy="2206625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05266"/>
            <a:ext cx="10332720" cy="3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Eylem (Ek Fiil)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14400" y="2620683"/>
            <a:ext cx="10332720" cy="6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(-idi, -imiş, -ise, -dir)  İsme geldiğinde yüklem yapar, fiile geldiğinde birleşik zamanlı çekim oluşturur.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3397415"/>
            <a:ext cx="10332720" cy="78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öğretmen-im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(isme ek eylem — yüklem yapar)
</a:t>
            </a:r>
            <a:r>
              <a:rPr lang="en-US" sz="1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çalışır-ı-dı-m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(fiile ek eylem — geniş zamanın hikâyesi, birleşik çekim)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4338739"/>
            <a:ext cx="10881360" cy="2106041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475899"/>
            <a:ext cx="10332720" cy="3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Eki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914400" y="4891316"/>
            <a:ext cx="10332720" cy="6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(mı, mi, mu, mü)  Her zaman ayrı yazılır; her zaman soru anlamı katmaz — pekiştirme, şaşırma, zaman anlamı da katabilir.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14400" y="5622328"/>
            <a:ext cx="10332720" cy="6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soruyu Ahmet mi çözmüş?" (soru)   ·   "Sınavda zor mu zor sorular vardı." (pekiştirme)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Ek Eylem ve Soru Eki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E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/>
        </p:spPr>
      </p:sp>
      <p:pic>
        <p:nvPicPr>
          <p:cNvPr id="4" name="Image 0" descr="icons/dikk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DİKKAT!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İyelik Eki mi, Belirtme Hâli mi? — En Sık Tuzak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2253234"/>
            <a:ext cx="1051560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"-i, -sı/-si" eki hem iyelik hem belirtme (accusative) hâli olabilir. Ayırt etmek için sözcüğün önüne "onun" getirin: gelirse iyelik, gelmezse belirtme hâlidir.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53339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533394"/>
            <a:ext cx="27432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Kitabı masaya koydu.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749040" y="353339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"(Onun) kitabı" DENEMEZ — burada -ı BELİRTME HÂLİDİR (kitabı = nesne, ne koydu?).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54685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46854"/>
            <a:ext cx="27432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Kitabı masada unutulmuş.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49040" y="454685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"(Onun) kitabı" DENEBİLİR — burada -ı İYELİK EKİDİR (kitabı = onun kitabı).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56031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560314"/>
            <a:ext cx="27432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2000" b="1" dirty="0" err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</a:t>
            </a: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</a:t>
            </a:r>
            <a:r>
              <a:rPr lang="tr-TR" sz="2000" b="1" dirty="0" smtClean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yor.</a:t>
            </a:r>
            <a:r>
              <a:rPr lang="en-US" sz="2000" b="1" dirty="0" smtClean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(gelmek geçişsizdir)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749040" y="556031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"gelmek" nesne almaz; "zamanı" nesne olamaz → -ı burada İYELİK EKİDİR, belirtme değildir.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E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/>
        </p:spPr>
      </p:sp>
      <p:pic>
        <p:nvPicPr>
          <p:cNvPr id="4" name="Image 0" descr="icons/dikk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DİKKAT!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İki Hata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177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77288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2253234"/>
            <a:ext cx="96926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"-dır/-tır" bildirme eki, birleşik zaman oluşturmaz.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71600" y="2695702"/>
            <a:ext cx="969264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"Öğrencidir." cümlesindeki "-dir" </a:t>
            </a:r>
            <a:r>
              <a:rPr lang="tr-TR" sz="2000" dirty="0" smtClean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</a:t>
            </a:r>
            <a:r>
              <a:rPr lang="en-US" sz="2000" dirty="0" smtClean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kesinlik/ihtimal anlamı katan bildirme ekidir; ek eylemin (-idi/-imiş/-ise) yaptığı gibi zamanları birleştirmez.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39578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57828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4033774"/>
            <a:ext cx="96926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"-ce/-ca" her zaman eşitlik eki değildir.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371600" y="4476242"/>
            <a:ext cx="969264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"Türkçe" sözcüğünde -ce yapım ekidir (dil adı türetir); "bence, yaşça" gibi kullanımlarda ise çekim eki (eşitlik eki) olur — bağlama bakılmalı.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etkinli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ETKINLIĞI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Ekini Bul! </a:t>
            </a:r>
            <a:r>
              <a:rPr lang="en-US" sz="2800" b="1" dirty="0" smtClean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r-TR" sz="2800" b="1" dirty="0" smtClean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800" b="1" dirty="0" smtClean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Dakika)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Yanınızdaki arkadaşınızla birlikte aşağıdaki 8 sözcükteki/ifadedeki çekim ekini ve türünü (hâl, iyelik, çoğul, kip, ek eylem, soru...) bulun. Süre: </a:t>
            </a:r>
            <a:r>
              <a:rPr lang="tr-TR" sz="21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1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dakika.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623990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kitaba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7472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264833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kitabım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17220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264833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86968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9680" y="2623990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geldik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7724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58072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gelsen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47472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474720" y="358072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öğrenciyim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617220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358072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 mi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86968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69680" y="3586751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bence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40080" y="4460748"/>
            <a:ext cx="10881360" cy="812800"/>
          </a:xfrm>
          <a:prstGeom prst="roundRect">
            <a:avLst>
              <a:gd name="adj" fmla="val 14286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460748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Sözcüğü kökten başlayarak dıştan içe soyun; en dıştaki parça hangi çekim eki grubuna (hâl/iyelik/çoğul/kip-şahıs/ortak) aitse onu yazın.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Sınıf Etkinliği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ETKINLIK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Cevap Anahtarı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Hâl Eki (yönelme)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kitabım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204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204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-ım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İyelik Eki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264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636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636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-lar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2636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Çoğul Eki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696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22" name="Text 19"/>
          <p:cNvSpPr/>
          <p:nvPr/>
        </p:nvSpPr>
        <p:spPr>
          <a:xfrm>
            <a:off x="90068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geldik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0068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068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-dik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006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 + Şahıs Eki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gelsen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772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72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-sen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7772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Kipi + Şahıs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3832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32" name="Text 29"/>
          <p:cNvSpPr/>
          <p:nvPr/>
        </p:nvSpPr>
        <p:spPr>
          <a:xfrm>
            <a:off x="35204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öğrenciyim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35204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5204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-yim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35204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Eylem + Şahıs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264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37" name="Text 34"/>
          <p:cNvSpPr/>
          <p:nvPr/>
        </p:nvSpPr>
        <p:spPr>
          <a:xfrm>
            <a:off x="62636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 mi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62636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2636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2636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Eki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8696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42" name="Text 39"/>
          <p:cNvSpPr/>
          <p:nvPr/>
        </p:nvSpPr>
        <p:spPr>
          <a:xfrm>
            <a:off x="90068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bence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90068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90068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-ce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90068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Eşitlik Eki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Etkinlik Cevapları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HIZLI HATIRLATMA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Kaldığımız Yer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2618994"/>
            <a:ext cx="28803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Anlamı değiştirmez,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cümlede işlerlik/görev kazandırır.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26280" y="1965960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İsim Çekimi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754880" y="2618994"/>
            <a:ext cx="28803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Hâl, iyelik, tamlayan,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çoğul, eşitlik, vasıta ekleri.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0" y="1965960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Fiil Çekimi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58200" y="2618994"/>
            <a:ext cx="28803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 + şahıs ekleri;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ekler: ek eylem, soru eki.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Hızlı Hatırlatma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derinli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DERINLEŞME · 1/2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Eklerinin Sırası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İsme gelen çekim ekleri rastgele değil, sabit bir sırayı izler: Gövde → Çoğul Eki → İyelik/Tamlayan Eki → Hâl Eki. Bu sıra TYT'de bozulamaz.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411419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411419"/>
            <a:ext cx="3136392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öğretmenlerimizden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114800" y="2411419"/>
            <a:ext cx="1261872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486400" y="2411419"/>
            <a:ext cx="58064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sıra: hâl eki (ayrılma, çekim)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60120" y="2985662"/>
            <a:ext cx="1024128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2985662"/>
            <a:ext cx="29260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öğretmenlerimiz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114800" y="2985662"/>
            <a:ext cx="1261872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-imiz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486400" y="2985662"/>
            <a:ext cx="54864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sıra: iyelik eki (çekim)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280160" y="3559905"/>
            <a:ext cx="96012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1508760" y="3559905"/>
            <a:ext cx="29260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öğretmenler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4114800" y="3559905"/>
            <a:ext cx="1261872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-ler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486400" y="3559905"/>
            <a:ext cx="5166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sıra: çoğul eki (çekim)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600200" y="4134148"/>
            <a:ext cx="896112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/>
        </p:spPr>
      </p:sp>
      <p:sp>
        <p:nvSpPr>
          <p:cNvPr id="20" name="Text 17"/>
          <p:cNvSpPr/>
          <p:nvPr/>
        </p:nvSpPr>
        <p:spPr>
          <a:xfrm>
            <a:off x="1828800" y="4134148"/>
            <a:ext cx="29260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114800" y="4134148"/>
            <a:ext cx="1261872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-men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486400" y="4134148"/>
            <a:ext cx="50292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sıra: yapım ekli gövde (öğret- + -men)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920240" y="4972552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/>
        </p:spPr>
      </p:sp>
      <p:sp>
        <p:nvSpPr>
          <p:cNvPr id="24" name="Text 21"/>
          <p:cNvSpPr/>
          <p:nvPr/>
        </p:nvSpPr>
        <p:spPr>
          <a:xfrm>
            <a:off x="2148840" y="4972552"/>
            <a:ext cx="78638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öğret-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4114800" y="4972552"/>
            <a:ext cx="68580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daha fazla bölünemez, tek başına anlamlı: KÖK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40080" y="5642807"/>
            <a:ext cx="10881360" cy="812800"/>
          </a:xfrm>
          <a:prstGeom prst="roundRect">
            <a:avLst>
              <a:gd name="adj" fmla="val 20000"/>
            </a:avLst>
          </a:prstGeom>
          <a:solidFill>
            <a:srgbClr val="FBF3E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642807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sırayı bozan bir dizilim (örn. hâl ekinden sonra çoğul eki gelmesi) Türkçede kurallı değildir.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Derinleşme — Çekim Eklerinin Sırası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derinli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DERINLEŞME · 2/2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Çekim Eki Sanılan Tuzaklar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 </a:t>
            </a: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ek her yerde aynı görevi üstlenmez. Aynı biçimdeki bir ek bazen çekim eki, bazen kalıplaşmış bir yapım eki olabilir — bağlama bakılmalı.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24612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-ler / -lar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834640" y="30175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"Öğretmenler geldi." GERÇEK ÇOĞUL (çekim eki). Ama "Sabahları erken kalkarım." ve "Ali'ler bize geldi." cümlelerinde -ler çokluk değil, süreklilik/topluluk anlamı katar.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4805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 / -den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834640" y="425196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"Bahçede oturuyor." bulunma HÂL EKİ (çekim). Ama "Gözde bir sanatçı.", "Sözde dost." örneklerinde -de, kalıplaşmış bir sıfat türeten YAPIM EKİDİR — çekim eki değildir.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40080" y="54864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kural: Ek aynı görünse de cümledeki işlevine bakılmadan yapım mı çekim mi olduğuna karar verilemez.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Derinleşme — Tuzaklar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1/3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(TYT - 2020)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0908792" cy="4736910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72278"/>
            <a:ext cx="10360152" cy="171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 sene, </a:t>
            </a:r>
            <a:r>
              <a:rPr lang="en-US" sz="24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(I) gelince İstanbul'un mahallelerinden Boğaz'ın </a:t>
            </a:r>
            <a:r>
              <a:rPr lang="en-US" sz="24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köylerine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(II) göçler başlardı. Eski İstanbullular; Boğaziçi'nin kenarlarına </a:t>
            </a:r>
            <a:r>
              <a:rPr lang="en-US" sz="24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yapılmış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(III) ve eski erkân sedirleriyle, kerevet, şilte ve halılar üstünde yer </a:t>
            </a:r>
            <a:r>
              <a:rPr lang="en-US" sz="24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minderleri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(IV) gibi eski eşyalarla döşenmiş geniş odalı, gönül ferahlatıcı yalılara </a:t>
            </a:r>
            <a:r>
              <a:rPr lang="en-US" sz="24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taşınırlardı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(V)." </a:t>
            </a: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parçada altı çizili sözcüklerle ilgili aşağıdakilerden hangisi yanlıştır?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" y="3779774"/>
            <a:ext cx="10360152" cy="3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sözcük belirtme durumu eki almıştır.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4254665"/>
            <a:ext cx="10360152" cy="3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sözcük iyelik eki almıştır.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14400" y="4729556"/>
            <a:ext cx="10360152" cy="3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sözcük sıfat-fiil eki almıştır.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14400" y="5204448"/>
            <a:ext cx="10360152" cy="3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sözcük çokluk eki almıştır.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14400" y="5679339"/>
            <a:ext cx="10360152" cy="3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sözcük geniş zaman eki almıştır.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1 — gerçek ÖSYM sorusu (güncel TYT)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1/3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(TYT - 2020)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3566160"/>
            <a:ext cx="10360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 (yanlış olan seçenek).
</a:t>
            </a:r>
            <a:r>
              <a:rPr lang="en-US" sz="1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"gelmek" GEÇİŞSİZ bir fiildir, nesne almaz. O hâlde "zamanı" nesne (belirtme durumu) olamaz; "onun zamanı" testi olumlu sonuç verir → -ı burada İYELİK EKİDİR, belirtme durumu eki değildir. B, C, D, E seçenekleri ise doğrudur: köylerine (iyelik+yönelme), yapılmış (sıfat-fiil), minderleri (çoğul+iyelik), taşınırlardı (geniş zaman+şahıs+çoğul).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1 — çözüm — gerçek ÖSYM sorusu (güncel TYT)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2/3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(ÖSS - 2000)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42390"/>
            <a:ext cx="10360152" cy="196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Teyzelerin</a:t>
            </a: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dün sinemaya gittiler. (I)
</a:t>
            </a:r>
            <a:r>
              <a:rPr lang="en-US" sz="20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Çiçeklerine</a:t>
            </a: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yazın bolca su vermelisin. (II)
</a:t>
            </a:r>
            <a:r>
              <a:rPr lang="en-US" sz="20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Kalemlerini</a:t>
            </a: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başka kutuya yerleştirdi. (III)
</a:t>
            </a:r>
            <a:r>
              <a:rPr lang="en-US" sz="20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Ceketlerimizi</a:t>
            </a: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dolaba astım. (IV)
</a:t>
            </a:r>
            <a:r>
              <a:rPr lang="en-US" sz="2000" u="sng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Evleri</a:t>
            </a: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bize çok yakındı. (V)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 err="1" smtClean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Yukarıdaki</a:t>
            </a:r>
            <a:r>
              <a:rPr lang="en-US" sz="2000" b="1" dirty="0" smtClean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cümlelerin hangilerindeki altı çizili sözcüklerin aldığı ekler, onlara hem ikinci hem de üçüncü tekil kişiye ait olma anlamı katmıştır?</a:t>
            </a:r>
            <a:endParaRPr lang="en-US" sz="2000" dirty="0"/>
          </a:p>
        </p:txBody>
      </p:sp>
      <p:grpSp>
        <p:nvGrpSpPr>
          <p:cNvPr id="15" name="Grup 14"/>
          <p:cNvGrpSpPr/>
          <p:nvPr/>
        </p:nvGrpSpPr>
        <p:grpSpPr>
          <a:xfrm>
            <a:off x="914400" y="4164673"/>
            <a:ext cx="10360152" cy="1696414"/>
            <a:chOff x="914400" y="4164673"/>
            <a:chExt cx="10360152" cy="1696414"/>
          </a:xfrm>
        </p:grpSpPr>
        <p:sp>
          <p:nvSpPr>
            <p:cNvPr id="10" name="Text 7"/>
            <p:cNvSpPr/>
            <p:nvPr/>
          </p:nvSpPr>
          <p:spPr>
            <a:xfrm>
              <a:off x="914400" y="4164673"/>
              <a:ext cx="10360152" cy="23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A)  </a:t>
              </a:r>
              <a:r>
                <a:rPr lang="en-US" sz="20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 ve II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914400" y="4529602"/>
              <a:ext cx="10360152" cy="23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B)  </a:t>
              </a:r>
              <a:r>
                <a:rPr lang="en-US" sz="20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 ve V</a:t>
              </a:r>
              <a:endParaRPr lang="en-US" sz="20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14400" y="4894532"/>
              <a:ext cx="10360152" cy="23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C)  </a:t>
              </a:r>
              <a:r>
                <a:rPr lang="en-US" sz="20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II ve III</a:t>
              </a:r>
              <a:endParaRPr lang="en-US" sz="2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14400" y="5259461"/>
              <a:ext cx="10360152" cy="23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D)  </a:t>
              </a:r>
              <a:r>
                <a:rPr lang="en-US" sz="20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III ve IV</a:t>
              </a:r>
              <a:endParaRPr lang="en-US" sz="20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914400" y="5624391"/>
              <a:ext cx="10360152" cy="23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E)  </a:t>
              </a:r>
              <a:r>
                <a:rPr lang="en-US" sz="20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IV ve V</a:t>
              </a:r>
              <a:endParaRPr lang="en-US" sz="2000" dirty="0"/>
            </a:p>
          </p:txBody>
        </p:sp>
      </p:grp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2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2/3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(ÖSS - 2000)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1797907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1797907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1797907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2824751"/>
            <a:ext cx="10360152" cy="279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ve III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cevap.
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"çiçeklerine" (çiçekleri+n+e / çiçekler+in+e) ve "kalemlerini" (kalemleri+n+i / kalemler+in+i) biçimleri, 3. tekil kişi iyelik + kaynaştırma "n" ile 2. tekil kişi iyelik ekinin aynı yüzey biçimi almasından dolayı İKİ TÜRLÜ okunabilir. "Teyzelerin" ve "Ceketlerimizi" ise sırasıyla yalnızca 2. tekil ve 1. çoğul kişiye özgüdür; "Evleri" yalnızca 3. kişiye aittir.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2 — çözüm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3/3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(ÖYS - 1996)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0908792" cy="4451523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28800"/>
            <a:ext cx="10360152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"İçimizde yaşça en büyüğümüz oydu."</a:t>
            </a:r>
            <a:r>
              <a:rPr lang="en-US" sz="2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 cümlede geçen </a:t>
            </a:r>
            <a:r>
              <a:rPr lang="en-US" sz="2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"yaşça"</a:t>
            </a:r>
            <a:r>
              <a:rPr lang="en-US" sz="2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sözcüğüne "-ca (-ce, -ça, -çe)" ekinin kattığı anlam, aşağıdakilerin hangisinde görülmektedir?</a:t>
            </a:r>
            <a:endParaRPr lang="en-US" sz="2250" dirty="0"/>
          </a:p>
        </p:txBody>
      </p:sp>
      <p:grpSp>
        <p:nvGrpSpPr>
          <p:cNvPr id="15" name="Grup 14"/>
          <p:cNvGrpSpPr/>
          <p:nvPr/>
        </p:nvGrpSpPr>
        <p:grpSpPr>
          <a:xfrm>
            <a:off x="914400" y="3283839"/>
            <a:ext cx="10360152" cy="2455734"/>
            <a:chOff x="914400" y="3283839"/>
            <a:chExt cx="10360152" cy="2455734"/>
          </a:xfrm>
        </p:grpSpPr>
        <p:sp>
          <p:nvSpPr>
            <p:cNvPr id="10" name="Text 7"/>
            <p:cNvSpPr/>
            <p:nvPr/>
          </p:nvSpPr>
          <p:spPr>
            <a:xfrm>
              <a:off x="914400" y="3283839"/>
              <a:ext cx="10360152" cy="387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A)  </a:t>
              </a:r>
              <a:r>
                <a:rPr lang="en-US" sz="24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Kapıyı yavaşça açıp odaya girdim.</a:t>
              </a:r>
              <a:endParaRPr lang="en-US" sz="2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914400" y="3800840"/>
              <a:ext cx="10360152" cy="387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B)  </a:t>
              </a:r>
              <a:r>
                <a:rPr lang="en-US" sz="24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Sonunda gönlünce bir ev bulabildi.</a:t>
              </a:r>
              <a:endParaRPr lang="en-US" sz="2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14400" y="4317841"/>
              <a:ext cx="10360152" cy="387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C)  </a:t>
              </a:r>
              <a:r>
                <a:rPr lang="en-US" sz="24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Onu iyice şişmanlamış buldum.</a:t>
              </a:r>
              <a:endParaRPr lang="en-US" sz="2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14400" y="4834841"/>
              <a:ext cx="10360152" cy="387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D)  </a:t>
              </a:r>
              <a:r>
                <a:rPr lang="en-US" sz="24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Kendisini ötekilerden bilgice üstün görüyordu.</a:t>
              </a:r>
              <a:endParaRPr lang="en-US" sz="24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914400" y="5351842"/>
              <a:ext cx="10360152" cy="387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E)  </a:t>
              </a:r>
              <a:r>
                <a:rPr lang="en-US" sz="2400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Ondan aylarca bir haber alamamıştım.</a:t>
              </a:r>
              <a:endParaRPr lang="en-US" sz="2400" dirty="0"/>
            </a:p>
          </p:txBody>
        </p:sp>
      </p:grp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3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3/3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(ÖYS - 1996)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182262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18226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18226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3071890"/>
            <a:ext cx="10360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bilgice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cevap.
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"yaşça" (yaş bakımından/yönünden) ile "bilgice" (bilgi bakımından/yönünden) aynı anlamı taşır: -ca eki burada EŞİTLİK/GÖRELİK ÇEKİM EKİ olarak "bakımından" anlamı katar. Diğer seçeneklerde -ca farklı anlamlar (yavaşça: durum zarfı, gönlünce: uygunluk, iyice: pekiştirme, aylarca: süre) katmaktadır.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3 — çözüm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SONU KONTROL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Kontrol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sözcüklerdeki çekim ekinin türünü birlikte söyleyelim: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2173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evimizde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7472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82173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gelirdi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7220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82173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6968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20" name="Text 17"/>
          <p:cNvSpPr/>
          <p:nvPr/>
        </p:nvSpPr>
        <p:spPr>
          <a:xfrm>
            <a:off x="8869680" y="282173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gitti mi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40080" y="4029710"/>
            <a:ext cx="10881360" cy="81280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029710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dört ifadedeki çekim eki türünü doğru söyleyebiliyorsanız, bugünkü hedefe ulaştınız!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Hızlı Kontrol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9117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SONU KONTROL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Kontrol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sözcüklerdeki çekim ekinin türünü birlikte söyleyelim: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evimizde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724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iyelik+hâl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47472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gelirdi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47472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7472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kip+ek eylem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7220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17220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7220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çoğul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86968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20" name="Text 17"/>
          <p:cNvSpPr/>
          <p:nvPr/>
        </p:nvSpPr>
        <p:spPr>
          <a:xfrm>
            <a:off x="886968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gitti mi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86968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6968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</a:t>
            </a:r>
            <a:r>
              <a:rPr lang="en-US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tr-TR" b="1" dirty="0" smtClean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 (edatı)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640080" y="4029710"/>
            <a:ext cx="10881360" cy="81280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029710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dört ifadedeki çekim eki türünü doğru söyleyebiliyorsanız, bugünkü hedefe ulaştınız!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Hızlı Kontrol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4" name="Image 0" descr="icons/list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119100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Özeti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32004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— Ders 3/6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6634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ÖĞRENDIKLERIMIZ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Tanımı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589520" y="12344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Hâl Ekleri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663440" y="182880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İyelik / Tamlayan / Çoğul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823960" y="18288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5" name="Text 12"/>
          <p:cNvSpPr/>
          <p:nvPr/>
        </p:nvSpPr>
        <p:spPr>
          <a:xfrm>
            <a:off x="882396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 / Şahıs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663440" y="242316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Eylem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92240" y="242316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Eki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63440" y="2880360"/>
            <a:ext cx="6903720" cy="1371600"/>
          </a:xfrm>
          <a:prstGeom prst="roundRect">
            <a:avLst>
              <a:gd name="adj" fmla="val 8000"/>
            </a:avLst>
          </a:prstGeom>
          <a:solidFill>
            <a:srgbClr val="254B78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eki,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sözcüğün anlamını değiştirmeden ona cümlede işlerlik kazandırır. </a:t>
            </a: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çekimi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(hâl, iyelik, tamlayan, çoğul, eşitlik, vasıta) ve </a:t>
            </a: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 çekimi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(kip, şahıs, ek eylem, soru eki) olmak üzere iki grupta incelenir.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663440" y="4434840"/>
            <a:ext cx="690372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4590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SIRADAKİ DERS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37760" y="48646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/ Türemiş Sözcük (Ders 4/6)  →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ode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PEKIŞTIRME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Ödev: Çekim Eki Bulma Alıştırması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derse kadar aşağıdaki 10 sözcükte/ifadede geçen çekim ekini ve türünü (hâl/iyelik/çoğul/kip/ek eylem/soru) defterinize yazın: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7263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okuldan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83464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257263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defterimiz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02920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57263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kalemleri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22376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257263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gidiyordu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41832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257263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okusaydık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40080" y="331774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424842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geldi mi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2834640" y="331774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0" y="3424842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sizce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5029200" y="331774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3424842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kitapla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7223760" y="331774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3424842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öğretmensin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9418320" y="331774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18320" y="3424842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bakarken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640080" y="4277868"/>
            <a:ext cx="1088136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4277868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Bazı ifadeler birden fazla çekim eki içerir — Derinleşme bölümündeki sıra kuralını (çoğul → iyelik → hâl) kullanın.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Ödev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3 / 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4" name="Image 0" descr="icons/kapanis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Tamamlandı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— Sözcükte Yapı, Ders 3/6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040880" cy="1828800"/>
          </a:xfrm>
          <a:prstGeom prst="roundRect">
            <a:avLst>
              <a:gd name="adj" fmla="val 6000"/>
            </a:avLst>
          </a:prstGeom>
          <a:solidFill>
            <a:srgbClr val="254B7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331720"/>
            <a:ext cx="6492240" cy="1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öğrendik:  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nedir, isim çekim ekleri (hâl, iyelik, tamlayan, çoğul, eşitlik, vasıta), fiil çekim ekleri (kip, şahıs) ve ortak çekim ekleri (ek eylem, soru eki).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704088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15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SIRADAKİ DERS (4/6)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5902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/ Türemiş Sözcük  →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Ders Anlatım Projesi  ·  Sedat GÜLER ve Claude Opus 5 tarafından üretilmiştir.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2471</Words>
  <Application>Microsoft Office PowerPoint</Application>
  <PresentationFormat>Geniş ekran</PresentationFormat>
  <Paragraphs>374</Paragraphs>
  <Slides>27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EFL</cp:lastModifiedBy>
  <cp:revision>6</cp:revision>
  <dcterms:created xsi:type="dcterms:W3CDTF">2026-09-12T19:53:57Z</dcterms:created>
  <dcterms:modified xsi:type="dcterms:W3CDTF">2026-09-21T10:55:29Z</dcterms:modified>
</cp:coreProperties>
</file>