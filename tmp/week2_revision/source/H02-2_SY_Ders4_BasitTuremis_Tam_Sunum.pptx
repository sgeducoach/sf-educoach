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4"/>
    <p:sldId id="269" r:id="rId15"/>
    <p:sldId id="270" r:id="rId16"/>
    <p:sldId id="271" r:id="rId17"/>
    <p:sldId id="278" r:id="rId29"/>
    <p:sldId id="272" r:id="rId18"/>
    <p:sldId id="279" r:id="rId30"/>
    <p:sldId id="273" r:id="rId19"/>
    <p:sldId id="280" r:id="rId31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5" Type="http://schemas.openxmlformats.org/officeDocument/2006/relationships/presProps" Target="presProps.xml" /><Relationship Id="rId26" Type="http://schemas.openxmlformats.org/officeDocument/2006/relationships/viewProps" Target="viewProps.xml" /><Relationship Id="rId27" Type="http://schemas.openxmlformats.org/officeDocument/2006/relationships/theme" Target="theme/theme1.xml" /><Relationship Id="rId28" Type="http://schemas.openxmlformats.org/officeDocument/2006/relationships/tableStyles" Target="tableStyles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?>
<ns0:Relationships xmlns:ns0="http://schemas.openxmlformats.org/package/2006/relationships"><ns0:Relationship Id="rId1" Type="http://schemas.openxmlformats.org/officeDocument/2006/relationships/image" Target="../media/image-16-1.png" /><ns0:Relationship Id="rId2" Type="http://schemas.openxmlformats.org/officeDocument/2006/relationships/slideLayout" Target="../slideLayouts/slideLayout1.xml" /></ns0:Relationships>
</file>

<file path=ppt/slides/_rels/slide24.xml.rels><?xml version='1.0' encoding='UTF-8'?>
<ns0:Relationships xmlns:ns0="http://schemas.openxmlformats.org/package/2006/relationships"><ns0:Relationship Id="rId1" Type="http://schemas.openxmlformats.org/officeDocument/2006/relationships/image" Target="../media/image-17-1.png" /><ns0:Relationship Id="rId2" Type="http://schemas.openxmlformats.org/officeDocument/2006/relationships/slideLayout" Target="../slideLayouts/slideLayout1.xml" /></ns0:Relationships>
</file>

<file path=ppt/slides/_rels/slide25.xml.rels><?xml version='1.0' encoding='UTF-8'?>
<ns0:Relationships xmlns:ns0="http://schemas.openxmlformats.org/package/2006/relationships"><ns0:Relationship Id="rId1" Type="http://schemas.openxmlformats.org/officeDocument/2006/relationships/image" Target="../media/image-18-1.png" /><ns0:Relationship Id="rId2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4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SÖZCÜKTE YAPI · DERS 4/6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 / Türemiş Sözcük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Sözcükte Yapım Eki Var mı, Yok mu?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2478024" cy="384048"/>
          </a:xfrm>
          <a:prstGeom prst="roundRect">
            <a:avLst>
              <a:gd name="adj" fmla="val 50000"/>
            </a:avLst>
          </a:prstGeom>
          <a:solidFill>
            <a:srgbClr val="142A44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29000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dk · blokta 2 föy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3300984" y="3429000"/>
            <a:ext cx="3095244" cy="384048"/>
          </a:xfrm>
          <a:prstGeom prst="roundRect">
            <a:avLst>
              <a:gd name="adj" fmla="val 50000"/>
            </a:avLst>
          </a:prstGeom>
          <a:solidFill>
            <a:srgbClr val="142A44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0984" y="3429000"/>
            <a:ext cx="3095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Bilgisi · Hafta 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254B78"/>
          </a:solidFill>
          <a:ln/>
        </p:spPr>
      </p:sp>
      <p:pic>
        <p:nvPicPr>
          <p:cNvPr id="11" name="Image 0" descr="icons/cover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4306824"/>
            <a:ext cx="301752" cy="301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4206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Sedat GÜLER ve Claude Opus 5  ·  TYT Türkçe Ders Anlatım Serisi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95360" y="15544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42A44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59536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595360" y="2331720"/>
            <a:ext cx="2743200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yapım eki yok → BASİT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595360" y="28803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59536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 + lik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859536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yapım eki eklendi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321040" y="384048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321040" y="3840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KALEMLİK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8321040" y="4663440"/>
            <a:ext cx="3291840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sözcük → TÜREMİŞ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692640" y="5212080"/>
            <a:ext cx="822960" cy="822960"/>
          </a:xfrm>
          <a:prstGeom prst="ellipse">
            <a:avLst/>
          </a:prstGeom>
          <a:solidFill>
            <a:srgbClr val="254B78"/>
          </a:solidFill>
          <a:ln/>
        </p:spPr>
      </p:sp>
      <p:pic>
        <p:nvPicPr>
          <p:cNvPr id="23" name="Image 1" descr="icons/katman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806" y="5397246"/>
            <a:ext cx="452628" cy="452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kazani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KAZANIM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 Ne Öğreneceğiz?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104317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098929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098929"/>
            <a:ext cx="5029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0200" y="1828800"/>
            <a:ext cx="969264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sözcüğün (hiç yapım eki almamış) ve türemiş sözcüğün (en az bir yapım eki almış) tanımını öğrenecek.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40080" y="3020111"/>
            <a:ext cx="10881360" cy="104317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29024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290240"/>
            <a:ext cx="5029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00200" y="3020111"/>
            <a:ext cx="969264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sözcüğü basit mi türemiş mi olduğuna karar verirken izlenecek adım adım yöntemi uygulayacak.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40080" y="4211422"/>
            <a:ext cx="10881360" cy="104317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/>
        </p:spPr>
      </p:sp>
      <p:sp>
        <p:nvSpPr>
          <p:cNvPr id="15" name="Shape 12"/>
          <p:cNvSpPr/>
          <p:nvPr/>
        </p:nvSpPr>
        <p:spPr>
          <a:xfrm>
            <a:off x="868680" y="4481551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481551"/>
            <a:ext cx="5029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600200" y="4211422"/>
            <a:ext cx="969264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"Çok ek almak" ile "türemiş olmak"ın aynı şey olmadığını, ek TÜRÜNÜN (yapım/çekim) belirleyici olduğunu kavrayacak.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40080" y="5402732"/>
            <a:ext cx="10881360" cy="104317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68680" y="5672861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672861"/>
            <a:ext cx="5029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600200" y="5402732"/>
            <a:ext cx="969264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tarzı sorularda basit/türemiş ayrımını gerçek ve pekiştirme sorular üzerinde uygulayarak doğru cevaba ulaşabilecek.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Kazanım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baglant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BAĞLANTI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Dersin Sentezi: Basit / Türemiş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10881360" cy="1534160"/>
          </a:xfrm>
          <a:prstGeom prst="roundRect">
            <a:avLst>
              <a:gd name="adj" fmla="val 8696"/>
            </a:avLst>
          </a:prstGeom>
          <a:solidFill>
            <a:srgbClr val="FBF3E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645920"/>
            <a:ext cx="10332720" cy="144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iki derste iki tür eki öğrendik: </a:t>
            </a:r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yapım eki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(yeni sözcük türetir) ve </a:t>
            </a:r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çekim eki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(işlerlik kazandırır). Bugün bu ikisini bir araya getirip tek bir soruya cevap veriyoruz: bir sözcükte YAPIM EKİ var mı? Varsa türemiş, yoksa basittir — sıradaki derste bu ikisinin üstüne birleşik sözcük ekleyeceğiz.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225800"/>
            <a:ext cx="3246120" cy="2315464"/>
          </a:xfrm>
          <a:prstGeom prst="roundRect">
            <a:avLst>
              <a:gd name="adj" fmla="val 5106"/>
            </a:avLst>
          </a:prstGeom>
          <a:solidFill>
            <a:srgbClr val="EEF3F8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454400"/>
            <a:ext cx="27889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Yapım + Çekim Eki (geçen iki ders)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4221480"/>
            <a:ext cx="278892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ek türünü ayrı ayrı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tanıdık.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142232" y="3225800"/>
            <a:ext cx="45720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572000" y="3225800"/>
            <a:ext cx="3246120" cy="2315464"/>
          </a:xfrm>
          <a:prstGeom prst="roundRect">
            <a:avLst>
              <a:gd name="adj" fmla="val 5106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0600" y="3454400"/>
            <a:ext cx="27889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 / Türemiş (bugün)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800600" y="4221480"/>
            <a:ext cx="278892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Sözcükte yapım eki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mı yok mu, ona bakarız.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891272" y="3225800"/>
            <a:ext cx="45720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8321040" y="3225800"/>
            <a:ext cx="3246120" cy="2333498"/>
          </a:xfrm>
          <a:prstGeom prst="roundRect">
            <a:avLst>
              <a:gd name="adj" fmla="val 5106"/>
            </a:avLst>
          </a:prstGeom>
          <a:solidFill>
            <a:srgbClr val="EEF3F8"/>
          </a:solidFill>
          <a:ln/>
        </p:spPr>
      </p:sp>
      <p:sp>
        <p:nvSpPr>
          <p:cNvPr id="17" name="Text 14"/>
          <p:cNvSpPr/>
          <p:nvPr/>
        </p:nvSpPr>
        <p:spPr>
          <a:xfrm>
            <a:off x="8549640" y="3454400"/>
            <a:ext cx="278892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Birleşik Sözcük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549640" y="3878834"/>
            <a:ext cx="2788920" cy="1543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Sıradaki konu: iki sözcüğün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birleşip yeni sözcük olması.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Bağlantı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isinm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HAZIRLIK SORUSU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Hangisi Yeni Sözcük, Hangisi Değil?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88136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iki derste "öğretmen" (kök + yapım eki) ve "öğretmenler/öğretmenimiz" (+ çekim eki) örneklerini gördük. 2 dakika düşünün: aşağıdaki iki sözcükten hangisinde yapım eki VAR, hangisinde YOK?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651760" y="286512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254B7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651760" y="2865120"/>
            <a:ext cx="310896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kalemlerimiz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989320" y="286512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254B7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89320" y="2865120"/>
            <a:ext cx="310896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öğretmenler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40080" y="4191000"/>
            <a:ext cx="10881360" cy="1534160"/>
          </a:xfrm>
          <a:prstGeom prst="roundRect">
            <a:avLst>
              <a:gd name="adj" fmla="val 7692"/>
            </a:avLst>
          </a:prstGeom>
          <a:solidFill>
            <a:srgbClr val="FBF3E3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191000"/>
            <a:ext cx="10332720" cy="144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"kalemlerimiz" = kalem-ler-imiz — kalem zaten basit bir köktür, eklenenler (çoğul, iyelik) sadece ÇEKİM EKİ; sözcük hâlâ BASİT. "öğretmenler" = öğret-men-ler — "öğret" fiil köküne önce YAPIM EKİ (-men) eklenmiş, sonra çekim eki (-ler); sözcük TÜREMİŞ. İşte bu ayrıma bugün odaklanıyoruz: </a:t>
            </a:r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BASİT / TÜREMİŞ SÖZCÜK.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Hazırlık Sorusu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yap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ANLATIM · 1/3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 Sözcük Nedir?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830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Tanım:  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 yapım eki almamış sözcüktür. Basit sözcük çekim eki alabilir — önemli olan yapım ekinin hiç olmamasıdır.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10881360" cy="511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"Senin çantanı okulda gördüm." cümlesindeki her sözcük basittir — hiçbiri yapım eki almamıştır, hepsi sadece çekim eki taşır: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61188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EE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666744"/>
            <a:ext cx="2194560" cy="393192"/>
          </a:xfrm>
          <a:prstGeom prst="roundRect">
            <a:avLst>
              <a:gd name="adj" fmla="val 18605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3666744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sen-in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291840" y="36118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tamlayan eki (çekim)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40080" y="4187952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EEF3F8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" y="4242816"/>
            <a:ext cx="2194560" cy="393192"/>
          </a:xfrm>
          <a:prstGeom prst="roundRect">
            <a:avLst>
              <a:gd name="adj" fmla="val 18605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424281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çanta-n-ı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91840" y="41879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iyelik + belirtme eki (çekim)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640080" y="4764024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EEF3F8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" y="4818888"/>
            <a:ext cx="2194560" cy="393192"/>
          </a:xfrm>
          <a:prstGeom prst="roundRect">
            <a:avLst>
              <a:gd name="adj" fmla="val 18605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4818888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okul-da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3291840" y="476402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bulunma hâl eki (çekim)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640080" y="5340096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EEF3F8"/>
          </a:solidFill>
          <a:ln/>
        </p:spPr>
      </p:sp>
      <p:sp>
        <p:nvSpPr>
          <p:cNvPr id="22" name="Shape 19"/>
          <p:cNvSpPr/>
          <p:nvPr/>
        </p:nvSpPr>
        <p:spPr>
          <a:xfrm>
            <a:off x="822960" y="5394960"/>
            <a:ext cx="2194560" cy="393192"/>
          </a:xfrm>
          <a:prstGeom prst="roundRect">
            <a:avLst>
              <a:gd name="adj" fmla="val 18605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22960" y="539496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gör-dü-m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291840" y="53400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kip + şahıs eki (çekim)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640080" y="598932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BF3E3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5989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Kısaca: Basit sözcükte kökten sonra gelen her ek ÇEKİM EKİDİR — hiç yapım eki yoktur.</a:t>
            </a:r>
            <a:endParaRPr lang="en-US" sz="185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Anlatım — Basit Sözcük Nedir?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yap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ANLATIM · 2/3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Türemiş Sözcük Nedir?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830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Tanım:  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bir yapım eki almış sözcüktür. Türemiş sözcük, yapım ekinin yanında çekim eki de alabilir.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10881360" cy="511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"Yaşamda zorluklarla karşılaşılır." cümlesindeki her sözcük türemiştir — çünkü her biri en az bir yapım eki taşır: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61188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685032"/>
            <a:ext cx="2743200" cy="509016"/>
          </a:xfrm>
          <a:prstGeom prst="roundRect">
            <a:avLst>
              <a:gd name="adj" fmla="val 17391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36850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yaş-a-m-da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840480" y="36118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 (isim kökü) + -a (isimden fiil) + -m (fiilden isim) + -da (çekim)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427024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" y="4431792"/>
            <a:ext cx="2743200" cy="509016"/>
          </a:xfrm>
          <a:prstGeom prst="roundRect">
            <a:avLst>
              <a:gd name="adj" fmla="val 17391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44317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zor-luk-lar-la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840480" y="42702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 (isim kökü) + -luk (isimden isim) + -lar (çekim) + -la (çekim)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4928616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" y="5178552"/>
            <a:ext cx="2743200" cy="509016"/>
          </a:xfrm>
          <a:prstGeom prst="roundRect">
            <a:avLst>
              <a:gd name="adj" fmla="val 17391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517855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karşı-la-ş-ıl-ır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3840480" y="492861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 (isim kökü) + -la, -ş, -ıl (üç yapım eki) + -ır (çekim)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" y="580644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FBF3E3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Kısaca: Türemiş sözcükte en az BİR yapım eki vardır — kalan ekler çekim eki olabilir ya da hiç olmayabilir.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Anlatım — Türemiş Sözcük Nedir?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yap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ANLATIM · 3/3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Ayırt Etme Yöntemi — Adım Adım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0200" y="1737360"/>
            <a:ext cx="9692640" cy="369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Sözcüğü köküne kadar ekle­rine ayır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1600200" y="2152777"/>
            <a:ext cx="969264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Sözcüğü en küçük parçalarına (kök + ekler) böl.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2695194"/>
            <a:ext cx="10881360" cy="1319657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3103562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103562"/>
            <a:ext cx="5029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00200" y="2786634"/>
            <a:ext cx="9692640" cy="369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ekin GÖREVİNE bak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600200" y="3202051"/>
            <a:ext cx="969264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yeni bir anlam/sözcük mü katıyor (yapım eki) yoksa sadece dilbilgisel görev mi katıyor (çekim eki)?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" y="4104005"/>
            <a:ext cx="10881360" cy="1319657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/>
        </p:spPr>
      </p:sp>
      <p:sp>
        <p:nvSpPr>
          <p:cNvPr id="17" name="Shape 14"/>
          <p:cNvSpPr/>
          <p:nvPr/>
        </p:nvSpPr>
        <p:spPr>
          <a:xfrm>
            <a:off x="868680" y="4512374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512374"/>
            <a:ext cx="5029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00200" y="4195445"/>
            <a:ext cx="9692640" cy="369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ver</a:t>
            </a:r>
            <a:endParaRPr lang="en-US" sz="2050" dirty="0"/>
          </a:p>
        </p:txBody>
      </p:sp>
      <p:sp>
        <p:nvSpPr>
          <p:cNvPr id="20" name="Text 17"/>
          <p:cNvSpPr/>
          <p:nvPr/>
        </p:nvSpPr>
        <p:spPr>
          <a:xfrm>
            <a:off x="1600200" y="4610862"/>
            <a:ext cx="969264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bir yapım eki varsa TÜREMİŞ; hiç yoksa (sadece çekim ekleri varsa ya da hiç ek yoksa) BASİT.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40080" y="5601970"/>
            <a:ext cx="10881360" cy="830834"/>
          </a:xfrm>
          <a:prstGeom prst="roundRect">
            <a:avLst>
              <a:gd name="adj" fmla="val 11765"/>
            </a:avLst>
          </a:prstGeom>
          <a:solidFill>
            <a:srgbClr val="FBF3E3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5601970"/>
            <a:ext cx="10332720" cy="7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 kural: Kaç ek aldığı önemli değildir — TEK bir yapım eki bile sözcüğü türemiş yapar; İSTER 5 çekim eki alsın, yapım eki yoksa sözcük yine basittir.</a:t>
            </a:r>
            <a:endParaRPr lang="en-US" sz="20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Anlatım — Ayırt Etme Yöntemi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8E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6E1B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6E1B12"/>
          </a:solidFill>
          <a:ln/>
        </p:spPr>
      </p:sp>
      <p:pic>
        <p:nvPicPr>
          <p:cNvPr id="4" name="Image 0" descr="icons/dikk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6692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DİKKAT!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515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Çekim Eki Almak, Sözcüğü Türemiş Yapmaz!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0080" y="2253234"/>
            <a:ext cx="10515600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Öğrenciler çok ek gören bir sözcüğü otomatik olarak "türemiş" sanır. Oysa önemli olan ek SAYISI değil, ek TÜRÜDÜR — hiç yapım eki yoksa, kaç çekim eki alırsa alsın sözcük BASİT kalır.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3533394"/>
            <a:ext cx="10515600" cy="876300"/>
          </a:xfrm>
          <a:prstGeom prst="roundRect">
            <a:avLst>
              <a:gd name="adj" fmla="val 10526"/>
            </a:avLst>
          </a:prstGeom>
          <a:solidFill>
            <a:srgbClr val="6E1B1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533394"/>
            <a:ext cx="27432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Balıklarda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3749040" y="3533394"/>
            <a:ext cx="722376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balık-lar-da → "-lar" çoğul, "-da" hâl eki: 2 ek, ama İKİSİ DE ÇEKİM. Sözcük yine BASİTTİR.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40080" y="4546854"/>
            <a:ext cx="10515600" cy="876300"/>
          </a:xfrm>
          <a:prstGeom prst="roundRect">
            <a:avLst>
              <a:gd name="adj" fmla="val 10526"/>
            </a:avLst>
          </a:prstGeom>
          <a:solidFill>
            <a:srgbClr val="6E1B12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546854"/>
            <a:ext cx="27432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Masamızda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749040" y="4546854"/>
            <a:ext cx="722376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masa-mız-da → "-mız" iyelik, "-da" hâl eki: 2 çekim eki. Hâlâ BASİTTİR.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40080" y="5560314"/>
            <a:ext cx="10515600" cy="876300"/>
          </a:xfrm>
          <a:prstGeom prst="roundRect">
            <a:avLst>
              <a:gd name="adj" fmla="val 10526"/>
            </a:avLst>
          </a:prstGeom>
          <a:solidFill>
            <a:srgbClr val="6E1B12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560314"/>
            <a:ext cx="27432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Kitaplarımızdan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3749040" y="5560314"/>
            <a:ext cx="722376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kitap-lar-ımız-dan → 3 çekim eki üst üste (çoğul+iyelik+hâl) — yine yapım eki YOK, sözcük BASİTTİR.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8E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6E1B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6E1B12"/>
          </a:solidFill>
          <a:ln/>
        </p:spPr>
      </p:sp>
      <p:pic>
        <p:nvPicPr>
          <p:cNvPr id="4" name="Image 0" descr="icons/dikk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6692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DİKKAT!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515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Tuzak: Tek Yapım Eki Bile Türemiş Yapar!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21772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177288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371600" y="2253234"/>
            <a:ext cx="969264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"Az ek var, o zaman basittir" yanılgısı.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371600" y="2695702"/>
            <a:ext cx="9692640" cy="110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"tatlı" (tat + -lı) sadece TEK bir yapım eki almıştır — ama bu bile sözcüğü TÜREMİŞ yapmaya yeter. Ek sayısının azlığı basit olduğu anlamına gelmez.</a:t>
            </a:r>
            <a:endParaRPr lang="en-US" sz="2050" dirty="0"/>
          </a:p>
        </p:txBody>
      </p:sp>
      <p:sp>
        <p:nvSpPr>
          <p:cNvPr id="11" name="Shape 8"/>
          <p:cNvSpPr/>
          <p:nvPr/>
        </p:nvSpPr>
        <p:spPr>
          <a:xfrm>
            <a:off x="640080" y="3984879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984879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371600" y="4060825"/>
            <a:ext cx="969264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Türemiş sözcük çekim eki alınca "basitleşmez".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371600" y="4503293"/>
            <a:ext cx="969264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5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"tatlım" = tatlı (türemiş) + -m (iyelik çekim eki). Çekim eki eklenmesi kökteki yapım ekini yok saymaz — sözcük hâlâ TÜREMİŞTİR.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etkinli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SINIF ETKINLIĞI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 mi, Türemiş mi? (3 Dakika)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88136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Yanınızdaki arkadaşınızla birlikte aşağıdaki 8 sözcüğün BASİT mi TÜREMİŞ mi olduğunu belirleyin. Süre: 3 dakika.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77240" y="244906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44906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kalemlik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3474720" y="244906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74720" y="244906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defterimiz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172200" y="244906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72200" y="244906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sevgi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8869680" y="244906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869680" y="244906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sınavlarda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777240" y="340918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340918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dinlenmek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3474720" y="340918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474720" y="340918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öğrencilerin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6172200" y="340918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72200" y="340918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8869680" y="340918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54B7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869680" y="340918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kitaplarımızdan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640080" y="4460748"/>
            <a:ext cx="10881360" cy="812800"/>
          </a:xfrm>
          <a:prstGeom prst="roundRect">
            <a:avLst>
              <a:gd name="adj" fmla="val 14286"/>
            </a:avLst>
          </a:prstGeom>
          <a:solidFill>
            <a:srgbClr val="FBF3E3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4460748"/>
            <a:ext cx="103327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Sözcüğü köke kadar soyun; en az bir YAPIM eki bulursanız türemiş, hiç bulamazsanız (sadece çekim ekleri varsa) basittir.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Sınıf Etkinliği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kontr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ETKINLIK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Cevap Anahtarı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kalemlik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2377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377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TÜREMİŞ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772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 + -lik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83280" y="1828800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12" name="Text 9"/>
          <p:cNvSpPr/>
          <p:nvPr/>
        </p:nvSpPr>
        <p:spPr>
          <a:xfrm>
            <a:off x="35204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defterimiz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520440" y="2377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20440" y="2377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BASİT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5204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defter + -imiz (çekim)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26480" y="1828800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sevgi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63640" y="2377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63640" y="2377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TÜREMİŞ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2636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+ -gi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869680" y="1828800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22" name="Text 19"/>
          <p:cNvSpPr/>
          <p:nvPr/>
        </p:nvSpPr>
        <p:spPr>
          <a:xfrm>
            <a:off x="90068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sınavlarda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9006840" y="2377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006840" y="2377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BASİT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006840" y="3154680"/>
            <a:ext cx="2286000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+ -lar + -da (çekim)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0080" y="4238244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43754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dinlenmek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777240" y="4786884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77240" y="47868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TÜREMİŞ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777240" y="55641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 + -n + -mek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383280" y="4238244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32" name="Text 29"/>
          <p:cNvSpPr/>
          <p:nvPr/>
        </p:nvSpPr>
        <p:spPr>
          <a:xfrm>
            <a:off x="3520440" y="43754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öğrencilerin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3520440" y="4786884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3520440" y="47868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BASİT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3520440" y="5564124"/>
            <a:ext cx="2286000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+ -ler + -in (çekim)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126480" y="4238244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37" name="Text 34"/>
          <p:cNvSpPr/>
          <p:nvPr/>
        </p:nvSpPr>
        <p:spPr>
          <a:xfrm>
            <a:off x="6263640" y="43754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6263640" y="4786884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6263640" y="47868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TÜREMİŞ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263640" y="55641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 + -ıl + -ım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869680" y="4238244"/>
            <a:ext cx="2560320" cy="2180844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42" name="Text 39"/>
          <p:cNvSpPr/>
          <p:nvPr/>
        </p:nvSpPr>
        <p:spPr>
          <a:xfrm>
            <a:off x="9006840" y="43754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kitaplarımızdan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9006840" y="4786884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9006840" y="47868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BASİT</a:t>
            </a:r>
            <a:endParaRPr lang="en-US" sz="2100" dirty="0"/>
          </a:p>
        </p:txBody>
      </p:sp>
      <p:sp>
        <p:nvSpPr>
          <p:cNvPr id="45" name="Text 42"/>
          <p:cNvSpPr/>
          <p:nvPr/>
        </p:nvSpPr>
        <p:spPr>
          <a:xfrm>
            <a:off x="9006840" y="5564124"/>
            <a:ext cx="2286000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 + -lar+ımız+dan (çekim)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Etkinlik Cevapları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kontr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HIZLI HATIRLATMA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Kaldığımız Yer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3337560" cy="192709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2194560"/>
            <a:ext cx="288036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 Sözcük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51560" y="2618994"/>
            <a:ext cx="288036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 yapım eki almamıştır;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çekim eki alabilir.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26280" y="196596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2194560"/>
            <a:ext cx="288036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Türemiş Sözcük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754880" y="2618994"/>
            <a:ext cx="2880360" cy="85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bir yapım eki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almıştır.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229600" y="1965960"/>
            <a:ext cx="3337560" cy="192709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2194560"/>
            <a:ext cx="288036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Ayırt Etme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458200" y="2618994"/>
            <a:ext cx="2880360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sayısı değil,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TÜRÜ (yapım/çekim) önemlidir.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Hızlı Hatırlatma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derinli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DERINLEŞME · 1/2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Gövde ve Gövdeden Türemiş Sözcük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830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yapım eki alan sözcüğe GÖVDE, birden çok yapım eki alan sözcüğe ise GÖVDEDEN TÜREMİŞ SÖZCÜK denir. Bütün gövdeler türemiştir — ama her türemiş sözcük gövde değildir.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EEF3F8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1089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tatlı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651760" y="310896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+ -lı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760720" y="310896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yapım eki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7909560" y="3163824"/>
            <a:ext cx="3291840" cy="512064"/>
          </a:xfrm>
          <a:prstGeom prst="roundRect">
            <a:avLst>
              <a:gd name="adj" fmla="val 14286"/>
            </a:avLst>
          </a:prstGeom>
          <a:solidFill>
            <a:srgbClr val="EEF3F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909560" y="316382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GÖVDE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" y="3822192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EEF3F8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8221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tatlıcılık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2651760" y="382219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+ -lı + -cı + -lık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5760720" y="38221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yapım eki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7909560" y="3877056"/>
            <a:ext cx="3291840" cy="512064"/>
          </a:xfrm>
          <a:prstGeom prst="roundRect">
            <a:avLst>
              <a:gd name="adj" fmla="val 14286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909560" y="38770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GÖVDEDEN TÜREMİŞ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40080" y="453542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EEF3F8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453542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gözle-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2651760" y="453542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 + -le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5760720" y="45354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yapım eki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7909560" y="4590288"/>
            <a:ext cx="3291840" cy="512064"/>
          </a:xfrm>
          <a:prstGeom prst="roundRect">
            <a:avLst>
              <a:gd name="adj" fmla="val 14286"/>
            </a:avLst>
          </a:prstGeom>
          <a:solidFill>
            <a:srgbClr val="EEF3F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909560" y="459028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GÖVDE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40080" y="524865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EEF3F8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24865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2651760" y="524865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gözle- + -m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5760720" y="524865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yapım eki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7909560" y="5303520"/>
            <a:ext cx="3291840" cy="512064"/>
          </a:xfrm>
          <a:prstGeom prst="roundRect">
            <a:avLst>
              <a:gd name="adj" fmla="val 14286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909560" y="53035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GÖVDEDEN TÜREMİŞ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640080" y="6126480"/>
            <a:ext cx="10881360" cy="411480"/>
          </a:xfrm>
          <a:prstGeom prst="roundRect">
            <a:avLst>
              <a:gd name="adj" fmla="val 22222"/>
            </a:avLst>
          </a:prstGeom>
          <a:solidFill>
            <a:srgbClr val="FBF3E3"/>
          </a:solidFill>
          <a:ln/>
        </p:spPr>
      </p:sp>
      <p:sp>
        <p:nvSpPr>
          <p:cNvPr id="33" name="Text 30"/>
          <p:cNvSpPr/>
          <p:nvPr/>
        </p:nvSpPr>
        <p:spPr>
          <a:xfrm>
            <a:off x="914400" y="61264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Limit Yayınları TYT Türkçe El Kitabı — "Bütün gövdeler türemiş sözcüktür."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Derinleşme — Gövde ve Gövdeden Türemiş Sözcük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derinli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DERINLEŞME · 2/2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 Sanılan Ama Türemiş Sözcükler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830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dilde "tek parça" gibi hissettiren bazı sözcükler, kökle karşılaştırıldığında aslında bir yapım eki taşır. TYT'de bu tür sözcükler en sık şaşırtan tuzaklardandır.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EEF3F8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172968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31729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ılık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743200" y="31089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E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ılı- + -k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760720" y="31089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fiilden isim yapım eki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40080" y="3712464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EEF3F8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" y="3776472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3776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ışık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743200" y="371246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E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ışı- + -k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5760720" y="371246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fiilden isim yapım eki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40080" y="431596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EEF3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22960" y="4379976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2960" y="43799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batı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2743200" y="43159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E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bat- + -ı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5760720" y="431596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fiilden isim yapım eki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640080" y="4919472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EEF3F8"/>
          </a:solidFill>
          <a:ln/>
        </p:spPr>
      </p:sp>
      <p:sp>
        <p:nvSpPr>
          <p:cNvPr id="24" name="Shape 21"/>
          <p:cNvSpPr/>
          <p:nvPr/>
        </p:nvSpPr>
        <p:spPr>
          <a:xfrm>
            <a:off x="822960" y="4983480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22960" y="49834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2743200" y="49194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E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doğ- + -u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5760720" y="491947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fiilden isim yapım eki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640080" y="5522976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EEF3F8"/>
          </a:solidFill>
          <a:ln/>
        </p:spPr>
      </p:sp>
      <p:sp>
        <p:nvSpPr>
          <p:cNvPr id="29" name="Shape 26"/>
          <p:cNvSpPr/>
          <p:nvPr/>
        </p:nvSpPr>
        <p:spPr>
          <a:xfrm>
            <a:off x="822960" y="5586984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22960" y="558698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kıvrım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2743200" y="552297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E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kıvır- + -(ı)m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5760720" y="552297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fiilden isim yapım eki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640080" y="6172200"/>
            <a:ext cx="10881360" cy="365760"/>
          </a:xfrm>
          <a:prstGeom prst="roundRect">
            <a:avLst>
              <a:gd name="adj" fmla="val 25000"/>
            </a:avLst>
          </a:prstGeom>
          <a:solidFill>
            <a:srgbClr val="FBF3E3"/>
          </a:solidFill>
          <a:ln/>
        </p:spPr>
      </p:sp>
      <p:sp>
        <p:nvSpPr>
          <p:cNvPr id="34" name="Text 31"/>
          <p:cNvSpPr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Okyanus TYT Türkçe Konu Anlatımı — bu sözcükler TÜREMİŞTİR, basit değildir. Köke dikkat!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Derinleşme — Basit Sanılan Tuzaklar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sor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· 1/3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 Çözümü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ÖSYM (ÖSS - 2000)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10908792" cy="4451523"/>
          </a:xfrm>
          <a:prstGeom prst="roundRect">
            <a:avLst>
              <a:gd name="adj" fmla="val 2474"/>
            </a:avLst>
          </a:prstGeom>
          <a:solidFill>
            <a:srgbClr val="EEF3F8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828800"/>
            <a:ext cx="10360152" cy="1217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Sıfatlar, adlarla fiillerin kök ya da gövdelerine yapım ekleri getirilerek oluşturulur. Aşağıdaki atasözlerinin hangisinde bu yolla yapılmış bir sıfat vardır?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914400" y="3283839"/>
            <a:ext cx="10360152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2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Güneş balçıkla sıvanmaz.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914400" y="3800840"/>
            <a:ext cx="10360152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2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Korkunun ecele faydası yoktur.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14400" y="4317841"/>
            <a:ext cx="10360152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2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ağacın meyvesi yenmez.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914400" y="4834841"/>
            <a:ext cx="10360152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2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Mızrak çuvala sığmaz.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914400" y="5351842"/>
            <a:ext cx="10360152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 </a:t>
            </a:r>
            <a:pPr indent="0" marL="0">
              <a:buNone/>
            </a:pPr>
            <a:r>
              <a:rPr lang="en-US" sz="2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İşleyen demir pas tutmaz.</a:t>
            </a:r>
            <a:endParaRPr lang="en-US" sz="21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Örnek Soru 1 — gerçek ÖSYM sorusu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sor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· 2/3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 Çözümü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89720" y="621792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89720" y="6217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Okyanus (Pekiştirme)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10908792" cy="4434840"/>
          </a:xfrm>
          <a:prstGeom prst="roundRect">
            <a:avLst>
              <a:gd name="adj" fmla="val 2474"/>
            </a:avLst>
          </a:prstGeom>
          <a:solidFill>
            <a:srgbClr val="EEF3F8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828800"/>
            <a:ext cx="10360152" cy="41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 cümlelerin hangisinde türemiş isim kullanılmamıştır?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914400" y="2481326"/>
            <a:ext cx="10360152" cy="39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Yolların kuralını şoförler belirliyor.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3153870"/>
            <a:ext cx="10360152" cy="39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Öğretmenliğe başladığım günleri hatırladım.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14400" y="3826415"/>
            <a:ext cx="10360152" cy="39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Yolda oduncuyla karşılaştım.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14400" y="4498959"/>
            <a:ext cx="10360152" cy="39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 çözümünü internete koymuş.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14400" y="5171503"/>
            <a:ext cx="10360152" cy="39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gürültüye dayanmam çok zordu.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Örnek Soru 2 — pekiştirme sorusu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sor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· 3/3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 Çözümü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89720" y="621792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89720" y="6217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Okyanus (Pekiştirme)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10908792" cy="4434840"/>
          </a:xfrm>
          <a:prstGeom prst="roundRect">
            <a:avLst>
              <a:gd name="adj" fmla="val 2474"/>
            </a:avLst>
          </a:prstGeom>
          <a:solidFill>
            <a:srgbClr val="EEF3F8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828800"/>
            <a:ext cx="10360152" cy="1109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"Geceleri bir çarpıntı duyarsan / Telaş telaş yağmurdan kaçıyorum / Sarayburnu'ndan geçiyorum / Akşamsa eylülse ıslanmamışsam / Benim görsen belki anlayamazsın" Bu dizelerde aşağıdakilerden hangisi yoktur?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914400" y="3175635"/>
            <a:ext cx="10360152" cy="39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fiil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3710219"/>
            <a:ext cx="10360152" cy="39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Birleşik fiil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14400" y="4244803"/>
            <a:ext cx="10360152" cy="39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Türemiş isim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14400" y="4779387"/>
            <a:ext cx="10360152" cy="39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Ayrılma durumu eki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14400" y="5313971"/>
            <a:ext cx="10360152" cy="39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İsimden fiil yapım eki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Örnek Soru 3 — pekiştirme sorusu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kontr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SONU KONTROL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Hızlı Kontrol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88136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 sözcüklerin basit mi türemiş mi olduğunu birlikte söyleyelim: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77240" y="2207514"/>
            <a:ext cx="2514600" cy="1456436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44674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gözlük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77240" y="2769108"/>
            <a:ext cx="25146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" y="317550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TÜREMİŞ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474720" y="2207514"/>
            <a:ext cx="2514600" cy="1456436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2344674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gözlerimiz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474720" y="2769108"/>
            <a:ext cx="25146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474720" y="317550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BASİT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172200" y="2207514"/>
            <a:ext cx="2514600" cy="1456436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2344674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sevimli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172200" y="2769108"/>
            <a:ext cx="25146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172200" y="317550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TÜREMİŞ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8869680" y="2207514"/>
            <a:ext cx="2514600" cy="1456436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</p:spPr>
      </p:sp>
      <p:sp>
        <p:nvSpPr>
          <p:cNvPr id="20" name="Text 17"/>
          <p:cNvSpPr/>
          <p:nvPr/>
        </p:nvSpPr>
        <p:spPr>
          <a:xfrm>
            <a:off x="8869680" y="2344674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evlerde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8869680" y="2769108"/>
            <a:ext cx="25146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869680" y="3175508"/>
            <a:ext cx="251460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BASİT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640080" y="4029710"/>
            <a:ext cx="10881360" cy="812800"/>
          </a:xfrm>
          <a:prstGeom prst="roundRect">
            <a:avLst>
              <a:gd name="adj" fmla="val 15385"/>
            </a:avLst>
          </a:prstGeom>
          <a:solidFill>
            <a:srgbClr val="FBF3E3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4029710"/>
            <a:ext cx="103327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dört sözcüğün basit/türemiş kararını doğru verebiliyorsanız, bugünkü hedefe ulaştınız!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Hızlı Kontrol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2A4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05840"/>
            <a:ext cx="822960" cy="822960"/>
          </a:xfrm>
          <a:prstGeom prst="ellipse">
            <a:avLst/>
          </a:prstGeom>
          <a:solidFill>
            <a:srgbClr val="254B78"/>
          </a:solidFill>
          <a:ln/>
        </p:spPr>
      </p:sp>
      <p:pic>
        <p:nvPicPr>
          <p:cNvPr id="4" name="Image 0" descr="icons/list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19100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03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Ders Özeti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320040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/ Türemiş Sözcük — Ders 4/6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6634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ÖĞRENDIKLERIMIZ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1234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Sözcük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040880" y="12344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Türemiş Sözcük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663440" y="182880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Ayırt Etme Yöntemi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663440" y="242316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Gövde / Gövdeden Türemiş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686800" y="242316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54B78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Tuzaklar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4663440" y="2880360"/>
            <a:ext cx="6903720" cy="1371600"/>
          </a:xfrm>
          <a:prstGeom prst="roundRect">
            <a:avLst>
              <a:gd name="adj" fmla="val 8000"/>
            </a:avLst>
          </a:prstGeom>
          <a:solidFill>
            <a:srgbClr val="254B78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30175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sözcük,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 yapım eki almamış (çekim eki alabilir); </a:t>
            </a:r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türemiş sözcük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ise en az bir yapım eki almıştır. Belirleyici olan ek SAYISI değil, ek TÜRÜDÜR — bir sözcüğü türemiş yapmak için tek bir yapım eki bile yeterlidir.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663440" y="4434840"/>
            <a:ext cx="6903720" cy="1051560"/>
          </a:xfrm>
          <a:prstGeom prst="roundRect">
            <a:avLst>
              <a:gd name="adj" fmla="val 10435"/>
            </a:avLst>
          </a:prstGeom>
          <a:solidFill>
            <a:srgbClr val="D9A441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45902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SIRADAKİ DERS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937760" y="48646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Birleşik Sözcük (Ders 5/6)  →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odev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PEKIŞTIRME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Ödev: Basit / Türemiş Ayırma Alıştırması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881360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Sıradaki derse kadar aşağıdaki 10 sözcüğün BASİT mi TÜREMİŞ mi olduğunu, türemişse hangi ekle türediğini defterinize yazın: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244906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449068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kapıcı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2834640" y="2449068"/>
            <a:ext cx="2011680" cy="81280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34640" y="2449068"/>
            <a:ext cx="2011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kapılarımızdan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0" y="244906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449068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sevinç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223760" y="2449068"/>
            <a:ext cx="2011680" cy="81280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23760" y="2449068"/>
            <a:ext cx="2011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defterlerimizde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9418320" y="244906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0" y="2449068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gözlük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640080" y="349046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490468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gözlerimize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2834640" y="349046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34640" y="3490468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tatlandı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5029200" y="349046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0" y="3490468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tatlarımızı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7223760" y="3490468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23760" y="3490468"/>
            <a:ext cx="2011680" cy="37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yazarlık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9418320" y="3490468"/>
            <a:ext cx="2011680" cy="81280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18320" y="3490468"/>
            <a:ext cx="2011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kalemlerimizi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640080" y="4623308"/>
            <a:ext cx="10881360" cy="812800"/>
          </a:xfrm>
          <a:prstGeom prst="roundRect">
            <a:avLst>
              <a:gd name="adj" fmla="val 13333"/>
            </a:avLst>
          </a:prstGeom>
          <a:solidFill>
            <a:srgbClr val="FBF3E3"/>
          </a:solidFill>
          <a:ln/>
        </p:spPr>
      </p:sp>
      <p:sp>
        <p:nvSpPr>
          <p:cNvPr id="28" name="Text 25"/>
          <p:cNvSpPr/>
          <p:nvPr/>
        </p:nvSpPr>
        <p:spPr>
          <a:xfrm>
            <a:off x="914400" y="4623308"/>
            <a:ext cx="103327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Bir sözcüğü türemiş yapan şey ek sayısı değil, en az bir yapım eki taşımasıdır — köke kadar sabırla soyun.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Ödev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42A4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254B78"/>
          </a:solidFill>
          <a:ln/>
        </p:spPr>
      </p:sp>
      <p:pic>
        <p:nvPicPr>
          <p:cNvPr id="4" name="Image 0" descr="icons/kapanis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94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Ders Tamamlandı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/ Türemiş Sözcük — Sözcükte Yapı, Ders 4/6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7040880" cy="1828800"/>
          </a:xfrm>
          <a:prstGeom prst="roundRect">
            <a:avLst>
              <a:gd name="adj" fmla="val 6000"/>
            </a:avLst>
          </a:prstGeom>
          <a:solidFill>
            <a:srgbClr val="254B7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331720"/>
            <a:ext cx="6492240" cy="1432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öğrendik:  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ve türemiş sözcük tanımları, ayırt etme yöntemi, gövde/gövdeden türemiş sözcük kavramı ve basit sanılan ama türemiş olan sözcük tuzakları.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40080" y="4160520"/>
            <a:ext cx="7040880" cy="1051560"/>
          </a:xfrm>
          <a:prstGeom prst="roundRect">
            <a:avLst>
              <a:gd name="adj" fmla="val 10435"/>
            </a:avLst>
          </a:prstGeom>
          <a:solidFill>
            <a:srgbClr val="D9A441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3159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4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SIRADAKİ DERS (5/6)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5902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Birleşik Sözcük  →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Ders Anlatım Projesi  ·  Sedat GÜLER ve Claude Opus 5 tarafından üretilmiştir.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sor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· 1/3  ·  ÇÖZÜM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2179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64040" y="621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ÖSYM (ÖSS - 2000)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1783080"/>
            <a:ext cx="10908792" cy="4434840"/>
          </a:xfrm>
          <a:prstGeom prst="roundRect">
            <a:avLst>
              <a:gd name="adj" fmla="val 2526"/>
            </a:avLst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196596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14400" y="251460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1874520" y="2514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cevap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14400" y="3566160"/>
            <a:ext cx="103601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İşleyen demir pas tutmaz.  </a:t>
            </a:r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doğru cevap.
</a:t>
            </a:r>
            <a:pPr indent="0" marL="0">
              <a:buNone/>
            </a:pPr>
            <a:r>
              <a:rPr lang="en-US" sz="1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"işleyen" = iş (ad kökü) + -le (isimden fiil yapım eki) + -y (kaynaştırma) + -en (sıfat-fiil eki) — yapım ekiyle TÜREMİŞ bir sıfattır. C'deki "her" ise basit bir sıfattır (hiç ek almamıştır), diğer seçeneklerde sıfat yoktur.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Örnek Soru 1 — çözüm — gerçek ÖSYM sorusu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sor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· 2/3  ·  ÇÖZÜM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89720" y="621792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89720" y="6217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Okyanus (Pekiştirme)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1783080"/>
            <a:ext cx="10908792" cy="4434840"/>
          </a:xfrm>
          <a:prstGeom prst="roundRect">
            <a:avLst>
              <a:gd name="adj" fmla="val 2526"/>
            </a:avLst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196596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14400" y="251460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1874520" y="2514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cevap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14400" y="3566160"/>
            <a:ext cx="103601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doğru cevap.
</a:t>
            </a:r>
            <a:pPr indent="0" marL="0">
              <a:buNone/>
            </a:pPr>
            <a:r>
              <a:rPr lang="en-US" sz="1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A'daki isimler ("yolların", "kuralını", "şoförler") sadece çekim eki almıştır, hepsi basittir. B) öğretmen-lik, C) odun-cu, D) çöz-üm, E) gürül-tü sözcüklerindeki koyu kısımlar birer yapım ekidir — bu seçeneklerde türemiş isim vardır.</a:t>
            </a:r>
            <a:pPr indent="0" marL="0">
              <a:buNone/>
            </a:pPr>
            <a:endParaRPr lang="en-US" sz="1850" dirty="0"/>
          </a:p>
          <a:p>
            <a:pPr indent="0" marL="0">
              <a:buNone/>
            </a:pPr>
            <a:endParaRPr lang="en-US" sz="1850" dirty="0"/>
          </a:p>
          <a:p>
            <a:pPr indent="0" marL="0">
              <a:buNone/>
            </a:pPr>
            <a:r>
              <a:rPr lang="en-US" sz="185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Okyanus TYT Türkçe Konu Anlatımı, "Yapısına Göre Sözcükler" pekiştirme testi (ÖSYM'ye ait değildir, yayınevinin kendi hazırladığı TYT formatında bir sorudur).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Örnek Soru 2 — çözüm — pekiştirme sorusu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" name="Image 0" descr="icons/sor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6926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· 3/3  ·  ÇÖZÜM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89720" y="621792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89720" y="6217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Okyanus (Pekiştirme)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1783080"/>
            <a:ext cx="10908792" cy="4434840"/>
          </a:xfrm>
          <a:prstGeom prst="roundRect">
            <a:avLst>
              <a:gd name="adj" fmla="val 2526"/>
            </a:avLst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196596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14400" y="251460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1874520" y="2514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cevap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14400" y="3566160"/>
            <a:ext cx="103601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İsimden fiil yapım eki  </a:t>
            </a:r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doğru cevap (dizelerde bulunmayan).
</a:t>
            </a:r>
            <a:pPr indent="0" marL="0">
              <a:buNone/>
            </a:pPr>
            <a:r>
              <a:rPr lang="en-US" sz="1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duy-ar-sa-n (basit fiil), yağmur-dan (ayrılma hâli, çekim), Sarayburnu (türemiş özel isim) gibi unsurlar dizelerde vardır; ancak isim kökünden fiil türeten bir yapım eki ("-la/-le" tipi) bu dizelerde geçmemektedir.</a:t>
            </a:r>
            <a:pPr indent="0" marL="0">
              <a:buNone/>
            </a:pPr>
            <a:endParaRPr lang="en-US" sz="1850" dirty="0"/>
          </a:p>
          <a:p>
            <a:pPr indent="0" marL="0">
              <a:buNone/>
            </a:pPr>
            <a:endParaRPr lang="en-US" sz="1850" dirty="0"/>
          </a:p>
          <a:p>
            <a:pPr indent="0" marL="0">
              <a:buNone/>
            </a:pPr>
            <a:r>
              <a:rPr lang="en-US" sz="185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Okyanus TYT Türkçe Konu Anlatımı, "Yapısına Göre Sözcükler" pekiştirme testi (ÖSYM'ye ait değildir, yayınevinin kendi hazırladığı TYT formatında bir sorudur).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 TÜRKÇE  ·  SÖZCÜKTE YAPI  ·  Örnek Soru 3 — çözüm — pekiştirme sorusu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4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2026-09-12T19:53:57Z</dcterms:created>
  <dcterms:modified xsi:type="dcterms:W3CDTF">2026-09-12T19:53:57Z</dcterms:modified>
</cp:coreProperties>
</file>