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9" r:id="rId15"/>
    <p:sldId id="270" r:id="rId16"/>
    <p:sldId id="271" r:id="rId17"/>
    <p:sldId id="278" r:id="rId29"/>
    <p:sldId id="272" r:id="rId18"/>
    <p:sldId id="279" r:id="rId30"/>
    <p:sldId id="273" r:id="rId19"/>
    <p:sldId id="280" r:id="rId31"/>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5" Type="http://schemas.openxmlformats.org/officeDocument/2006/relationships/presProps" Target="presProps.xml" /><Relationship Id="rId26" Type="http://schemas.openxmlformats.org/officeDocument/2006/relationships/viewProps" Target="viewProps.xml" /><Relationship Id="rId27" Type="http://schemas.openxmlformats.org/officeDocument/2006/relationships/theme" Target="theme/theme1.xml" /><Relationship Id="rId28" Type="http://schemas.openxmlformats.org/officeDocument/2006/relationships/tableStyles" Target="tableStyles.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ns0:Relationships xmlns:ns0="http://schemas.openxmlformats.org/package/2006/relationships"><ns0:Relationship Id="rId1" Type="http://schemas.openxmlformats.org/officeDocument/2006/relationships/image" Target="../media/image-16-1.png" /><ns0:Relationship Id="rId2" Type="http://schemas.openxmlformats.org/officeDocument/2006/relationships/slideLayout" Target="../slideLayouts/slideLayout1.xml" /></ns0:Relationships>
</file>

<file path=ppt/slides/_rels/slide24.xml.rels><?xml version='1.0' encoding='UTF-8'?>
<ns0:Relationships xmlns:ns0="http://schemas.openxmlformats.org/package/2006/relationships"><ns0:Relationship Id="rId1" Type="http://schemas.openxmlformats.org/officeDocument/2006/relationships/image" Target="../media/image-17-1.png" /><ns0:Relationship Id="rId2" Type="http://schemas.openxmlformats.org/officeDocument/2006/relationships/slideLayout" Target="../slideLayouts/slideLayout1.xml" /></ns0:Relationships>
</file>

<file path=ppt/slides/_rels/slide25.xml.rels><?xml version='1.0' encoding='UTF-8'?>
<ns0:Relationships xmlns:ns0="http://schemas.openxmlformats.org/package/2006/relationships"><ns0:Relationship Id="rId1" Type="http://schemas.openxmlformats.org/officeDocument/2006/relationships/image" Target="../media/image-18-1.png" /><ns0:Relationship Id="rId2" Type="http://schemas.openxmlformats.org/officeDocument/2006/relationships/slideLayout" Target="../slideLayouts/slideLayout1.xml" /></ns0: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142A44"/>
          </a:solidFill>
          <a:ln/>
        </p:spPr>
      </p:sp>
      <p:sp>
        <p:nvSpPr>
          <p:cNvPr id="3" name="Text 1"/>
          <p:cNvSpPr/>
          <p:nvPr/>
        </p:nvSpPr>
        <p:spPr>
          <a:xfrm>
            <a:off x="640080" y="96012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CÜMLEDE ANLAM · DERS 1/4</a:t>
            </a:r>
            <a:endParaRPr lang="en-US" sz="1300" dirty="0"/>
          </a:p>
        </p:txBody>
      </p:sp>
      <p:sp>
        <p:nvSpPr>
          <p:cNvPr id="4" name="Text 2"/>
          <p:cNvSpPr/>
          <p:nvPr/>
        </p:nvSpPr>
        <p:spPr>
          <a:xfrm>
            <a:off x="594360" y="1234440"/>
            <a:ext cx="6949440" cy="16002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Cümlede Anlam'a Giriş</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Temel Kavramlar</a:t>
            </a:r>
            <a:endParaRPr lang="en-US" sz="3800" dirty="0"/>
          </a:p>
        </p:txBody>
      </p:sp>
      <p:sp>
        <p:nvSpPr>
          <p:cNvPr id="5" name="Text 3"/>
          <p:cNvSpPr/>
          <p:nvPr/>
        </p:nvSpPr>
        <p:spPr>
          <a:xfrm>
            <a:off x="640080" y="2788920"/>
            <a:ext cx="6949440" cy="457200"/>
          </a:xfrm>
          <a:prstGeom prst="rect">
            <a:avLst/>
          </a:prstGeom>
          <a:noFill/>
          <a:ln/>
        </p:spPr>
        <p:txBody>
          <a:bodyPr wrap="square" lIns="0" tIns="0" rIns="0" bIns="0" rtlCol="0" anchor="ctr"/>
          <a:lstStyle/>
          <a:p>
            <a:pPr indent="0" marL="0">
              <a:buNone/>
            </a:pPr>
            <a:r>
              <a:rPr lang="en-US" sz="2100" i="1" dirty="0">
                <a:solidFill>
                  <a:srgbClr val="CADCFC"/>
                </a:solidFill>
                <a:latin typeface="Calibri" pitchFamily="34" charset="0"/>
                <a:ea typeface="Calibri" pitchFamily="34" charset="-122"/>
                <a:cs typeface="Calibri" pitchFamily="34" charset="-120"/>
              </a:rPr>
              <a:t>Bir Cümle Bize Ne Anlatıyor? Öznel mi, Nesnel mi?</a:t>
            </a:r>
            <a:endParaRPr lang="en-US" sz="2100" dirty="0"/>
          </a:p>
        </p:txBody>
      </p:sp>
      <p:sp>
        <p:nvSpPr>
          <p:cNvPr id="6" name="Shape 4"/>
          <p:cNvSpPr/>
          <p:nvPr/>
        </p:nvSpPr>
        <p:spPr>
          <a:xfrm>
            <a:off x="640080" y="3520440"/>
            <a:ext cx="2478024" cy="384048"/>
          </a:xfrm>
          <a:prstGeom prst="roundRect">
            <a:avLst>
              <a:gd name="adj" fmla="val 50000"/>
            </a:avLst>
          </a:prstGeom>
          <a:solidFill>
            <a:srgbClr val="142A44"/>
          </a:solidFill>
          <a:ln w="12700">
            <a:solidFill>
              <a:srgbClr val="D9A441"/>
            </a:solidFill>
            <a:prstDash val="solid"/>
          </a:ln>
        </p:spPr>
      </p:sp>
      <p:sp>
        <p:nvSpPr>
          <p:cNvPr id="7" name="Text 5"/>
          <p:cNvSpPr/>
          <p:nvPr/>
        </p:nvSpPr>
        <p:spPr>
          <a:xfrm>
            <a:off x="640080" y="3520440"/>
            <a:ext cx="2478024" cy="384048"/>
          </a:xfrm>
          <a:prstGeom prst="rect">
            <a:avLst/>
          </a:prstGeom>
          <a:noFill/>
          <a:ln/>
        </p:spPr>
        <p:txBody>
          <a:bodyPr wrap="square" lIns="0" tIns="0" rIns="0" bIns="0" rtlCol="0" anchor="ctr"/>
          <a:lstStyle/>
          <a:p>
            <a:pPr algn="ctr" indent="0" marL="0">
              <a:buNone/>
            </a:pPr>
            <a:r>
              <a:rPr lang="en-US" sz="1750" dirty="0">
                <a:solidFill>
                  <a:srgbClr val="FFFFFF"/>
                </a:solidFill>
                <a:latin typeface="Calibri" pitchFamily="34" charset="0"/>
                <a:ea typeface="Calibri" pitchFamily="34" charset="-122"/>
                <a:cs typeface="Calibri" pitchFamily="34" charset="-120"/>
              </a:rPr>
              <a:t>40 dk · blokta 2 föy</a:t>
            </a:r>
            <a:endParaRPr lang="en-US" sz="1750" dirty="0"/>
          </a:p>
        </p:txBody>
      </p:sp>
      <p:sp>
        <p:nvSpPr>
          <p:cNvPr id="8" name="Shape 6"/>
          <p:cNvSpPr/>
          <p:nvPr/>
        </p:nvSpPr>
        <p:spPr>
          <a:xfrm>
            <a:off x="3300984" y="3520440"/>
            <a:ext cx="3589020" cy="384048"/>
          </a:xfrm>
          <a:prstGeom prst="roundRect">
            <a:avLst>
              <a:gd name="adj" fmla="val 50000"/>
            </a:avLst>
          </a:prstGeom>
          <a:solidFill>
            <a:srgbClr val="142A44"/>
          </a:solidFill>
          <a:ln w="12700">
            <a:solidFill>
              <a:srgbClr val="D9A441"/>
            </a:solidFill>
            <a:prstDash val="solid"/>
          </a:ln>
        </p:spPr>
      </p:sp>
      <p:sp>
        <p:nvSpPr>
          <p:cNvPr id="9" name="Text 7"/>
          <p:cNvSpPr/>
          <p:nvPr/>
        </p:nvSpPr>
        <p:spPr>
          <a:xfrm>
            <a:off x="3300984" y="3520440"/>
            <a:ext cx="3589020" cy="384048"/>
          </a:xfrm>
          <a:prstGeom prst="rect">
            <a:avLst/>
          </a:prstGeom>
          <a:noFill/>
          <a:ln/>
        </p:spPr>
        <p:txBody>
          <a:bodyPr wrap="square" lIns="0" tIns="0" rIns="0" bIns="0" rtlCol="0" anchor="ctr"/>
          <a:lstStyle/>
          <a:p>
            <a:pPr algn="ctr" indent="0" marL="0">
              <a:buNone/>
            </a:pPr>
            <a:r>
              <a:rPr lang="en-US" sz="1750" dirty="0">
                <a:solidFill>
                  <a:srgbClr val="FFFFFF"/>
                </a:solidFill>
                <a:latin typeface="Calibri" pitchFamily="34" charset="0"/>
                <a:ea typeface="Calibri" pitchFamily="34" charset="-122"/>
                <a:cs typeface="Calibri" pitchFamily="34" charset="-120"/>
              </a:rPr>
              <a:t>Anlam Bilgisi · Yeni Konu</a:t>
            </a:r>
            <a:endParaRPr lang="en-US" sz="1750" dirty="0"/>
          </a:p>
        </p:txBody>
      </p:sp>
      <p:sp>
        <p:nvSpPr>
          <p:cNvPr id="10" name="Shape 8"/>
          <p:cNvSpPr/>
          <p:nvPr/>
        </p:nvSpPr>
        <p:spPr>
          <a:xfrm>
            <a:off x="640080" y="4297680"/>
            <a:ext cx="502920" cy="502920"/>
          </a:xfrm>
          <a:prstGeom prst="ellipse">
            <a:avLst/>
          </a:prstGeom>
          <a:solidFill>
            <a:srgbClr val="254B78"/>
          </a:solidFill>
          <a:ln/>
        </p:spPr>
      </p:sp>
      <p:pic>
        <p:nvPicPr>
          <p:cNvPr id="11" name="Image 0" descr="icons/cover_amber.png">    </p:cNvPr>
          <p:cNvPicPr>
            <a:picLocks noChangeAspect="1"/>
          </p:cNvPicPr>
          <p:nvPr/>
        </p:nvPicPr>
        <p:blipFill>
          <a:blip r:embed="rId1"/>
          <a:stretch>
            <a:fillRect/>
          </a:stretch>
        </p:blipFill>
        <p:spPr>
          <a:xfrm>
            <a:off x="740664" y="4398264"/>
            <a:ext cx="301752" cy="301752"/>
          </a:xfrm>
          <a:prstGeom prst="rect">
            <a:avLst/>
          </a:prstGeom>
        </p:spPr>
      </p:pic>
      <p:sp>
        <p:nvSpPr>
          <p:cNvPr id="12" name="Text 9"/>
          <p:cNvSpPr/>
          <p:nvPr/>
        </p:nvSpPr>
        <p:spPr>
          <a:xfrm>
            <a:off x="1280160" y="4297680"/>
            <a:ext cx="4572000" cy="502920"/>
          </a:xfrm>
          <a:prstGeom prst="rect">
            <a:avLst/>
          </a:prstGeom>
          <a:noFill/>
          <a:ln/>
        </p:spPr>
        <p:txBody>
          <a:bodyPr wrap="square" lIns="0" tIns="0" rIns="0" bIns="0" rtlCol="0" anchor="ctr"/>
          <a:lstStyle/>
          <a:p>
            <a:pPr indent="0" marL="0">
              <a:buNone/>
            </a:pPr>
            <a:r>
              <a:rPr lang="en-US" sz="1200" dirty="0">
                <a:solidFill>
                  <a:srgbClr val="9FB8D6"/>
                </a:solidFill>
                <a:latin typeface="Calibri" pitchFamily="34" charset="0"/>
                <a:ea typeface="Calibri" pitchFamily="34" charset="-122"/>
                <a:cs typeface="Calibri" pitchFamily="34" charset="-120"/>
              </a:rPr>
              <a:t>Sedat GÜLER ve Claude Opus 5  ·  TYT Türkçe Ders Anlatım Serisi</a:t>
            </a:r>
            <a:endParaRPr lang="en-US" sz="1200" dirty="0"/>
          </a:p>
        </p:txBody>
      </p:sp>
      <p:sp>
        <p:nvSpPr>
          <p:cNvPr id="13" name="Shape 10"/>
          <p:cNvSpPr/>
          <p:nvPr/>
        </p:nvSpPr>
        <p:spPr>
          <a:xfrm>
            <a:off x="8321040" y="1554480"/>
            <a:ext cx="3291840" cy="685800"/>
          </a:xfrm>
          <a:prstGeom prst="roundRect">
            <a:avLst>
              <a:gd name="adj" fmla="val 10667"/>
            </a:avLst>
          </a:prstGeom>
          <a:solidFill>
            <a:srgbClr val="142A44"/>
          </a:solidFill>
          <a:ln/>
          <a:effectLst>
            <a:outerShdw sx="100000" sy="100000" kx="0" ky="0" algn="bl" rotWithShape="0" blurRad="76200" dist="25400" dir="5400000">
              <a:srgbClr val="1E2761">
                <a:alpha val="18000"/>
              </a:srgbClr>
            </a:outerShdw>
          </a:effectLst>
        </p:spPr>
      </p:sp>
      <p:sp>
        <p:nvSpPr>
          <p:cNvPr id="14" name="Text 11"/>
          <p:cNvSpPr/>
          <p:nvPr/>
        </p:nvSpPr>
        <p:spPr>
          <a:xfrm>
            <a:off x="8321040" y="1554480"/>
            <a:ext cx="329184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"Bu roman gerçekten</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çok etkileyici!"</a:t>
            </a:r>
            <a:endParaRPr lang="en-US" sz="1600" dirty="0"/>
          </a:p>
        </p:txBody>
      </p:sp>
      <p:sp>
        <p:nvSpPr>
          <p:cNvPr id="15" name="Text 12"/>
          <p:cNvSpPr/>
          <p:nvPr/>
        </p:nvSpPr>
        <p:spPr>
          <a:xfrm>
            <a:off x="8321040" y="2286000"/>
            <a:ext cx="3291840" cy="274320"/>
          </a:xfrm>
          <a:prstGeom prst="rect">
            <a:avLst/>
          </a:prstGeom>
          <a:noFill/>
          <a:ln/>
        </p:spPr>
        <p:txBody>
          <a:bodyPr wrap="square" lIns="0" tIns="0" rIns="0" bIns="0" rtlCol="0" anchor="ctr"/>
          <a:lstStyle/>
          <a:p>
            <a:pPr algn="ctr" indent="0" marL="0">
              <a:buNone/>
            </a:pPr>
            <a:r>
              <a:rPr lang="en-US" sz="1500" i="1" dirty="0">
                <a:solidFill>
                  <a:srgbClr val="9FB8D6"/>
                </a:solidFill>
                <a:latin typeface="Calibri" pitchFamily="34" charset="0"/>
                <a:ea typeface="Calibri" pitchFamily="34" charset="-122"/>
                <a:cs typeface="Calibri" pitchFamily="34" charset="-120"/>
              </a:rPr>
              <a:t>kişiden kişiye değişir</a:t>
            </a:r>
            <a:endParaRPr lang="en-US" sz="1500" dirty="0"/>
          </a:p>
        </p:txBody>
      </p:sp>
      <p:sp>
        <p:nvSpPr>
          <p:cNvPr id="16" name="Shape 13"/>
          <p:cNvSpPr/>
          <p:nvPr/>
        </p:nvSpPr>
        <p:spPr>
          <a:xfrm>
            <a:off x="8321040" y="2651760"/>
            <a:ext cx="3291840" cy="1243584"/>
          </a:xfrm>
          <a:prstGeom prst="roundRect">
            <a:avLst>
              <a:gd name="adj" fmla="val 20000"/>
            </a:avLst>
          </a:prstGeom>
          <a:solidFill>
            <a:srgbClr val="D9A441"/>
          </a:solidFill>
          <a:ln/>
          <a:effectLst>
            <a:outerShdw sx="100000" sy="100000" kx="0" ky="0" algn="bl" rotWithShape="0" blurRad="76200" dist="25400" dir="5400000">
              <a:srgbClr val="1E2761">
                <a:alpha val="18000"/>
              </a:srgbClr>
            </a:outerShdw>
          </a:effectLst>
        </p:spPr>
      </p:sp>
      <p:sp>
        <p:nvSpPr>
          <p:cNvPr id="17" name="Text 14"/>
          <p:cNvSpPr/>
          <p:nvPr/>
        </p:nvSpPr>
        <p:spPr>
          <a:xfrm>
            <a:off x="8321040" y="2651760"/>
            <a:ext cx="3291840" cy="378714"/>
          </a:xfrm>
          <a:prstGeom prst="rect">
            <a:avLst/>
          </a:prstGeom>
          <a:noFill/>
          <a:ln/>
        </p:spPr>
        <p:txBody>
          <a:bodyPr wrap="square" lIns="0" tIns="0" rIns="0" bIns="0" rtlCol="0" anchor="ctr"/>
          <a:lstStyle/>
          <a:p>
            <a:pPr algn="ctr" indent="0" marL="0">
              <a:buNone/>
            </a:pPr>
            <a:r>
              <a:rPr lang="en-US" sz="2100" b="1" dirty="0">
                <a:solidFill>
                  <a:srgbClr val="142A44"/>
                </a:solidFill>
                <a:latin typeface="Calibri" pitchFamily="34" charset="0"/>
                <a:ea typeface="Calibri" pitchFamily="34" charset="-122"/>
                <a:cs typeface="Calibri" pitchFamily="34" charset="-120"/>
              </a:rPr>
              <a:t>ÖZNEL</a:t>
            </a:r>
            <a:endParaRPr lang="en-US" sz="2100" dirty="0"/>
          </a:p>
        </p:txBody>
      </p:sp>
      <p:sp>
        <p:nvSpPr>
          <p:cNvPr id="18" name="Shape 15"/>
          <p:cNvSpPr/>
          <p:nvPr/>
        </p:nvSpPr>
        <p:spPr>
          <a:xfrm>
            <a:off x="8321040" y="3200400"/>
            <a:ext cx="3291840" cy="685800"/>
          </a:xfrm>
          <a:prstGeom prst="roundRect">
            <a:avLst>
              <a:gd name="adj" fmla="val 10667"/>
            </a:avLst>
          </a:prstGeom>
          <a:solidFill>
            <a:srgbClr val="142A44"/>
          </a:solidFill>
          <a:ln/>
          <a:effectLst>
            <a:outerShdw sx="100000" sy="100000" kx="0" ky="0" algn="bl" rotWithShape="0" blurRad="76200" dist="25400" dir="5400000">
              <a:srgbClr val="1E2761">
                <a:alpha val="18000"/>
              </a:srgbClr>
            </a:outerShdw>
          </a:effectLst>
        </p:spPr>
      </p:sp>
      <p:sp>
        <p:nvSpPr>
          <p:cNvPr id="19" name="Text 16"/>
          <p:cNvSpPr/>
          <p:nvPr/>
        </p:nvSpPr>
        <p:spPr>
          <a:xfrm>
            <a:off x="8321040" y="3200400"/>
            <a:ext cx="329184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"Roman 320 sayfadan</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oluşmaktadır."</a:t>
            </a:r>
            <a:endParaRPr lang="en-US" sz="1600" dirty="0"/>
          </a:p>
        </p:txBody>
      </p:sp>
      <p:sp>
        <p:nvSpPr>
          <p:cNvPr id="20" name="Text 17"/>
          <p:cNvSpPr/>
          <p:nvPr/>
        </p:nvSpPr>
        <p:spPr>
          <a:xfrm>
            <a:off x="8321040" y="3931920"/>
            <a:ext cx="3291840" cy="577088"/>
          </a:xfrm>
          <a:prstGeom prst="rect">
            <a:avLst/>
          </a:prstGeom>
          <a:noFill/>
          <a:ln/>
        </p:spPr>
        <p:txBody>
          <a:bodyPr wrap="square" lIns="0" tIns="0" rIns="0" bIns="0" rtlCol="0" anchor="ctr"/>
          <a:lstStyle/>
          <a:p>
            <a:pPr algn="ctr" indent="0" marL="0">
              <a:buNone/>
            </a:pPr>
            <a:r>
              <a:rPr lang="en-US" sz="1600" i="1" dirty="0">
                <a:solidFill>
                  <a:srgbClr val="9FB8D6"/>
                </a:solidFill>
                <a:latin typeface="Calibri" pitchFamily="34" charset="0"/>
                <a:ea typeface="Calibri" pitchFamily="34" charset="-122"/>
                <a:cs typeface="Calibri" pitchFamily="34" charset="-120"/>
              </a:rPr>
              <a:t>herkes için aynıdır, kanıtlanabilir</a:t>
            </a:r>
            <a:endParaRPr lang="en-US" sz="1600" dirty="0"/>
          </a:p>
        </p:txBody>
      </p:sp>
      <p:sp>
        <p:nvSpPr>
          <p:cNvPr id="21" name="Shape 18"/>
          <p:cNvSpPr/>
          <p:nvPr/>
        </p:nvSpPr>
        <p:spPr>
          <a:xfrm>
            <a:off x="8321040" y="5175504"/>
            <a:ext cx="3291840" cy="1243584"/>
          </a:xfrm>
          <a:prstGeom prst="roundRect">
            <a:avLst>
              <a:gd name="adj" fmla="val 20000"/>
            </a:avLst>
          </a:prstGeom>
          <a:solidFill>
            <a:srgbClr val="254B78"/>
          </a:solidFill>
          <a:ln/>
          <a:effectLst>
            <a:outerShdw sx="100000" sy="100000" kx="0" ky="0" algn="bl" rotWithShape="0" blurRad="76200" dist="25400" dir="5400000">
              <a:srgbClr val="1E2761">
                <a:alpha val="18000"/>
              </a:srgbClr>
            </a:outerShdw>
          </a:effectLst>
        </p:spPr>
      </p:sp>
      <p:sp>
        <p:nvSpPr>
          <p:cNvPr id="22" name="Text 19"/>
          <p:cNvSpPr/>
          <p:nvPr/>
        </p:nvSpPr>
        <p:spPr>
          <a:xfrm>
            <a:off x="8321040" y="5175504"/>
            <a:ext cx="3291840" cy="378714"/>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NESNEL</a:t>
            </a:r>
            <a:endParaRPr lang="en-US" sz="2100" dirty="0"/>
          </a:p>
        </p:txBody>
      </p:sp>
      <p:sp>
        <p:nvSpPr>
          <p:cNvPr id="23" name="Shape 20"/>
          <p:cNvSpPr/>
          <p:nvPr/>
        </p:nvSpPr>
        <p:spPr>
          <a:xfrm>
            <a:off x="9692640" y="5074920"/>
            <a:ext cx="777240" cy="777240"/>
          </a:xfrm>
          <a:prstGeom prst="ellipse">
            <a:avLst/>
          </a:prstGeom>
          <a:solidFill>
            <a:srgbClr val="254B78"/>
          </a:solidFill>
          <a:ln/>
        </p:spPr>
      </p:sp>
      <p:pic>
        <p:nvPicPr>
          <p:cNvPr id="24" name="Image 1" descr="icons/katman_amber.png">    </p:cNvPr>
          <p:cNvPicPr>
            <a:picLocks noChangeAspect="1"/>
          </p:cNvPicPr>
          <p:nvPr/>
        </p:nvPicPr>
        <p:blipFill>
          <a:blip r:embed="rId2"/>
          <a:stretch>
            <a:fillRect/>
          </a:stretch>
        </p:blipFill>
        <p:spPr>
          <a:xfrm>
            <a:off x="9867519" y="5249799"/>
            <a:ext cx="427482" cy="42748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azanim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KAZANIM</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Bugün Ne Öğreneceğiz?</a:t>
            </a:r>
            <a:endParaRPr lang="en-US" sz="2800" dirty="0"/>
          </a:p>
        </p:txBody>
      </p:sp>
      <p:sp>
        <p:nvSpPr>
          <p:cNvPr id="6" name="Shape 3"/>
          <p:cNvSpPr/>
          <p:nvPr/>
        </p:nvSpPr>
        <p:spPr>
          <a:xfrm>
            <a:off x="640080" y="1828800"/>
            <a:ext cx="10881360" cy="1043178"/>
          </a:xfrm>
          <a:prstGeom prst="roundRect">
            <a:avLst>
              <a:gd name="adj" fmla="val 10000"/>
            </a:avLst>
          </a:prstGeom>
          <a:solidFill>
            <a:srgbClr val="EEF3F8"/>
          </a:solidFill>
          <a:ln/>
        </p:spPr>
      </p:sp>
      <p:sp>
        <p:nvSpPr>
          <p:cNvPr id="7" name="Shape 4"/>
          <p:cNvSpPr/>
          <p:nvPr/>
        </p:nvSpPr>
        <p:spPr>
          <a:xfrm>
            <a:off x="868680" y="2098929"/>
            <a:ext cx="502920" cy="502920"/>
          </a:xfrm>
          <a:prstGeom prst="ellipse">
            <a:avLst/>
          </a:prstGeom>
          <a:solidFill>
            <a:srgbClr val="1E3A5F"/>
          </a:solidFill>
          <a:ln/>
        </p:spPr>
      </p:sp>
      <p:sp>
        <p:nvSpPr>
          <p:cNvPr id="8" name="Text 5"/>
          <p:cNvSpPr/>
          <p:nvPr/>
        </p:nvSpPr>
        <p:spPr>
          <a:xfrm>
            <a:off x="868680" y="2098929"/>
            <a:ext cx="502920" cy="502920"/>
          </a:xfrm>
          <a:prstGeom prst="rect">
            <a:avLst/>
          </a:prstGeom>
          <a:noFill/>
          <a:ln/>
        </p:spPr>
        <p:txBody>
          <a:bodyPr wrap="non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600200" y="1828800"/>
            <a:ext cx="9692640" cy="757428"/>
          </a:xfrm>
          <a:prstGeom prst="rect">
            <a:avLst/>
          </a:prstGeom>
          <a:noFill/>
          <a:ln/>
        </p:spPr>
        <p:txBody>
          <a:bodyPr wrap="square" lIns="0" tIns="0" rIns="0" bIns="0" rtlCol="0" anchor="ctr"/>
          <a:lstStyle/>
          <a:p>
            <a:pPr indent="0" marL="0">
              <a:buNone/>
            </a:pPr>
            <a:r>
              <a:rPr lang="en-US" sz="2100" dirty="0">
                <a:solidFill>
                  <a:srgbClr val="1E2761"/>
                </a:solidFill>
                <a:latin typeface="Calibri" pitchFamily="34" charset="0"/>
                <a:ea typeface="Calibri" pitchFamily="34" charset="-122"/>
                <a:cs typeface="Calibri" pitchFamily="34" charset="-120"/>
              </a:rPr>
              <a:t>Bir cümlenin ÖZNEL mi (kişiden kişiye değişen, kanıtlanamayan) yoksa NESNEL mi (kanıtlanabilir, herkes için aynı) olduğunu ayırt edebilecek.</a:t>
            </a:r>
            <a:endParaRPr lang="en-US" sz="2100" dirty="0"/>
          </a:p>
        </p:txBody>
      </p:sp>
      <p:sp>
        <p:nvSpPr>
          <p:cNvPr id="10" name="Shape 7"/>
          <p:cNvSpPr/>
          <p:nvPr/>
        </p:nvSpPr>
        <p:spPr>
          <a:xfrm>
            <a:off x="640080" y="2913126"/>
            <a:ext cx="10881360" cy="1043178"/>
          </a:xfrm>
          <a:prstGeom prst="roundRect">
            <a:avLst>
              <a:gd name="adj" fmla="val 10000"/>
            </a:avLst>
          </a:prstGeom>
          <a:solidFill>
            <a:srgbClr val="EEF3F8"/>
          </a:solidFill>
          <a:ln/>
        </p:spPr>
      </p:sp>
      <p:sp>
        <p:nvSpPr>
          <p:cNvPr id="11" name="Shape 8"/>
          <p:cNvSpPr/>
          <p:nvPr/>
        </p:nvSpPr>
        <p:spPr>
          <a:xfrm>
            <a:off x="868680" y="3183255"/>
            <a:ext cx="502920" cy="502920"/>
          </a:xfrm>
          <a:prstGeom prst="ellipse">
            <a:avLst/>
          </a:prstGeom>
          <a:solidFill>
            <a:srgbClr val="1E3A5F"/>
          </a:solidFill>
          <a:ln/>
        </p:spPr>
      </p:sp>
      <p:sp>
        <p:nvSpPr>
          <p:cNvPr id="12" name="Text 9"/>
          <p:cNvSpPr/>
          <p:nvPr/>
        </p:nvSpPr>
        <p:spPr>
          <a:xfrm>
            <a:off x="868680" y="3183255"/>
            <a:ext cx="502920" cy="502920"/>
          </a:xfrm>
          <a:prstGeom prst="rect">
            <a:avLst/>
          </a:prstGeom>
          <a:noFill/>
          <a:ln/>
        </p:spPr>
        <p:txBody>
          <a:bodyPr wrap="non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0"/>
          <p:cNvSpPr/>
          <p:nvPr/>
        </p:nvSpPr>
        <p:spPr>
          <a:xfrm>
            <a:off x="1600200" y="2913126"/>
            <a:ext cx="9692640" cy="757428"/>
          </a:xfrm>
          <a:prstGeom prst="rect">
            <a:avLst/>
          </a:prstGeom>
          <a:noFill/>
          <a:ln/>
        </p:spPr>
        <p:txBody>
          <a:bodyPr wrap="square" lIns="0" tIns="0" rIns="0" bIns="0" rtlCol="0" anchor="ctr"/>
          <a:lstStyle/>
          <a:p>
            <a:pPr indent="0" marL="0">
              <a:buNone/>
            </a:pPr>
            <a:r>
              <a:rPr lang="en-US" sz="2100" dirty="0">
                <a:solidFill>
                  <a:srgbClr val="1E2761"/>
                </a:solidFill>
                <a:latin typeface="Calibri" pitchFamily="34" charset="0"/>
                <a:ea typeface="Calibri" pitchFamily="34" charset="-122"/>
                <a:cs typeface="Calibri" pitchFamily="34" charset="-120"/>
              </a:rPr>
              <a:t>İki varlık/kavramı birbiriyle KARŞILAŞTIRAN cümleleri ve bir eser/kişi/durum hakkında yargı bildiren DEĞERLENDİRME cümlelerini tanıyabilecek.</a:t>
            </a:r>
            <a:endParaRPr lang="en-US" sz="2100" dirty="0"/>
          </a:p>
        </p:txBody>
      </p:sp>
      <p:sp>
        <p:nvSpPr>
          <p:cNvPr id="14" name="Shape 11"/>
          <p:cNvSpPr/>
          <p:nvPr/>
        </p:nvSpPr>
        <p:spPr>
          <a:xfrm>
            <a:off x="640080" y="3997452"/>
            <a:ext cx="10881360" cy="1043178"/>
          </a:xfrm>
          <a:prstGeom prst="roundRect">
            <a:avLst>
              <a:gd name="adj" fmla="val 10000"/>
            </a:avLst>
          </a:prstGeom>
          <a:solidFill>
            <a:srgbClr val="EEF3F8"/>
          </a:solidFill>
          <a:ln/>
        </p:spPr>
      </p:sp>
      <p:sp>
        <p:nvSpPr>
          <p:cNvPr id="15" name="Shape 12"/>
          <p:cNvSpPr/>
          <p:nvPr/>
        </p:nvSpPr>
        <p:spPr>
          <a:xfrm>
            <a:off x="868680" y="4267581"/>
            <a:ext cx="502920" cy="502920"/>
          </a:xfrm>
          <a:prstGeom prst="ellipse">
            <a:avLst/>
          </a:prstGeom>
          <a:solidFill>
            <a:srgbClr val="1E3A5F"/>
          </a:solidFill>
          <a:ln/>
        </p:spPr>
      </p:sp>
      <p:sp>
        <p:nvSpPr>
          <p:cNvPr id="16" name="Text 13"/>
          <p:cNvSpPr/>
          <p:nvPr/>
        </p:nvSpPr>
        <p:spPr>
          <a:xfrm>
            <a:off x="868680" y="4267581"/>
            <a:ext cx="502920" cy="502920"/>
          </a:xfrm>
          <a:prstGeom prst="rect">
            <a:avLst/>
          </a:prstGeom>
          <a:noFill/>
          <a:ln/>
        </p:spPr>
        <p:txBody>
          <a:bodyPr wrap="non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4"/>
          <p:cNvSpPr/>
          <p:nvPr/>
        </p:nvSpPr>
        <p:spPr>
          <a:xfrm>
            <a:off x="1600200" y="3997452"/>
            <a:ext cx="9692640" cy="757428"/>
          </a:xfrm>
          <a:prstGeom prst="rect">
            <a:avLst/>
          </a:prstGeom>
          <a:noFill/>
          <a:ln/>
        </p:spPr>
        <p:txBody>
          <a:bodyPr wrap="square" lIns="0" tIns="0" rIns="0" bIns="0" rtlCol="0" anchor="ctr"/>
          <a:lstStyle/>
          <a:p>
            <a:pPr indent="0" marL="0">
              <a:buNone/>
            </a:pPr>
            <a:r>
              <a:rPr lang="en-US" sz="2100" dirty="0">
                <a:solidFill>
                  <a:srgbClr val="1E2761"/>
                </a:solidFill>
                <a:latin typeface="Calibri" pitchFamily="34" charset="0"/>
                <a:ea typeface="Calibri" pitchFamily="34" charset="-122"/>
                <a:cs typeface="Calibri" pitchFamily="34" charset="-120"/>
              </a:rPr>
              <a:t>Kesin yargı, varsayım (olasılık), sebep-sonuç ve koşul-amaç cümlelerini birbirinden ayırt edebilecek.</a:t>
            </a:r>
            <a:endParaRPr lang="en-US" sz="2100" dirty="0"/>
          </a:p>
        </p:txBody>
      </p:sp>
      <p:sp>
        <p:nvSpPr>
          <p:cNvPr id="18" name="Shape 15"/>
          <p:cNvSpPr/>
          <p:nvPr/>
        </p:nvSpPr>
        <p:spPr>
          <a:xfrm>
            <a:off x="640080" y="5081778"/>
            <a:ext cx="10881360" cy="1367790"/>
          </a:xfrm>
          <a:prstGeom prst="roundRect">
            <a:avLst>
              <a:gd name="adj" fmla="val 10000"/>
            </a:avLst>
          </a:prstGeom>
          <a:solidFill>
            <a:srgbClr val="EEF3F8"/>
          </a:solidFill>
          <a:ln/>
        </p:spPr>
      </p:sp>
      <p:sp>
        <p:nvSpPr>
          <p:cNvPr id="19" name="Shape 16"/>
          <p:cNvSpPr/>
          <p:nvPr/>
        </p:nvSpPr>
        <p:spPr>
          <a:xfrm>
            <a:off x="868680" y="5514213"/>
            <a:ext cx="502920" cy="502920"/>
          </a:xfrm>
          <a:prstGeom prst="ellipse">
            <a:avLst/>
          </a:prstGeom>
          <a:solidFill>
            <a:srgbClr val="1E3A5F"/>
          </a:solidFill>
          <a:ln/>
        </p:spPr>
      </p:sp>
      <p:sp>
        <p:nvSpPr>
          <p:cNvPr id="20" name="Text 17"/>
          <p:cNvSpPr/>
          <p:nvPr/>
        </p:nvSpPr>
        <p:spPr>
          <a:xfrm>
            <a:off x="868680" y="5514213"/>
            <a:ext cx="502920" cy="502920"/>
          </a:xfrm>
          <a:prstGeom prst="rect">
            <a:avLst/>
          </a:prstGeom>
          <a:noFill/>
          <a:ln/>
        </p:spPr>
        <p:txBody>
          <a:bodyPr wrap="non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8"/>
          <p:cNvSpPr/>
          <p:nvPr/>
        </p:nvSpPr>
        <p:spPr>
          <a:xfrm>
            <a:off x="1600200" y="5081778"/>
            <a:ext cx="9692640" cy="1082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Bu temel kavramları gerçek ÖSYM sorularında hızlıca tanıyacak — bu kavramlar, önümüzdeki 3 derste öğreneceğimiz "anlamca eşdeğer cümle bulma" becerisinin TEMELİNİ oluşturacak.</a:t>
            </a:r>
            <a:endParaRPr lang="en-US" sz="2000" dirty="0"/>
          </a:p>
        </p:txBody>
      </p:sp>
      <p:sp>
        <p:nvSpPr>
          <p:cNvPr id="22" name="Text 19"/>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Kazanım</a:t>
            </a:r>
            <a:endParaRPr lang="en-US" sz="900" dirty="0"/>
          </a:p>
        </p:txBody>
      </p:sp>
      <p:sp>
        <p:nvSpPr>
          <p:cNvPr id="23" name="Text 20"/>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baglanti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BAĞLANTI</a:t>
            </a:r>
            <a:endParaRPr lang="en-US" sz="1300" dirty="0"/>
          </a:p>
        </p:txBody>
      </p:sp>
      <p:sp>
        <p:nvSpPr>
          <p:cNvPr id="5" name="Text 2"/>
          <p:cNvSpPr/>
          <p:nvPr/>
        </p:nvSpPr>
        <p:spPr>
          <a:xfrm>
            <a:off x="1463040" y="841248"/>
            <a:ext cx="9601200" cy="640080"/>
          </a:xfrm>
          <a:prstGeom prst="rect">
            <a:avLst/>
          </a:prstGeom>
          <a:noFill/>
          <a:ln/>
        </p:spPr>
        <p:txBody>
          <a:bodyPr wrap="square" lIns="0" tIns="0" rIns="0" bIns="0" rtlCol="0" anchor="ctr"/>
          <a:lstStyle/>
          <a:p>
            <a:pPr indent="0" marL="0">
              <a:buNone/>
            </a:pPr>
            <a:r>
              <a:rPr lang="en-US" sz="2500" b="1" dirty="0">
                <a:solidFill>
                  <a:srgbClr val="1E3A5F"/>
                </a:solidFill>
                <a:latin typeface="Cambria" pitchFamily="34" charset="0"/>
                <a:ea typeface="Cambria" pitchFamily="34" charset="-122"/>
                <a:cs typeface="Cambria" pitchFamily="34" charset="-120"/>
              </a:rPr>
              <a:t>Yeni Konu: Cümlede Anlam</a:t>
            </a:r>
            <a:endParaRPr lang="en-US" sz="2500" dirty="0"/>
          </a:p>
        </p:txBody>
      </p:sp>
      <p:sp>
        <p:nvSpPr>
          <p:cNvPr id="6" name="Shape 3"/>
          <p:cNvSpPr/>
          <p:nvPr/>
        </p:nvSpPr>
        <p:spPr>
          <a:xfrm>
            <a:off x="640080" y="1645920"/>
            <a:ext cx="10881360" cy="1534160"/>
          </a:xfrm>
          <a:prstGeom prst="roundRect">
            <a:avLst>
              <a:gd name="adj" fmla="val 7692"/>
            </a:avLst>
          </a:prstGeom>
          <a:solidFill>
            <a:srgbClr val="FBF3E3"/>
          </a:solidFill>
          <a:ln/>
        </p:spPr>
      </p:sp>
      <p:sp>
        <p:nvSpPr>
          <p:cNvPr id="7" name="Text 4"/>
          <p:cNvSpPr/>
          <p:nvPr/>
        </p:nvSpPr>
        <p:spPr>
          <a:xfrm>
            <a:off x="914400" y="1645920"/>
            <a:ext cx="10332720" cy="144272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Sözcükte Anlam konusunu </a:t>
            </a:r>
            <a:pPr indent="0" marL="0">
              <a:buNone/>
            </a:pPr>
            <a:r>
              <a:rPr lang="en-US" sz="2000" b="1" dirty="0">
                <a:solidFill>
                  <a:srgbClr val="1E3A5F"/>
                </a:solidFill>
                <a:latin typeface="Calibri" pitchFamily="34" charset="0"/>
                <a:ea typeface="Calibri" pitchFamily="34" charset="-122"/>
                <a:cs typeface="Calibri" pitchFamily="34" charset="-120"/>
              </a:rPr>
              <a:t>3 derste TAMAMLADIK</a:t>
            </a:r>
            <a:pPr indent="0" marL="0">
              <a:buNone/>
            </a:pPr>
            <a:r>
              <a:rPr lang="en-US" sz="2000" dirty="0">
                <a:solidFill>
                  <a:srgbClr val="1E2761"/>
                </a:solidFill>
                <a:latin typeface="Calibri" pitchFamily="34" charset="0"/>
                <a:ea typeface="Calibri" pitchFamily="34" charset="-122"/>
                <a:cs typeface="Calibri" pitchFamily="34" charset="-120"/>
              </a:rPr>
              <a:t>. Şimdi </a:t>
            </a:r>
            <a:pPr indent="0" marL="0">
              <a:buNone/>
            </a:pPr>
            <a:r>
              <a:rPr lang="en-US" sz="2000" b="1" dirty="0">
                <a:solidFill>
                  <a:srgbClr val="1E3A5F"/>
                </a:solidFill>
                <a:latin typeface="Calibri" pitchFamily="34" charset="0"/>
                <a:ea typeface="Calibri" pitchFamily="34" charset="-122"/>
                <a:cs typeface="Calibri" pitchFamily="34" charset="-120"/>
              </a:rPr>
              <a:t>Cümlede Anlam</a:t>
            </a:r>
            <a:pPr indent="0" marL="0">
              <a:buNone/>
            </a:pPr>
            <a:r>
              <a:rPr lang="en-US" sz="2000" dirty="0">
                <a:solidFill>
                  <a:srgbClr val="1E2761"/>
                </a:solidFill>
                <a:latin typeface="Calibri" pitchFamily="34" charset="0"/>
                <a:ea typeface="Calibri" pitchFamily="34" charset="-122"/>
                <a:cs typeface="Calibri" pitchFamily="34" charset="-120"/>
              </a:rPr>
              <a:t> konusuna başlıyoruz — bu konu </a:t>
            </a:r>
            <a:pPr indent="0" marL="0">
              <a:buNone/>
            </a:pPr>
            <a:r>
              <a:rPr lang="en-US" sz="2000" b="1" dirty="0">
                <a:solidFill>
                  <a:srgbClr val="1E3A5F"/>
                </a:solidFill>
                <a:latin typeface="Calibri" pitchFamily="34" charset="0"/>
                <a:ea typeface="Calibri" pitchFamily="34" charset="-122"/>
                <a:cs typeface="Calibri" pitchFamily="34" charset="-120"/>
              </a:rPr>
              <a:t>4 ders</a:t>
            </a:r>
            <a:pPr indent="0" marL="0">
              <a:buNone/>
            </a:pPr>
            <a:r>
              <a:rPr lang="en-US" sz="2000" dirty="0">
                <a:solidFill>
                  <a:srgbClr val="1E2761"/>
                </a:solidFill>
                <a:latin typeface="Calibri" pitchFamily="34" charset="0"/>
                <a:ea typeface="Calibri" pitchFamily="34" charset="-122"/>
                <a:cs typeface="Calibri" pitchFamily="34" charset="-120"/>
              </a:rPr>
              <a:t>sürecek. Bugün (1/4) temel kavramları görüyoruz; 2/4-4/4 dersleri ise sınavda asıl çıkan tip olan "anlamca eşdeğer/tanıma uygun cümle bulma" becerisine odaklanacak.</a:t>
            </a:r>
            <a:endParaRPr lang="en-US" sz="2000" dirty="0"/>
          </a:p>
        </p:txBody>
      </p:sp>
      <p:sp>
        <p:nvSpPr>
          <p:cNvPr id="8" name="Shape 5"/>
          <p:cNvSpPr/>
          <p:nvPr/>
        </p:nvSpPr>
        <p:spPr>
          <a:xfrm>
            <a:off x="822960" y="3225800"/>
            <a:ext cx="3246120" cy="2148840"/>
          </a:xfrm>
          <a:prstGeom prst="roundRect">
            <a:avLst>
              <a:gd name="adj" fmla="val 5106"/>
            </a:avLst>
          </a:prstGeom>
          <a:solidFill>
            <a:srgbClr val="EEF3F8"/>
          </a:solidFill>
          <a:ln/>
        </p:spPr>
      </p:sp>
      <p:sp>
        <p:nvSpPr>
          <p:cNvPr id="9" name="Text 6"/>
          <p:cNvSpPr/>
          <p:nvPr/>
        </p:nvSpPr>
        <p:spPr>
          <a:xfrm>
            <a:off x="1051560" y="3454400"/>
            <a:ext cx="2788920" cy="378714"/>
          </a:xfrm>
          <a:prstGeom prst="rect">
            <a:avLst/>
          </a:prstGeom>
          <a:noFill/>
          <a:ln/>
        </p:spPr>
        <p:txBody>
          <a:bodyPr wrap="square" lIns="0" tIns="0" rIns="0" bIns="0" rtlCol="0" anchor="ctr"/>
          <a:lstStyle/>
          <a:p>
            <a:pPr indent="0" marL="0">
              <a:buNone/>
            </a:pPr>
            <a:r>
              <a:rPr lang="en-US" sz="2100" b="1" dirty="0">
                <a:solidFill>
                  <a:srgbClr val="1E3A5F"/>
                </a:solidFill>
                <a:latin typeface="Cambria" pitchFamily="34" charset="0"/>
                <a:ea typeface="Cambria" pitchFamily="34" charset="-122"/>
                <a:cs typeface="Cambria" pitchFamily="34" charset="-120"/>
              </a:rPr>
              <a:t>Tamamlanan Konu</a:t>
            </a:r>
            <a:endParaRPr lang="en-US" sz="2100" dirty="0"/>
          </a:p>
        </p:txBody>
      </p:sp>
      <p:sp>
        <p:nvSpPr>
          <p:cNvPr id="10" name="Text 7"/>
          <p:cNvSpPr/>
          <p:nvPr/>
        </p:nvSpPr>
        <p:spPr>
          <a:xfrm>
            <a:off x="1051560" y="3878834"/>
            <a:ext cx="2788920" cy="858012"/>
          </a:xfrm>
          <a:prstGeom prst="rect">
            <a:avLst/>
          </a:prstGeom>
          <a:noFill/>
          <a:ln/>
        </p:spPr>
        <p:txBody>
          <a:bodyPr wrap="square" lIns="0" tIns="0" rIns="0" bIns="0" rtlCol="0" anchor="t"/>
          <a:lstStyle/>
          <a:p>
            <a:pPr indent="0" marL="0">
              <a:buNone/>
            </a:pPr>
            <a:r>
              <a:rPr lang="en-US" sz="2100" dirty="0">
                <a:solidFill>
                  <a:srgbClr val="6B7280"/>
                </a:solidFill>
                <a:latin typeface="Calibri" pitchFamily="34" charset="0"/>
                <a:ea typeface="Calibri" pitchFamily="34" charset="-122"/>
                <a:cs typeface="Calibri" pitchFamily="34" charset="-120"/>
              </a:rPr>
              <a:t>Sözcükte Anlam</a:t>
            </a:r>
            <a:endParaRPr lang="en-US" sz="2100" dirty="0"/>
          </a:p>
          <a:p>
            <a:pPr indent="0" marL="0">
              <a:buNone/>
            </a:pPr>
            <a:r>
              <a:rPr lang="en-US" sz="2100" dirty="0">
                <a:solidFill>
                  <a:srgbClr val="6B7280"/>
                </a:solidFill>
                <a:latin typeface="Calibri" pitchFamily="34" charset="0"/>
                <a:ea typeface="Calibri" pitchFamily="34" charset="-122"/>
                <a:cs typeface="Calibri" pitchFamily="34" charset="-120"/>
              </a:rPr>
              <a:t>(3 ders) ✓</a:t>
            </a:r>
            <a:endParaRPr lang="en-US" sz="2100" dirty="0"/>
          </a:p>
        </p:txBody>
      </p:sp>
      <p:sp>
        <p:nvSpPr>
          <p:cNvPr id="11" name="Shape 8"/>
          <p:cNvSpPr/>
          <p:nvPr/>
        </p:nvSpPr>
        <p:spPr>
          <a:xfrm>
            <a:off x="4526280" y="3225800"/>
            <a:ext cx="3246120" cy="2148840"/>
          </a:xfrm>
          <a:prstGeom prst="roundRect">
            <a:avLst>
              <a:gd name="adj" fmla="val 5106"/>
            </a:avLst>
          </a:prstGeom>
          <a:solidFill>
            <a:srgbClr val="1E3A5F"/>
          </a:solidFill>
          <a:ln/>
          <a:effectLst>
            <a:outerShdw sx="100000" sy="100000" kx="0" ky="0" algn="bl" rotWithShape="0" blurRad="101600" dist="38100" dir="5400000">
              <a:srgbClr val="1E2761">
                <a:alpha val="25000"/>
              </a:srgbClr>
            </a:outerShdw>
          </a:effectLst>
        </p:spPr>
      </p:sp>
      <p:sp>
        <p:nvSpPr>
          <p:cNvPr id="12" name="Text 9"/>
          <p:cNvSpPr/>
          <p:nvPr/>
        </p:nvSpPr>
        <p:spPr>
          <a:xfrm>
            <a:off x="4754880" y="3454400"/>
            <a:ext cx="2788920" cy="37871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Ders 1/4 (bugün)</a:t>
            </a:r>
            <a:endParaRPr lang="en-US" sz="2100" dirty="0"/>
          </a:p>
        </p:txBody>
      </p:sp>
      <p:sp>
        <p:nvSpPr>
          <p:cNvPr id="13" name="Text 10"/>
          <p:cNvSpPr/>
          <p:nvPr/>
        </p:nvSpPr>
        <p:spPr>
          <a:xfrm>
            <a:off x="4754880" y="3878834"/>
            <a:ext cx="2788920" cy="1182624"/>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Cümlede Anlam'a Giriş:</a:t>
            </a:r>
            <a:endParaRPr lang="en-US" sz="2000" dirty="0"/>
          </a:p>
          <a:p>
            <a:pPr indent="0" marL="0">
              <a:buNone/>
            </a:pPr>
            <a:r>
              <a:rPr lang="en-US" sz="2000" dirty="0">
                <a:solidFill>
                  <a:srgbClr val="CADCFC"/>
                </a:solidFill>
                <a:latin typeface="Calibri" pitchFamily="34" charset="0"/>
                <a:ea typeface="Calibri" pitchFamily="34" charset="-122"/>
                <a:cs typeface="Calibri" pitchFamily="34" charset="-120"/>
              </a:rPr>
              <a:t>Temel Kavramlar.</a:t>
            </a:r>
            <a:endParaRPr lang="en-US" sz="2000" dirty="0"/>
          </a:p>
        </p:txBody>
      </p:sp>
      <p:sp>
        <p:nvSpPr>
          <p:cNvPr id="14" name="Shape 11"/>
          <p:cNvSpPr/>
          <p:nvPr/>
        </p:nvSpPr>
        <p:spPr>
          <a:xfrm>
            <a:off x="8229600" y="3225800"/>
            <a:ext cx="3246120" cy="2148840"/>
          </a:xfrm>
          <a:prstGeom prst="roundRect">
            <a:avLst>
              <a:gd name="adj" fmla="val 5106"/>
            </a:avLst>
          </a:prstGeom>
          <a:solidFill>
            <a:srgbClr val="EEF3F8"/>
          </a:solidFill>
          <a:ln/>
        </p:spPr>
      </p:sp>
      <p:sp>
        <p:nvSpPr>
          <p:cNvPr id="15" name="Text 12"/>
          <p:cNvSpPr/>
          <p:nvPr/>
        </p:nvSpPr>
        <p:spPr>
          <a:xfrm>
            <a:off x="8458200" y="3454400"/>
            <a:ext cx="2788920" cy="378714"/>
          </a:xfrm>
          <a:prstGeom prst="rect">
            <a:avLst/>
          </a:prstGeom>
          <a:noFill/>
          <a:ln/>
        </p:spPr>
        <p:txBody>
          <a:bodyPr wrap="square" lIns="0" tIns="0" rIns="0" bIns="0" rtlCol="0" anchor="ctr"/>
          <a:lstStyle/>
          <a:p>
            <a:pPr indent="0" marL="0">
              <a:buNone/>
            </a:pPr>
            <a:r>
              <a:rPr lang="en-US" sz="2100" b="1" dirty="0">
                <a:solidFill>
                  <a:srgbClr val="1E3A5F"/>
                </a:solidFill>
                <a:latin typeface="Cambria" pitchFamily="34" charset="0"/>
                <a:ea typeface="Cambria" pitchFamily="34" charset="-122"/>
                <a:cs typeface="Cambria" pitchFamily="34" charset="-120"/>
              </a:rPr>
              <a:t>Sıradaki Dersler</a:t>
            </a:r>
            <a:endParaRPr lang="en-US" sz="2100" dirty="0"/>
          </a:p>
        </p:txBody>
      </p:sp>
      <p:sp>
        <p:nvSpPr>
          <p:cNvPr id="16" name="Text 13"/>
          <p:cNvSpPr/>
          <p:nvPr/>
        </p:nvSpPr>
        <p:spPr>
          <a:xfrm>
            <a:off x="8458200" y="3878834"/>
            <a:ext cx="2788920" cy="839978"/>
          </a:xfrm>
          <a:prstGeom prst="rect">
            <a:avLst/>
          </a:prstGeom>
          <a:noFill/>
          <a:ln/>
        </p:spPr>
        <p:txBody>
          <a:bodyPr wrap="square" lIns="0" tIns="0" rIns="0" bIns="0" rtlCol="0" anchor="t"/>
          <a:lstStyle/>
          <a:p>
            <a:pPr indent="0" marL="0">
              <a:buNone/>
            </a:pPr>
            <a:r>
              <a:rPr lang="en-US" sz="2050" dirty="0">
                <a:solidFill>
                  <a:srgbClr val="6B7280"/>
                </a:solidFill>
                <a:latin typeface="Calibri" pitchFamily="34" charset="0"/>
                <a:ea typeface="Calibri" pitchFamily="34" charset="-122"/>
                <a:cs typeface="Calibri" pitchFamily="34" charset="-120"/>
              </a:rPr>
              <a:t>Anlamca Eşdeğer Cümle</a:t>
            </a:r>
            <a:endParaRPr lang="en-US" sz="2050" dirty="0"/>
          </a:p>
          <a:p>
            <a:pPr indent="0" marL="0">
              <a:buNone/>
            </a:pPr>
            <a:r>
              <a:rPr lang="en-US" sz="2050" dirty="0">
                <a:solidFill>
                  <a:srgbClr val="6B7280"/>
                </a:solidFill>
                <a:latin typeface="Calibri" pitchFamily="34" charset="0"/>
                <a:ea typeface="Calibri" pitchFamily="34" charset="-122"/>
                <a:cs typeface="Calibri" pitchFamily="34" charset="-120"/>
              </a:rPr>
              <a:t>Bulma (2/4, 3/4, 4/4)</a:t>
            </a:r>
            <a:endParaRPr lang="en-US" sz="2050" dirty="0"/>
          </a:p>
        </p:txBody>
      </p:sp>
      <p:sp>
        <p:nvSpPr>
          <p:cNvPr id="17" name="Text 14"/>
          <p:cNvSpPr/>
          <p:nvPr/>
        </p:nvSpPr>
        <p:spPr>
          <a:xfrm>
            <a:off x="4114800" y="3225800"/>
            <a:ext cx="365760" cy="432816"/>
          </a:xfrm>
          <a:prstGeom prst="rect">
            <a:avLst/>
          </a:prstGeom>
          <a:noFill/>
          <a:ln/>
        </p:spPr>
        <p:txBody>
          <a:bodyPr wrap="square" lIns="0" tIns="0" rIns="0" bIns="0" rtlCol="0" anchor="ctr"/>
          <a:lstStyle/>
          <a:p>
            <a:pPr algn="ctr" indent="0" marL="0">
              <a:buNone/>
            </a:pPr>
            <a:r>
              <a:rPr lang="en-US" sz="2400" b="1" dirty="0">
                <a:solidFill>
                  <a:srgbClr val="D9A441"/>
                </a:solidFill>
                <a:latin typeface="Calibri" pitchFamily="34" charset="0"/>
                <a:ea typeface="Calibri" pitchFamily="34" charset="-122"/>
                <a:cs typeface="Calibri" pitchFamily="34" charset="-120"/>
              </a:rPr>
              <a:t>→</a:t>
            </a:r>
            <a:endParaRPr lang="en-US" sz="2400" dirty="0"/>
          </a:p>
        </p:txBody>
      </p:sp>
      <p:sp>
        <p:nvSpPr>
          <p:cNvPr id="18" name="Text 15"/>
          <p:cNvSpPr/>
          <p:nvPr/>
        </p:nvSpPr>
        <p:spPr>
          <a:xfrm>
            <a:off x="7863840" y="3225800"/>
            <a:ext cx="365760" cy="432816"/>
          </a:xfrm>
          <a:prstGeom prst="rect">
            <a:avLst/>
          </a:prstGeom>
          <a:noFill/>
          <a:ln/>
        </p:spPr>
        <p:txBody>
          <a:bodyPr wrap="square" lIns="0" tIns="0" rIns="0" bIns="0" rtlCol="0" anchor="ctr"/>
          <a:lstStyle/>
          <a:p>
            <a:pPr algn="ctr" indent="0" marL="0">
              <a:buNone/>
            </a:pPr>
            <a:r>
              <a:rPr lang="en-US" sz="2400" b="1" dirty="0">
                <a:solidFill>
                  <a:srgbClr val="D9A441"/>
                </a:solidFill>
                <a:latin typeface="Calibri" pitchFamily="34" charset="0"/>
                <a:ea typeface="Calibri" pitchFamily="34" charset="-122"/>
                <a:cs typeface="Calibri" pitchFamily="34" charset="-120"/>
              </a:rPr>
              <a:t>→</a:t>
            </a:r>
            <a:endParaRPr lang="en-US" sz="2400" dirty="0"/>
          </a:p>
        </p:txBody>
      </p:sp>
      <p:sp>
        <p:nvSpPr>
          <p:cNvPr id="19" name="Text 16"/>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Bağlantı</a:t>
            </a:r>
            <a:endParaRPr lang="en-US" sz="900" dirty="0"/>
          </a:p>
        </p:txBody>
      </p:sp>
      <p:sp>
        <p:nvSpPr>
          <p:cNvPr id="20" name="Text 17"/>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isinma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HAZIRLIK SORUSU</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Bu İki Cümle Arasındaki Fark Ne?</a:t>
            </a:r>
            <a:endParaRPr lang="en-US" sz="2800" dirty="0"/>
          </a:p>
        </p:txBody>
      </p:sp>
      <p:sp>
        <p:nvSpPr>
          <p:cNvPr id="6" name="Text 3"/>
          <p:cNvSpPr/>
          <p:nvPr/>
        </p:nvSpPr>
        <p:spPr>
          <a:xfrm>
            <a:off x="640080" y="1691640"/>
            <a:ext cx="10881360" cy="1082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Aşağıdaki iki cümleyi okuyun ve 2 dakika düşünün: (1) "Bu film, yılın en iyi filmiydi."   (2) "Bu film 128 dakika sürmektedir." Bu iki cümle arasındaki temel fark nedir?</a:t>
            </a:r>
            <a:endParaRPr lang="en-US" sz="2000" dirty="0"/>
          </a:p>
        </p:txBody>
      </p:sp>
      <p:sp>
        <p:nvSpPr>
          <p:cNvPr id="7" name="Shape 4"/>
          <p:cNvSpPr/>
          <p:nvPr/>
        </p:nvSpPr>
        <p:spPr>
          <a:xfrm>
            <a:off x="4114800" y="2865120"/>
            <a:ext cx="3931920" cy="1374648"/>
          </a:xfrm>
          <a:prstGeom prst="roundRect">
            <a:avLst>
              <a:gd name="adj" fmla="val 8889"/>
            </a:avLst>
          </a:prstGeom>
          <a:solidFill>
            <a:srgbClr val="254B78"/>
          </a:solidFill>
          <a:ln/>
          <a:effectLst>
            <a:outerShdw sx="100000" sy="100000" kx="0" ky="0" algn="bl" rotWithShape="0" blurRad="76200" dist="25400" dir="5400000">
              <a:srgbClr val="1E2761">
                <a:alpha val="18000"/>
              </a:srgbClr>
            </a:outerShdw>
          </a:effectLst>
        </p:spPr>
      </p:sp>
      <p:sp>
        <p:nvSpPr>
          <p:cNvPr id="8" name="Text 5"/>
          <p:cNvSpPr/>
          <p:nvPr/>
        </p:nvSpPr>
        <p:spPr>
          <a:xfrm>
            <a:off x="4114800" y="2865120"/>
            <a:ext cx="3931920" cy="128320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"yılın en iyi filmi"</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vs.</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"128 dakika"</a:t>
            </a:r>
            <a:endParaRPr lang="en-US" sz="2000" dirty="0"/>
          </a:p>
        </p:txBody>
      </p:sp>
      <p:sp>
        <p:nvSpPr>
          <p:cNvPr id="9" name="Shape 6"/>
          <p:cNvSpPr/>
          <p:nvPr/>
        </p:nvSpPr>
        <p:spPr>
          <a:xfrm>
            <a:off x="640080" y="4514088"/>
            <a:ext cx="10881360" cy="1371600"/>
          </a:xfrm>
          <a:prstGeom prst="roundRect">
            <a:avLst>
              <a:gd name="adj" fmla="val 6667"/>
            </a:avLst>
          </a:prstGeom>
          <a:solidFill>
            <a:srgbClr val="FBF3E3"/>
          </a:solidFill>
          <a:ln/>
        </p:spPr>
      </p:sp>
      <p:sp>
        <p:nvSpPr>
          <p:cNvPr id="10" name="Text 7"/>
          <p:cNvSpPr/>
          <p:nvPr/>
        </p:nvSpPr>
        <p:spPr>
          <a:xfrm>
            <a:off x="914400" y="4514088"/>
            <a:ext cx="10332720" cy="108204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Cevap:  </a:t>
            </a:r>
            <a:pPr indent="0" marL="0">
              <a:buNone/>
            </a:pPr>
            <a:r>
              <a:rPr lang="en-US" sz="2000" dirty="0">
                <a:solidFill>
                  <a:srgbClr val="1E2761"/>
                </a:solidFill>
                <a:latin typeface="Calibri" pitchFamily="34" charset="0"/>
                <a:ea typeface="Calibri" pitchFamily="34" charset="-122"/>
                <a:cs typeface="Calibri" pitchFamily="34" charset="-120"/>
              </a:rPr>
              <a:t>İlk cümle bir KİŞİSEL YARGI — "en iyi" olmak kişiden kişiye değişir, kanıtlanamaz (ÖZNEL). İkinci cümle ise SAYISAL/KANITLANABİLİR bir bilgi — herkes için aynıdır (NESNEL). İşte bugün bu ve benzeri temel ayrımları netleştireceğiz.</a:t>
            </a:r>
            <a:endParaRPr lang="en-US" sz="2000" dirty="0"/>
          </a:p>
        </p:txBody>
      </p:sp>
      <p:sp>
        <p:nvSpPr>
          <p:cNvPr id="11" name="Text 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Hazırlık Sorusu</a:t>
            </a:r>
            <a:endParaRPr lang="en-US" sz="900" dirty="0"/>
          </a:p>
        </p:txBody>
      </p:sp>
      <p:sp>
        <p:nvSpPr>
          <p:cNvPr id="12" name="Text 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ANLATIM · 1/3</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Öznellik ve Nesnellik</a:t>
            </a:r>
            <a:endParaRPr lang="en-US" sz="2800" dirty="0"/>
          </a:p>
        </p:txBody>
      </p:sp>
      <p:sp>
        <p:nvSpPr>
          <p:cNvPr id="6" name="Shape 3"/>
          <p:cNvSpPr/>
          <p:nvPr/>
        </p:nvSpPr>
        <p:spPr>
          <a:xfrm>
            <a:off x="640080" y="1783080"/>
            <a:ext cx="10881360" cy="1051560"/>
          </a:xfrm>
          <a:prstGeom prst="roundRect">
            <a:avLst>
              <a:gd name="adj" fmla="val 8696"/>
            </a:avLst>
          </a:prstGeom>
          <a:solidFill>
            <a:srgbClr val="EEF3F8"/>
          </a:solidFill>
          <a:ln/>
        </p:spPr>
      </p:sp>
      <p:sp>
        <p:nvSpPr>
          <p:cNvPr id="7" name="Text 4"/>
          <p:cNvSpPr/>
          <p:nvPr/>
        </p:nvSpPr>
        <p:spPr>
          <a:xfrm>
            <a:off x="914400" y="1783080"/>
            <a:ext cx="10332720" cy="1051560"/>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Öznel Yargı:  </a:t>
            </a:r>
            <a:pPr indent="0" marL="0">
              <a:buNone/>
            </a:pPr>
            <a:r>
              <a:rPr lang="en-US" sz="1900" dirty="0">
                <a:solidFill>
                  <a:srgbClr val="1E2761"/>
                </a:solidFill>
                <a:latin typeface="Calibri" pitchFamily="34" charset="0"/>
                <a:ea typeface="Calibri" pitchFamily="34" charset="-122"/>
                <a:cs typeface="Calibri" pitchFamily="34" charset="-120"/>
              </a:rPr>
              <a:t>Söz söyleyen kişinin kendi duygu, düşünce ve yorumuna dayanan; kişiden kişiye DEĞİŞEBİLEN, kanıtlanamayan yargılardır. "Bence, bana göre" anlamı taşır. İpucu sözcükler: en güzel, en iyi, ilgi çekici, başarılı, etkileyici, keşke.</a:t>
            </a:r>
            <a:endParaRPr lang="en-US" sz="1900" dirty="0"/>
          </a:p>
        </p:txBody>
      </p:sp>
      <p:sp>
        <p:nvSpPr>
          <p:cNvPr id="8" name="Shape 5"/>
          <p:cNvSpPr/>
          <p:nvPr/>
        </p:nvSpPr>
        <p:spPr>
          <a:xfrm>
            <a:off x="640080" y="2971800"/>
            <a:ext cx="10881360" cy="914400"/>
          </a:xfrm>
          <a:prstGeom prst="roundRect">
            <a:avLst>
              <a:gd name="adj" fmla="val 10000"/>
            </a:avLst>
          </a:prstGeom>
          <a:solidFill>
            <a:srgbClr val="EEF3F8"/>
          </a:solidFill>
          <a:ln/>
        </p:spPr>
      </p:sp>
      <p:sp>
        <p:nvSpPr>
          <p:cNvPr id="9" name="Text 6"/>
          <p:cNvSpPr/>
          <p:nvPr/>
        </p:nvSpPr>
        <p:spPr>
          <a:xfrm>
            <a:off x="914400" y="2971800"/>
            <a:ext cx="10332720" cy="914400"/>
          </a:xfrm>
          <a:prstGeom prst="rect">
            <a:avLst/>
          </a:prstGeom>
          <a:noFill/>
          <a:ln/>
        </p:spPr>
        <p:txBody>
          <a:bodyPr wrap="square" lIns="0" tIns="0" rIns="0" bIns="0" rtlCol="0" anchor="ctr"/>
          <a:lstStyle/>
          <a:p>
            <a:pPr indent="0" marL="0">
              <a:buNone/>
            </a:pPr>
            <a:r>
              <a:rPr lang="en-US" sz="1700" b="1" dirty="0">
                <a:solidFill>
                  <a:srgbClr val="1E3A5F"/>
                </a:solidFill>
                <a:latin typeface="Calibri" pitchFamily="34" charset="0"/>
                <a:ea typeface="Calibri" pitchFamily="34" charset="-122"/>
                <a:cs typeface="Calibri" pitchFamily="34" charset="-120"/>
              </a:rPr>
              <a:t>Nesnel Yargı:  </a:t>
            </a:r>
            <a:pPr indent="0" marL="0">
              <a:buNone/>
            </a:pPr>
            <a:r>
              <a:rPr lang="en-US" sz="1700" dirty="0">
                <a:solidFill>
                  <a:srgbClr val="1E2761"/>
                </a:solidFill>
                <a:latin typeface="Calibri" pitchFamily="34" charset="0"/>
                <a:ea typeface="Calibri" pitchFamily="34" charset="-122"/>
                <a:cs typeface="Calibri" pitchFamily="34" charset="-120"/>
              </a:rPr>
              <a:t>Söz söylenen nesnenin/olgunun kendi gerçeğine dayanan, kişiye göre DEĞİŞMEYEN, kanıtlanabilir yargılardır. Sayı, tarih, ölçülebilir bilgi ve genel geçer olgular nesneldir.</a:t>
            </a:r>
            <a:endParaRPr lang="en-US" sz="1700" dirty="0"/>
          </a:p>
        </p:txBody>
      </p:sp>
      <p:sp>
        <p:nvSpPr>
          <p:cNvPr id="10" name="Text 7"/>
          <p:cNvSpPr/>
          <p:nvPr/>
        </p:nvSpPr>
        <p:spPr>
          <a:xfrm>
            <a:off x="640080" y="4069080"/>
            <a:ext cx="1088136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Hızlı örnekler:</a:t>
            </a:r>
            <a:endParaRPr lang="en-US" sz="2000" dirty="0"/>
          </a:p>
        </p:txBody>
      </p:sp>
      <p:sp>
        <p:nvSpPr>
          <p:cNvPr id="11" name="Shape 8"/>
          <p:cNvSpPr/>
          <p:nvPr/>
        </p:nvSpPr>
        <p:spPr>
          <a:xfrm>
            <a:off x="640080" y="4480560"/>
            <a:ext cx="10881360" cy="900684"/>
          </a:xfrm>
          <a:prstGeom prst="roundRect">
            <a:avLst>
              <a:gd name="adj" fmla="val 10667"/>
            </a:avLst>
          </a:prstGeom>
          <a:solidFill>
            <a:srgbClr val="EEF3F8"/>
          </a:solidFill>
          <a:ln/>
        </p:spPr>
      </p:sp>
      <p:sp>
        <p:nvSpPr>
          <p:cNvPr id="12" name="Text 9"/>
          <p:cNvSpPr/>
          <p:nvPr/>
        </p:nvSpPr>
        <p:spPr>
          <a:xfrm>
            <a:off x="822960" y="4480560"/>
            <a:ext cx="6035040" cy="685800"/>
          </a:xfrm>
          <a:prstGeom prst="rect">
            <a:avLst/>
          </a:prstGeom>
          <a:noFill/>
          <a:ln/>
        </p:spPr>
        <p:txBody>
          <a:bodyPr wrap="square" lIns="0" tIns="0" rIns="0" bIns="0" rtlCol="0" anchor="ctr"/>
          <a:lstStyle/>
          <a:p>
            <a:pPr indent="0" marL="0">
              <a:buNone/>
            </a:pPr>
            <a:r>
              <a:rPr lang="en-US" sz="2050" i="1" dirty="0">
                <a:solidFill>
                  <a:srgbClr val="142A44"/>
                </a:solidFill>
                <a:latin typeface="Calibri" pitchFamily="34" charset="0"/>
                <a:ea typeface="Calibri" pitchFamily="34" charset="-122"/>
                <a:cs typeface="Calibri" pitchFamily="34" charset="-120"/>
              </a:rPr>
              <a:t>"Orhan Veli, şiirimizde en başarılı şairdir."</a:t>
            </a:r>
            <a:endParaRPr lang="en-US" sz="2050" dirty="0"/>
          </a:p>
        </p:txBody>
      </p:sp>
      <p:sp>
        <p:nvSpPr>
          <p:cNvPr id="13" name="Shape 10"/>
          <p:cNvSpPr/>
          <p:nvPr/>
        </p:nvSpPr>
        <p:spPr>
          <a:xfrm>
            <a:off x="7040880" y="4572000"/>
            <a:ext cx="4297680" cy="656082"/>
          </a:xfrm>
          <a:prstGeom prst="roundRect">
            <a:avLst>
              <a:gd name="adj" fmla="val 14545"/>
            </a:avLst>
          </a:prstGeom>
          <a:solidFill>
            <a:srgbClr val="D9A441"/>
          </a:solidFill>
          <a:ln/>
          <a:effectLst>
            <a:outerShdw sx="100000" sy="100000" kx="0" ky="0" algn="bl" rotWithShape="0" blurRad="76200" dist="25400" dir="5400000">
              <a:srgbClr val="1E2761">
                <a:alpha val="18000"/>
              </a:srgbClr>
            </a:outerShdw>
          </a:effectLst>
        </p:spPr>
      </p:sp>
      <p:sp>
        <p:nvSpPr>
          <p:cNvPr id="14" name="Text 11"/>
          <p:cNvSpPr/>
          <p:nvPr/>
        </p:nvSpPr>
        <p:spPr>
          <a:xfrm>
            <a:off x="7040880" y="4572000"/>
            <a:ext cx="4297680" cy="502920"/>
          </a:xfrm>
          <a:prstGeom prst="rect">
            <a:avLst/>
          </a:prstGeom>
          <a:noFill/>
          <a:ln/>
        </p:spPr>
        <p:txBody>
          <a:bodyPr wrap="square" lIns="0" tIns="0" rIns="0" bIns="0" rtlCol="0" anchor="ctr"/>
          <a:lstStyle/>
          <a:p>
            <a:pPr algn="ctr" indent="0" marL="0">
              <a:buNone/>
            </a:pPr>
            <a:r>
              <a:rPr lang="en-US" sz="1600" b="1" dirty="0">
                <a:solidFill>
                  <a:srgbClr val="142A44"/>
                </a:solidFill>
                <a:latin typeface="Calibri" pitchFamily="34" charset="0"/>
                <a:ea typeface="Calibri" pitchFamily="34" charset="-122"/>
                <a:cs typeface="Calibri" pitchFamily="34" charset="-120"/>
              </a:rPr>
              <a:t>ÖZNEL — "en başarılı" kanıtlanamaz</a:t>
            </a:r>
            <a:endParaRPr lang="en-US" sz="1600" dirty="0"/>
          </a:p>
        </p:txBody>
      </p:sp>
      <p:sp>
        <p:nvSpPr>
          <p:cNvPr id="15" name="Shape 12"/>
          <p:cNvSpPr/>
          <p:nvPr/>
        </p:nvSpPr>
        <p:spPr>
          <a:xfrm>
            <a:off x="640080" y="5518404"/>
            <a:ext cx="10881360" cy="900684"/>
          </a:xfrm>
          <a:prstGeom prst="roundRect">
            <a:avLst>
              <a:gd name="adj" fmla="val 10667"/>
            </a:avLst>
          </a:prstGeom>
          <a:solidFill>
            <a:srgbClr val="EEF3F8"/>
          </a:solidFill>
          <a:ln/>
        </p:spPr>
      </p:sp>
      <p:sp>
        <p:nvSpPr>
          <p:cNvPr id="16" name="Text 13"/>
          <p:cNvSpPr/>
          <p:nvPr/>
        </p:nvSpPr>
        <p:spPr>
          <a:xfrm>
            <a:off x="822960" y="5518404"/>
            <a:ext cx="6035040" cy="685800"/>
          </a:xfrm>
          <a:prstGeom prst="rect">
            <a:avLst/>
          </a:prstGeom>
          <a:noFill/>
          <a:ln/>
        </p:spPr>
        <p:txBody>
          <a:bodyPr wrap="square" lIns="0" tIns="0" rIns="0" bIns="0" rtlCol="0" anchor="ctr"/>
          <a:lstStyle/>
          <a:p>
            <a:pPr indent="0" marL="0">
              <a:buNone/>
            </a:pPr>
            <a:r>
              <a:rPr lang="en-US" sz="2100" i="1" dirty="0">
                <a:solidFill>
                  <a:srgbClr val="142A44"/>
                </a:solidFill>
                <a:latin typeface="Calibri" pitchFamily="34" charset="0"/>
                <a:ea typeface="Calibri" pitchFamily="34" charset="-122"/>
                <a:cs typeface="Calibri" pitchFamily="34" charset="-120"/>
              </a:rPr>
              <a:t>"Orhan Veli 1914'te İstanbul'da doğmuştur."</a:t>
            </a:r>
            <a:endParaRPr lang="en-US" sz="2100" dirty="0"/>
          </a:p>
        </p:txBody>
      </p:sp>
      <p:sp>
        <p:nvSpPr>
          <p:cNvPr id="17" name="Shape 14"/>
          <p:cNvSpPr/>
          <p:nvPr/>
        </p:nvSpPr>
        <p:spPr>
          <a:xfrm>
            <a:off x="7040880" y="5763006"/>
            <a:ext cx="4297680" cy="656082"/>
          </a:xfrm>
          <a:prstGeom prst="roundRect">
            <a:avLst>
              <a:gd name="adj" fmla="val 14545"/>
            </a:avLst>
          </a:prstGeom>
          <a:solidFill>
            <a:srgbClr val="254B78"/>
          </a:solidFill>
          <a:ln/>
          <a:effectLst>
            <a:outerShdw sx="100000" sy="100000" kx="0" ky="0" algn="bl" rotWithShape="0" blurRad="76200" dist="25400" dir="5400000">
              <a:srgbClr val="1E2761">
                <a:alpha val="18000"/>
              </a:srgbClr>
            </a:outerShdw>
          </a:effectLst>
        </p:spPr>
      </p:sp>
      <p:sp>
        <p:nvSpPr>
          <p:cNvPr id="18" name="Text 15"/>
          <p:cNvSpPr/>
          <p:nvPr/>
        </p:nvSpPr>
        <p:spPr>
          <a:xfrm>
            <a:off x="7040880" y="5763006"/>
            <a:ext cx="4297680" cy="5029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NESNEL — doğum tarihi kanıtlanabilir bir olgu</a:t>
            </a:r>
            <a:endParaRPr lang="en-US" sz="1450" dirty="0"/>
          </a:p>
        </p:txBody>
      </p:sp>
      <p:sp>
        <p:nvSpPr>
          <p:cNvPr id="19" name="Text 16"/>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Anlatım — Öznellik ve Nesnellik</a:t>
            </a:r>
            <a:endParaRPr lang="en-US" sz="900" dirty="0"/>
          </a:p>
        </p:txBody>
      </p:sp>
      <p:sp>
        <p:nvSpPr>
          <p:cNvPr id="20" name="Text 17"/>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ANLATIM · 2/3</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Karşılaştırma ve Değerlendirme Cümlesi</a:t>
            </a:r>
            <a:endParaRPr lang="en-US" sz="2800" dirty="0"/>
          </a:p>
        </p:txBody>
      </p:sp>
      <p:sp>
        <p:nvSpPr>
          <p:cNvPr id="6" name="Shape 3"/>
          <p:cNvSpPr/>
          <p:nvPr/>
        </p:nvSpPr>
        <p:spPr>
          <a:xfrm>
            <a:off x="640080" y="1783080"/>
            <a:ext cx="10881360" cy="1005840"/>
          </a:xfrm>
          <a:prstGeom prst="roundRect">
            <a:avLst>
              <a:gd name="adj" fmla="val 9091"/>
            </a:avLst>
          </a:prstGeom>
          <a:solidFill>
            <a:srgbClr val="EEF3F8"/>
          </a:solidFill>
          <a:ln/>
        </p:spPr>
      </p:sp>
      <p:sp>
        <p:nvSpPr>
          <p:cNvPr id="7" name="Text 4"/>
          <p:cNvSpPr/>
          <p:nvPr/>
        </p:nvSpPr>
        <p:spPr>
          <a:xfrm>
            <a:off x="914400" y="1783080"/>
            <a:ext cx="10332720" cy="1005840"/>
          </a:xfrm>
          <a:prstGeom prst="rect">
            <a:avLst/>
          </a:prstGeom>
          <a:noFill/>
          <a:ln/>
        </p:spPr>
        <p:txBody>
          <a:bodyPr wrap="square" lIns="0" tIns="0" rIns="0" bIns="0" rtlCol="0" anchor="ctr"/>
          <a:lstStyle/>
          <a:p>
            <a:pPr indent="0" marL="0">
              <a:buNone/>
            </a:pPr>
            <a:r>
              <a:rPr lang="en-US" sz="1850" b="1" dirty="0">
                <a:solidFill>
                  <a:srgbClr val="1E3A5F"/>
                </a:solidFill>
                <a:latin typeface="Calibri" pitchFamily="34" charset="0"/>
                <a:ea typeface="Calibri" pitchFamily="34" charset="-122"/>
                <a:cs typeface="Calibri" pitchFamily="34" charset="-120"/>
              </a:rPr>
              <a:t>Karşılaştırma Cümlesi:  </a:t>
            </a:r>
            <a:pPr indent="0" marL="0">
              <a:buNone/>
            </a:pPr>
            <a:r>
              <a:rPr lang="en-US" sz="1850" dirty="0">
                <a:solidFill>
                  <a:srgbClr val="1E2761"/>
                </a:solidFill>
                <a:latin typeface="Calibri" pitchFamily="34" charset="0"/>
                <a:ea typeface="Calibri" pitchFamily="34" charset="-122"/>
                <a:cs typeface="Calibri" pitchFamily="34" charset="-120"/>
              </a:rPr>
              <a:t>İki varlık, iki kavram ya da herhangi iki şeyi, ortak olan ya da olmayan yönleriyle birlikte anlatan cümledir. "Gibi, kadar, daha, en..." gibi bağlaç, ilgeç ve belirteçlerle kurulur.</a:t>
            </a:r>
            <a:endParaRPr lang="en-US" sz="1850" dirty="0"/>
          </a:p>
        </p:txBody>
      </p:sp>
      <p:sp>
        <p:nvSpPr>
          <p:cNvPr id="8" name="Shape 5"/>
          <p:cNvSpPr/>
          <p:nvPr/>
        </p:nvSpPr>
        <p:spPr>
          <a:xfrm>
            <a:off x="640080" y="2926080"/>
            <a:ext cx="10881360" cy="1051560"/>
          </a:xfrm>
          <a:prstGeom prst="roundRect">
            <a:avLst>
              <a:gd name="adj" fmla="val 8696"/>
            </a:avLst>
          </a:prstGeom>
          <a:solidFill>
            <a:srgbClr val="EEF3F8"/>
          </a:solidFill>
          <a:ln/>
        </p:spPr>
      </p:sp>
      <p:sp>
        <p:nvSpPr>
          <p:cNvPr id="9" name="Text 6"/>
          <p:cNvSpPr/>
          <p:nvPr/>
        </p:nvSpPr>
        <p:spPr>
          <a:xfrm>
            <a:off x="914400" y="2926080"/>
            <a:ext cx="10332720" cy="1051560"/>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Değerlendirme Cümlesi:  </a:t>
            </a:r>
            <a:pPr indent="0" marL="0">
              <a:buNone/>
            </a:pPr>
            <a:r>
              <a:rPr lang="en-US" sz="1900" dirty="0">
                <a:solidFill>
                  <a:srgbClr val="1E2761"/>
                </a:solidFill>
                <a:latin typeface="Calibri" pitchFamily="34" charset="0"/>
                <a:ea typeface="Calibri" pitchFamily="34" charset="-122"/>
                <a:cs typeface="Calibri" pitchFamily="34" charset="-120"/>
              </a:rPr>
              <a:t>Bir yapıt, sanatçı ya da olayla ilgili olumlu/olumsuz kişisel bir belirleme içeren cümledir. Değerlendirmeler öznel ya da nesnel olabilir; ancak MUTLAKA belirli bir eser/kişi/durum üzerine yapılır — genel bir yargı değildir.</a:t>
            </a:r>
            <a:endParaRPr lang="en-US" sz="1900" dirty="0"/>
          </a:p>
        </p:txBody>
      </p:sp>
      <p:sp>
        <p:nvSpPr>
          <p:cNvPr id="10" name="Text 7"/>
          <p:cNvSpPr/>
          <p:nvPr/>
        </p:nvSpPr>
        <p:spPr>
          <a:xfrm>
            <a:off x="640080" y="4114800"/>
            <a:ext cx="10881360" cy="378714"/>
          </a:xfrm>
          <a:prstGeom prst="rect">
            <a:avLst/>
          </a:prstGeom>
          <a:noFill/>
          <a:ln/>
        </p:spPr>
        <p:txBody>
          <a:bodyPr wrap="square" lIns="0" tIns="0" rIns="0" bIns="0" rtlCol="0" anchor="ctr"/>
          <a:lstStyle/>
          <a:p>
            <a:pPr indent="0" marL="0">
              <a:buNone/>
            </a:pPr>
            <a:r>
              <a:rPr lang="en-US" sz="2100" b="1" dirty="0">
                <a:solidFill>
                  <a:srgbClr val="1E3A5F"/>
                </a:solidFill>
                <a:latin typeface="Calibri" pitchFamily="34" charset="0"/>
                <a:ea typeface="Calibri" pitchFamily="34" charset="-122"/>
                <a:cs typeface="Calibri" pitchFamily="34" charset="-120"/>
              </a:rPr>
              <a:t>Çözüm stratejisi:</a:t>
            </a:r>
            <a:endParaRPr lang="en-US" sz="2100" dirty="0"/>
          </a:p>
        </p:txBody>
      </p:sp>
      <p:sp>
        <p:nvSpPr>
          <p:cNvPr id="11" name="Shape 8"/>
          <p:cNvSpPr/>
          <p:nvPr/>
        </p:nvSpPr>
        <p:spPr>
          <a:xfrm>
            <a:off x="640080" y="4526280"/>
            <a:ext cx="10881360" cy="777240"/>
          </a:xfrm>
          <a:prstGeom prst="roundRect">
            <a:avLst>
              <a:gd name="adj" fmla="val 11765"/>
            </a:avLst>
          </a:prstGeom>
          <a:solidFill>
            <a:srgbClr val="EEF3F8"/>
          </a:solidFill>
          <a:ln/>
        </p:spPr>
      </p:sp>
      <p:sp>
        <p:nvSpPr>
          <p:cNvPr id="12" name="Shape 9"/>
          <p:cNvSpPr/>
          <p:nvPr/>
        </p:nvSpPr>
        <p:spPr>
          <a:xfrm>
            <a:off x="868680" y="4663440"/>
            <a:ext cx="502920" cy="502920"/>
          </a:xfrm>
          <a:prstGeom prst="ellipse">
            <a:avLst/>
          </a:prstGeom>
          <a:solidFill>
            <a:srgbClr val="1E3A5F"/>
          </a:solidFill>
          <a:ln/>
        </p:spPr>
      </p:sp>
      <p:sp>
        <p:nvSpPr>
          <p:cNvPr id="13" name="Text 10"/>
          <p:cNvSpPr/>
          <p:nvPr/>
        </p:nvSpPr>
        <p:spPr>
          <a:xfrm>
            <a:off x="868680" y="46634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4" name="Text 11"/>
          <p:cNvSpPr/>
          <p:nvPr/>
        </p:nvSpPr>
        <p:spPr>
          <a:xfrm>
            <a:off x="1600200" y="4617720"/>
            <a:ext cx="6035040" cy="365760"/>
          </a:xfrm>
          <a:prstGeom prst="rect">
            <a:avLst/>
          </a:prstGeom>
          <a:noFill/>
          <a:ln/>
        </p:spPr>
        <p:txBody>
          <a:bodyPr wrap="square" lIns="0" tIns="0" rIns="0" bIns="0" rtlCol="0" anchor="ctr"/>
          <a:lstStyle/>
          <a:p>
            <a:pPr indent="0" marL="0">
              <a:buNone/>
            </a:pPr>
            <a:r>
              <a:rPr lang="en-US" sz="2050" b="1" dirty="0">
                <a:solidFill>
                  <a:srgbClr val="1E3A5F"/>
                </a:solidFill>
                <a:latin typeface="Calibri" pitchFamily="34" charset="0"/>
                <a:ea typeface="Calibri" pitchFamily="34" charset="-122"/>
                <a:cs typeface="Calibri" pitchFamily="34" charset="-120"/>
              </a:rPr>
              <a:t>Karşılaştırmada İKİ ÖGE arayın</a:t>
            </a:r>
            <a:endParaRPr lang="en-US" sz="2050" dirty="0"/>
          </a:p>
        </p:txBody>
      </p:sp>
      <p:sp>
        <p:nvSpPr>
          <p:cNvPr id="15" name="Text 12"/>
          <p:cNvSpPr/>
          <p:nvPr/>
        </p:nvSpPr>
        <p:spPr>
          <a:xfrm>
            <a:off x="1600200" y="4983480"/>
            <a:ext cx="6035040" cy="27432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"Şiir, romandan daha çok sevilmiştir." — burada "şiir" ile "roman" karşılaştırılıyor. Tek bir öge hakkında yargı varsa karşılaştırma değildir.</a:t>
            </a:r>
            <a:endParaRPr lang="en-US" sz="1200" dirty="0"/>
          </a:p>
        </p:txBody>
      </p:sp>
      <p:sp>
        <p:nvSpPr>
          <p:cNvPr id="16" name="Shape 13"/>
          <p:cNvSpPr/>
          <p:nvPr/>
        </p:nvSpPr>
        <p:spPr>
          <a:xfrm>
            <a:off x="640080" y="5422392"/>
            <a:ext cx="10881360" cy="777240"/>
          </a:xfrm>
          <a:prstGeom prst="roundRect">
            <a:avLst>
              <a:gd name="adj" fmla="val 11765"/>
            </a:avLst>
          </a:prstGeom>
          <a:solidFill>
            <a:srgbClr val="EEF3F8"/>
          </a:solidFill>
          <a:ln/>
        </p:spPr>
      </p:sp>
      <p:sp>
        <p:nvSpPr>
          <p:cNvPr id="17" name="Shape 14"/>
          <p:cNvSpPr/>
          <p:nvPr/>
        </p:nvSpPr>
        <p:spPr>
          <a:xfrm>
            <a:off x="868680" y="5559552"/>
            <a:ext cx="502920" cy="502920"/>
          </a:xfrm>
          <a:prstGeom prst="ellipse">
            <a:avLst/>
          </a:prstGeom>
          <a:solidFill>
            <a:srgbClr val="1E3A5F"/>
          </a:solidFill>
          <a:ln/>
        </p:spPr>
      </p:sp>
      <p:sp>
        <p:nvSpPr>
          <p:cNvPr id="18" name="Text 15"/>
          <p:cNvSpPr/>
          <p:nvPr/>
        </p:nvSpPr>
        <p:spPr>
          <a:xfrm>
            <a:off x="868680" y="555955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9" name="Text 16"/>
          <p:cNvSpPr/>
          <p:nvPr/>
        </p:nvSpPr>
        <p:spPr>
          <a:xfrm>
            <a:off x="1600200" y="5513832"/>
            <a:ext cx="6035040" cy="365760"/>
          </a:xfrm>
          <a:prstGeom prst="rect">
            <a:avLst/>
          </a:prstGeom>
          <a:noFill/>
          <a:ln/>
        </p:spPr>
        <p:txBody>
          <a:bodyPr wrap="square" lIns="0" tIns="0" rIns="0" bIns="0" rtlCol="0" anchor="ctr"/>
          <a:lstStyle/>
          <a:p>
            <a:pPr indent="0" marL="0">
              <a:buNone/>
            </a:pPr>
            <a:r>
              <a:rPr lang="en-US" sz="2050" b="1" dirty="0">
                <a:solidFill>
                  <a:srgbClr val="1E3A5F"/>
                </a:solidFill>
                <a:latin typeface="Calibri" pitchFamily="34" charset="0"/>
                <a:ea typeface="Calibri" pitchFamily="34" charset="-122"/>
                <a:cs typeface="Calibri" pitchFamily="34" charset="-120"/>
              </a:rPr>
              <a:t>Değerlendirmede TEK BİR HEDEF arayın</a:t>
            </a:r>
            <a:endParaRPr lang="en-US" sz="2050" dirty="0"/>
          </a:p>
        </p:txBody>
      </p:sp>
      <p:sp>
        <p:nvSpPr>
          <p:cNvPr id="20" name="Text 17"/>
          <p:cNvSpPr/>
          <p:nvPr/>
        </p:nvSpPr>
        <p:spPr>
          <a:xfrm>
            <a:off x="1600200" y="5879592"/>
            <a:ext cx="6035040" cy="27432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Değerlendirme cümlesi belirli bir eser/kişi/durum hakkındadır — "Yazarların çoğu şiirle başlar" gibi GENEL bir yargı değerlendirme sayılmaz.</a:t>
            </a:r>
            <a:endParaRPr lang="en-US" sz="12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Anlatım — Karşılaştırma ve Değerlendirme</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ANLATIM · 3/3</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Hızlı Kavram Turu: 4 Temel Cümle Tipi</a:t>
            </a:r>
            <a:endParaRPr lang="en-US" sz="2800" dirty="0"/>
          </a:p>
        </p:txBody>
      </p:sp>
      <p:sp>
        <p:nvSpPr>
          <p:cNvPr id="6" name="Text 3"/>
          <p:cNvSpPr/>
          <p:nvPr/>
        </p:nvSpPr>
        <p:spPr>
          <a:xfrm>
            <a:off x="640080" y="1737360"/>
            <a:ext cx="10881360" cy="584302"/>
          </a:xfrm>
          <a:prstGeom prst="rect">
            <a:avLst/>
          </a:prstGeom>
          <a:noFill/>
          <a:ln/>
        </p:spPr>
        <p:txBody>
          <a:bodyPr wrap="square" lIns="0" tIns="0" rIns="0" bIns="0" rtlCol="0" anchor="ctr"/>
          <a:lstStyle/>
          <a:p>
            <a:pPr indent="0" marL="0">
              <a:buNone/>
            </a:pPr>
            <a:r>
              <a:rPr lang="en-US" sz="1600" dirty="0">
                <a:solidFill>
                  <a:srgbClr val="1E2761"/>
                </a:solidFill>
                <a:latin typeface="Calibri" pitchFamily="34" charset="0"/>
                <a:ea typeface="Calibri" pitchFamily="34" charset="-122"/>
                <a:cs typeface="Calibri" pitchFamily="34" charset="-120"/>
              </a:rPr>
              <a:t>Bu 4 kavram, 2020-2026 sınavlarında TEK BAŞINA soru tipi olarak çıkmıyor — ama sıradaki derslerde göreceğimiz "anlamca eşdeğer cümle" ve "tanıma uygun cümle" sorularını çözmenin TEMEL YAPI TAŞLARIDIR.</a:t>
            </a:r>
            <a:endParaRPr lang="en-US" sz="1600" dirty="0"/>
          </a:p>
        </p:txBody>
      </p:sp>
      <p:sp>
        <p:nvSpPr>
          <p:cNvPr id="7" name="Shape 4"/>
          <p:cNvSpPr/>
          <p:nvPr/>
        </p:nvSpPr>
        <p:spPr>
          <a:xfrm>
            <a:off x="640080" y="2331720"/>
            <a:ext cx="5349240" cy="1975104"/>
          </a:xfrm>
          <a:prstGeom prst="roundRect">
            <a:avLst>
              <a:gd name="adj" fmla="val 5405"/>
            </a:avLst>
          </a:prstGeom>
          <a:solidFill>
            <a:srgbClr val="EEF3F8"/>
          </a:solidFill>
          <a:ln/>
        </p:spPr>
      </p:sp>
      <p:sp>
        <p:nvSpPr>
          <p:cNvPr id="8" name="Text 5"/>
          <p:cNvSpPr/>
          <p:nvPr/>
        </p:nvSpPr>
        <p:spPr>
          <a:xfrm>
            <a:off x="822960" y="2441448"/>
            <a:ext cx="498348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Kesin Yargı</a:t>
            </a:r>
            <a:endParaRPr lang="en-US" sz="2000" dirty="0"/>
          </a:p>
        </p:txBody>
      </p:sp>
      <p:sp>
        <p:nvSpPr>
          <p:cNvPr id="9" name="Text 6"/>
          <p:cNvSpPr/>
          <p:nvPr/>
        </p:nvSpPr>
        <p:spPr>
          <a:xfrm>
            <a:off x="822960" y="2788920"/>
            <a:ext cx="4983480" cy="685800"/>
          </a:xfrm>
          <a:prstGeom prst="rect">
            <a:avLst/>
          </a:prstGeom>
          <a:noFill/>
          <a:ln/>
        </p:spPr>
        <p:txBody>
          <a:bodyPr wrap="square" lIns="0" tIns="0" rIns="0" bIns="0" rtlCol="0" anchor="ctr"/>
          <a:lstStyle/>
          <a:p>
            <a:pPr indent="0" marL="0">
              <a:buNone/>
            </a:pPr>
            <a:r>
              <a:rPr lang="en-US" sz="1600" dirty="0">
                <a:solidFill>
                  <a:srgbClr val="1E2761"/>
                </a:solidFill>
                <a:latin typeface="Calibri" pitchFamily="34" charset="0"/>
                <a:ea typeface="Calibri" pitchFamily="34" charset="-122"/>
                <a:cs typeface="Calibri" pitchFamily="34" charset="-120"/>
              </a:rPr>
              <a:t>İstisna tanımayan, "her zaman, asla, mutlaka, kesinlikle" gibi ifadelerle kurulan yargılardır.</a:t>
            </a:r>
            <a:endParaRPr lang="en-US" sz="1600" dirty="0"/>
          </a:p>
        </p:txBody>
      </p:sp>
      <p:sp>
        <p:nvSpPr>
          <p:cNvPr id="10" name="Text 7"/>
          <p:cNvSpPr/>
          <p:nvPr/>
        </p:nvSpPr>
        <p:spPr>
          <a:xfrm>
            <a:off x="822960" y="3502152"/>
            <a:ext cx="4983480" cy="577088"/>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"Başarılı olmak için her zaman çok çalışmak gerekir."</a:t>
            </a:r>
            <a:endParaRPr lang="en-US" sz="1600" dirty="0"/>
          </a:p>
        </p:txBody>
      </p:sp>
      <p:sp>
        <p:nvSpPr>
          <p:cNvPr id="11" name="Shape 8"/>
          <p:cNvSpPr/>
          <p:nvPr/>
        </p:nvSpPr>
        <p:spPr>
          <a:xfrm>
            <a:off x="6172200" y="2331720"/>
            <a:ext cx="5349240" cy="1975104"/>
          </a:xfrm>
          <a:prstGeom prst="roundRect">
            <a:avLst>
              <a:gd name="adj" fmla="val 5405"/>
            </a:avLst>
          </a:prstGeom>
          <a:solidFill>
            <a:srgbClr val="EEF3F8"/>
          </a:solidFill>
          <a:ln/>
        </p:spPr>
      </p:sp>
      <p:sp>
        <p:nvSpPr>
          <p:cNvPr id="12" name="Text 9"/>
          <p:cNvSpPr/>
          <p:nvPr/>
        </p:nvSpPr>
        <p:spPr>
          <a:xfrm>
            <a:off x="6355080" y="2441448"/>
            <a:ext cx="498348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Varsayım (Olasılık)</a:t>
            </a:r>
            <a:endParaRPr lang="en-US" sz="2000" dirty="0"/>
          </a:p>
        </p:txBody>
      </p:sp>
      <p:sp>
        <p:nvSpPr>
          <p:cNvPr id="13" name="Text 10"/>
          <p:cNvSpPr/>
          <p:nvPr/>
        </p:nvSpPr>
        <p:spPr>
          <a:xfrm>
            <a:off x="6355080" y="2788920"/>
            <a:ext cx="4983480" cy="68580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Kesin değil, olası/varsayımsal bir durumu bildirir. "Sanki, -mış gibi, belki, muhtemelen" ile kurulur.</a:t>
            </a:r>
            <a:endParaRPr lang="en-US" sz="1500" dirty="0"/>
          </a:p>
        </p:txBody>
      </p:sp>
      <p:sp>
        <p:nvSpPr>
          <p:cNvPr id="14" name="Text 11"/>
          <p:cNvSpPr/>
          <p:nvPr/>
        </p:nvSpPr>
        <p:spPr>
          <a:xfrm>
            <a:off x="6355080" y="3502152"/>
            <a:ext cx="4983480" cy="45720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"Sanki bütün şehir o gece hiç uyumamış gibiydi."</a:t>
            </a:r>
            <a:endParaRPr lang="en-US" sz="1600" dirty="0"/>
          </a:p>
        </p:txBody>
      </p:sp>
      <p:sp>
        <p:nvSpPr>
          <p:cNvPr id="15" name="Shape 12"/>
          <p:cNvSpPr/>
          <p:nvPr/>
        </p:nvSpPr>
        <p:spPr>
          <a:xfrm>
            <a:off x="640080" y="4443984"/>
            <a:ext cx="5349240" cy="1975104"/>
          </a:xfrm>
          <a:prstGeom prst="roundRect">
            <a:avLst>
              <a:gd name="adj" fmla="val 5405"/>
            </a:avLst>
          </a:prstGeom>
          <a:solidFill>
            <a:srgbClr val="EEF3F8"/>
          </a:solidFill>
          <a:ln/>
        </p:spPr>
      </p:sp>
      <p:sp>
        <p:nvSpPr>
          <p:cNvPr id="16" name="Text 13"/>
          <p:cNvSpPr/>
          <p:nvPr/>
        </p:nvSpPr>
        <p:spPr>
          <a:xfrm>
            <a:off x="822960" y="4553712"/>
            <a:ext cx="498348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Sebep-Sonuç</a:t>
            </a:r>
            <a:endParaRPr lang="en-US" sz="2000" dirty="0"/>
          </a:p>
        </p:txBody>
      </p:sp>
      <p:sp>
        <p:nvSpPr>
          <p:cNvPr id="17" name="Text 14"/>
          <p:cNvSpPr/>
          <p:nvPr/>
        </p:nvSpPr>
        <p:spPr>
          <a:xfrm>
            <a:off x="822960" y="4901184"/>
            <a:ext cx="4983480" cy="685800"/>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Bir eylemin nedenini ve bu nedenin doğurduğu sonucu birlikte verir. "İçin, çünkü, bu nedenle, dolayısıyla" bağlaçlarıyla kurulur.</a:t>
            </a:r>
            <a:endParaRPr lang="en-US" sz="1250" dirty="0"/>
          </a:p>
        </p:txBody>
      </p:sp>
      <p:sp>
        <p:nvSpPr>
          <p:cNvPr id="18" name="Text 15"/>
          <p:cNvSpPr/>
          <p:nvPr/>
        </p:nvSpPr>
        <p:spPr>
          <a:xfrm>
            <a:off x="822960" y="5614416"/>
            <a:ext cx="4983480" cy="45720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"Yağmur yağdığı için maç ertelendi."</a:t>
            </a:r>
            <a:endParaRPr lang="en-US" sz="1600" dirty="0"/>
          </a:p>
        </p:txBody>
      </p:sp>
      <p:sp>
        <p:nvSpPr>
          <p:cNvPr id="19" name="Shape 16"/>
          <p:cNvSpPr/>
          <p:nvPr/>
        </p:nvSpPr>
        <p:spPr>
          <a:xfrm>
            <a:off x="6172200" y="4443984"/>
            <a:ext cx="5349240" cy="1975104"/>
          </a:xfrm>
          <a:prstGeom prst="roundRect">
            <a:avLst>
              <a:gd name="adj" fmla="val 5405"/>
            </a:avLst>
          </a:prstGeom>
          <a:solidFill>
            <a:srgbClr val="EEF3F8"/>
          </a:solidFill>
          <a:ln/>
        </p:spPr>
      </p:sp>
      <p:sp>
        <p:nvSpPr>
          <p:cNvPr id="20" name="Text 17"/>
          <p:cNvSpPr/>
          <p:nvPr/>
        </p:nvSpPr>
        <p:spPr>
          <a:xfrm>
            <a:off x="6355080" y="4553712"/>
            <a:ext cx="498348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Koşul-Amaç</a:t>
            </a:r>
            <a:endParaRPr lang="en-US" sz="2000" dirty="0"/>
          </a:p>
        </p:txBody>
      </p:sp>
      <p:sp>
        <p:nvSpPr>
          <p:cNvPr id="21" name="Text 18"/>
          <p:cNvSpPr/>
          <p:nvPr/>
        </p:nvSpPr>
        <p:spPr>
          <a:xfrm>
            <a:off x="6355080" y="4901184"/>
            <a:ext cx="4983480" cy="685800"/>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Bir durumun gerçekleşmesi için gereken ŞARTI ya da ulaşılmak istenen AMACI bildirir. "-se/-sa, eğer, için, -mek amacıyla" ile kurulur.</a:t>
            </a:r>
            <a:endParaRPr lang="en-US" sz="1250" dirty="0"/>
          </a:p>
        </p:txBody>
      </p:sp>
      <p:sp>
        <p:nvSpPr>
          <p:cNvPr id="22" name="Text 19"/>
          <p:cNvSpPr/>
          <p:nvPr/>
        </p:nvSpPr>
        <p:spPr>
          <a:xfrm>
            <a:off x="6355080" y="5614416"/>
            <a:ext cx="4983480" cy="45720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"Başarılı olmak için düzenli çalışmak gerekir."</a:t>
            </a:r>
            <a:endParaRPr lang="en-US" sz="1600" dirty="0"/>
          </a:p>
        </p:txBody>
      </p:sp>
      <p:sp>
        <p:nvSpPr>
          <p:cNvPr id="23" name="Text 20"/>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Anlatım — Hızlı Kavram Turu</a:t>
            </a:r>
            <a:endParaRPr lang="en-US" sz="900" dirty="0"/>
          </a:p>
        </p:txBody>
      </p:sp>
      <p:sp>
        <p:nvSpPr>
          <p:cNvPr id="24" name="Text 21"/>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lide 8">
    <p:bg>
      <p:bgPr>
        <a:solidFill>
          <a:srgbClr val="8E2318"/>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6E1B12"/>
          </a:solidFill>
          <a:ln/>
        </p:spPr>
      </p:sp>
      <p:sp>
        <p:nvSpPr>
          <p:cNvPr id="3" name="Shape 1"/>
          <p:cNvSpPr/>
          <p:nvPr/>
        </p:nvSpPr>
        <p:spPr>
          <a:xfrm>
            <a:off x="640080" y="548640"/>
            <a:ext cx="731520" cy="731520"/>
          </a:xfrm>
          <a:prstGeom prst="ellipse">
            <a:avLst/>
          </a:prstGeom>
          <a:solidFill>
            <a:srgbClr val="6E1B12"/>
          </a:solidFill>
          <a:ln/>
        </p:spPr>
      </p:sp>
      <p:pic>
        <p:nvPicPr>
          <p:cNvPr id="4" name="Image 0" descr="icons/dikkat_white.png">    </p:cNvPr>
          <p:cNvPicPr>
            <a:picLocks noChangeAspect="1"/>
          </p:cNvPicPr>
          <p:nvPr/>
        </p:nvPicPr>
        <p:blipFill>
          <a:blip r:embed="rId1"/>
          <a:stretch>
            <a:fillRect/>
          </a:stretch>
        </p:blipFill>
        <p:spPr>
          <a:xfrm>
            <a:off x="804672" y="713232"/>
            <a:ext cx="402336" cy="402336"/>
          </a:xfrm>
          <a:prstGeom prst="rect">
            <a:avLst/>
          </a:prstGeom>
        </p:spPr>
      </p:pic>
      <p:sp>
        <p:nvSpPr>
          <p:cNvPr id="5" name="Text 2"/>
          <p:cNvSpPr/>
          <p:nvPr/>
        </p:nvSpPr>
        <p:spPr>
          <a:xfrm>
            <a:off x="1508760" y="566928"/>
            <a:ext cx="54864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DİKKAT!</a:t>
            </a:r>
            <a:endParaRPr lang="en-US" sz="3200" dirty="0"/>
          </a:p>
        </p:txBody>
      </p:sp>
      <p:sp>
        <p:nvSpPr>
          <p:cNvPr id="6" name="Text 3"/>
          <p:cNvSpPr/>
          <p:nvPr/>
        </p:nvSpPr>
        <p:spPr>
          <a:xfrm>
            <a:off x="640080" y="1645920"/>
            <a:ext cx="10515600" cy="378714"/>
          </a:xfrm>
          <a:prstGeom prst="rect">
            <a:avLst/>
          </a:prstGeom>
          <a:noFill/>
          <a:ln/>
        </p:spPr>
        <p:txBody>
          <a:bodyPr wrap="square" lIns="0" tIns="0" rIns="0" bIns="0" rtlCol="0" anchor="ctr"/>
          <a:lstStyle/>
          <a:p>
            <a:pPr indent="0" marL="0">
              <a:buNone/>
            </a:pPr>
            <a:r>
              <a:rPr lang="en-US" sz="2100" i="1" dirty="0">
                <a:solidFill>
                  <a:srgbClr val="F5D6D0"/>
                </a:solidFill>
                <a:latin typeface="Calibri" pitchFamily="34" charset="0"/>
                <a:ea typeface="Calibri" pitchFamily="34" charset="-122"/>
                <a:cs typeface="Calibri" pitchFamily="34" charset="-120"/>
              </a:rPr>
              <a:t>Öznel-Nesnel Ayrımında Sık Yapılan Hatalar!</a:t>
            </a:r>
            <a:endParaRPr lang="en-US" sz="2100" dirty="0"/>
          </a:p>
        </p:txBody>
      </p:sp>
      <p:sp>
        <p:nvSpPr>
          <p:cNvPr id="7" name="Text 4"/>
          <p:cNvSpPr/>
          <p:nvPr/>
        </p:nvSpPr>
        <p:spPr>
          <a:xfrm>
            <a:off x="640080" y="2070354"/>
            <a:ext cx="10515600" cy="757428"/>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Öğrenciler bu ayrımı yaparken genellikle cümlenin UZUNLUĞUNA ya da KONUSUNA bakarak yanılır — oysa asıl kriter yargının KANITLANABİLİR olup olmadığıdır.</a:t>
            </a:r>
            <a:endParaRPr lang="en-US" sz="2100" dirty="0"/>
          </a:p>
        </p:txBody>
      </p:sp>
      <p:sp>
        <p:nvSpPr>
          <p:cNvPr id="8" name="Shape 5"/>
          <p:cNvSpPr/>
          <p:nvPr/>
        </p:nvSpPr>
        <p:spPr>
          <a:xfrm>
            <a:off x="640080" y="2947035"/>
            <a:ext cx="10515600" cy="1146810"/>
          </a:xfrm>
          <a:prstGeom prst="roundRect">
            <a:avLst>
              <a:gd name="adj" fmla="val 10000"/>
            </a:avLst>
          </a:prstGeom>
          <a:solidFill>
            <a:srgbClr val="6E1B12"/>
          </a:solidFill>
          <a:ln/>
        </p:spPr>
      </p:sp>
      <p:sp>
        <p:nvSpPr>
          <p:cNvPr id="9" name="Text 6"/>
          <p:cNvSpPr/>
          <p:nvPr/>
        </p:nvSpPr>
        <p:spPr>
          <a:xfrm>
            <a:off x="914400" y="2947035"/>
            <a:ext cx="329184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"Duygusal kelime var, öznel" tuzağı</a:t>
            </a:r>
            <a:endParaRPr lang="en-US" sz="1900" dirty="0"/>
          </a:p>
        </p:txBody>
      </p:sp>
      <p:sp>
        <p:nvSpPr>
          <p:cNvPr id="10" name="Text 7"/>
          <p:cNvSpPr/>
          <p:nvPr/>
        </p:nvSpPr>
        <p:spPr>
          <a:xfrm>
            <a:off x="4297680" y="2947035"/>
            <a:ext cx="6675120" cy="1027938"/>
          </a:xfrm>
          <a:prstGeom prst="rect">
            <a:avLst/>
          </a:prstGeom>
          <a:noFill/>
          <a:ln/>
        </p:spPr>
        <p:txBody>
          <a:bodyPr wrap="square" lIns="0" tIns="0" rIns="0" bIns="0" rtlCol="0" anchor="ctr"/>
          <a:lstStyle/>
          <a:p>
            <a:pPr indent="0" marL="0">
              <a:buNone/>
            </a:pPr>
            <a:r>
              <a:rPr lang="en-US" sz="1900" dirty="0">
                <a:solidFill>
                  <a:srgbClr val="F5D6D0"/>
                </a:solidFill>
                <a:latin typeface="Calibri" pitchFamily="34" charset="0"/>
                <a:ea typeface="Calibri" pitchFamily="34" charset="-122"/>
                <a:cs typeface="Calibri" pitchFamily="34" charset="-120"/>
              </a:rPr>
              <a:t>Bir cümlede "güzel, sevgi, umut" gibi kelimeler geçmesi onu otomatik öznel yapmaz — asıl önemli olan YARGININ kanıtlanabilir olup olmadığıdır.</a:t>
            </a:r>
            <a:endParaRPr lang="en-US" sz="1900" dirty="0"/>
          </a:p>
        </p:txBody>
      </p:sp>
      <p:sp>
        <p:nvSpPr>
          <p:cNvPr id="11" name="Shape 8"/>
          <p:cNvSpPr/>
          <p:nvPr/>
        </p:nvSpPr>
        <p:spPr>
          <a:xfrm>
            <a:off x="640080" y="4123563"/>
            <a:ext cx="10515600" cy="1146810"/>
          </a:xfrm>
          <a:prstGeom prst="roundRect">
            <a:avLst>
              <a:gd name="adj" fmla="val 10000"/>
            </a:avLst>
          </a:prstGeom>
          <a:solidFill>
            <a:srgbClr val="6E1B12"/>
          </a:solidFill>
          <a:ln/>
        </p:spPr>
      </p:sp>
      <p:sp>
        <p:nvSpPr>
          <p:cNvPr id="12" name="Text 9"/>
          <p:cNvSpPr/>
          <p:nvPr/>
        </p:nvSpPr>
        <p:spPr>
          <a:xfrm>
            <a:off x="914400" y="4123563"/>
            <a:ext cx="329184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Sayı geçince nesnel sanma tuzağı</a:t>
            </a:r>
            <a:endParaRPr lang="en-US" sz="1900" dirty="0"/>
          </a:p>
        </p:txBody>
      </p:sp>
      <p:sp>
        <p:nvSpPr>
          <p:cNvPr id="13" name="Text 10"/>
          <p:cNvSpPr/>
          <p:nvPr/>
        </p:nvSpPr>
        <p:spPr>
          <a:xfrm>
            <a:off x="4297680" y="4123563"/>
            <a:ext cx="6675120" cy="1027938"/>
          </a:xfrm>
          <a:prstGeom prst="rect">
            <a:avLst/>
          </a:prstGeom>
          <a:noFill/>
          <a:ln/>
        </p:spPr>
        <p:txBody>
          <a:bodyPr wrap="square" lIns="0" tIns="0" rIns="0" bIns="0" rtlCol="0" anchor="ctr"/>
          <a:lstStyle/>
          <a:p>
            <a:pPr indent="0" marL="0">
              <a:buNone/>
            </a:pPr>
            <a:r>
              <a:rPr lang="en-US" sz="1900" dirty="0">
                <a:solidFill>
                  <a:srgbClr val="F5D6D0"/>
                </a:solidFill>
                <a:latin typeface="Calibri" pitchFamily="34" charset="0"/>
                <a:ea typeface="Calibri" pitchFamily="34" charset="-122"/>
                <a:cs typeface="Calibri" pitchFamily="34" charset="-120"/>
              </a:rPr>
              <a:t>"Bu roman 500 sayfa olduğu için OKUNMAZ." — sayı (500 sayfa) nesnel olsa da "okunmaz" yorumu ÖZNELDİR; cümlenin YARGI kısmına bakılmalı.</a:t>
            </a:r>
            <a:endParaRPr lang="en-US" sz="1900" dirty="0"/>
          </a:p>
        </p:txBody>
      </p:sp>
      <p:sp>
        <p:nvSpPr>
          <p:cNvPr id="14" name="Shape 11"/>
          <p:cNvSpPr/>
          <p:nvPr/>
        </p:nvSpPr>
        <p:spPr>
          <a:xfrm>
            <a:off x="640080" y="5300091"/>
            <a:ext cx="10515600" cy="1146810"/>
          </a:xfrm>
          <a:prstGeom prst="roundRect">
            <a:avLst>
              <a:gd name="adj" fmla="val 10000"/>
            </a:avLst>
          </a:prstGeom>
          <a:solidFill>
            <a:srgbClr val="6E1B12"/>
          </a:solidFill>
          <a:ln/>
        </p:spPr>
      </p:sp>
      <p:sp>
        <p:nvSpPr>
          <p:cNvPr id="15" name="Text 12"/>
          <p:cNvSpPr/>
          <p:nvPr/>
        </p:nvSpPr>
        <p:spPr>
          <a:xfrm>
            <a:off x="914400" y="5300091"/>
            <a:ext cx="3291840" cy="351663"/>
          </a:xfrm>
          <a:prstGeom prst="rect">
            <a:avLst/>
          </a:prstGeom>
          <a:noFill/>
          <a:ln/>
        </p:spPr>
        <p:txBody>
          <a:bodyPr wrap="square" lIns="0" tIns="0" rIns="0" bIns="0" rtlCol="0" anchor="ctr"/>
          <a:lstStyle/>
          <a:p>
            <a:pPr indent="0" marL="0">
              <a:buNone/>
            </a:pPr>
            <a:r>
              <a:rPr lang="en-US" sz="1950" b="1" dirty="0">
                <a:solidFill>
                  <a:srgbClr val="D9A441"/>
                </a:solidFill>
                <a:latin typeface="Calibri" pitchFamily="34" charset="0"/>
                <a:ea typeface="Calibri" pitchFamily="34" charset="-122"/>
                <a:cs typeface="Calibri" pitchFamily="34" charset="-120"/>
              </a:rPr>
              <a:t>Sınavda ayırt etme yöntemi</a:t>
            </a:r>
            <a:endParaRPr lang="en-US" sz="1950" dirty="0"/>
          </a:p>
        </p:txBody>
      </p:sp>
      <p:sp>
        <p:nvSpPr>
          <p:cNvPr id="16" name="Text 13"/>
          <p:cNvSpPr/>
          <p:nvPr/>
        </p:nvSpPr>
        <p:spPr>
          <a:xfrm>
            <a:off x="4297680" y="5300091"/>
            <a:ext cx="6675120" cy="1027938"/>
          </a:xfrm>
          <a:prstGeom prst="rect">
            <a:avLst/>
          </a:prstGeom>
          <a:noFill/>
          <a:ln/>
        </p:spPr>
        <p:txBody>
          <a:bodyPr wrap="square" lIns="0" tIns="0" rIns="0" bIns="0" rtlCol="0" anchor="ctr"/>
          <a:lstStyle/>
          <a:p>
            <a:pPr indent="0" marL="0">
              <a:buNone/>
            </a:pPr>
            <a:r>
              <a:rPr lang="en-US" sz="1900" dirty="0">
                <a:solidFill>
                  <a:srgbClr val="F5D6D0"/>
                </a:solidFill>
                <a:latin typeface="Calibri" pitchFamily="34" charset="0"/>
                <a:ea typeface="Calibri" pitchFamily="34" charset="-122"/>
                <a:cs typeface="Calibri" pitchFamily="34" charset="-120"/>
              </a:rPr>
              <a:t>Kendinize sorun: "Bu yargıyı biri kanıtlayabilir mi, yoksa herkes farklı düşünebilir mi?" Kanıtlanabiliyorsa NESNEL, kişiden kişiye değişiyorsa ÖZNELDİR.</a:t>
            </a:r>
            <a:endParaRPr lang="en-US" sz="1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lide 9">
    <p:bg>
      <p:bgPr>
        <a:solidFill>
          <a:srgbClr val="8E2318"/>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6E1B12"/>
          </a:solidFill>
          <a:ln/>
        </p:spPr>
      </p:sp>
      <p:sp>
        <p:nvSpPr>
          <p:cNvPr id="3" name="Shape 1"/>
          <p:cNvSpPr/>
          <p:nvPr/>
        </p:nvSpPr>
        <p:spPr>
          <a:xfrm>
            <a:off x="640080" y="548640"/>
            <a:ext cx="731520" cy="731520"/>
          </a:xfrm>
          <a:prstGeom prst="ellipse">
            <a:avLst/>
          </a:prstGeom>
          <a:solidFill>
            <a:srgbClr val="6E1B12"/>
          </a:solidFill>
          <a:ln/>
        </p:spPr>
      </p:sp>
      <p:pic>
        <p:nvPicPr>
          <p:cNvPr id="4" name="Image 0" descr="icons/dikkat_white.png">    </p:cNvPr>
          <p:cNvPicPr>
            <a:picLocks noChangeAspect="1"/>
          </p:cNvPicPr>
          <p:nvPr/>
        </p:nvPicPr>
        <p:blipFill>
          <a:blip r:embed="rId1"/>
          <a:stretch>
            <a:fillRect/>
          </a:stretch>
        </p:blipFill>
        <p:spPr>
          <a:xfrm>
            <a:off x="804672" y="713232"/>
            <a:ext cx="402336" cy="402336"/>
          </a:xfrm>
          <a:prstGeom prst="rect">
            <a:avLst/>
          </a:prstGeom>
        </p:spPr>
      </p:pic>
      <p:sp>
        <p:nvSpPr>
          <p:cNvPr id="5" name="Text 2"/>
          <p:cNvSpPr/>
          <p:nvPr/>
        </p:nvSpPr>
        <p:spPr>
          <a:xfrm>
            <a:off x="1508760" y="566928"/>
            <a:ext cx="54864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DİKKAT!</a:t>
            </a:r>
            <a:endParaRPr lang="en-US" sz="3200" dirty="0"/>
          </a:p>
        </p:txBody>
      </p:sp>
      <p:sp>
        <p:nvSpPr>
          <p:cNvPr id="6" name="Text 3"/>
          <p:cNvSpPr/>
          <p:nvPr/>
        </p:nvSpPr>
        <p:spPr>
          <a:xfrm>
            <a:off x="640080" y="1645920"/>
            <a:ext cx="10515600" cy="378714"/>
          </a:xfrm>
          <a:prstGeom prst="rect">
            <a:avLst/>
          </a:prstGeom>
          <a:noFill/>
          <a:ln/>
        </p:spPr>
        <p:txBody>
          <a:bodyPr wrap="square" lIns="0" tIns="0" rIns="0" bIns="0" rtlCol="0" anchor="ctr"/>
          <a:lstStyle/>
          <a:p>
            <a:pPr indent="0" marL="0">
              <a:buNone/>
            </a:pPr>
            <a:r>
              <a:rPr lang="en-US" sz="2100" i="1" dirty="0">
                <a:solidFill>
                  <a:srgbClr val="F5D6D0"/>
                </a:solidFill>
                <a:latin typeface="Calibri" pitchFamily="34" charset="0"/>
                <a:ea typeface="Calibri" pitchFamily="34" charset="-122"/>
                <a:cs typeface="Calibri" pitchFamily="34" charset="-120"/>
              </a:rPr>
              <a:t>Karşılaştırma ile Değerlendirme Karıştırılmasın!</a:t>
            </a:r>
            <a:endParaRPr lang="en-US" sz="2100" dirty="0"/>
          </a:p>
        </p:txBody>
      </p:sp>
      <p:sp>
        <p:nvSpPr>
          <p:cNvPr id="7" name="Shape 4"/>
          <p:cNvSpPr/>
          <p:nvPr/>
        </p:nvSpPr>
        <p:spPr>
          <a:xfrm>
            <a:off x="640080" y="2177288"/>
            <a:ext cx="548640" cy="548640"/>
          </a:xfrm>
          <a:prstGeom prst="ellipse">
            <a:avLst/>
          </a:prstGeom>
          <a:solidFill>
            <a:srgbClr val="FFFFFF"/>
          </a:solidFill>
          <a:ln/>
        </p:spPr>
      </p:sp>
      <p:sp>
        <p:nvSpPr>
          <p:cNvPr id="8" name="Text 5"/>
          <p:cNvSpPr/>
          <p:nvPr/>
        </p:nvSpPr>
        <p:spPr>
          <a:xfrm>
            <a:off x="640080" y="2177288"/>
            <a:ext cx="548640" cy="548640"/>
          </a:xfrm>
          <a:prstGeom prst="rect">
            <a:avLst/>
          </a:prstGeom>
          <a:noFill/>
          <a:ln/>
        </p:spPr>
        <p:txBody>
          <a:bodyPr wrap="none" lIns="0" tIns="0" rIns="0" bIns="0" rtlCol="0" anchor="ctr"/>
          <a:lstStyle/>
          <a:p>
            <a:pPr algn="ctr" indent="0" marL="0">
              <a:buNone/>
            </a:pPr>
            <a:r>
              <a:rPr lang="en-US" sz="2200" b="1" dirty="0">
                <a:solidFill>
                  <a:srgbClr val="8E2318"/>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371600" y="2253234"/>
            <a:ext cx="9692640" cy="378714"/>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"Daha, en" görünce hemen karşılaştırma demek.</a:t>
            </a:r>
            <a:endParaRPr lang="en-US" sz="2100" dirty="0"/>
          </a:p>
        </p:txBody>
      </p:sp>
      <p:sp>
        <p:nvSpPr>
          <p:cNvPr id="10" name="Text 7"/>
          <p:cNvSpPr/>
          <p:nvPr/>
        </p:nvSpPr>
        <p:spPr>
          <a:xfrm>
            <a:off x="1371600" y="2695702"/>
            <a:ext cx="9692640" cy="1478788"/>
          </a:xfrm>
          <a:prstGeom prst="rect">
            <a:avLst/>
          </a:prstGeom>
          <a:noFill/>
          <a:ln/>
        </p:spPr>
        <p:txBody>
          <a:bodyPr wrap="square" lIns="0" tIns="0" rIns="0" bIns="0" rtlCol="0" anchor="ctr"/>
          <a:lstStyle/>
          <a:p>
            <a:pPr indent="0" marL="0">
              <a:buNone/>
            </a:pPr>
            <a:r>
              <a:rPr lang="en-US" sz="2050" dirty="0">
                <a:solidFill>
                  <a:srgbClr val="F5D6D0"/>
                </a:solidFill>
                <a:latin typeface="Calibri" pitchFamily="34" charset="0"/>
                <a:ea typeface="Calibri" pitchFamily="34" charset="-122"/>
                <a:cs typeface="Calibri" pitchFamily="34" charset="-120"/>
              </a:rPr>
              <a:t>"Bu, yazarın en başarılı romanıdır." cümlesinde "en" var ama İKİNCİ bir eser/kişi ile açıkça KIYASLANMIYOR — bu cümle bir DEĞERLENDİRMEDİR, karşılaştırma değil. Karşılaştırma için mutlaka İKİ AYRI öge birlikte anılmalıdır.</a:t>
            </a:r>
            <a:endParaRPr lang="en-US" sz="2050" dirty="0"/>
          </a:p>
        </p:txBody>
      </p:sp>
      <p:sp>
        <p:nvSpPr>
          <p:cNvPr id="11" name="Shape 8"/>
          <p:cNvSpPr/>
          <p:nvPr/>
        </p:nvSpPr>
        <p:spPr>
          <a:xfrm>
            <a:off x="640080" y="4217416"/>
            <a:ext cx="548640" cy="548640"/>
          </a:xfrm>
          <a:prstGeom prst="ellipse">
            <a:avLst/>
          </a:prstGeom>
          <a:solidFill>
            <a:srgbClr val="FFFFFF"/>
          </a:solidFill>
          <a:ln/>
        </p:spPr>
      </p:sp>
      <p:sp>
        <p:nvSpPr>
          <p:cNvPr id="12" name="Text 9"/>
          <p:cNvSpPr/>
          <p:nvPr/>
        </p:nvSpPr>
        <p:spPr>
          <a:xfrm>
            <a:off x="640080" y="4217416"/>
            <a:ext cx="548640" cy="548640"/>
          </a:xfrm>
          <a:prstGeom prst="rect">
            <a:avLst/>
          </a:prstGeom>
          <a:noFill/>
          <a:ln/>
        </p:spPr>
        <p:txBody>
          <a:bodyPr wrap="none" lIns="0" tIns="0" rIns="0" bIns="0" rtlCol="0" anchor="ctr"/>
          <a:lstStyle/>
          <a:p>
            <a:pPr algn="ctr" indent="0" marL="0">
              <a:buNone/>
            </a:pPr>
            <a:r>
              <a:rPr lang="en-US" sz="2200" b="1" dirty="0">
                <a:solidFill>
                  <a:srgbClr val="8E2318"/>
                </a:solidFill>
                <a:latin typeface="Cambria" pitchFamily="34" charset="0"/>
                <a:ea typeface="Cambria" pitchFamily="34" charset="-122"/>
                <a:cs typeface="Cambria" pitchFamily="34" charset="-120"/>
              </a:rPr>
              <a:t>2</a:t>
            </a:r>
            <a:endParaRPr lang="en-US" sz="2200" dirty="0"/>
          </a:p>
        </p:txBody>
      </p:sp>
      <p:sp>
        <p:nvSpPr>
          <p:cNvPr id="13" name="Text 10"/>
          <p:cNvSpPr/>
          <p:nvPr/>
        </p:nvSpPr>
        <p:spPr>
          <a:xfrm>
            <a:off x="1371600" y="4293362"/>
            <a:ext cx="9692640" cy="378714"/>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Genel yargıyı değerlendirme sanmak.</a:t>
            </a:r>
            <a:endParaRPr lang="en-US" sz="2100" dirty="0"/>
          </a:p>
        </p:txBody>
      </p:sp>
      <p:sp>
        <p:nvSpPr>
          <p:cNvPr id="14" name="Text 11"/>
          <p:cNvSpPr/>
          <p:nvPr/>
        </p:nvSpPr>
        <p:spPr>
          <a:xfrm>
            <a:off x="1371600" y="4735830"/>
            <a:ext cx="9692640" cy="1514856"/>
          </a:xfrm>
          <a:prstGeom prst="rect">
            <a:avLst/>
          </a:prstGeom>
          <a:noFill/>
          <a:ln/>
        </p:spPr>
        <p:txBody>
          <a:bodyPr wrap="square" lIns="0" tIns="0" rIns="0" bIns="0" rtlCol="0" anchor="ctr"/>
          <a:lstStyle/>
          <a:p>
            <a:pPr indent="0" marL="0">
              <a:buNone/>
            </a:pPr>
            <a:r>
              <a:rPr lang="en-US" sz="2100" dirty="0">
                <a:solidFill>
                  <a:srgbClr val="F5D6D0"/>
                </a:solidFill>
                <a:latin typeface="Calibri" pitchFamily="34" charset="0"/>
                <a:ea typeface="Calibri" pitchFamily="34" charset="-122"/>
                <a:cs typeface="Calibri" pitchFamily="34" charset="-120"/>
              </a:rPr>
              <a:t>"Yazarların çoğu şiirle başlar." cümlesi GENEL bir gözlemdir, belirli bir esere/kişiye yönelik bir yargı içermez — bu nedenle DEĞERLENDİRME CÜMLESİ SAYILMAZ. Değerlendirme, mutlaka TEK BİR hedefe (bu eser, bu yazar, bu durum) yöneliktir.</a:t>
            </a:r>
            <a:endParaRPr lang="en-US" sz="21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etkinlik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SINIF ETKINLIĞI</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Kavramı Tanıyın (3 Dakika)</a:t>
            </a:r>
            <a:endParaRPr lang="en-US" sz="2800" dirty="0"/>
          </a:p>
        </p:txBody>
      </p:sp>
      <p:sp>
        <p:nvSpPr>
          <p:cNvPr id="6" name="Text 3"/>
          <p:cNvSpPr/>
          <p:nvPr/>
        </p:nvSpPr>
        <p:spPr>
          <a:xfrm>
            <a:off x="640080" y="1645920"/>
            <a:ext cx="10881360" cy="1027938"/>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Aşağıdaki 8 cümlenin her biri için hangi kavramla ilgili olduğunu belirleyin (öznel/nesnel, karşılaştırma, değerlendirme, kesin yargı/varsayım, sebep-sonuç/koşul-amaç). Süre: 3 dakika.</a:t>
            </a:r>
            <a:endParaRPr lang="en-US" sz="1900" dirty="0"/>
          </a:p>
        </p:txBody>
      </p:sp>
      <p:sp>
        <p:nvSpPr>
          <p:cNvPr id="7" name="Shape 4"/>
          <p:cNvSpPr/>
          <p:nvPr/>
        </p:nvSpPr>
        <p:spPr>
          <a:xfrm>
            <a:off x="640080" y="2704643"/>
            <a:ext cx="5349240" cy="918972"/>
          </a:xfrm>
          <a:prstGeom prst="roundRect">
            <a:avLst>
              <a:gd name="adj" fmla="val 10667"/>
            </a:avLst>
          </a:prstGeom>
          <a:solidFill>
            <a:srgbClr val="EEF3F8"/>
          </a:solidFill>
          <a:ln/>
        </p:spPr>
      </p:sp>
      <p:sp>
        <p:nvSpPr>
          <p:cNvPr id="8" name="Text 5"/>
          <p:cNvSpPr/>
          <p:nvPr/>
        </p:nvSpPr>
        <p:spPr>
          <a:xfrm>
            <a:off x="822960" y="2704643"/>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1.  </a:t>
            </a:r>
            <a:pPr indent="0" marL="0">
              <a:buNone/>
            </a:pPr>
            <a:r>
              <a:rPr lang="en-US" sz="1900" dirty="0">
                <a:solidFill>
                  <a:srgbClr val="142A44"/>
                </a:solidFill>
                <a:latin typeface="Calibri" pitchFamily="34" charset="0"/>
                <a:ea typeface="Calibri" pitchFamily="34" charset="-122"/>
                <a:cs typeface="Calibri" pitchFamily="34" charset="-120"/>
              </a:rPr>
              <a:t>"Bu tablo, ressamın en özgün eseri sayılır." — hangi kavram?</a:t>
            </a:r>
            <a:endParaRPr lang="en-US" sz="1900" dirty="0"/>
          </a:p>
        </p:txBody>
      </p:sp>
      <p:sp>
        <p:nvSpPr>
          <p:cNvPr id="9" name="Shape 6"/>
          <p:cNvSpPr/>
          <p:nvPr/>
        </p:nvSpPr>
        <p:spPr>
          <a:xfrm>
            <a:off x="6172200" y="2704643"/>
            <a:ext cx="5349240" cy="918972"/>
          </a:xfrm>
          <a:prstGeom prst="roundRect">
            <a:avLst>
              <a:gd name="adj" fmla="val 10667"/>
            </a:avLst>
          </a:prstGeom>
          <a:solidFill>
            <a:srgbClr val="EEF3F8"/>
          </a:solidFill>
          <a:ln/>
        </p:spPr>
      </p:sp>
      <p:sp>
        <p:nvSpPr>
          <p:cNvPr id="10" name="Text 7"/>
          <p:cNvSpPr/>
          <p:nvPr/>
        </p:nvSpPr>
        <p:spPr>
          <a:xfrm>
            <a:off x="6355080" y="2704643"/>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2.  </a:t>
            </a:r>
            <a:pPr indent="0" marL="0">
              <a:buNone/>
            </a:pPr>
            <a:r>
              <a:rPr lang="en-US" sz="1900" dirty="0">
                <a:solidFill>
                  <a:srgbClr val="142A44"/>
                </a:solidFill>
                <a:latin typeface="Calibri" pitchFamily="34" charset="0"/>
                <a:ea typeface="Calibri" pitchFamily="34" charset="-122"/>
                <a:cs typeface="Calibri" pitchFamily="34" charset="-120"/>
              </a:rPr>
              <a:t>"Sergide 42 farklı tablo yer almaktadır." — hangi kavram?</a:t>
            </a:r>
            <a:endParaRPr lang="en-US" sz="1900" dirty="0"/>
          </a:p>
        </p:txBody>
      </p:sp>
      <p:sp>
        <p:nvSpPr>
          <p:cNvPr id="11" name="Shape 8"/>
          <p:cNvSpPr/>
          <p:nvPr/>
        </p:nvSpPr>
        <p:spPr>
          <a:xfrm>
            <a:off x="640080" y="3646475"/>
            <a:ext cx="5349240" cy="918972"/>
          </a:xfrm>
          <a:prstGeom prst="roundRect">
            <a:avLst>
              <a:gd name="adj" fmla="val 10667"/>
            </a:avLst>
          </a:prstGeom>
          <a:solidFill>
            <a:srgbClr val="EEF3F8"/>
          </a:solidFill>
          <a:ln/>
        </p:spPr>
      </p:sp>
      <p:sp>
        <p:nvSpPr>
          <p:cNvPr id="12" name="Text 9"/>
          <p:cNvSpPr/>
          <p:nvPr/>
        </p:nvSpPr>
        <p:spPr>
          <a:xfrm>
            <a:off x="822960" y="3646475"/>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3.  </a:t>
            </a:r>
            <a:pPr indent="0" marL="0">
              <a:buNone/>
            </a:pPr>
            <a:r>
              <a:rPr lang="en-US" sz="1900" dirty="0">
                <a:solidFill>
                  <a:srgbClr val="142A44"/>
                </a:solidFill>
                <a:latin typeface="Calibri" pitchFamily="34" charset="0"/>
                <a:ea typeface="Calibri" pitchFamily="34" charset="-122"/>
                <a:cs typeface="Calibri" pitchFamily="34" charset="-120"/>
              </a:rPr>
              <a:t>"Roman, tiyatro oyunundan çok daha etkileyicidir." — hangi kavram?</a:t>
            </a:r>
            <a:endParaRPr lang="en-US" sz="1900" dirty="0"/>
          </a:p>
        </p:txBody>
      </p:sp>
      <p:sp>
        <p:nvSpPr>
          <p:cNvPr id="13" name="Shape 10"/>
          <p:cNvSpPr/>
          <p:nvPr/>
        </p:nvSpPr>
        <p:spPr>
          <a:xfrm>
            <a:off x="6172200" y="3646475"/>
            <a:ext cx="5349240" cy="918972"/>
          </a:xfrm>
          <a:prstGeom prst="roundRect">
            <a:avLst>
              <a:gd name="adj" fmla="val 10667"/>
            </a:avLst>
          </a:prstGeom>
          <a:solidFill>
            <a:srgbClr val="EEF3F8"/>
          </a:solidFill>
          <a:ln/>
        </p:spPr>
      </p:sp>
      <p:sp>
        <p:nvSpPr>
          <p:cNvPr id="14" name="Text 11"/>
          <p:cNvSpPr/>
          <p:nvPr/>
        </p:nvSpPr>
        <p:spPr>
          <a:xfrm>
            <a:off x="6355080" y="3646475"/>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4.  </a:t>
            </a:r>
            <a:pPr indent="0" marL="0">
              <a:buNone/>
            </a:pPr>
            <a:r>
              <a:rPr lang="en-US" sz="1900" dirty="0">
                <a:solidFill>
                  <a:srgbClr val="142A44"/>
                </a:solidFill>
                <a:latin typeface="Calibri" pitchFamily="34" charset="0"/>
                <a:ea typeface="Calibri" pitchFamily="34" charset="-122"/>
                <a:cs typeface="Calibri" pitchFamily="34" charset="-120"/>
              </a:rPr>
              <a:t>"Yazarın bu eseri, önceki kitaplarına göre daha zayıf kalmış." — hangi kavram?</a:t>
            </a:r>
            <a:endParaRPr lang="en-US" sz="1900" dirty="0"/>
          </a:p>
        </p:txBody>
      </p:sp>
      <p:sp>
        <p:nvSpPr>
          <p:cNvPr id="15" name="Shape 12"/>
          <p:cNvSpPr/>
          <p:nvPr/>
        </p:nvSpPr>
        <p:spPr>
          <a:xfrm>
            <a:off x="640080" y="4588307"/>
            <a:ext cx="5349240" cy="918972"/>
          </a:xfrm>
          <a:prstGeom prst="roundRect">
            <a:avLst>
              <a:gd name="adj" fmla="val 10667"/>
            </a:avLst>
          </a:prstGeom>
          <a:solidFill>
            <a:srgbClr val="EEF3F8"/>
          </a:solidFill>
          <a:ln/>
        </p:spPr>
      </p:sp>
      <p:sp>
        <p:nvSpPr>
          <p:cNvPr id="16" name="Text 13"/>
          <p:cNvSpPr/>
          <p:nvPr/>
        </p:nvSpPr>
        <p:spPr>
          <a:xfrm>
            <a:off x="822960" y="4588307"/>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5.  </a:t>
            </a:r>
            <a:pPr indent="0" marL="0">
              <a:buNone/>
            </a:pPr>
            <a:r>
              <a:rPr lang="en-US" sz="1900" dirty="0">
                <a:solidFill>
                  <a:srgbClr val="142A44"/>
                </a:solidFill>
                <a:latin typeface="Calibri" pitchFamily="34" charset="0"/>
                <a:ea typeface="Calibri" pitchFamily="34" charset="-122"/>
                <a:cs typeface="Calibri" pitchFamily="34" charset="-120"/>
              </a:rPr>
              <a:t>"Yağmur yağarsa saha ıslanacağı için maç ertelenebilir." — hangi kavram?</a:t>
            </a:r>
            <a:endParaRPr lang="en-US" sz="1900" dirty="0"/>
          </a:p>
        </p:txBody>
      </p:sp>
      <p:sp>
        <p:nvSpPr>
          <p:cNvPr id="17" name="Shape 14"/>
          <p:cNvSpPr/>
          <p:nvPr/>
        </p:nvSpPr>
        <p:spPr>
          <a:xfrm>
            <a:off x="6172200" y="4588307"/>
            <a:ext cx="5349240" cy="918972"/>
          </a:xfrm>
          <a:prstGeom prst="roundRect">
            <a:avLst>
              <a:gd name="adj" fmla="val 10667"/>
            </a:avLst>
          </a:prstGeom>
          <a:solidFill>
            <a:srgbClr val="EEF3F8"/>
          </a:solidFill>
          <a:ln/>
        </p:spPr>
      </p:sp>
      <p:sp>
        <p:nvSpPr>
          <p:cNvPr id="18" name="Text 15"/>
          <p:cNvSpPr/>
          <p:nvPr/>
        </p:nvSpPr>
        <p:spPr>
          <a:xfrm>
            <a:off x="6355080" y="4588307"/>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6.  </a:t>
            </a:r>
            <a:pPr indent="0" marL="0">
              <a:buNone/>
            </a:pPr>
            <a:r>
              <a:rPr lang="en-US" sz="1900" dirty="0">
                <a:solidFill>
                  <a:srgbClr val="142A44"/>
                </a:solidFill>
                <a:latin typeface="Calibri" pitchFamily="34" charset="0"/>
                <a:ea typeface="Calibri" pitchFamily="34" charset="-122"/>
                <a:cs typeface="Calibri" pitchFamily="34" charset="-120"/>
              </a:rPr>
              <a:t>"Herkes bu şiiri mutlaka sevecektir." — hangi kavram?</a:t>
            </a:r>
            <a:endParaRPr lang="en-US" sz="1900" dirty="0"/>
          </a:p>
        </p:txBody>
      </p:sp>
      <p:sp>
        <p:nvSpPr>
          <p:cNvPr id="19" name="Shape 16"/>
          <p:cNvSpPr/>
          <p:nvPr/>
        </p:nvSpPr>
        <p:spPr>
          <a:xfrm>
            <a:off x="640080" y="5530139"/>
            <a:ext cx="5349240" cy="918972"/>
          </a:xfrm>
          <a:prstGeom prst="roundRect">
            <a:avLst>
              <a:gd name="adj" fmla="val 10667"/>
            </a:avLst>
          </a:prstGeom>
          <a:solidFill>
            <a:srgbClr val="EEF3F8"/>
          </a:solidFill>
          <a:ln/>
        </p:spPr>
      </p:sp>
      <p:sp>
        <p:nvSpPr>
          <p:cNvPr id="20" name="Text 17"/>
          <p:cNvSpPr/>
          <p:nvPr/>
        </p:nvSpPr>
        <p:spPr>
          <a:xfrm>
            <a:off x="822960" y="5530139"/>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7.  </a:t>
            </a:r>
            <a:pPr indent="0" marL="0">
              <a:buNone/>
            </a:pPr>
            <a:r>
              <a:rPr lang="en-US" sz="1900" dirty="0">
                <a:solidFill>
                  <a:srgbClr val="142A44"/>
                </a:solidFill>
                <a:latin typeface="Calibri" pitchFamily="34" charset="0"/>
                <a:ea typeface="Calibri" pitchFamily="34" charset="-122"/>
                <a:cs typeface="Calibri" pitchFamily="34" charset="-120"/>
              </a:rPr>
              <a:t>"Sanki bütün şehir o gece hiç uyumamış gibiydi." — hangi kavram?</a:t>
            </a:r>
            <a:endParaRPr lang="en-US" sz="1900" dirty="0"/>
          </a:p>
        </p:txBody>
      </p:sp>
      <p:sp>
        <p:nvSpPr>
          <p:cNvPr id="21" name="Shape 18"/>
          <p:cNvSpPr/>
          <p:nvPr/>
        </p:nvSpPr>
        <p:spPr>
          <a:xfrm>
            <a:off x="6172200" y="5530139"/>
            <a:ext cx="5349240" cy="918972"/>
          </a:xfrm>
          <a:prstGeom prst="roundRect">
            <a:avLst>
              <a:gd name="adj" fmla="val 10667"/>
            </a:avLst>
          </a:prstGeom>
          <a:solidFill>
            <a:srgbClr val="EEF3F8"/>
          </a:solidFill>
          <a:ln/>
        </p:spPr>
      </p:sp>
      <p:sp>
        <p:nvSpPr>
          <p:cNvPr id="22" name="Text 19"/>
          <p:cNvSpPr/>
          <p:nvPr/>
        </p:nvSpPr>
        <p:spPr>
          <a:xfrm>
            <a:off x="6355080" y="5530139"/>
            <a:ext cx="5029200" cy="685292"/>
          </a:xfrm>
          <a:prstGeom prst="rect">
            <a:avLst/>
          </a:prstGeom>
          <a:noFill/>
          <a:ln/>
        </p:spPr>
        <p:txBody>
          <a:bodyPr wrap="square" lIns="0" tIns="0" rIns="0" bIns="0" rtlCol="0" anchor="ctr"/>
          <a:lstStyle/>
          <a:p>
            <a:pPr indent="0" marL="0">
              <a:buNone/>
            </a:pPr>
            <a:r>
              <a:rPr lang="en-US" sz="1900" b="1" dirty="0">
                <a:solidFill>
                  <a:srgbClr val="D9A441"/>
                </a:solidFill>
                <a:latin typeface="Calibri" pitchFamily="34" charset="0"/>
                <a:ea typeface="Calibri" pitchFamily="34" charset="-122"/>
                <a:cs typeface="Calibri" pitchFamily="34" charset="-120"/>
              </a:rPr>
              <a:t>8.  </a:t>
            </a:r>
            <a:pPr indent="0" marL="0">
              <a:buNone/>
            </a:pPr>
            <a:r>
              <a:rPr lang="en-US" sz="1900" dirty="0">
                <a:solidFill>
                  <a:srgbClr val="142A44"/>
                </a:solidFill>
                <a:latin typeface="Calibri" pitchFamily="34" charset="0"/>
                <a:ea typeface="Calibri" pitchFamily="34" charset="-122"/>
                <a:cs typeface="Calibri" pitchFamily="34" charset="-120"/>
              </a:rPr>
              <a:t>"Başarılı olmak için düzenli çalışmak gerekir." — hangi kavram?</a:t>
            </a:r>
            <a:endParaRPr lang="en-US" sz="1900" dirty="0"/>
          </a:p>
        </p:txBody>
      </p:sp>
      <p:sp>
        <p:nvSpPr>
          <p:cNvPr id="23" name="Text 20"/>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Sınıf Etkinliği</a:t>
            </a:r>
            <a:endParaRPr lang="en-US" sz="900" dirty="0"/>
          </a:p>
        </p:txBody>
      </p:sp>
      <p:sp>
        <p:nvSpPr>
          <p:cNvPr id="24" name="Text 21"/>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ETKINLIK</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Cevap Anahtarı</a:t>
            </a:r>
            <a:endParaRPr lang="en-US" sz="2800" dirty="0"/>
          </a:p>
        </p:txBody>
      </p:sp>
      <p:sp>
        <p:nvSpPr>
          <p:cNvPr id="6" name="Shape 3"/>
          <p:cNvSpPr/>
          <p:nvPr/>
        </p:nvSpPr>
        <p:spPr>
          <a:xfrm>
            <a:off x="640080" y="1828800"/>
            <a:ext cx="2560320" cy="2180844"/>
          </a:xfrm>
          <a:prstGeom prst="roundRect">
            <a:avLst>
              <a:gd name="adj" fmla="val 4762"/>
            </a:avLst>
          </a:prstGeom>
          <a:solidFill>
            <a:srgbClr val="EEF3F8"/>
          </a:solidFill>
          <a:ln/>
        </p:spPr>
      </p:sp>
      <p:sp>
        <p:nvSpPr>
          <p:cNvPr id="7" name="Text 4"/>
          <p:cNvSpPr/>
          <p:nvPr/>
        </p:nvSpPr>
        <p:spPr>
          <a:xfrm>
            <a:off x="777240" y="1965960"/>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1.</a:t>
            </a:r>
            <a:endParaRPr lang="en-US" sz="2000" dirty="0"/>
          </a:p>
        </p:txBody>
      </p:sp>
      <p:sp>
        <p:nvSpPr>
          <p:cNvPr id="8" name="Shape 5"/>
          <p:cNvSpPr/>
          <p:nvPr/>
        </p:nvSpPr>
        <p:spPr>
          <a:xfrm>
            <a:off x="777240" y="2377440"/>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9" name="Text 6"/>
          <p:cNvSpPr/>
          <p:nvPr/>
        </p:nvSpPr>
        <p:spPr>
          <a:xfrm>
            <a:off x="777240" y="2377440"/>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ÖZNEL</a:t>
            </a:r>
            <a:endParaRPr lang="en-US" sz="2100" dirty="0"/>
          </a:p>
        </p:txBody>
      </p:sp>
      <p:sp>
        <p:nvSpPr>
          <p:cNvPr id="10" name="Text 7"/>
          <p:cNvSpPr/>
          <p:nvPr/>
        </p:nvSpPr>
        <p:spPr>
          <a:xfrm>
            <a:off x="777240" y="3154680"/>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"en özgün" kanıtlanamaz, kişisel yargı</a:t>
            </a:r>
            <a:endParaRPr lang="en-US" sz="900" dirty="0"/>
          </a:p>
        </p:txBody>
      </p:sp>
      <p:sp>
        <p:nvSpPr>
          <p:cNvPr id="11" name="Shape 8"/>
          <p:cNvSpPr/>
          <p:nvPr/>
        </p:nvSpPr>
        <p:spPr>
          <a:xfrm>
            <a:off x="3383280" y="1828800"/>
            <a:ext cx="2560320" cy="2180844"/>
          </a:xfrm>
          <a:prstGeom prst="roundRect">
            <a:avLst>
              <a:gd name="adj" fmla="val 4762"/>
            </a:avLst>
          </a:prstGeom>
          <a:solidFill>
            <a:srgbClr val="EEF3F8"/>
          </a:solidFill>
          <a:ln/>
        </p:spPr>
      </p:sp>
      <p:sp>
        <p:nvSpPr>
          <p:cNvPr id="12" name="Text 9"/>
          <p:cNvSpPr/>
          <p:nvPr/>
        </p:nvSpPr>
        <p:spPr>
          <a:xfrm>
            <a:off x="3520440" y="1965960"/>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2.</a:t>
            </a:r>
            <a:endParaRPr lang="en-US" sz="2000" dirty="0"/>
          </a:p>
        </p:txBody>
      </p:sp>
      <p:sp>
        <p:nvSpPr>
          <p:cNvPr id="13" name="Shape 10"/>
          <p:cNvSpPr/>
          <p:nvPr/>
        </p:nvSpPr>
        <p:spPr>
          <a:xfrm>
            <a:off x="3520440" y="2377440"/>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14" name="Text 11"/>
          <p:cNvSpPr/>
          <p:nvPr/>
        </p:nvSpPr>
        <p:spPr>
          <a:xfrm>
            <a:off x="3520440" y="2377440"/>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NESNEL</a:t>
            </a:r>
            <a:endParaRPr lang="en-US" sz="2100" dirty="0"/>
          </a:p>
        </p:txBody>
      </p:sp>
      <p:sp>
        <p:nvSpPr>
          <p:cNvPr id="15" name="Text 12"/>
          <p:cNvSpPr/>
          <p:nvPr/>
        </p:nvSpPr>
        <p:spPr>
          <a:xfrm>
            <a:off x="3520440" y="3154680"/>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"42 tablo" sayısal, kanıtlanabilir</a:t>
            </a:r>
            <a:endParaRPr lang="en-US" sz="900" dirty="0"/>
          </a:p>
        </p:txBody>
      </p:sp>
      <p:sp>
        <p:nvSpPr>
          <p:cNvPr id="16" name="Shape 13"/>
          <p:cNvSpPr/>
          <p:nvPr/>
        </p:nvSpPr>
        <p:spPr>
          <a:xfrm>
            <a:off x="6126480" y="1828800"/>
            <a:ext cx="2560320" cy="2180844"/>
          </a:xfrm>
          <a:prstGeom prst="roundRect">
            <a:avLst>
              <a:gd name="adj" fmla="val 4762"/>
            </a:avLst>
          </a:prstGeom>
          <a:solidFill>
            <a:srgbClr val="EEF3F8"/>
          </a:solidFill>
          <a:ln/>
        </p:spPr>
      </p:sp>
      <p:sp>
        <p:nvSpPr>
          <p:cNvPr id="17" name="Text 14"/>
          <p:cNvSpPr/>
          <p:nvPr/>
        </p:nvSpPr>
        <p:spPr>
          <a:xfrm>
            <a:off x="6263640" y="1965960"/>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3.</a:t>
            </a:r>
            <a:endParaRPr lang="en-US" sz="2000" dirty="0"/>
          </a:p>
        </p:txBody>
      </p:sp>
      <p:sp>
        <p:nvSpPr>
          <p:cNvPr id="18" name="Shape 15"/>
          <p:cNvSpPr/>
          <p:nvPr/>
        </p:nvSpPr>
        <p:spPr>
          <a:xfrm>
            <a:off x="6263640" y="2377440"/>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19" name="Text 16"/>
          <p:cNvSpPr/>
          <p:nvPr/>
        </p:nvSpPr>
        <p:spPr>
          <a:xfrm>
            <a:off x="6263640" y="2377440"/>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KARŞILAŞTIRMA</a:t>
            </a:r>
            <a:endParaRPr lang="en-US" sz="2100" dirty="0"/>
          </a:p>
        </p:txBody>
      </p:sp>
      <p:sp>
        <p:nvSpPr>
          <p:cNvPr id="20" name="Text 17"/>
          <p:cNvSpPr/>
          <p:nvPr/>
        </p:nvSpPr>
        <p:spPr>
          <a:xfrm>
            <a:off x="6263640" y="3154680"/>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roman ile oyun "daha" ile kıyaslanıyor</a:t>
            </a:r>
            <a:endParaRPr lang="en-US" sz="900" dirty="0"/>
          </a:p>
        </p:txBody>
      </p:sp>
      <p:sp>
        <p:nvSpPr>
          <p:cNvPr id="21" name="Shape 18"/>
          <p:cNvSpPr/>
          <p:nvPr/>
        </p:nvSpPr>
        <p:spPr>
          <a:xfrm>
            <a:off x="8869680" y="1828800"/>
            <a:ext cx="2560320" cy="2180844"/>
          </a:xfrm>
          <a:prstGeom prst="roundRect">
            <a:avLst>
              <a:gd name="adj" fmla="val 4762"/>
            </a:avLst>
          </a:prstGeom>
          <a:solidFill>
            <a:srgbClr val="EEF3F8"/>
          </a:solidFill>
          <a:ln/>
        </p:spPr>
      </p:sp>
      <p:sp>
        <p:nvSpPr>
          <p:cNvPr id="22" name="Text 19"/>
          <p:cNvSpPr/>
          <p:nvPr/>
        </p:nvSpPr>
        <p:spPr>
          <a:xfrm>
            <a:off x="9006840" y="1965960"/>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4.</a:t>
            </a:r>
            <a:endParaRPr lang="en-US" sz="2000" dirty="0"/>
          </a:p>
        </p:txBody>
      </p:sp>
      <p:sp>
        <p:nvSpPr>
          <p:cNvPr id="23" name="Shape 20"/>
          <p:cNvSpPr/>
          <p:nvPr/>
        </p:nvSpPr>
        <p:spPr>
          <a:xfrm>
            <a:off x="9006840" y="2377440"/>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24" name="Text 21"/>
          <p:cNvSpPr/>
          <p:nvPr/>
        </p:nvSpPr>
        <p:spPr>
          <a:xfrm>
            <a:off x="9006840" y="2377440"/>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DEĞERLENDİRME</a:t>
            </a:r>
            <a:endParaRPr lang="en-US" sz="2100" dirty="0"/>
          </a:p>
        </p:txBody>
      </p:sp>
      <p:sp>
        <p:nvSpPr>
          <p:cNvPr id="25" name="Text 22"/>
          <p:cNvSpPr/>
          <p:nvPr/>
        </p:nvSpPr>
        <p:spPr>
          <a:xfrm>
            <a:off x="9006840" y="3154680"/>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tek bir esere yönelik olumsuz yargı</a:t>
            </a:r>
            <a:endParaRPr lang="en-US" sz="900" dirty="0"/>
          </a:p>
        </p:txBody>
      </p:sp>
      <p:sp>
        <p:nvSpPr>
          <p:cNvPr id="26" name="Shape 23"/>
          <p:cNvSpPr/>
          <p:nvPr/>
        </p:nvSpPr>
        <p:spPr>
          <a:xfrm>
            <a:off x="640080" y="4238244"/>
            <a:ext cx="2560320" cy="2180844"/>
          </a:xfrm>
          <a:prstGeom prst="roundRect">
            <a:avLst>
              <a:gd name="adj" fmla="val 4762"/>
            </a:avLst>
          </a:prstGeom>
          <a:solidFill>
            <a:srgbClr val="EEF3F8"/>
          </a:solidFill>
          <a:ln/>
        </p:spPr>
      </p:sp>
      <p:sp>
        <p:nvSpPr>
          <p:cNvPr id="27" name="Text 24"/>
          <p:cNvSpPr/>
          <p:nvPr/>
        </p:nvSpPr>
        <p:spPr>
          <a:xfrm>
            <a:off x="777240" y="4375404"/>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5.</a:t>
            </a:r>
            <a:endParaRPr lang="en-US" sz="2000" dirty="0"/>
          </a:p>
        </p:txBody>
      </p:sp>
      <p:sp>
        <p:nvSpPr>
          <p:cNvPr id="28" name="Shape 25"/>
          <p:cNvSpPr/>
          <p:nvPr/>
        </p:nvSpPr>
        <p:spPr>
          <a:xfrm>
            <a:off x="777240" y="4786884"/>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29" name="Text 26"/>
          <p:cNvSpPr/>
          <p:nvPr/>
        </p:nvSpPr>
        <p:spPr>
          <a:xfrm>
            <a:off x="777240" y="4786884"/>
            <a:ext cx="228600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SEBEP-SONUÇ / KOŞUL</a:t>
            </a:r>
            <a:endParaRPr lang="en-US" sz="1900" dirty="0"/>
          </a:p>
        </p:txBody>
      </p:sp>
      <p:sp>
        <p:nvSpPr>
          <p:cNvPr id="30" name="Text 27"/>
          <p:cNvSpPr/>
          <p:nvPr/>
        </p:nvSpPr>
        <p:spPr>
          <a:xfrm>
            <a:off x="777240" y="5564124"/>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"yağarsa" koşul, "ıslanacağı için" sebep-sonuç</a:t>
            </a:r>
            <a:endParaRPr lang="en-US" sz="900" dirty="0"/>
          </a:p>
        </p:txBody>
      </p:sp>
      <p:sp>
        <p:nvSpPr>
          <p:cNvPr id="31" name="Shape 28"/>
          <p:cNvSpPr/>
          <p:nvPr/>
        </p:nvSpPr>
        <p:spPr>
          <a:xfrm>
            <a:off x="3383280" y="4238244"/>
            <a:ext cx="2560320" cy="2180844"/>
          </a:xfrm>
          <a:prstGeom prst="roundRect">
            <a:avLst>
              <a:gd name="adj" fmla="val 4762"/>
            </a:avLst>
          </a:prstGeom>
          <a:solidFill>
            <a:srgbClr val="EEF3F8"/>
          </a:solidFill>
          <a:ln/>
        </p:spPr>
      </p:sp>
      <p:sp>
        <p:nvSpPr>
          <p:cNvPr id="32" name="Text 29"/>
          <p:cNvSpPr/>
          <p:nvPr/>
        </p:nvSpPr>
        <p:spPr>
          <a:xfrm>
            <a:off x="3520440" y="4375404"/>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6.</a:t>
            </a:r>
            <a:endParaRPr lang="en-US" sz="2000" dirty="0"/>
          </a:p>
        </p:txBody>
      </p:sp>
      <p:sp>
        <p:nvSpPr>
          <p:cNvPr id="33" name="Shape 30"/>
          <p:cNvSpPr/>
          <p:nvPr/>
        </p:nvSpPr>
        <p:spPr>
          <a:xfrm>
            <a:off x="3520440" y="4786884"/>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34" name="Text 31"/>
          <p:cNvSpPr/>
          <p:nvPr/>
        </p:nvSpPr>
        <p:spPr>
          <a:xfrm>
            <a:off x="3520440" y="4786884"/>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KESİN YARGI</a:t>
            </a:r>
            <a:endParaRPr lang="en-US" sz="2100" dirty="0"/>
          </a:p>
        </p:txBody>
      </p:sp>
      <p:sp>
        <p:nvSpPr>
          <p:cNvPr id="35" name="Text 32"/>
          <p:cNvSpPr/>
          <p:nvPr/>
        </p:nvSpPr>
        <p:spPr>
          <a:xfrm>
            <a:off x="3520440" y="5564124"/>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"mutlaka" istisna tanımaz</a:t>
            </a:r>
            <a:endParaRPr lang="en-US" sz="900" dirty="0"/>
          </a:p>
        </p:txBody>
      </p:sp>
      <p:sp>
        <p:nvSpPr>
          <p:cNvPr id="36" name="Shape 33"/>
          <p:cNvSpPr/>
          <p:nvPr/>
        </p:nvSpPr>
        <p:spPr>
          <a:xfrm>
            <a:off x="6126480" y="4238244"/>
            <a:ext cx="2560320" cy="2180844"/>
          </a:xfrm>
          <a:prstGeom prst="roundRect">
            <a:avLst>
              <a:gd name="adj" fmla="val 4762"/>
            </a:avLst>
          </a:prstGeom>
          <a:solidFill>
            <a:srgbClr val="EEF3F8"/>
          </a:solidFill>
          <a:ln/>
        </p:spPr>
      </p:sp>
      <p:sp>
        <p:nvSpPr>
          <p:cNvPr id="37" name="Text 34"/>
          <p:cNvSpPr/>
          <p:nvPr/>
        </p:nvSpPr>
        <p:spPr>
          <a:xfrm>
            <a:off x="6263640" y="4375404"/>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7.</a:t>
            </a:r>
            <a:endParaRPr lang="en-US" sz="2000" dirty="0"/>
          </a:p>
        </p:txBody>
      </p:sp>
      <p:sp>
        <p:nvSpPr>
          <p:cNvPr id="38" name="Shape 35"/>
          <p:cNvSpPr/>
          <p:nvPr/>
        </p:nvSpPr>
        <p:spPr>
          <a:xfrm>
            <a:off x="6263640" y="4786884"/>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39" name="Text 36"/>
          <p:cNvSpPr/>
          <p:nvPr/>
        </p:nvSpPr>
        <p:spPr>
          <a:xfrm>
            <a:off x="6263640" y="4786884"/>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VARSAYIM</a:t>
            </a:r>
            <a:endParaRPr lang="en-US" sz="2100" dirty="0"/>
          </a:p>
        </p:txBody>
      </p:sp>
      <p:sp>
        <p:nvSpPr>
          <p:cNvPr id="40" name="Text 37"/>
          <p:cNvSpPr/>
          <p:nvPr/>
        </p:nvSpPr>
        <p:spPr>
          <a:xfrm>
            <a:off x="6263640" y="5564124"/>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"sanki, gibiydi" olasılık/varsayım bildirir</a:t>
            </a:r>
            <a:endParaRPr lang="en-US" sz="900" dirty="0"/>
          </a:p>
        </p:txBody>
      </p:sp>
      <p:sp>
        <p:nvSpPr>
          <p:cNvPr id="41" name="Shape 38"/>
          <p:cNvSpPr/>
          <p:nvPr/>
        </p:nvSpPr>
        <p:spPr>
          <a:xfrm>
            <a:off x="8869680" y="4238244"/>
            <a:ext cx="2560320" cy="2180844"/>
          </a:xfrm>
          <a:prstGeom prst="roundRect">
            <a:avLst>
              <a:gd name="adj" fmla="val 4762"/>
            </a:avLst>
          </a:prstGeom>
          <a:solidFill>
            <a:srgbClr val="EEF3F8"/>
          </a:solidFill>
          <a:ln/>
        </p:spPr>
      </p:sp>
      <p:sp>
        <p:nvSpPr>
          <p:cNvPr id="42" name="Text 39"/>
          <p:cNvSpPr/>
          <p:nvPr/>
        </p:nvSpPr>
        <p:spPr>
          <a:xfrm>
            <a:off x="9006840" y="4375404"/>
            <a:ext cx="2286000" cy="365760"/>
          </a:xfrm>
          <a:prstGeom prst="rect">
            <a:avLst/>
          </a:prstGeom>
          <a:noFill/>
          <a:ln/>
        </p:spPr>
        <p:txBody>
          <a:bodyPr wrap="square" lIns="0" tIns="0" rIns="0" bIns="0" rtlCol="0" anchor="ctr"/>
          <a:lstStyle/>
          <a:p>
            <a:pPr indent="0" marL="0">
              <a:buNone/>
            </a:pPr>
            <a:r>
              <a:rPr lang="en-US" sz="2000" i="1" dirty="0">
                <a:solidFill>
                  <a:srgbClr val="6B7280"/>
                </a:solidFill>
                <a:latin typeface="Calibri" pitchFamily="34" charset="0"/>
                <a:ea typeface="Calibri" pitchFamily="34" charset="-122"/>
                <a:cs typeface="Calibri" pitchFamily="34" charset="-120"/>
              </a:rPr>
              <a:t>8.</a:t>
            </a:r>
            <a:endParaRPr lang="en-US" sz="2000" dirty="0"/>
          </a:p>
        </p:txBody>
      </p:sp>
      <p:sp>
        <p:nvSpPr>
          <p:cNvPr id="43" name="Shape 40"/>
          <p:cNvSpPr/>
          <p:nvPr/>
        </p:nvSpPr>
        <p:spPr>
          <a:xfrm>
            <a:off x="9006840" y="4786884"/>
            <a:ext cx="2286000" cy="685800"/>
          </a:xfrm>
          <a:prstGeom prst="roundRect">
            <a:avLst>
              <a:gd name="adj" fmla="val 10667"/>
            </a:avLst>
          </a:prstGeom>
          <a:solidFill>
            <a:srgbClr val="1E3A5F"/>
          </a:solidFill>
          <a:ln/>
          <a:effectLst>
            <a:outerShdw sx="100000" sy="100000" kx="0" ky="0" algn="bl" rotWithShape="0" blurRad="76200" dist="25400" dir="5400000">
              <a:srgbClr val="1E2761">
                <a:alpha val="18000"/>
              </a:srgbClr>
            </a:outerShdw>
          </a:effectLst>
        </p:spPr>
      </p:sp>
      <p:sp>
        <p:nvSpPr>
          <p:cNvPr id="44" name="Text 41"/>
          <p:cNvSpPr/>
          <p:nvPr/>
        </p:nvSpPr>
        <p:spPr>
          <a:xfrm>
            <a:off x="9006840" y="4786884"/>
            <a:ext cx="22860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KOŞUL-AMAÇ</a:t>
            </a:r>
            <a:endParaRPr lang="en-US" sz="2100" dirty="0"/>
          </a:p>
        </p:txBody>
      </p:sp>
      <p:sp>
        <p:nvSpPr>
          <p:cNvPr id="45" name="Text 42"/>
          <p:cNvSpPr/>
          <p:nvPr/>
        </p:nvSpPr>
        <p:spPr>
          <a:xfrm>
            <a:off x="9006840" y="5564124"/>
            <a:ext cx="2286000" cy="50292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"için" ile amaç bildiriliyor</a:t>
            </a:r>
            <a:endParaRPr lang="en-US" sz="900" dirty="0"/>
          </a:p>
        </p:txBody>
      </p:sp>
      <p:sp>
        <p:nvSpPr>
          <p:cNvPr id="46" name="Text 43"/>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Etkinlik Cevapları</a:t>
            </a:r>
            <a:endParaRPr lang="en-US" sz="900" dirty="0"/>
          </a:p>
        </p:txBody>
      </p:sp>
      <p:sp>
        <p:nvSpPr>
          <p:cNvPr id="47" name="Text 44"/>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HIZLI HATIRLATMA</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Kaldığımız Yer</a:t>
            </a:r>
            <a:endParaRPr lang="en-US" sz="2800" dirty="0"/>
          </a:p>
        </p:txBody>
      </p:sp>
      <p:sp>
        <p:nvSpPr>
          <p:cNvPr id="6" name="Shape 3"/>
          <p:cNvSpPr/>
          <p:nvPr/>
        </p:nvSpPr>
        <p:spPr>
          <a:xfrm>
            <a:off x="822960" y="1965960"/>
            <a:ext cx="3337560" cy="2377440"/>
          </a:xfrm>
          <a:prstGeom prst="roundRect">
            <a:avLst>
              <a:gd name="adj" fmla="val 4615"/>
            </a:avLst>
          </a:prstGeom>
          <a:solidFill>
            <a:srgbClr val="EEF3F8"/>
          </a:solidFill>
          <a:ln/>
        </p:spPr>
      </p:sp>
      <p:sp>
        <p:nvSpPr>
          <p:cNvPr id="7" name="Text 4"/>
          <p:cNvSpPr/>
          <p:nvPr/>
        </p:nvSpPr>
        <p:spPr>
          <a:xfrm>
            <a:off x="1051560" y="2148840"/>
            <a:ext cx="2880360" cy="378714"/>
          </a:xfrm>
          <a:prstGeom prst="rect">
            <a:avLst/>
          </a:prstGeom>
          <a:noFill/>
          <a:ln/>
        </p:spPr>
        <p:txBody>
          <a:bodyPr wrap="square" lIns="0" tIns="0" rIns="0" bIns="0" rtlCol="0" anchor="ctr"/>
          <a:lstStyle/>
          <a:p>
            <a:pPr indent="0" marL="0">
              <a:buNone/>
            </a:pPr>
            <a:r>
              <a:rPr lang="en-US" sz="2100" b="1" dirty="0">
                <a:solidFill>
                  <a:srgbClr val="1E3A5F"/>
                </a:solidFill>
                <a:latin typeface="Cambria" pitchFamily="34" charset="0"/>
                <a:ea typeface="Cambria" pitchFamily="34" charset="-122"/>
                <a:cs typeface="Cambria" pitchFamily="34" charset="-120"/>
              </a:rPr>
              <a:t>Öznel / Nesnel</a:t>
            </a:r>
            <a:endParaRPr lang="en-US" sz="2100" dirty="0"/>
          </a:p>
        </p:txBody>
      </p:sp>
      <p:sp>
        <p:nvSpPr>
          <p:cNvPr id="8" name="Text 5"/>
          <p:cNvSpPr/>
          <p:nvPr/>
        </p:nvSpPr>
        <p:spPr>
          <a:xfrm>
            <a:off x="1051560" y="2573274"/>
            <a:ext cx="2880360" cy="1283208"/>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Kanıtlanabilir mi</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değil mi — bu</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soruyu sorun.</a:t>
            </a:r>
            <a:endParaRPr lang="en-US" sz="2000" dirty="0"/>
          </a:p>
        </p:txBody>
      </p:sp>
      <p:sp>
        <p:nvSpPr>
          <p:cNvPr id="9" name="Shape 6"/>
          <p:cNvSpPr/>
          <p:nvPr/>
        </p:nvSpPr>
        <p:spPr>
          <a:xfrm>
            <a:off x="4526280" y="1965960"/>
            <a:ext cx="3337560" cy="2831592"/>
          </a:xfrm>
          <a:prstGeom prst="roundRect">
            <a:avLst>
              <a:gd name="adj" fmla="val 4615"/>
            </a:avLst>
          </a:prstGeom>
          <a:solidFill>
            <a:srgbClr val="EEF3F8"/>
          </a:solidFill>
          <a:ln/>
        </p:spPr>
      </p:sp>
      <p:sp>
        <p:nvSpPr>
          <p:cNvPr id="10" name="Text 7"/>
          <p:cNvSpPr/>
          <p:nvPr/>
        </p:nvSpPr>
        <p:spPr>
          <a:xfrm>
            <a:off x="4754880" y="2148840"/>
            <a:ext cx="2880360" cy="821944"/>
          </a:xfrm>
          <a:prstGeom prst="rect">
            <a:avLst/>
          </a:prstGeom>
          <a:noFill/>
          <a:ln/>
        </p:spPr>
        <p:txBody>
          <a:bodyPr wrap="square" lIns="0" tIns="0" rIns="0" bIns="0" rtlCol="0" anchor="ctr"/>
          <a:lstStyle/>
          <a:p>
            <a:pPr indent="0" marL="0">
              <a:buNone/>
            </a:pPr>
            <a:r>
              <a:rPr lang="en-US" sz="2000" b="1" dirty="0">
                <a:solidFill>
                  <a:srgbClr val="1E3A5F"/>
                </a:solidFill>
                <a:latin typeface="Cambria" pitchFamily="34" charset="0"/>
                <a:ea typeface="Cambria" pitchFamily="34" charset="-122"/>
                <a:cs typeface="Cambria" pitchFamily="34" charset="-120"/>
              </a:rPr>
              <a:t>Karşılaştırma /</a:t>
            </a:r>
            <a:endParaRPr lang="en-US" sz="2000" dirty="0"/>
          </a:p>
          <a:p>
            <a:pPr indent="0" marL="0">
              <a:buNone/>
            </a:pPr>
            <a:r>
              <a:rPr lang="en-US" sz="2000" b="1" dirty="0">
                <a:solidFill>
                  <a:srgbClr val="1E3A5F"/>
                </a:solidFill>
                <a:latin typeface="Cambria" pitchFamily="34" charset="0"/>
                <a:ea typeface="Cambria" pitchFamily="34" charset="-122"/>
                <a:cs typeface="Cambria" pitchFamily="34" charset="-120"/>
              </a:rPr>
              <a:t>Değerlendirme</a:t>
            </a:r>
            <a:endParaRPr lang="en-US" sz="2000" dirty="0"/>
          </a:p>
        </p:txBody>
      </p:sp>
      <p:sp>
        <p:nvSpPr>
          <p:cNvPr id="11" name="Text 8"/>
          <p:cNvSpPr/>
          <p:nvPr/>
        </p:nvSpPr>
        <p:spPr>
          <a:xfrm>
            <a:off x="4754880" y="3016504"/>
            <a:ext cx="2880360" cy="1643888"/>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İki öge mi kıyaslanıyor,</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tek hedefe mi</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yargı veriliyor?</a:t>
            </a:r>
            <a:endParaRPr lang="en-US" sz="2000" dirty="0"/>
          </a:p>
        </p:txBody>
      </p:sp>
      <p:sp>
        <p:nvSpPr>
          <p:cNvPr id="12" name="Shape 9"/>
          <p:cNvSpPr/>
          <p:nvPr/>
        </p:nvSpPr>
        <p:spPr>
          <a:xfrm>
            <a:off x="8229600" y="1965960"/>
            <a:ext cx="3337560" cy="3192272"/>
          </a:xfrm>
          <a:prstGeom prst="roundRect">
            <a:avLst>
              <a:gd name="adj" fmla="val 4615"/>
            </a:avLst>
          </a:prstGeom>
          <a:solidFill>
            <a:srgbClr val="EEF3F8"/>
          </a:solidFill>
          <a:ln/>
        </p:spPr>
      </p:sp>
      <p:sp>
        <p:nvSpPr>
          <p:cNvPr id="13" name="Text 10"/>
          <p:cNvSpPr/>
          <p:nvPr/>
        </p:nvSpPr>
        <p:spPr>
          <a:xfrm>
            <a:off x="8458200" y="2148840"/>
            <a:ext cx="2880360" cy="1543304"/>
          </a:xfrm>
          <a:prstGeom prst="rect">
            <a:avLst/>
          </a:prstGeom>
          <a:noFill/>
          <a:ln/>
        </p:spPr>
        <p:txBody>
          <a:bodyPr wrap="square" lIns="0" tIns="0" rIns="0" bIns="0" rtlCol="0" anchor="ctr"/>
          <a:lstStyle/>
          <a:p>
            <a:pPr indent="0" marL="0">
              <a:buNone/>
            </a:pPr>
            <a:r>
              <a:rPr lang="en-US" sz="2000" b="1" dirty="0">
                <a:solidFill>
                  <a:srgbClr val="1E3A5F"/>
                </a:solidFill>
                <a:latin typeface="Cambria" pitchFamily="34" charset="0"/>
                <a:ea typeface="Cambria" pitchFamily="34" charset="-122"/>
                <a:cs typeface="Cambria" pitchFamily="34" charset="-120"/>
              </a:rPr>
              <a:t>Kesin Yargı / Varsayım /</a:t>
            </a:r>
            <a:endParaRPr lang="en-US" sz="2000" dirty="0"/>
          </a:p>
          <a:p>
            <a:pPr indent="0" marL="0">
              <a:buNone/>
            </a:pPr>
            <a:r>
              <a:rPr lang="en-US" sz="2000" b="1" dirty="0">
                <a:solidFill>
                  <a:srgbClr val="1E3A5F"/>
                </a:solidFill>
                <a:latin typeface="Cambria" pitchFamily="34" charset="0"/>
                <a:ea typeface="Cambria" pitchFamily="34" charset="-122"/>
                <a:cs typeface="Cambria" pitchFamily="34" charset="-120"/>
              </a:rPr>
              <a:t>Sebep-Sonuç / Koşul-Amaç</a:t>
            </a:r>
            <a:endParaRPr lang="en-US" sz="2000" dirty="0"/>
          </a:p>
        </p:txBody>
      </p:sp>
      <p:sp>
        <p:nvSpPr>
          <p:cNvPr id="14" name="Text 11"/>
          <p:cNvSpPr/>
          <p:nvPr/>
        </p:nvSpPr>
        <p:spPr>
          <a:xfrm>
            <a:off x="8458200" y="3737864"/>
            <a:ext cx="2880360" cy="1283208"/>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Bağlaç ve belirteçlere</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dikkat: için, sanki,</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mutlaka, -se/-sa.</a:t>
            </a:r>
            <a:endParaRPr lang="en-US" sz="2000" dirty="0"/>
          </a:p>
        </p:txBody>
      </p:sp>
      <p:sp>
        <p:nvSpPr>
          <p:cNvPr id="15" name="Text 12"/>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Hızlı Hatırlatma</a:t>
            </a:r>
            <a:endParaRPr lang="en-US" sz="900" dirty="0"/>
          </a:p>
        </p:txBody>
      </p:sp>
      <p:sp>
        <p:nvSpPr>
          <p:cNvPr id="16" name="Text 13"/>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derinlik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DERINLEŞME · 1/2</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Öznel mi, Nesnel mi? İnce Çizgi</a:t>
            </a:r>
            <a:endParaRPr lang="en-US" sz="2800" dirty="0"/>
          </a:p>
        </p:txBody>
      </p:sp>
      <p:sp>
        <p:nvSpPr>
          <p:cNvPr id="6" name="Shape 3"/>
          <p:cNvSpPr/>
          <p:nvPr/>
        </p:nvSpPr>
        <p:spPr>
          <a:xfrm>
            <a:off x="640080" y="1645920"/>
            <a:ext cx="10881360" cy="1173480"/>
          </a:xfrm>
          <a:prstGeom prst="roundRect">
            <a:avLst>
              <a:gd name="adj" fmla="val 9524"/>
            </a:avLst>
          </a:prstGeom>
          <a:solidFill>
            <a:srgbClr val="EEF3F8"/>
          </a:solidFill>
          <a:ln/>
        </p:spPr>
      </p:sp>
      <p:sp>
        <p:nvSpPr>
          <p:cNvPr id="7" name="Text 4"/>
          <p:cNvSpPr/>
          <p:nvPr/>
        </p:nvSpPr>
        <p:spPr>
          <a:xfrm>
            <a:off x="914400" y="1645920"/>
            <a:ext cx="10332720" cy="108204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Gözlem:  </a:t>
            </a:r>
            <a:pPr indent="0" marL="0">
              <a:buNone/>
            </a:pPr>
            <a:r>
              <a:rPr lang="en-US" sz="2000" dirty="0">
                <a:solidFill>
                  <a:srgbClr val="1E2761"/>
                </a:solidFill>
                <a:latin typeface="Calibri" pitchFamily="34" charset="0"/>
                <a:ea typeface="Calibri" pitchFamily="34" charset="-122"/>
                <a:cs typeface="Calibri" pitchFamily="34" charset="-120"/>
              </a:rPr>
              <a:t>Bir cümlede hem sayısal/kanıtlanabilir bir bilgi HEM DE kişisel bir yorum bir arada bulunabilir. Böyle durumlarda cümlenin YARGI (asıl iddia) kısmına bakılmalı, ara bilgiye değil.</a:t>
            </a:r>
            <a:endParaRPr lang="en-US" sz="2000" dirty="0"/>
          </a:p>
        </p:txBody>
      </p:sp>
      <p:sp>
        <p:nvSpPr>
          <p:cNvPr id="8" name="Shape 5"/>
          <p:cNvSpPr/>
          <p:nvPr/>
        </p:nvSpPr>
        <p:spPr>
          <a:xfrm>
            <a:off x="640080" y="2974848"/>
            <a:ext cx="10881360" cy="1173480"/>
          </a:xfrm>
          <a:prstGeom prst="roundRect">
            <a:avLst>
              <a:gd name="adj" fmla="val 8696"/>
            </a:avLst>
          </a:prstGeom>
          <a:solidFill>
            <a:srgbClr val="EEF3F8"/>
          </a:solidFill>
          <a:ln/>
        </p:spPr>
      </p:sp>
      <p:sp>
        <p:nvSpPr>
          <p:cNvPr id="9" name="Text 6"/>
          <p:cNvSpPr/>
          <p:nvPr/>
        </p:nvSpPr>
        <p:spPr>
          <a:xfrm>
            <a:off x="822960" y="2974848"/>
            <a:ext cx="4279392" cy="721360"/>
          </a:xfrm>
          <a:prstGeom prst="rect">
            <a:avLst/>
          </a:prstGeom>
          <a:noFill/>
          <a:ln/>
        </p:spPr>
        <p:txBody>
          <a:bodyPr wrap="square" lIns="0" tIns="0" rIns="0" bIns="0" rtlCol="0" anchor="ctr"/>
          <a:lstStyle/>
          <a:p>
            <a:pPr indent="0" marL="0">
              <a:buNone/>
            </a:pPr>
            <a:r>
              <a:rPr lang="en-US" sz="2000" i="1" dirty="0">
                <a:solidFill>
                  <a:srgbClr val="142A44"/>
                </a:solidFill>
                <a:latin typeface="Calibri" pitchFamily="34" charset="0"/>
                <a:ea typeface="Calibri" pitchFamily="34" charset="-122"/>
                <a:cs typeface="Calibri" pitchFamily="34" charset="-120"/>
              </a:rPr>
              <a:t>"Roman, 1980'de yayımlanan ve 500 sayfa olan bir eserdir."</a:t>
            </a:r>
            <a:endParaRPr lang="en-US" sz="2000" dirty="0"/>
          </a:p>
        </p:txBody>
      </p:sp>
      <p:sp>
        <p:nvSpPr>
          <p:cNvPr id="10" name="Text 7"/>
          <p:cNvSpPr/>
          <p:nvPr/>
        </p:nvSpPr>
        <p:spPr>
          <a:xfrm>
            <a:off x="5212080" y="2974848"/>
            <a:ext cx="6126480" cy="1082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Sadece kanıtlanabilir bilgiler (tarih, sayfa sayısı) verilmiş — yargı içermiyor, bu cümle NESNELDİR.</a:t>
            </a:r>
            <a:endParaRPr lang="en-US" sz="2000" dirty="0"/>
          </a:p>
        </p:txBody>
      </p:sp>
      <p:sp>
        <p:nvSpPr>
          <p:cNvPr id="11" name="Shape 8"/>
          <p:cNvSpPr/>
          <p:nvPr/>
        </p:nvSpPr>
        <p:spPr>
          <a:xfrm>
            <a:off x="640080" y="4249369"/>
            <a:ext cx="10881360" cy="1173480"/>
          </a:xfrm>
          <a:prstGeom prst="roundRect">
            <a:avLst>
              <a:gd name="adj" fmla="val 8696"/>
            </a:avLst>
          </a:prstGeom>
          <a:solidFill>
            <a:srgbClr val="EEF3F8"/>
          </a:solidFill>
          <a:ln/>
        </p:spPr>
      </p:sp>
      <p:sp>
        <p:nvSpPr>
          <p:cNvPr id="12" name="Text 9"/>
          <p:cNvSpPr/>
          <p:nvPr/>
        </p:nvSpPr>
        <p:spPr>
          <a:xfrm>
            <a:off x="822960" y="4249369"/>
            <a:ext cx="4279392" cy="721360"/>
          </a:xfrm>
          <a:prstGeom prst="rect">
            <a:avLst/>
          </a:prstGeom>
          <a:noFill/>
          <a:ln/>
        </p:spPr>
        <p:txBody>
          <a:bodyPr wrap="square" lIns="0" tIns="0" rIns="0" bIns="0" rtlCol="0" anchor="ctr"/>
          <a:lstStyle/>
          <a:p>
            <a:pPr indent="0" marL="0">
              <a:buNone/>
            </a:pPr>
            <a:r>
              <a:rPr lang="en-US" sz="2000" i="1" dirty="0">
                <a:solidFill>
                  <a:srgbClr val="142A44"/>
                </a:solidFill>
                <a:latin typeface="Calibri" pitchFamily="34" charset="0"/>
                <a:ea typeface="Calibri" pitchFamily="34" charset="-122"/>
                <a:cs typeface="Calibri" pitchFamily="34" charset="-120"/>
              </a:rPr>
              <a:t>"1980'de yayımlanan bu roman, yazarın en iyi eseridir."</a:t>
            </a:r>
            <a:endParaRPr lang="en-US" sz="2000" dirty="0"/>
          </a:p>
        </p:txBody>
      </p:sp>
      <p:sp>
        <p:nvSpPr>
          <p:cNvPr id="13" name="Text 10"/>
          <p:cNvSpPr/>
          <p:nvPr/>
        </p:nvSpPr>
        <p:spPr>
          <a:xfrm>
            <a:off x="5212080" y="4249369"/>
            <a:ext cx="6126480" cy="1082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Tarih nesnel bir bilgi olsa da cümlenin ASIL YARGISI "en iyi eseri" — bu kanıtlanamaz, cümle ÖZNELDİR.</a:t>
            </a:r>
            <a:endParaRPr lang="en-US" sz="2000" dirty="0"/>
          </a:p>
        </p:txBody>
      </p:sp>
      <p:sp>
        <p:nvSpPr>
          <p:cNvPr id="14" name="Shape 11"/>
          <p:cNvSpPr/>
          <p:nvPr/>
        </p:nvSpPr>
        <p:spPr>
          <a:xfrm>
            <a:off x="640080" y="5632704"/>
            <a:ext cx="10881360" cy="812800"/>
          </a:xfrm>
          <a:prstGeom prst="roundRect">
            <a:avLst>
              <a:gd name="adj" fmla="val 16667"/>
            </a:avLst>
          </a:prstGeom>
          <a:solidFill>
            <a:srgbClr val="FBF3E3"/>
          </a:solidFill>
          <a:ln/>
        </p:spPr>
      </p:sp>
      <p:sp>
        <p:nvSpPr>
          <p:cNvPr id="15" name="Text 12"/>
          <p:cNvSpPr/>
          <p:nvPr/>
        </p:nvSpPr>
        <p:spPr>
          <a:xfrm>
            <a:off x="914400" y="5632704"/>
            <a:ext cx="10332720" cy="72136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Önemli: ara cümlecikteki bilgiye değil, cümlenin ASIL YARGISINA (yükleme yakın kısma) odaklanın.</a:t>
            </a:r>
            <a:endParaRPr lang="en-US" sz="2000" dirty="0"/>
          </a:p>
        </p:txBody>
      </p:sp>
      <p:sp>
        <p:nvSpPr>
          <p:cNvPr id="16" name="Text 13"/>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Derinleşme — Öznel/Nesnel İnce Çizgi</a:t>
            </a:r>
            <a:endParaRPr lang="en-US" sz="900" dirty="0"/>
          </a:p>
        </p:txBody>
      </p:sp>
      <p:sp>
        <p:nvSpPr>
          <p:cNvPr id="17" name="Text 14"/>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derinlik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DERINLEŞME · 2/2</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Karşılaştırma ve Değerlendirmeyi Ayırt Etme</a:t>
            </a:r>
            <a:endParaRPr lang="en-US" sz="2800" dirty="0"/>
          </a:p>
        </p:txBody>
      </p:sp>
      <p:sp>
        <p:nvSpPr>
          <p:cNvPr id="6" name="Shape 3"/>
          <p:cNvSpPr/>
          <p:nvPr/>
        </p:nvSpPr>
        <p:spPr>
          <a:xfrm>
            <a:off x="640080" y="1737360"/>
            <a:ext cx="10881360" cy="1051560"/>
          </a:xfrm>
          <a:prstGeom prst="roundRect">
            <a:avLst>
              <a:gd name="adj" fmla="val 8696"/>
            </a:avLst>
          </a:prstGeom>
          <a:solidFill>
            <a:srgbClr val="EEF3F8"/>
          </a:solidFill>
          <a:ln/>
        </p:spPr>
      </p:sp>
      <p:sp>
        <p:nvSpPr>
          <p:cNvPr id="7" name="Text 4"/>
          <p:cNvSpPr/>
          <p:nvPr/>
        </p:nvSpPr>
        <p:spPr>
          <a:xfrm>
            <a:off x="914400" y="1737360"/>
            <a:ext cx="10332720" cy="1051560"/>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Gözlem:  </a:t>
            </a:r>
            <a:pPr indent="0" marL="0">
              <a:buNone/>
            </a:pPr>
            <a:r>
              <a:rPr lang="en-US" sz="1900" dirty="0">
                <a:solidFill>
                  <a:srgbClr val="1E2761"/>
                </a:solidFill>
                <a:latin typeface="Calibri" pitchFamily="34" charset="0"/>
                <a:ea typeface="Calibri" pitchFamily="34" charset="-122"/>
                <a:cs typeface="Calibri" pitchFamily="34" charset="-120"/>
              </a:rPr>
              <a:t>ÖSYM, numaralanmış cümle sorularında sıklıkla karşılaştırma ile değerlendirmeyi aynı parçada birlikte kullanır. İkisini ayırmanın anahtarı: karşılaştırmada İKİ AYRI öge, değerlendirmede TEK BİR hedef vardır.</a:t>
            </a:r>
            <a:endParaRPr lang="en-US" sz="1900" dirty="0"/>
          </a:p>
        </p:txBody>
      </p:sp>
      <p:sp>
        <p:nvSpPr>
          <p:cNvPr id="8" name="Shape 5"/>
          <p:cNvSpPr/>
          <p:nvPr/>
        </p:nvSpPr>
        <p:spPr>
          <a:xfrm>
            <a:off x="640080" y="2971800"/>
            <a:ext cx="10881360" cy="868680"/>
          </a:xfrm>
          <a:prstGeom prst="roundRect">
            <a:avLst>
              <a:gd name="adj" fmla="val 8421"/>
            </a:avLst>
          </a:prstGeom>
          <a:solidFill>
            <a:srgbClr val="EEF3F8"/>
          </a:solidFill>
          <a:ln/>
        </p:spPr>
      </p:sp>
      <p:sp>
        <p:nvSpPr>
          <p:cNvPr id="9" name="Text 6"/>
          <p:cNvSpPr/>
          <p:nvPr/>
        </p:nvSpPr>
        <p:spPr>
          <a:xfrm>
            <a:off x="822960" y="3044952"/>
            <a:ext cx="3291840" cy="731520"/>
          </a:xfrm>
          <a:prstGeom prst="rect">
            <a:avLst/>
          </a:prstGeom>
          <a:noFill/>
          <a:ln/>
        </p:spPr>
        <p:txBody>
          <a:bodyPr wrap="square" lIns="0" tIns="0" rIns="0" bIns="0" rtlCol="0" anchor="ctr"/>
          <a:lstStyle/>
          <a:p>
            <a:pPr indent="0" marL="0">
              <a:buNone/>
            </a:pPr>
            <a:r>
              <a:rPr lang="en-US" sz="1600" i="1" dirty="0">
                <a:solidFill>
                  <a:srgbClr val="142A44"/>
                </a:solidFill>
                <a:latin typeface="Calibri" pitchFamily="34" charset="0"/>
                <a:ea typeface="Calibri" pitchFamily="34" charset="-122"/>
                <a:cs typeface="Calibri" pitchFamily="34" charset="-120"/>
              </a:rPr>
              <a:t>"Şiir, romandan daha çok okunur."</a:t>
            </a:r>
            <a:endParaRPr lang="en-US" sz="1600" dirty="0"/>
          </a:p>
        </p:txBody>
      </p:sp>
      <p:sp>
        <p:nvSpPr>
          <p:cNvPr id="10" name="Text 7"/>
          <p:cNvSpPr/>
          <p:nvPr/>
        </p:nvSpPr>
        <p:spPr>
          <a:xfrm>
            <a:off x="4251960" y="3044952"/>
            <a:ext cx="4937760" cy="731520"/>
          </a:xfrm>
          <a:prstGeom prst="rect">
            <a:avLst/>
          </a:prstGeom>
          <a:noFill/>
          <a:ln/>
        </p:spPr>
        <p:txBody>
          <a:bodyPr wrap="square" lIns="0" tIns="0" rIns="0" bIns="0" rtlCol="0" anchor="ctr"/>
          <a:lstStyle/>
          <a:p>
            <a:pPr indent="0" marL="0">
              <a:buNone/>
            </a:pPr>
            <a:r>
              <a:rPr lang="en-US" sz="1600" dirty="0">
                <a:solidFill>
                  <a:srgbClr val="1E2761"/>
                </a:solidFill>
                <a:latin typeface="Calibri" pitchFamily="34" charset="0"/>
                <a:ea typeface="Calibri" pitchFamily="34" charset="-122"/>
                <a:cs typeface="Calibri" pitchFamily="34" charset="-120"/>
              </a:rPr>
              <a:t>İKİ öge (şiir – roman) birlikte anılıyor, biri diğerine göre konumlanıyor →</a:t>
            </a:r>
            <a:endParaRPr lang="en-US" sz="1600" dirty="0"/>
          </a:p>
        </p:txBody>
      </p:sp>
      <p:sp>
        <p:nvSpPr>
          <p:cNvPr id="11" name="Shape 8"/>
          <p:cNvSpPr/>
          <p:nvPr/>
        </p:nvSpPr>
        <p:spPr>
          <a:xfrm>
            <a:off x="9326880" y="3127248"/>
            <a:ext cx="2057400" cy="548640"/>
          </a:xfrm>
          <a:prstGeom prst="roundRect">
            <a:avLst>
              <a:gd name="adj" fmla="val 13333"/>
            </a:avLst>
          </a:prstGeom>
          <a:solidFill>
            <a:srgbClr val="D9A441"/>
          </a:solidFill>
          <a:ln/>
          <a:effectLst>
            <a:outerShdw sx="100000" sy="100000" kx="0" ky="0" algn="bl" rotWithShape="0" blurRad="76200" dist="25400" dir="5400000">
              <a:srgbClr val="1E2761">
                <a:alpha val="18000"/>
              </a:srgbClr>
            </a:outerShdw>
          </a:effectLst>
        </p:spPr>
      </p:sp>
      <p:sp>
        <p:nvSpPr>
          <p:cNvPr id="12" name="Text 9"/>
          <p:cNvSpPr/>
          <p:nvPr/>
        </p:nvSpPr>
        <p:spPr>
          <a:xfrm>
            <a:off x="9326880" y="3127248"/>
            <a:ext cx="2057400" cy="548640"/>
          </a:xfrm>
          <a:prstGeom prst="rect">
            <a:avLst/>
          </a:prstGeom>
          <a:noFill/>
          <a:ln/>
        </p:spPr>
        <p:txBody>
          <a:bodyPr wrap="square" lIns="0" tIns="0" rIns="0" bIns="0" rtlCol="0" anchor="ctr"/>
          <a:lstStyle/>
          <a:p>
            <a:pPr algn="ctr" indent="0" marL="0">
              <a:buNone/>
            </a:pPr>
            <a:r>
              <a:rPr lang="en-US" sz="2000" b="1" dirty="0">
                <a:solidFill>
                  <a:srgbClr val="142A44"/>
                </a:solidFill>
                <a:latin typeface="Calibri" pitchFamily="34" charset="0"/>
                <a:ea typeface="Calibri" pitchFamily="34" charset="-122"/>
                <a:cs typeface="Calibri" pitchFamily="34" charset="-120"/>
              </a:rPr>
              <a:t>KARŞILAŞTIRMA</a:t>
            </a:r>
            <a:endParaRPr lang="en-US" sz="2000" dirty="0"/>
          </a:p>
        </p:txBody>
      </p:sp>
      <p:sp>
        <p:nvSpPr>
          <p:cNvPr id="13" name="Shape 10"/>
          <p:cNvSpPr/>
          <p:nvPr/>
        </p:nvSpPr>
        <p:spPr>
          <a:xfrm>
            <a:off x="640080" y="3959352"/>
            <a:ext cx="10881360" cy="868680"/>
          </a:xfrm>
          <a:prstGeom prst="roundRect">
            <a:avLst>
              <a:gd name="adj" fmla="val 8421"/>
            </a:avLst>
          </a:prstGeom>
          <a:solidFill>
            <a:srgbClr val="EEF3F8"/>
          </a:solidFill>
          <a:ln/>
        </p:spPr>
      </p:sp>
      <p:sp>
        <p:nvSpPr>
          <p:cNvPr id="14" name="Text 11"/>
          <p:cNvSpPr/>
          <p:nvPr/>
        </p:nvSpPr>
        <p:spPr>
          <a:xfrm>
            <a:off x="822960" y="4032504"/>
            <a:ext cx="3291840" cy="731520"/>
          </a:xfrm>
          <a:prstGeom prst="rect">
            <a:avLst/>
          </a:prstGeom>
          <a:noFill/>
          <a:ln/>
        </p:spPr>
        <p:txBody>
          <a:bodyPr wrap="square" lIns="0" tIns="0" rIns="0" bIns="0" rtlCol="0" anchor="ctr"/>
          <a:lstStyle/>
          <a:p>
            <a:pPr indent="0" marL="0">
              <a:buNone/>
            </a:pPr>
            <a:r>
              <a:rPr lang="en-US" sz="1600" i="1" dirty="0">
                <a:solidFill>
                  <a:srgbClr val="142A44"/>
                </a:solidFill>
                <a:latin typeface="Calibri" pitchFamily="34" charset="0"/>
                <a:ea typeface="Calibri" pitchFamily="34" charset="-122"/>
                <a:cs typeface="Calibri" pitchFamily="34" charset="-120"/>
              </a:rPr>
              <a:t>"Bu şiir, şairin en güçlü eseridir."</a:t>
            </a:r>
            <a:endParaRPr lang="en-US" sz="1600" dirty="0"/>
          </a:p>
        </p:txBody>
      </p:sp>
      <p:sp>
        <p:nvSpPr>
          <p:cNvPr id="15" name="Text 12"/>
          <p:cNvSpPr/>
          <p:nvPr/>
        </p:nvSpPr>
        <p:spPr>
          <a:xfrm>
            <a:off x="4251960" y="4032504"/>
            <a:ext cx="4937760" cy="73152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TEK bir eser (bu şiir) hakkında olumlu bir yargı veriliyor, başka bir eserle açıkça kıyaslanmıyor →</a:t>
            </a:r>
            <a:endParaRPr lang="en-US" sz="1500" dirty="0"/>
          </a:p>
        </p:txBody>
      </p:sp>
      <p:sp>
        <p:nvSpPr>
          <p:cNvPr id="16" name="Shape 13"/>
          <p:cNvSpPr/>
          <p:nvPr/>
        </p:nvSpPr>
        <p:spPr>
          <a:xfrm>
            <a:off x="9326880" y="4114800"/>
            <a:ext cx="2057400" cy="548640"/>
          </a:xfrm>
          <a:prstGeom prst="roundRect">
            <a:avLst>
              <a:gd name="adj" fmla="val 13333"/>
            </a:avLst>
          </a:prstGeom>
          <a:solidFill>
            <a:srgbClr val="D9A441"/>
          </a:solidFill>
          <a:ln/>
          <a:effectLst>
            <a:outerShdw sx="100000" sy="100000" kx="0" ky="0" algn="bl" rotWithShape="0" blurRad="76200" dist="25400" dir="5400000">
              <a:srgbClr val="1E2761">
                <a:alpha val="18000"/>
              </a:srgbClr>
            </a:outerShdw>
          </a:effectLst>
        </p:spPr>
      </p:sp>
      <p:sp>
        <p:nvSpPr>
          <p:cNvPr id="17" name="Text 14"/>
          <p:cNvSpPr/>
          <p:nvPr/>
        </p:nvSpPr>
        <p:spPr>
          <a:xfrm>
            <a:off x="9326880" y="4114800"/>
            <a:ext cx="2057400" cy="548640"/>
          </a:xfrm>
          <a:prstGeom prst="rect">
            <a:avLst/>
          </a:prstGeom>
          <a:noFill/>
          <a:ln/>
        </p:spPr>
        <p:txBody>
          <a:bodyPr wrap="square" lIns="0" tIns="0" rIns="0" bIns="0" rtlCol="0" anchor="ctr"/>
          <a:lstStyle/>
          <a:p>
            <a:pPr algn="ctr" indent="0" marL="0">
              <a:buNone/>
            </a:pPr>
            <a:r>
              <a:rPr lang="en-US" sz="2000" b="1" dirty="0">
                <a:solidFill>
                  <a:srgbClr val="142A44"/>
                </a:solidFill>
                <a:latin typeface="Calibri" pitchFamily="34" charset="0"/>
                <a:ea typeface="Calibri" pitchFamily="34" charset="-122"/>
                <a:cs typeface="Calibri" pitchFamily="34" charset="-120"/>
              </a:rPr>
              <a:t>DEĞERLENDİRME</a:t>
            </a:r>
            <a:endParaRPr lang="en-US" sz="2000" dirty="0"/>
          </a:p>
        </p:txBody>
      </p:sp>
      <p:sp>
        <p:nvSpPr>
          <p:cNvPr id="18" name="Shape 15"/>
          <p:cNvSpPr/>
          <p:nvPr/>
        </p:nvSpPr>
        <p:spPr>
          <a:xfrm>
            <a:off x="640080" y="4946904"/>
            <a:ext cx="10881360" cy="868680"/>
          </a:xfrm>
          <a:prstGeom prst="roundRect">
            <a:avLst>
              <a:gd name="adj" fmla="val 8421"/>
            </a:avLst>
          </a:prstGeom>
          <a:solidFill>
            <a:srgbClr val="EEF3F8"/>
          </a:solidFill>
          <a:ln/>
        </p:spPr>
      </p:sp>
      <p:sp>
        <p:nvSpPr>
          <p:cNvPr id="19" name="Text 16"/>
          <p:cNvSpPr/>
          <p:nvPr/>
        </p:nvSpPr>
        <p:spPr>
          <a:xfrm>
            <a:off x="822960" y="5020056"/>
            <a:ext cx="3291840" cy="731520"/>
          </a:xfrm>
          <a:prstGeom prst="rect">
            <a:avLst/>
          </a:prstGeom>
          <a:noFill/>
          <a:ln/>
        </p:spPr>
        <p:txBody>
          <a:bodyPr wrap="square" lIns="0" tIns="0" rIns="0" bIns="0" rtlCol="0" anchor="ctr"/>
          <a:lstStyle/>
          <a:p>
            <a:pPr indent="0" marL="0">
              <a:buNone/>
            </a:pPr>
            <a:r>
              <a:rPr lang="en-US" sz="1600" i="1" dirty="0">
                <a:solidFill>
                  <a:srgbClr val="142A44"/>
                </a:solidFill>
                <a:latin typeface="Calibri" pitchFamily="34" charset="0"/>
                <a:ea typeface="Calibri" pitchFamily="34" charset="-122"/>
                <a:cs typeface="Calibri" pitchFamily="34" charset="-120"/>
              </a:rPr>
              <a:t>"Yazarların çoğu önce şiirle başlar."</a:t>
            </a:r>
            <a:endParaRPr lang="en-US" sz="1600" dirty="0"/>
          </a:p>
        </p:txBody>
      </p:sp>
      <p:sp>
        <p:nvSpPr>
          <p:cNvPr id="20" name="Text 17"/>
          <p:cNvSpPr/>
          <p:nvPr/>
        </p:nvSpPr>
        <p:spPr>
          <a:xfrm>
            <a:off x="4251960" y="5020056"/>
            <a:ext cx="4937760" cy="731520"/>
          </a:xfrm>
          <a:prstGeom prst="rect">
            <a:avLst/>
          </a:prstGeom>
          <a:noFill/>
          <a:ln/>
        </p:spPr>
        <p:txBody>
          <a:bodyPr wrap="square" lIns="0" tIns="0" rIns="0" bIns="0" rtlCol="0" anchor="ctr"/>
          <a:lstStyle/>
          <a:p>
            <a:pPr indent="0" marL="0">
              <a:buNone/>
            </a:pPr>
            <a:r>
              <a:rPr lang="en-US" sz="1600" dirty="0">
                <a:solidFill>
                  <a:srgbClr val="1E2761"/>
                </a:solidFill>
                <a:latin typeface="Calibri" pitchFamily="34" charset="0"/>
                <a:ea typeface="Calibri" pitchFamily="34" charset="-122"/>
                <a:cs typeface="Calibri" pitchFamily="34" charset="-120"/>
              </a:rPr>
              <a:t>Belirli bir esere/kişiye değil, GENEL bir gözleme dayanıyor →</a:t>
            </a:r>
            <a:endParaRPr lang="en-US" sz="1600" dirty="0"/>
          </a:p>
        </p:txBody>
      </p:sp>
      <p:sp>
        <p:nvSpPr>
          <p:cNvPr id="21" name="Shape 18"/>
          <p:cNvSpPr/>
          <p:nvPr/>
        </p:nvSpPr>
        <p:spPr>
          <a:xfrm>
            <a:off x="9326880" y="5102352"/>
            <a:ext cx="2057400" cy="548640"/>
          </a:xfrm>
          <a:prstGeom prst="roundRect">
            <a:avLst>
              <a:gd name="adj" fmla="val 13333"/>
            </a:avLst>
          </a:prstGeom>
          <a:solidFill>
            <a:srgbClr val="D9A441"/>
          </a:solidFill>
          <a:ln/>
          <a:effectLst>
            <a:outerShdw sx="100000" sy="100000" kx="0" ky="0" algn="bl" rotWithShape="0" blurRad="76200" dist="25400" dir="5400000">
              <a:srgbClr val="1E2761">
                <a:alpha val="18000"/>
              </a:srgbClr>
            </a:outerShdw>
          </a:effectLst>
        </p:spPr>
      </p:sp>
      <p:sp>
        <p:nvSpPr>
          <p:cNvPr id="22" name="Text 19"/>
          <p:cNvSpPr/>
          <p:nvPr/>
        </p:nvSpPr>
        <p:spPr>
          <a:xfrm>
            <a:off x="9326880" y="5102352"/>
            <a:ext cx="2057400" cy="548640"/>
          </a:xfrm>
          <a:prstGeom prst="rect">
            <a:avLst/>
          </a:prstGeom>
          <a:noFill/>
          <a:ln/>
        </p:spPr>
        <p:txBody>
          <a:bodyPr wrap="square" lIns="0" tIns="0" rIns="0" bIns="0" rtlCol="0" anchor="ctr"/>
          <a:lstStyle/>
          <a:p>
            <a:pPr algn="ctr" indent="0" marL="0">
              <a:buNone/>
            </a:pPr>
            <a:r>
              <a:rPr lang="en-US" sz="2000" b="1" dirty="0">
                <a:solidFill>
                  <a:srgbClr val="142A44"/>
                </a:solidFill>
                <a:latin typeface="Calibri" pitchFamily="34" charset="0"/>
                <a:ea typeface="Calibri" pitchFamily="34" charset="-122"/>
                <a:cs typeface="Calibri" pitchFamily="34" charset="-120"/>
              </a:rPr>
              <a:t>NE İKİSİ NE DE</a:t>
            </a:r>
            <a:endParaRPr lang="en-US" sz="2000" dirty="0"/>
          </a:p>
        </p:txBody>
      </p:sp>
      <p:sp>
        <p:nvSpPr>
          <p:cNvPr id="23" name="Shape 20"/>
          <p:cNvSpPr/>
          <p:nvPr/>
        </p:nvSpPr>
        <p:spPr>
          <a:xfrm>
            <a:off x="640080" y="5943600"/>
            <a:ext cx="10881360" cy="502920"/>
          </a:xfrm>
          <a:prstGeom prst="roundRect">
            <a:avLst>
              <a:gd name="adj" fmla="val 18182"/>
            </a:avLst>
          </a:prstGeom>
          <a:solidFill>
            <a:srgbClr val="FBF3E3"/>
          </a:solidFill>
          <a:ln/>
        </p:spPr>
      </p:sp>
      <p:sp>
        <p:nvSpPr>
          <p:cNvPr id="24" name="Text 21"/>
          <p:cNvSpPr/>
          <p:nvPr/>
        </p:nvSpPr>
        <p:spPr>
          <a:xfrm>
            <a:off x="914400" y="5943600"/>
            <a:ext cx="10332720" cy="502920"/>
          </a:xfrm>
          <a:prstGeom prst="rect">
            <a:avLst/>
          </a:prstGeom>
          <a:noFill/>
          <a:ln/>
        </p:spPr>
        <p:txBody>
          <a:bodyPr wrap="square" lIns="0" tIns="0" rIns="0" bIns="0" rtlCol="0" anchor="ctr"/>
          <a:lstStyle/>
          <a:p>
            <a:pPr indent="0" marL="0">
              <a:buNone/>
            </a:pPr>
            <a:r>
              <a:rPr lang="en-US" sz="1650" dirty="0">
                <a:solidFill>
                  <a:srgbClr val="1E2761"/>
                </a:solidFill>
                <a:latin typeface="Calibri" pitchFamily="34" charset="0"/>
                <a:ea typeface="Calibri" pitchFamily="34" charset="-122"/>
                <a:cs typeface="Calibri" pitchFamily="34" charset="-120"/>
              </a:rPr>
              <a:t>Pratik ipucu: "İki ayrı şey mi kıyaslanıyor, yoksa tek bir şey mi değerlendiriliyor?" diye sorun.</a:t>
            </a:r>
            <a:endParaRPr lang="en-US" sz="165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Derinleşme — Karşılaştırma/Değerlendirme</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1/3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(ÖSS - 1995)</a:t>
            </a:r>
            <a:endParaRPr lang="en-US" sz="1050" dirty="0"/>
          </a:p>
        </p:txBody>
      </p:sp>
      <p:sp>
        <p:nvSpPr>
          <p:cNvPr id="8" name="Shape 5"/>
          <p:cNvSpPr/>
          <p:nvPr/>
        </p:nvSpPr>
        <p:spPr>
          <a:xfrm>
            <a:off x="640080" y="1645920"/>
            <a:ext cx="10908792" cy="4653502"/>
          </a:xfrm>
          <a:prstGeom prst="roundRect">
            <a:avLst>
              <a:gd name="adj" fmla="val 2474"/>
            </a:avLst>
          </a:prstGeom>
          <a:solidFill>
            <a:srgbClr val="EEF3F8"/>
          </a:solidFill>
          <a:ln/>
        </p:spPr>
      </p:sp>
      <p:sp>
        <p:nvSpPr>
          <p:cNvPr id="9" name="Text 6"/>
          <p:cNvSpPr/>
          <p:nvPr/>
        </p:nvSpPr>
        <p:spPr>
          <a:xfrm>
            <a:off x="914400" y="1828800"/>
            <a:ext cx="10360152" cy="369697"/>
          </a:xfrm>
          <a:prstGeom prst="rect">
            <a:avLst/>
          </a:prstGeom>
          <a:noFill/>
          <a:ln/>
        </p:spPr>
        <p:txBody>
          <a:bodyPr wrap="square" lIns="0" tIns="0" rIns="0" bIns="0" rtlCol="0" anchor="t"/>
          <a:lstStyle/>
          <a:p>
            <a:pPr indent="0" marL="0">
              <a:buNone/>
            </a:pPr>
            <a:r>
              <a:rPr lang="en-US" sz="2050" b="1" dirty="0">
                <a:solidFill>
                  <a:srgbClr val="1E3A5F"/>
                </a:solidFill>
                <a:latin typeface="Calibri" pitchFamily="34" charset="0"/>
                <a:ea typeface="Calibri" pitchFamily="34" charset="-122"/>
                <a:cs typeface="Calibri" pitchFamily="34" charset="-120"/>
              </a:rPr>
              <a:t>Aşağıdaki cümlelerin hangisi öznel bir yargıdır?</a:t>
            </a:r>
            <a:endParaRPr lang="en-US" sz="2050" dirty="0"/>
          </a:p>
        </p:txBody>
      </p:sp>
      <p:sp>
        <p:nvSpPr>
          <p:cNvPr id="10" name="Text 7"/>
          <p:cNvSpPr/>
          <p:nvPr/>
        </p:nvSpPr>
        <p:spPr>
          <a:xfrm>
            <a:off x="914400" y="2436241"/>
            <a:ext cx="10360152" cy="649224"/>
          </a:xfrm>
          <a:prstGeom prst="rect">
            <a:avLst/>
          </a:prstGeom>
          <a:noFill/>
          <a:ln/>
        </p:spPr>
        <p:txBody>
          <a:bodyPr wrap="square" lIns="0" tIns="0" rIns="0" bIns="0" rtlCol="0" anchor="t"/>
          <a:lstStyle/>
          <a:p>
            <a:pPr indent="0" marL="0">
              <a:buNone/>
            </a:pPr>
            <a:r>
              <a:rPr lang="en-US" sz="1800" b="1" dirty="0">
                <a:solidFill>
                  <a:srgbClr val="1E3A5F"/>
                </a:solidFill>
                <a:latin typeface="Calibri" pitchFamily="34" charset="0"/>
                <a:ea typeface="Calibri" pitchFamily="34" charset="-122"/>
                <a:cs typeface="Calibri" pitchFamily="34" charset="-120"/>
              </a:rPr>
              <a:t>A)  </a:t>
            </a:r>
            <a:pPr indent="0" marL="0">
              <a:buNone/>
            </a:pPr>
            <a:r>
              <a:rPr lang="en-US" sz="1800" dirty="0">
                <a:solidFill>
                  <a:srgbClr val="1E2761"/>
                </a:solidFill>
                <a:latin typeface="Calibri" pitchFamily="34" charset="0"/>
                <a:ea typeface="Calibri" pitchFamily="34" charset="-122"/>
                <a:cs typeface="Calibri" pitchFamily="34" charset="-120"/>
              </a:rPr>
              <a:t>Yunus Emre'nin bu şiirinde "bulut"un gizli gizli ağlamasından söz edilerek buluta insan niteliği verilmektedir.</a:t>
            </a:r>
            <a:endParaRPr lang="en-US" sz="1800" dirty="0"/>
          </a:p>
        </p:txBody>
      </p:sp>
      <p:sp>
        <p:nvSpPr>
          <p:cNvPr id="11" name="Text 8"/>
          <p:cNvSpPr/>
          <p:nvPr/>
        </p:nvSpPr>
        <p:spPr>
          <a:xfrm>
            <a:off x="914400" y="3228080"/>
            <a:ext cx="10360152" cy="649224"/>
          </a:xfrm>
          <a:prstGeom prst="rect">
            <a:avLst/>
          </a:prstGeom>
          <a:noFill/>
          <a:ln/>
        </p:spPr>
        <p:txBody>
          <a:bodyPr wrap="square" lIns="0" tIns="0" rIns="0" bIns="0" rtlCol="0" anchor="t"/>
          <a:lstStyle/>
          <a:p>
            <a:pPr indent="0" marL="0">
              <a:buNone/>
            </a:pPr>
            <a:r>
              <a:rPr lang="en-US" sz="1800" b="1" dirty="0">
                <a:solidFill>
                  <a:srgbClr val="1E3A5F"/>
                </a:solidFill>
                <a:latin typeface="Calibri" pitchFamily="34" charset="0"/>
                <a:ea typeface="Calibri" pitchFamily="34" charset="-122"/>
                <a:cs typeface="Calibri" pitchFamily="34" charset="-120"/>
              </a:rPr>
              <a:t>B)  </a:t>
            </a:r>
            <a:pPr indent="0" marL="0">
              <a:buNone/>
            </a:pPr>
            <a:r>
              <a:rPr lang="en-US" sz="1800" dirty="0">
                <a:solidFill>
                  <a:srgbClr val="1E2761"/>
                </a:solidFill>
                <a:latin typeface="Calibri" pitchFamily="34" charset="0"/>
                <a:ea typeface="Calibri" pitchFamily="34" charset="-122"/>
                <a:cs typeface="Calibri" pitchFamily="34" charset="-120"/>
              </a:rPr>
              <a:t>Bedri Rahmi Eyüboğlu'nun bu şiirinde doğadaki nesnelerin özellikleri insanlar için kullanılmıştır.</a:t>
            </a:r>
            <a:endParaRPr lang="en-US" sz="1800" dirty="0"/>
          </a:p>
        </p:txBody>
      </p:sp>
      <p:sp>
        <p:nvSpPr>
          <p:cNvPr id="12" name="Text 9"/>
          <p:cNvSpPr/>
          <p:nvPr/>
        </p:nvSpPr>
        <p:spPr>
          <a:xfrm>
            <a:off x="914400" y="4019918"/>
            <a:ext cx="10360152" cy="649224"/>
          </a:xfrm>
          <a:prstGeom prst="rect">
            <a:avLst/>
          </a:prstGeom>
          <a:noFill/>
          <a:ln/>
        </p:spPr>
        <p:txBody>
          <a:bodyPr wrap="square" lIns="0" tIns="0" rIns="0" bIns="0" rtlCol="0" anchor="t"/>
          <a:lstStyle/>
          <a:p>
            <a:pPr indent="0" marL="0">
              <a:buNone/>
            </a:pPr>
            <a:r>
              <a:rPr lang="en-US" sz="1800" b="1" dirty="0">
                <a:solidFill>
                  <a:srgbClr val="1E3A5F"/>
                </a:solidFill>
                <a:latin typeface="Calibri" pitchFamily="34" charset="0"/>
                <a:ea typeface="Calibri" pitchFamily="34" charset="-122"/>
                <a:cs typeface="Calibri" pitchFamily="34" charset="-120"/>
              </a:rPr>
              <a:t>C)  </a:t>
            </a:r>
            <a:pPr indent="0" marL="0">
              <a:buNone/>
            </a:pPr>
            <a:r>
              <a:rPr lang="en-US" sz="1800" dirty="0">
                <a:solidFill>
                  <a:srgbClr val="1E2761"/>
                </a:solidFill>
                <a:latin typeface="Calibri" pitchFamily="34" charset="0"/>
                <a:ea typeface="Calibri" pitchFamily="34" charset="-122"/>
                <a:cs typeface="Calibri" pitchFamily="34" charset="-120"/>
              </a:rPr>
              <a:t>Faruk Nafiz Çamlıbel'in "Han Duvarları"nda birçok kez kişileştirmeye başvurduğu görülmektedir.</a:t>
            </a:r>
            <a:endParaRPr lang="en-US" sz="1800" dirty="0"/>
          </a:p>
        </p:txBody>
      </p:sp>
      <p:sp>
        <p:nvSpPr>
          <p:cNvPr id="13" name="Text 10"/>
          <p:cNvSpPr/>
          <p:nvPr/>
        </p:nvSpPr>
        <p:spPr>
          <a:xfrm>
            <a:off x="914400" y="4811757"/>
            <a:ext cx="10360152" cy="324612"/>
          </a:xfrm>
          <a:prstGeom prst="rect">
            <a:avLst/>
          </a:prstGeom>
          <a:noFill/>
          <a:ln/>
        </p:spPr>
        <p:txBody>
          <a:bodyPr wrap="square" lIns="0" tIns="0" rIns="0" bIns="0" rtlCol="0" anchor="t"/>
          <a:lstStyle/>
          <a:p>
            <a:pPr indent="0" marL="0">
              <a:buNone/>
            </a:pPr>
            <a:r>
              <a:rPr lang="en-US" sz="1800" b="1" dirty="0">
                <a:solidFill>
                  <a:srgbClr val="1E3A5F"/>
                </a:solidFill>
                <a:latin typeface="Calibri" pitchFamily="34" charset="0"/>
                <a:ea typeface="Calibri" pitchFamily="34" charset="-122"/>
                <a:cs typeface="Calibri" pitchFamily="34" charset="-120"/>
              </a:rPr>
              <a:t>D)  </a:t>
            </a:r>
            <a:pPr indent="0" marL="0">
              <a:buNone/>
            </a:pPr>
            <a:r>
              <a:rPr lang="en-US" sz="1800" dirty="0">
                <a:solidFill>
                  <a:srgbClr val="1E2761"/>
                </a:solidFill>
                <a:latin typeface="Calibri" pitchFamily="34" charset="0"/>
                <a:ea typeface="Calibri" pitchFamily="34" charset="-122"/>
                <a:cs typeface="Calibri" pitchFamily="34" charset="-120"/>
              </a:rPr>
              <a:t>Ahmet Haşim'in "Sonbahar" şiirindeki kişileştirme de çok ilgi çekicidir.</a:t>
            </a:r>
            <a:endParaRPr lang="en-US" sz="1800" dirty="0"/>
          </a:p>
        </p:txBody>
      </p:sp>
      <p:sp>
        <p:nvSpPr>
          <p:cNvPr id="14" name="Text 11"/>
          <p:cNvSpPr/>
          <p:nvPr/>
        </p:nvSpPr>
        <p:spPr>
          <a:xfrm>
            <a:off x="914400" y="5278983"/>
            <a:ext cx="10360152" cy="649224"/>
          </a:xfrm>
          <a:prstGeom prst="rect">
            <a:avLst/>
          </a:prstGeom>
          <a:noFill/>
          <a:ln/>
        </p:spPr>
        <p:txBody>
          <a:bodyPr wrap="square" lIns="0" tIns="0" rIns="0" bIns="0" rtlCol="0" anchor="t"/>
          <a:lstStyle/>
          <a:p>
            <a:pPr indent="0" marL="0">
              <a:buNone/>
            </a:pPr>
            <a:r>
              <a:rPr lang="en-US" sz="1800" b="1" dirty="0">
                <a:solidFill>
                  <a:srgbClr val="1E3A5F"/>
                </a:solidFill>
                <a:latin typeface="Calibri" pitchFamily="34" charset="0"/>
                <a:ea typeface="Calibri" pitchFamily="34" charset="-122"/>
                <a:cs typeface="Calibri" pitchFamily="34" charset="-120"/>
              </a:rPr>
              <a:t>E)  </a:t>
            </a:r>
            <a:pPr indent="0" marL="0">
              <a:buNone/>
            </a:pPr>
            <a:r>
              <a:rPr lang="en-US" sz="1800" dirty="0">
                <a:solidFill>
                  <a:srgbClr val="1E2761"/>
                </a:solidFill>
                <a:latin typeface="Calibri" pitchFamily="34" charset="0"/>
                <a:ea typeface="Calibri" pitchFamily="34" charset="-122"/>
                <a:cs typeface="Calibri" pitchFamily="34" charset="-120"/>
              </a:rPr>
              <a:t>Behçet Necatigil'in bu dizelerinde sokaklar için "gülümseyen" sözcüğü kullanılarak kişileştirme yapılmıştır.</a:t>
            </a:r>
            <a:endParaRPr lang="en-US" sz="18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1 — gerçek ÖSYM sorusu (Öznellik)</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2/3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(ÖSS - 2001)</a:t>
            </a:r>
            <a:endParaRPr lang="en-US" sz="1050" dirty="0"/>
          </a:p>
        </p:txBody>
      </p:sp>
      <p:sp>
        <p:nvSpPr>
          <p:cNvPr id="8" name="Shape 5"/>
          <p:cNvSpPr/>
          <p:nvPr/>
        </p:nvSpPr>
        <p:spPr>
          <a:xfrm>
            <a:off x="640080" y="1783080"/>
            <a:ext cx="10908792" cy="4434840"/>
          </a:xfrm>
          <a:prstGeom prst="roundRect">
            <a:avLst>
              <a:gd name="adj" fmla="val 2474"/>
            </a:avLst>
          </a:prstGeom>
          <a:solidFill>
            <a:srgbClr val="EEF3F8"/>
          </a:solidFill>
          <a:ln/>
        </p:spPr>
      </p:sp>
      <p:sp>
        <p:nvSpPr>
          <p:cNvPr id="9" name="Text 6"/>
          <p:cNvSpPr/>
          <p:nvPr/>
        </p:nvSpPr>
        <p:spPr>
          <a:xfrm>
            <a:off x="914400" y="1965960"/>
            <a:ext cx="10360152" cy="1552321"/>
          </a:xfrm>
          <a:prstGeom prst="rect">
            <a:avLst/>
          </a:prstGeom>
          <a:noFill/>
          <a:ln/>
        </p:spPr>
        <p:txBody>
          <a:bodyPr wrap="square" lIns="0" tIns="0" rIns="0" bIns="0" rtlCol="0" anchor="t"/>
          <a:lstStyle/>
          <a:p>
            <a:pPr indent="0" marL="0">
              <a:buNone/>
            </a:pPr>
            <a:r>
              <a:rPr lang="en-US" sz="1600" b="1" dirty="0">
                <a:solidFill>
                  <a:srgbClr val="1E3A5F"/>
                </a:solidFill>
                <a:latin typeface="Calibri" pitchFamily="34" charset="0"/>
                <a:ea typeface="Calibri" pitchFamily="34" charset="-122"/>
                <a:cs typeface="Calibri" pitchFamily="34" charset="-120"/>
              </a:rPr>
              <a:t>(I) Roman yazarken konuşmalara yer vermek çoğunlukla kaçınılmazdır. (II) Hatta salt konuşmalardan oluşan romanlar bile vardır. (III) Bu romanlarda herhâlde amaç, tip yaratmaktır. (IV) İki satırlık bir konuşma, bir karakteri on sayfalık bir betimlemeden daha başarılı bir biçimde çizebilir. (V) Bunun başarılı örneklerine M.Ş. Esendal'ın Ayaşlı ve Kiracıları adlı yapıtında rastlıyoruz.</a:t>
            </a:r>
            <a:endParaRPr lang="en-US" sz="1600" dirty="0"/>
          </a:p>
          <a:p>
            <a:pPr indent="0" marL="0">
              <a:buNone/>
            </a:pPr>
            <a:endParaRPr lang="en-US" sz="1600" dirty="0"/>
          </a:p>
          <a:p>
            <a:pPr indent="0" marL="0">
              <a:buNone/>
            </a:pPr>
            <a:r>
              <a:rPr lang="en-US" sz="1600" b="1" dirty="0">
                <a:solidFill>
                  <a:srgbClr val="1E3A5F"/>
                </a:solidFill>
                <a:latin typeface="Calibri" pitchFamily="34" charset="0"/>
                <a:ea typeface="Calibri" pitchFamily="34" charset="-122"/>
                <a:cs typeface="Calibri" pitchFamily="34" charset="-120"/>
              </a:rPr>
              <a:t>Bu parçadaki numaralanmış cümlelerin hangisinde "karşılaştırma" yapılmıştır?</a:t>
            </a:r>
            <a:endParaRPr lang="en-US" sz="1600" dirty="0"/>
          </a:p>
        </p:txBody>
      </p:sp>
      <p:sp>
        <p:nvSpPr>
          <p:cNvPr id="10" name="Text 7"/>
          <p:cNvSpPr/>
          <p:nvPr/>
        </p:nvSpPr>
        <p:spPr>
          <a:xfrm>
            <a:off x="914400" y="3756025"/>
            <a:ext cx="10360152" cy="302971"/>
          </a:xfrm>
          <a:prstGeom prst="rect">
            <a:avLst/>
          </a:prstGeom>
          <a:noFill/>
          <a:ln/>
        </p:spPr>
        <p:txBody>
          <a:bodyPr wrap="square" lIns="0" tIns="0" rIns="0" bIns="0" rtlCol="0" anchor="t"/>
          <a:lstStyle/>
          <a:p>
            <a:pPr indent="0" marL="0">
              <a:buNone/>
            </a:pPr>
            <a:r>
              <a:rPr lang="en-US" sz="1700" b="1" dirty="0">
                <a:solidFill>
                  <a:srgbClr val="1E3A5F"/>
                </a:solidFill>
                <a:latin typeface="Calibri" pitchFamily="34" charset="0"/>
                <a:ea typeface="Calibri" pitchFamily="34" charset="-122"/>
                <a:cs typeface="Calibri" pitchFamily="34" charset="-120"/>
              </a:rPr>
              <a:t>A)  </a:t>
            </a:r>
            <a:pPr indent="0" marL="0">
              <a:buNone/>
            </a:pPr>
            <a:r>
              <a:rPr lang="en-US" sz="1700" dirty="0">
                <a:solidFill>
                  <a:srgbClr val="1E2761"/>
                </a:solidFill>
                <a:latin typeface="Calibri" pitchFamily="34" charset="0"/>
                <a:ea typeface="Calibri" pitchFamily="34" charset="-122"/>
                <a:cs typeface="Calibri" pitchFamily="34" charset="-120"/>
              </a:rPr>
              <a:t>I.</a:t>
            </a:r>
            <a:endParaRPr lang="en-US" sz="1700" dirty="0"/>
          </a:p>
        </p:txBody>
      </p:sp>
      <p:sp>
        <p:nvSpPr>
          <p:cNvPr id="11" name="Text 8"/>
          <p:cNvSpPr/>
          <p:nvPr/>
        </p:nvSpPr>
        <p:spPr>
          <a:xfrm>
            <a:off x="914400" y="4202684"/>
            <a:ext cx="10360152" cy="302971"/>
          </a:xfrm>
          <a:prstGeom prst="rect">
            <a:avLst/>
          </a:prstGeom>
          <a:noFill/>
          <a:ln/>
        </p:spPr>
        <p:txBody>
          <a:bodyPr wrap="square" lIns="0" tIns="0" rIns="0" bIns="0" rtlCol="0" anchor="t"/>
          <a:lstStyle/>
          <a:p>
            <a:pPr indent="0" marL="0">
              <a:buNone/>
            </a:pPr>
            <a:r>
              <a:rPr lang="en-US" sz="1700" b="1" dirty="0">
                <a:solidFill>
                  <a:srgbClr val="1E3A5F"/>
                </a:solidFill>
                <a:latin typeface="Calibri" pitchFamily="34" charset="0"/>
                <a:ea typeface="Calibri" pitchFamily="34" charset="-122"/>
                <a:cs typeface="Calibri" pitchFamily="34" charset="-120"/>
              </a:rPr>
              <a:t>B)  </a:t>
            </a:r>
            <a:pPr indent="0" marL="0">
              <a:buNone/>
            </a:pPr>
            <a:r>
              <a:rPr lang="en-US" sz="1700" dirty="0">
                <a:solidFill>
                  <a:srgbClr val="1E2761"/>
                </a:solidFill>
                <a:latin typeface="Calibri" pitchFamily="34" charset="0"/>
                <a:ea typeface="Calibri" pitchFamily="34" charset="-122"/>
                <a:cs typeface="Calibri" pitchFamily="34" charset="-120"/>
              </a:rPr>
              <a:t>II.</a:t>
            </a:r>
            <a:endParaRPr lang="en-US" sz="1700" dirty="0"/>
          </a:p>
        </p:txBody>
      </p:sp>
      <p:sp>
        <p:nvSpPr>
          <p:cNvPr id="12" name="Text 9"/>
          <p:cNvSpPr/>
          <p:nvPr/>
        </p:nvSpPr>
        <p:spPr>
          <a:xfrm>
            <a:off x="914400" y="4649343"/>
            <a:ext cx="10360152" cy="302971"/>
          </a:xfrm>
          <a:prstGeom prst="rect">
            <a:avLst/>
          </a:prstGeom>
          <a:noFill/>
          <a:ln/>
        </p:spPr>
        <p:txBody>
          <a:bodyPr wrap="square" lIns="0" tIns="0" rIns="0" bIns="0" rtlCol="0" anchor="t"/>
          <a:lstStyle/>
          <a:p>
            <a:pPr indent="0" marL="0">
              <a:buNone/>
            </a:pPr>
            <a:r>
              <a:rPr lang="en-US" sz="1700" b="1" dirty="0">
                <a:solidFill>
                  <a:srgbClr val="1E3A5F"/>
                </a:solidFill>
                <a:latin typeface="Calibri" pitchFamily="34" charset="0"/>
                <a:ea typeface="Calibri" pitchFamily="34" charset="-122"/>
                <a:cs typeface="Calibri" pitchFamily="34" charset="-120"/>
              </a:rPr>
              <a:t>C)  </a:t>
            </a:r>
            <a:pPr indent="0" marL="0">
              <a:buNone/>
            </a:pPr>
            <a:r>
              <a:rPr lang="en-US" sz="1700" dirty="0">
                <a:solidFill>
                  <a:srgbClr val="1E2761"/>
                </a:solidFill>
                <a:latin typeface="Calibri" pitchFamily="34" charset="0"/>
                <a:ea typeface="Calibri" pitchFamily="34" charset="-122"/>
                <a:cs typeface="Calibri" pitchFamily="34" charset="-120"/>
              </a:rPr>
              <a:t>III.</a:t>
            </a:r>
            <a:endParaRPr lang="en-US" sz="1700" dirty="0"/>
          </a:p>
        </p:txBody>
      </p:sp>
      <p:sp>
        <p:nvSpPr>
          <p:cNvPr id="13" name="Text 10"/>
          <p:cNvSpPr/>
          <p:nvPr/>
        </p:nvSpPr>
        <p:spPr>
          <a:xfrm>
            <a:off x="914400" y="5096002"/>
            <a:ext cx="10360152" cy="302971"/>
          </a:xfrm>
          <a:prstGeom prst="rect">
            <a:avLst/>
          </a:prstGeom>
          <a:noFill/>
          <a:ln/>
        </p:spPr>
        <p:txBody>
          <a:bodyPr wrap="square" lIns="0" tIns="0" rIns="0" bIns="0" rtlCol="0" anchor="t"/>
          <a:lstStyle/>
          <a:p>
            <a:pPr indent="0" marL="0">
              <a:buNone/>
            </a:pPr>
            <a:r>
              <a:rPr lang="en-US" sz="1700" b="1" dirty="0">
                <a:solidFill>
                  <a:srgbClr val="1E3A5F"/>
                </a:solidFill>
                <a:latin typeface="Calibri" pitchFamily="34" charset="0"/>
                <a:ea typeface="Calibri" pitchFamily="34" charset="-122"/>
                <a:cs typeface="Calibri" pitchFamily="34" charset="-120"/>
              </a:rPr>
              <a:t>D)  </a:t>
            </a:r>
            <a:pPr indent="0" marL="0">
              <a:buNone/>
            </a:pPr>
            <a:r>
              <a:rPr lang="en-US" sz="1700" dirty="0">
                <a:solidFill>
                  <a:srgbClr val="1E2761"/>
                </a:solidFill>
                <a:latin typeface="Calibri" pitchFamily="34" charset="0"/>
                <a:ea typeface="Calibri" pitchFamily="34" charset="-122"/>
                <a:cs typeface="Calibri" pitchFamily="34" charset="-120"/>
              </a:rPr>
              <a:t>IV.</a:t>
            </a:r>
            <a:endParaRPr lang="en-US" sz="1700" dirty="0"/>
          </a:p>
        </p:txBody>
      </p:sp>
      <p:sp>
        <p:nvSpPr>
          <p:cNvPr id="14" name="Text 11"/>
          <p:cNvSpPr/>
          <p:nvPr/>
        </p:nvSpPr>
        <p:spPr>
          <a:xfrm>
            <a:off x="914400" y="5542661"/>
            <a:ext cx="10360152" cy="302971"/>
          </a:xfrm>
          <a:prstGeom prst="rect">
            <a:avLst/>
          </a:prstGeom>
          <a:noFill/>
          <a:ln/>
        </p:spPr>
        <p:txBody>
          <a:bodyPr wrap="square" lIns="0" tIns="0" rIns="0" bIns="0" rtlCol="0" anchor="t"/>
          <a:lstStyle/>
          <a:p>
            <a:pPr indent="0" marL="0">
              <a:buNone/>
            </a:pPr>
            <a:r>
              <a:rPr lang="en-US" sz="1700" b="1" dirty="0">
                <a:solidFill>
                  <a:srgbClr val="1E3A5F"/>
                </a:solidFill>
                <a:latin typeface="Calibri" pitchFamily="34" charset="0"/>
                <a:ea typeface="Calibri" pitchFamily="34" charset="-122"/>
                <a:cs typeface="Calibri" pitchFamily="34" charset="-120"/>
              </a:rPr>
              <a:t>E)  </a:t>
            </a:r>
            <a:pPr indent="0" marL="0">
              <a:buNone/>
            </a:pPr>
            <a:r>
              <a:rPr lang="en-US" sz="1700" dirty="0">
                <a:solidFill>
                  <a:srgbClr val="1E2761"/>
                </a:solidFill>
                <a:latin typeface="Calibri" pitchFamily="34" charset="0"/>
                <a:ea typeface="Calibri" pitchFamily="34" charset="-122"/>
                <a:cs typeface="Calibri" pitchFamily="34" charset="-120"/>
              </a:rPr>
              <a:t>V.</a:t>
            </a:r>
            <a:endParaRPr lang="en-US" sz="17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2 — gerçek ÖSYM sorusu (Karşılaştırma)</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3/3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(YGS - 2011)</a:t>
            </a:r>
            <a:endParaRPr lang="en-US" sz="1050" dirty="0"/>
          </a:p>
        </p:txBody>
      </p:sp>
      <p:sp>
        <p:nvSpPr>
          <p:cNvPr id="8" name="Shape 5"/>
          <p:cNvSpPr/>
          <p:nvPr/>
        </p:nvSpPr>
        <p:spPr>
          <a:xfrm>
            <a:off x="640080" y="1783080"/>
            <a:ext cx="10908792" cy="4434840"/>
          </a:xfrm>
          <a:prstGeom prst="roundRect">
            <a:avLst>
              <a:gd name="adj" fmla="val 2474"/>
            </a:avLst>
          </a:prstGeom>
          <a:solidFill>
            <a:srgbClr val="EEF3F8"/>
          </a:solidFill>
          <a:ln/>
        </p:spPr>
      </p:sp>
      <p:sp>
        <p:nvSpPr>
          <p:cNvPr id="9" name="Text 6"/>
          <p:cNvSpPr/>
          <p:nvPr/>
        </p:nvSpPr>
        <p:spPr>
          <a:xfrm>
            <a:off x="914400" y="1965960"/>
            <a:ext cx="10360152" cy="1757458"/>
          </a:xfrm>
          <a:prstGeom prst="rect">
            <a:avLst/>
          </a:prstGeom>
          <a:noFill/>
          <a:ln/>
        </p:spPr>
        <p:txBody>
          <a:bodyPr wrap="square" lIns="0" tIns="0" rIns="0" bIns="0" rtlCol="0" anchor="t"/>
          <a:lstStyle/>
          <a:p>
            <a:pPr indent="0" marL="0">
              <a:buNone/>
            </a:pPr>
            <a:r>
              <a:rPr lang="en-US" sz="1300" b="1" dirty="0">
                <a:solidFill>
                  <a:srgbClr val="1E3A5F"/>
                </a:solidFill>
                <a:latin typeface="Calibri" pitchFamily="34" charset="0"/>
                <a:ea typeface="Calibri" pitchFamily="34" charset="-122"/>
                <a:cs typeface="Calibri" pitchFamily="34" charset="-120"/>
              </a:rPr>
              <a:t>(I) Berna Moran'ın deyişiyle "huzursuzluğun romanı", Fethi Naci'ye göre de "Türkçenin en güzel aşk romanı" olan Huzur'un yayımlanışının üzerinden yaklaşık elli yıl geçti. (II) Bu romanda olaylar, bir ağustos günü başlar ve radyodan İkinci Dünya Savaşı'nın başladığını haber veren bir anonsla biter. (III) Her ne kadar ilk bakışta aşk romanı gibi görünse de günahın ve kavuşmanın değil, Doğu'yla Batı'nın, huzursuzluğun, zaman ve müziğin romanı olarak kabul edilir. (IV) Huzur, hiçbir zaman Madam Bovary'nin yarattığı etkiye benzer bir etki yaratmamıştır. (V) Madam Bovary gibi can sıkıcı taşranın romanı değildir Huzur; tam tersine çok eski, çok köklü bir kentin, İstanbul'un, Boğaziçi'nin romanıdır.</a:t>
            </a:r>
            <a:endParaRPr lang="en-US" sz="1300" dirty="0"/>
          </a:p>
          <a:p>
            <a:pPr indent="0" marL="0">
              <a:buNone/>
            </a:pPr>
            <a:endParaRPr lang="en-US" sz="1300" dirty="0"/>
          </a:p>
          <a:p>
            <a:pPr indent="0" marL="0">
              <a:buNone/>
            </a:pPr>
            <a:r>
              <a:rPr lang="en-US" sz="1300" b="1" dirty="0">
                <a:solidFill>
                  <a:srgbClr val="1E3A5F"/>
                </a:solidFill>
                <a:latin typeface="Calibri" pitchFamily="34" charset="0"/>
                <a:ea typeface="Calibri" pitchFamily="34" charset="-122"/>
                <a:cs typeface="Calibri" pitchFamily="34" charset="-120"/>
              </a:rPr>
              <a:t>Bu parçadaki numaralanmış cümlelerin hangisinde değerlendirme söz konusu değildir?</a:t>
            </a:r>
            <a:endParaRPr lang="en-US" sz="1300" dirty="0"/>
          </a:p>
        </p:txBody>
      </p:sp>
      <p:sp>
        <p:nvSpPr>
          <p:cNvPr id="10" name="Text 7"/>
          <p:cNvSpPr/>
          <p:nvPr/>
        </p:nvSpPr>
        <p:spPr>
          <a:xfrm>
            <a:off x="914400" y="3961162"/>
            <a:ext cx="10360152" cy="270510"/>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A)  </a:t>
            </a:r>
            <a:pPr indent="0" marL="0">
              <a:buNone/>
            </a:pPr>
            <a:r>
              <a:rPr lang="en-US" sz="1500" dirty="0">
                <a:solidFill>
                  <a:srgbClr val="1E2761"/>
                </a:solidFill>
                <a:latin typeface="Calibri" pitchFamily="34" charset="0"/>
                <a:ea typeface="Calibri" pitchFamily="34" charset="-122"/>
                <a:cs typeface="Calibri" pitchFamily="34" charset="-120"/>
              </a:rPr>
              <a:t>I.</a:t>
            </a:r>
            <a:endParaRPr lang="en-US" sz="1500" dirty="0"/>
          </a:p>
        </p:txBody>
      </p:sp>
      <p:sp>
        <p:nvSpPr>
          <p:cNvPr id="11" name="Text 8"/>
          <p:cNvSpPr/>
          <p:nvPr/>
        </p:nvSpPr>
        <p:spPr>
          <a:xfrm>
            <a:off x="914400" y="4366793"/>
            <a:ext cx="10360152" cy="270510"/>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B)  </a:t>
            </a:r>
            <a:pPr indent="0" marL="0">
              <a:buNone/>
            </a:pPr>
            <a:r>
              <a:rPr lang="en-US" sz="1500" dirty="0">
                <a:solidFill>
                  <a:srgbClr val="1E2761"/>
                </a:solidFill>
                <a:latin typeface="Calibri" pitchFamily="34" charset="0"/>
                <a:ea typeface="Calibri" pitchFamily="34" charset="-122"/>
                <a:cs typeface="Calibri" pitchFamily="34" charset="-120"/>
              </a:rPr>
              <a:t>II.</a:t>
            </a:r>
            <a:endParaRPr lang="en-US" sz="1500" dirty="0"/>
          </a:p>
        </p:txBody>
      </p:sp>
      <p:sp>
        <p:nvSpPr>
          <p:cNvPr id="12" name="Text 9"/>
          <p:cNvSpPr/>
          <p:nvPr/>
        </p:nvSpPr>
        <p:spPr>
          <a:xfrm>
            <a:off x="914400" y="4772425"/>
            <a:ext cx="10360152" cy="270510"/>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C)  </a:t>
            </a:r>
            <a:pPr indent="0" marL="0">
              <a:buNone/>
            </a:pPr>
            <a:r>
              <a:rPr lang="en-US" sz="1500" dirty="0">
                <a:solidFill>
                  <a:srgbClr val="1E2761"/>
                </a:solidFill>
                <a:latin typeface="Calibri" pitchFamily="34" charset="0"/>
                <a:ea typeface="Calibri" pitchFamily="34" charset="-122"/>
                <a:cs typeface="Calibri" pitchFamily="34" charset="-120"/>
              </a:rPr>
              <a:t>III.</a:t>
            </a:r>
            <a:endParaRPr lang="en-US" sz="1500" dirty="0"/>
          </a:p>
        </p:txBody>
      </p:sp>
      <p:sp>
        <p:nvSpPr>
          <p:cNvPr id="13" name="Text 10"/>
          <p:cNvSpPr/>
          <p:nvPr/>
        </p:nvSpPr>
        <p:spPr>
          <a:xfrm>
            <a:off x="914400" y="5178057"/>
            <a:ext cx="10360152" cy="270510"/>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D)  </a:t>
            </a:r>
            <a:pPr indent="0" marL="0">
              <a:buNone/>
            </a:pPr>
            <a:r>
              <a:rPr lang="en-US" sz="1500" dirty="0">
                <a:solidFill>
                  <a:srgbClr val="1E2761"/>
                </a:solidFill>
                <a:latin typeface="Calibri" pitchFamily="34" charset="0"/>
                <a:ea typeface="Calibri" pitchFamily="34" charset="-122"/>
                <a:cs typeface="Calibri" pitchFamily="34" charset="-120"/>
              </a:rPr>
              <a:t>IV.</a:t>
            </a:r>
            <a:endParaRPr lang="en-US" sz="1500" dirty="0"/>
          </a:p>
        </p:txBody>
      </p:sp>
      <p:sp>
        <p:nvSpPr>
          <p:cNvPr id="14" name="Text 11"/>
          <p:cNvSpPr/>
          <p:nvPr/>
        </p:nvSpPr>
        <p:spPr>
          <a:xfrm>
            <a:off x="914400" y="5583688"/>
            <a:ext cx="10360152" cy="270510"/>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E)  </a:t>
            </a:r>
            <a:pPr indent="0" marL="0">
              <a:buNone/>
            </a:pPr>
            <a:r>
              <a:rPr lang="en-US" sz="1500" dirty="0">
                <a:solidFill>
                  <a:srgbClr val="1E2761"/>
                </a:solidFill>
                <a:latin typeface="Calibri" pitchFamily="34" charset="0"/>
                <a:ea typeface="Calibri" pitchFamily="34" charset="-122"/>
                <a:cs typeface="Calibri" pitchFamily="34" charset="-120"/>
              </a:rPr>
              <a:t>V.</a:t>
            </a:r>
            <a:endParaRPr lang="en-US" sz="15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3 — gerçek ÖSYM sorusu (Değerlendirme)</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DERS SONU KONTROL</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Hızlı Kontrol</a:t>
            </a:r>
            <a:endParaRPr lang="en-US" sz="2800" dirty="0"/>
          </a:p>
        </p:txBody>
      </p:sp>
      <p:sp>
        <p:nvSpPr>
          <p:cNvPr id="6" name="Text 3"/>
          <p:cNvSpPr/>
          <p:nvPr/>
        </p:nvSpPr>
        <p:spPr>
          <a:xfrm>
            <a:off x="640080" y="1645920"/>
            <a:ext cx="10881360" cy="757428"/>
          </a:xfrm>
          <a:prstGeom prst="rect">
            <a:avLst/>
          </a:prstGeom>
          <a:noFill/>
          <a:ln/>
        </p:spPr>
        <p:txBody>
          <a:bodyPr wrap="square" lIns="0" tIns="0" rIns="0" bIns="0" rtlCol="0" anchor="ctr"/>
          <a:lstStyle/>
          <a:p>
            <a:pPr indent="0" marL="0">
              <a:buNone/>
            </a:pPr>
            <a:r>
              <a:rPr lang="en-US" sz="2100" dirty="0">
                <a:solidFill>
                  <a:srgbClr val="1E2761"/>
                </a:solidFill>
                <a:latin typeface="Calibri" pitchFamily="34" charset="0"/>
                <a:ea typeface="Calibri" pitchFamily="34" charset="-122"/>
                <a:cs typeface="Calibri" pitchFamily="34" charset="-120"/>
              </a:rPr>
              <a:t>Aşağıdaki dört ipucunu birlikte hızlıca tanıyalım — hangi KAVRAM olduğunu söyleyin:</a:t>
            </a:r>
            <a:endParaRPr lang="en-US" sz="2100" dirty="0"/>
          </a:p>
        </p:txBody>
      </p:sp>
      <p:sp>
        <p:nvSpPr>
          <p:cNvPr id="7" name="Shape 4"/>
          <p:cNvSpPr/>
          <p:nvPr/>
        </p:nvSpPr>
        <p:spPr>
          <a:xfrm>
            <a:off x="777240" y="2439924"/>
            <a:ext cx="2514600" cy="2438400"/>
          </a:xfrm>
          <a:prstGeom prst="roundRect">
            <a:avLst>
              <a:gd name="adj" fmla="val 6250"/>
            </a:avLst>
          </a:prstGeom>
          <a:solidFill>
            <a:srgbClr val="EEF3F8"/>
          </a:solidFill>
          <a:ln/>
        </p:spPr>
      </p:sp>
      <p:sp>
        <p:nvSpPr>
          <p:cNvPr id="8" name="Text 5"/>
          <p:cNvSpPr/>
          <p:nvPr/>
        </p:nvSpPr>
        <p:spPr>
          <a:xfrm>
            <a:off x="868680" y="2531364"/>
            <a:ext cx="2331720" cy="1442720"/>
          </a:xfrm>
          <a:prstGeom prst="rect">
            <a:avLst/>
          </a:prstGeom>
          <a:noFill/>
          <a:ln/>
        </p:spPr>
        <p:txBody>
          <a:bodyPr wrap="square" lIns="0" tIns="0" rIns="0" bIns="0" rtlCol="0" anchor="ctr"/>
          <a:lstStyle/>
          <a:p>
            <a:pPr algn="ctr" indent="0" marL="0">
              <a:buNone/>
            </a:pPr>
            <a:r>
              <a:rPr lang="en-US" sz="2000" i="1" dirty="0">
                <a:solidFill>
                  <a:srgbClr val="6B7280"/>
                </a:solidFill>
                <a:latin typeface="Calibri" pitchFamily="34" charset="0"/>
                <a:ea typeface="Calibri" pitchFamily="34" charset="-122"/>
                <a:cs typeface="Calibri" pitchFamily="34" charset="-120"/>
              </a:rPr>
              <a:t>"En güzel, en iyi, ilgi çekici" gibi kanıtlanamaz sözler geçiyor.</a:t>
            </a:r>
            <a:endParaRPr lang="en-US" sz="2000" dirty="0"/>
          </a:p>
        </p:txBody>
      </p:sp>
      <p:sp>
        <p:nvSpPr>
          <p:cNvPr id="9" name="Text 6"/>
          <p:cNvSpPr/>
          <p:nvPr/>
        </p:nvSpPr>
        <p:spPr>
          <a:xfrm>
            <a:off x="777240" y="4019804"/>
            <a:ext cx="2514600" cy="360680"/>
          </a:xfrm>
          <a:prstGeom prst="rect">
            <a:avLst/>
          </a:prstGeom>
          <a:noFill/>
          <a:ln/>
        </p:spPr>
        <p:txBody>
          <a:bodyPr wrap="square" lIns="0" tIns="0" rIns="0" bIns="0" rtlCol="0" anchor="ctr"/>
          <a:lstStyle/>
          <a:p>
            <a:pPr algn="ctr" indent="0" marL="0">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777240" y="4426204"/>
            <a:ext cx="2514600" cy="360680"/>
          </a:xfrm>
          <a:prstGeom prst="rect">
            <a:avLst/>
          </a:prstGeom>
          <a:noFill/>
          <a:ln/>
        </p:spPr>
        <p:txBody>
          <a:bodyPr wrap="square" lIns="0" tIns="0" rIns="0" bIns="0" rtlCol="0" anchor="ctr"/>
          <a:lstStyle/>
          <a:p>
            <a:pPr algn="ctr" indent="0" marL="0">
              <a:buNone/>
            </a:pPr>
            <a:r>
              <a:rPr lang="en-US" sz="2000" b="1" dirty="0">
                <a:solidFill>
                  <a:srgbClr val="1E3A5F"/>
                </a:solidFill>
                <a:latin typeface="Cambria" pitchFamily="34" charset="0"/>
                <a:ea typeface="Cambria" pitchFamily="34" charset="-122"/>
                <a:cs typeface="Cambria" pitchFamily="34" charset="-120"/>
              </a:rPr>
              <a:t>ÖZNEL</a:t>
            </a:r>
            <a:endParaRPr lang="en-US" sz="2000" dirty="0"/>
          </a:p>
        </p:txBody>
      </p:sp>
      <p:sp>
        <p:nvSpPr>
          <p:cNvPr id="11" name="Shape 8"/>
          <p:cNvSpPr/>
          <p:nvPr/>
        </p:nvSpPr>
        <p:spPr>
          <a:xfrm>
            <a:off x="3474720" y="2439924"/>
            <a:ext cx="2514600" cy="2438400"/>
          </a:xfrm>
          <a:prstGeom prst="roundRect">
            <a:avLst>
              <a:gd name="adj" fmla="val 6250"/>
            </a:avLst>
          </a:prstGeom>
          <a:solidFill>
            <a:srgbClr val="EEF3F8"/>
          </a:solidFill>
          <a:ln/>
        </p:spPr>
      </p:sp>
      <p:sp>
        <p:nvSpPr>
          <p:cNvPr id="12" name="Text 9"/>
          <p:cNvSpPr/>
          <p:nvPr/>
        </p:nvSpPr>
        <p:spPr>
          <a:xfrm>
            <a:off x="3566160" y="2531364"/>
            <a:ext cx="2331720" cy="1442720"/>
          </a:xfrm>
          <a:prstGeom prst="rect">
            <a:avLst/>
          </a:prstGeom>
          <a:noFill/>
          <a:ln/>
        </p:spPr>
        <p:txBody>
          <a:bodyPr wrap="square" lIns="0" tIns="0" rIns="0" bIns="0" rtlCol="0" anchor="ctr"/>
          <a:lstStyle/>
          <a:p>
            <a:pPr algn="ctr" indent="0" marL="0">
              <a:buNone/>
            </a:pPr>
            <a:r>
              <a:rPr lang="en-US" sz="2000" i="1" dirty="0">
                <a:solidFill>
                  <a:srgbClr val="6B7280"/>
                </a:solidFill>
                <a:latin typeface="Calibri" pitchFamily="34" charset="0"/>
                <a:ea typeface="Calibri" pitchFamily="34" charset="-122"/>
                <a:cs typeface="Calibri" pitchFamily="34" charset="-120"/>
              </a:rPr>
              <a:t>"Daha, kadar, gibi" ile iki ayrı öge birlikte anılıyor.</a:t>
            </a:r>
            <a:endParaRPr lang="en-US" sz="2000" dirty="0"/>
          </a:p>
        </p:txBody>
      </p:sp>
      <p:sp>
        <p:nvSpPr>
          <p:cNvPr id="13" name="Text 10"/>
          <p:cNvSpPr/>
          <p:nvPr/>
        </p:nvSpPr>
        <p:spPr>
          <a:xfrm>
            <a:off x="3474720" y="4019804"/>
            <a:ext cx="2514600" cy="360680"/>
          </a:xfrm>
          <a:prstGeom prst="rect">
            <a:avLst/>
          </a:prstGeom>
          <a:noFill/>
          <a:ln/>
        </p:spPr>
        <p:txBody>
          <a:bodyPr wrap="square" lIns="0" tIns="0" rIns="0" bIns="0" rtlCol="0" anchor="ctr"/>
          <a:lstStyle/>
          <a:p>
            <a:pPr algn="ctr" indent="0" marL="0">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4" name="Text 11"/>
          <p:cNvSpPr/>
          <p:nvPr/>
        </p:nvSpPr>
        <p:spPr>
          <a:xfrm>
            <a:off x="3474720" y="4426204"/>
            <a:ext cx="2514600" cy="360680"/>
          </a:xfrm>
          <a:prstGeom prst="rect">
            <a:avLst/>
          </a:prstGeom>
          <a:noFill/>
          <a:ln/>
        </p:spPr>
        <p:txBody>
          <a:bodyPr wrap="square" lIns="0" tIns="0" rIns="0" bIns="0" rtlCol="0" anchor="ctr"/>
          <a:lstStyle/>
          <a:p>
            <a:pPr algn="ctr" indent="0" marL="0">
              <a:buNone/>
            </a:pPr>
            <a:r>
              <a:rPr lang="en-US" sz="2000" b="1" dirty="0">
                <a:solidFill>
                  <a:srgbClr val="1E3A5F"/>
                </a:solidFill>
                <a:latin typeface="Cambria" pitchFamily="34" charset="0"/>
                <a:ea typeface="Cambria" pitchFamily="34" charset="-122"/>
                <a:cs typeface="Cambria" pitchFamily="34" charset="-120"/>
              </a:rPr>
              <a:t>KARŞILAŞTIRMA</a:t>
            </a:r>
            <a:endParaRPr lang="en-US" sz="2000" dirty="0"/>
          </a:p>
        </p:txBody>
      </p:sp>
      <p:sp>
        <p:nvSpPr>
          <p:cNvPr id="15" name="Shape 12"/>
          <p:cNvSpPr/>
          <p:nvPr/>
        </p:nvSpPr>
        <p:spPr>
          <a:xfrm>
            <a:off x="6172200" y="2439924"/>
            <a:ext cx="2514600" cy="2077720"/>
          </a:xfrm>
          <a:prstGeom prst="roundRect">
            <a:avLst>
              <a:gd name="adj" fmla="val 6250"/>
            </a:avLst>
          </a:prstGeom>
          <a:solidFill>
            <a:srgbClr val="EEF3F8"/>
          </a:solidFill>
          <a:ln/>
        </p:spPr>
      </p:sp>
      <p:sp>
        <p:nvSpPr>
          <p:cNvPr id="16" name="Text 13"/>
          <p:cNvSpPr/>
          <p:nvPr/>
        </p:nvSpPr>
        <p:spPr>
          <a:xfrm>
            <a:off x="6263640" y="2531364"/>
            <a:ext cx="2331720" cy="1082040"/>
          </a:xfrm>
          <a:prstGeom prst="rect">
            <a:avLst/>
          </a:prstGeom>
          <a:noFill/>
          <a:ln/>
        </p:spPr>
        <p:txBody>
          <a:bodyPr wrap="square" lIns="0" tIns="0" rIns="0" bIns="0" rtlCol="0" anchor="ctr"/>
          <a:lstStyle/>
          <a:p>
            <a:pPr algn="ctr" indent="0" marL="0">
              <a:buNone/>
            </a:pPr>
            <a:r>
              <a:rPr lang="en-US" sz="2000" i="1" dirty="0">
                <a:solidFill>
                  <a:srgbClr val="6B7280"/>
                </a:solidFill>
                <a:latin typeface="Calibri" pitchFamily="34" charset="0"/>
                <a:ea typeface="Calibri" pitchFamily="34" charset="-122"/>
                <a:cs typeface="Calibri" pitchFamily="34" charset="-120"/>
              </a:rPr>
              <a:t>Tek bir esere/kişiye yönelik olumlu-olumsuz yargı var.</a:t>
            </a:r>
            <a:endParaRPr lang="en-US" sz="2000" dirty="0"/>
          </a:p>
        </p:txBody>
      </p:sp>
      <p:sp>
        <p:nvSpPr>
          <p:cNvPr id="17" name="Text 14"/>
          <p:cNvSpPr/>
          <p:nvPr/>
        </p:nvSpPr>
        <p:spPr>
          <a:xfrm>
            <a:off x="6172200" y="3659124"/>
            <a:ext cx="2514600" cy="360680"/>
          </a:xfrm>
          <a:prstGeom prst="rect">
            <a:avLst/>
          </a:prstGeom>
          <a:noFill/>
          <a:ln/>
        </p:spPr>
        <p:txBody>
          <a:bodyPr wrap="square" lIns="0" tIns="0" rIns="0" bIns="0" rtlCol="0" anchor="ctr"/>
          <a:lstStyle/>
          <a:p>
            <a:pPr algn="ctr" indent="0" marL="0">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8" name="Text 15"/>
          <p:cNvSpPr/>
          <p:nvPr/>
        </p:nvSpPr>
        <p:spPr>
          <a:xfrm>
            <a:off x="6172200" y="4065524"/>
            <a:ext cx="2514600" cy="360680"/>
          </a:xfrm>
          <a:prstGeom prst="rect">
            <a:avLst/>
          </a:prstGeom>
          <a:noFill/>
          <a:ln/>
        </p:spPr>
        <p:txBody>
          <a:bodyPr wrap="square" lIns="0" tIns="0" rIns="0" bIns="0" rtlCol="0" anchor="ctr"/>
          <a:lstStyle/>
          <a:p>
            <a:pPr algn="ctr" indent="0" marL="0">
              <a:buNone/>
            </a:pPr>
            <a:r>
              <a:rPr lang="en-US" sz="2000" b="1" dirty="0">
                <a:solidFill>
                  <a:srgbClr val="1E3A5F"/>
                </a:solidFill>
                <a:latin typeface="Cambria" pitchFamily="34" charset="0"/>
                <a:ea typeface="Cambria" pitchFamily="34" charset="-122"/>
                <a:cs typeface="Cambria" pitchFamily="34" charset="-120"/>
              </a:rPr>
              <a:t>DEĞERLENDİRME</a:t>
            </a:r>
            <a:endParaRPr lang="en-US" sz="2000" dirty="0"/>
          </a:p>
        </p:txBody>
      </p:sp>
      <p:sp>
        <p:nvSpPr>
          <p:cNvPr id="19" name="Shape 16"/>
          <p:cNvSpPr/>
          <p:nvPr/>
        </p:nvSpPr>
        <p:spPr>
          <a:xfrm>
            <a:off x="8869680" y="2439924"/>
            <a:ext cx="2514600" cy="2899664"/>
          </a:xfrm>
          <a:prstGeom prst="roundRect">
            <a:avLst>
              <a:gd name="adj" fmla="val 6250"/>
            </a:avLst>
          </a:prstGeom>
          <a:solidFill>
            <a:srgbClr val="EEF3F8"/>
          </a:solidFill>
          <a:ln/>
        </p:spPr>
      </p:sp>
      <p:sp>
        <p:nvSpPr>
          <p:cNvPr id="20" name="Text 17"/>
          <p:cNvSpPr/>
          <p:nvPr/>
        </p:nvSpPr>
        <p:spPr>
          <a:xfrm>
            <a:off x="8961120" y="2531364"/>
            <a:ext cx="2331720" cy="1442720"/>
          </a:xfrm>
          <a:prstGeom prst="rect">
            <a:avLst/>
          </a:prstGeom>
          <a:noFill/>
          <a:ln/>
        </p:spPr>
        <p:txBody>
          <a:bodyPr wrap="square" lIns="0" tIns="0" rIns="0" bIns="0" rtlCol="0" anchor="ctr"/>
          <a:lstStyle/>
          <a:p>
            <a:pPr algn="ctr" indent="0" marL="0">
              <a:buNone/>
            </a:pPr>
            <a:r>
              <a:rPr lang="en-US" sz="2000" i="1" dirty="0">
                <a:solidFill>
                  <a:srgbClr val="6B7280"/>
                </a:solidFill>
                <a:latin typeface="Calibri" pitchFamily="34" charset="0"/>
                <a:ea typeface="Calibri" pitchFamily="34" charset="-122"/>
                <a:cs typeface="Calibri" pitchFamily="34" charset="-120"/>
              </a:rPr>
              <a:t>"İçin, çünkü, -se/-sa" bağlaçlarıyla nedeni ya da şartı bildiriyor.</a:t>
            </a:r>
            <a:endParaRPr lang="en-US" sz="2000" dirty="0"/>
          </a:p>
        </p:txBody>
      </p:sp>
      <p:sp>
        <p:nvSpPr>
          <p:cNvPr id="21" name="Text 18"/>
          <p:cNvSpPr/>
          <p:nvPr/>
        </p:nvSpPr>
        <p:spPr>
          <a:xfrm>
            <a:off x="8869680" y="4019804"/>
            <a:ext cx="2514600" cy="360680"/>
          </a:xfrm>
          <a:prstGeom prst="rect">
            <a:avLst/>
          </a:prstGeom>
          <a:noFill/>
          <a:ln/>
        </p:spPr>
        <p:txBody>
          <a:bodyPr wrap="square" lIns="0" tIns="0" rIns="0" bIns="0" rtlCol="0" anchor="ctr"/>
          <a:lstStyle/>
          <a:p>
            <a:pPr algn="ctr" indent="0" marL="0">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22" name="Text 19"/>
          <p:cNvSpPr/>
          <p:nvPr/>
        </p:nvSpPr>
        <p:spPr>
          <a:xfrm>
            <a:off x="8869680" y="4426204"/>
            <a:ext cx="2514600" cy="821944"/>
          </a:xfrm>
          <a:prstGeom prst="rect">
            <a:avLst/>
          </a:prstGeom>
          <a:noFill/>
          <a:ln/>
        </p:spPr>
        <p:txBody>
          <a:bodyPr wrap="square" lIns="0" tIns="0" rIns="0" bIns="0" rtlCol="0" anchor="ctr"/>
          <a:lstStyle/>
          <a:p>
            <a:pPr algn="ctr" indent="0" marL="0">
              <a:buNone/>
            </a:pPr>
            <a:r>
              <a:rPr lang="en-US" sz="2000" b="1" dirty="0">
                <a:solidFill>
                  <a:srgbClr val="1E3A5F"/>
                </a:solidFill>
                <a:latin typeface="Cambria" pitchFamily="34" charset="0"/>
                <a:ea typeface="Cambria" pitchFamily="34" charset="-122"/>
                <a:cs typeface="Cambria" pitchFamily="34" charset="-120"/>
              </a:rPr>
              <a:t>SEBEP-SONUÇ /</a:t>
            </a:r>
            <a:endParaRPr lang="en-US" sz="2000" dirty="0"/>
          </a:p>
          <a:p>
            <a:pPr algn="ctr" indent="0" marL="0">
              <a:buNone/>
            </a:pPr>
            <a:r>
              <a:rPr lang="en-US" sz="2000" b="1" dirty="0">
                <a:solidFill>
                  <a:srgbClr val="1E3A5F"/>
                </a:solidFill>
                <a:latin typeface="Cambria" pitchFamily="34" charset="0"/>
                <a:ea typeface="Cambria" pitchFamily="34" charset="-122"/>
                <a:cs typeface="Cambria" pitchFamily="34" charset="-120"/>
              </a:rPr>
              <a:t>KOŞUL-AMAÇ</a:t>
            </a:r>
            <a:endParaRPr lang="en-US" sz="2000" dirty="0"/>
          </a:p>
        </p:txBody>
      </p:sp>
      <p:sp>
        <p:nvSpPr>
          <p:cNvPr id="23" name="Shape 20"/>
          <p:cNvSpPr/>
          <p:nvPr/>
        </p:nvSpPr>
        <p:spPr>
          <a:xfrm>
            <a:off x="640080" y="5632196"/>
            <a:ext cx="10881360" cy="812800"/>
          </a:xfrm>
          <a:prstGeom prst="roundRect">
            <a:avLst>
              <a:gd name="adj" fmla="val 16667"/>
            </a:avLst>
          </a:prstGeom>
          <a:solidFill>
            <a:srgbClr val="FBF3E3"/>
          </a:solidFill>
          <a:ln/>
        </p:spPr>
      </p:sp>
      <p:sp>
        <p:nvSpPr>
          <p:cNvPr id="24" name="Text 21"/>
          <p:cNvSpPr/>
          <p:nvPr/>
        </p:nvSpPr>
        <p:spPr>
          <a:xfrm>
            <a:off x="914400" y="5632196"/>
            <a:ext cx="10332720" cy="72136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Bu kavramları hızlıca tanıyabiliyorsanız, sıradaki 3 ders için sağlam bir temele sahipsiniz!</a:t>
            </a:r>
            <a:endParaRPr lang="en-US" sz="200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Hızlı Kontrol</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Slide 20">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42A44"/>
          </a:solidFill>
          <a:ln/>
        </p:spPr>
      </p:sp>
      <p:sp>
        <p:nvSpPr>
          <p:cNvPr id="3" name="Shape 1"/>
          <p:cNvSpPr/>
          <p:nvPr/>
        </p:nvSpPr>
        <p:spPr>
          <a:xfrm>
            <a:off x="822960" y="1005840"/>
            <a:ext cx="822960" cy="822960"/>
          </a:xfrm>
          <a:prstGeom prst="ellipse">
            <a:avLst/>
          </a:prstGeom>
          <a:solidFill>
            <a:srgbClr val="254B78"/>
          </a:solidFill>
          <a:ln/>
        </p:spPr>
      </p:sp>
      <p:pic>
        <p:nvPicPr>
          <p:cNvPr id="4" name="Image 0" descr="icons/liste_amber.png">    </p:cNvPr>
          <p:cNvPicPr>
            <a:picLocks noChangeAspect="1"/>
          </p:cNvPicPr>
          <p:nvPr/>
        </p:nvPicPr>
        <p:blipFill>
          <a:blip r:embed="rId1"/>
          <a:stretch>
            <a:fillRect/>
          </a:stretch>
        </p:blipFill>
        <p:spPr>
          <a:xfrm>
            <a:off x="1008126" y="1191006"/>
            <a:ext cx="452628" cy="452628"/>
          </a:xfrm>
          <a:prstGeom prst="rect">
            <a:avLst/>
          </a:prstGeom>
        </p:spPr>
      </p:pic>
      <p:sp>
        <p:nvSpPr>
          <p:cNvPr id="5" name="Text 2"/>
          <p:cNvSpPr/>
          <p:nvPr/>
        </p:nvSpPr>
        <p:spPr>
          <a:xfrm>
            <a:off x="640080" y="2103120"/>
            <a:ext cx="320040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Ders Özeti</a:t>
            </a:r>
            <a:endParaRPr lang="en-US" sz="2400" dirty="0"/>
          </a:p>
        </p:txBody>
      </p:sp>
      <p:sp>
        <p:nvSpPr>
          <p:cNvPr id="6" name="Text 3"/>
          <p:cNvSpPr/>
          <p:nvPr/>
        </p:nvSpPr>
        <p:spPr>
          <a:xfrm>
            <a:off x="640080" y="2743200"/>
            <a:ext cx="3291840" cy="502920"/>
          </a:xfrm>
          <a:prstGeom prst="rect">
            <a:avLst/>
          </a:prstGeom>
          <a:noFill/>
          <a:ln/>
        </p:spPr>
        <p:txBody>
          <a:bodyPr wrap="square" lIns="0" tIns="0" rIns="0" bIns="0" rtlCol="0" anchor="ctr"/>
          <a:lstStyle/>
          <a:p>
            <a:pPr indent="0" marL="0">
              <a:buNone/>
            </a:pPr>
            <a:r>
              <a:rPr lang="en-US" sz="1350" i="1" dirty="0">
                <a:solidFill>
                  <a:srgbClr val="9FB8D6"/>
                </a:solidFill>
                <a:latin typeface="Calibri" pitchFamily="34" charset="0"/>
                <a:ea typeface="Calibri" pitchFamily="34" charset="-122"/>
                <a:cs typeface="Calibri" pitchFamily="34" charset="-120"/>
              </a:rPr>
              <a:t>Cümlede Anlam'a Giriş: Temel Kavramlar — Ders 1/4</a:t>
            </a:r>
            <a:endParaRPr lang="en-US" sz="1350" dirty="0"/>
          </a:p>
        </p:txBody>
      </p:sp>
      <p:sp>
        <p:nvSpPr>
          <p:cNvPr id="7" name="Text 4"/>
          <p:cNvSpPr/>
          <p:nvPr/>
        </p:nvSpPr>
        <p:spPr>
          <a:xfrm>
            <a:off x="640080" y="3337560"/>
            <a:ext cx="3291840" cy="365760"/>
          </a:xfrm>
          <a:prstGeom prst="rect">
            <a:avLst/>
          </a:prstGeom>
          <a:noFill/>
          <a:ln/>
        </p:spPr>
        <p:txBody>
          <a:bodyPr wrap="square" lIns="0" tIns="0" rIns="0" bIns="0" rtlCol="0" anchor="ctr"/>
          <a:lstStyle/>
          <a:p>
            <a:pPr indent="0" marL="0">
              <a:buNone/>
            </a:pPr>
            <a:r>
              <a:rPr lang="en-US" sz="1600" b="1" spc="100" kern="0" dirty="0">
                <a:solidFill>
                  <a:srgbClr val="D9A441"/>
                </a:solidFill>
                <a:latin typeface="Calibri" pitchFamily="34" charset="0"/>
                <a:ea typeface="Calibri" pitchFamily="34" charset="-122"/>
                <a:cs typeface="Calibri" pitchFamily="34" charset="-120"/>
              </a:rPr>
              <a:t>CÜMLEDE ANLAM KONUSU BAŞLADI</a:t>
            </a:r>
            <a:endParaRPr lang="en-US" sz="1600" dirty="0"/>
          </a:p>
        </p:txBody>
      </p:sp>
      <p:sp>
        <p:nvSpPr>
          <p:cNvPr id="8" name="Text 5"/>
          <p:cNvSpPr/>
          <p:nvPr/>
        </p:nvSpPr>
        <p:spPr>
          <a:xfrm>
            <a:off x="4663440" y="777240"/>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BUGÜN ÖĞRENDIKLERIMIZ</a:t>
            </a:r>
            <a:endParaRPr lang="en-US" sz="1300" dirty="0"/>
          </a:p>
        </p:txBody>
      </p:sp>
      <p:sp>
        <p:nvSpPr>
          <p:cNvPr id="9" name="Shape 6"/>
          <p:cNvSpPr/>
          <p:nvPr/>
        </p:nvSpPr>
        <p:spPr>
          <a:xfrm>
            <a:off x="4663440" y="1234440"/>
            <a:ext cx="2468880" cy="457200"/>
          </a:xfrm>
          <a:prstGeom prst="roundRect">
            <a:avLst>
              <a:gd name="adj" fmla="val 50000"/>
            </a:avLst>
          </a:prstGeom>
          <a:solidFill>
            <a:srgbClr val="254B78"/>
          </a:solidFill>
          <a:ln/>
        </p:spPr>
      </p:sp>
      <p:sp>
        <p:nvSpPr>
          <p:cNvPr id="10" name="Text 7"/>
          <p:cNvSpPr/>
          <p:nvPr/>
        </p:nvSpPr>
        <p:spPr>
          <a:xfrm>
            <a:off x="4663440" y="1234440"/>
            <a:ext cx="246888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Öznel / Nesnel</a:t>
            </a:r>
            <a:endParaRPr lang="en-US" sz="2000" dirty="0"/>
          </a:p>
        </p:txBody>
      </p:sp>
      <p:sp>
        <p:nvSpPr>
          <p:cNvPr id="11" name="Shape 8"/>
          <p:cNvSpPr/>
          <p:nvPr/>
        </p:nvSpPr>
        <p:spPr>
          <a:xfrm>
            <a:off x="7315200" y="1234440"/>
            <a:ext cx="2331720" cy="457200"/>
          </a:xfrm>
          <a:prstGeom prst="roundRect">
            <a:avLst>
              <a:gd name="adj" fmla="val 50000"/>
            </a:avLst>
          </a:prstGeom>
          <a:solidFill>
            <a:srgbClr val="254B78"/>
          </a:solidFill>
          <a:ln/>
        </p:spPr>
      </p:sp>
      <p:sp>
        <p:nvSpPr>
          <p:cNvPr id="12" name="Text 9"/>
          <p:cNvSpPr/>
          <p:nvPr/>
        </p:nvSpPr>
        <p:spPr>
          <a:xfrm>
            <a:off x="7315200" y="1234440"/>
            <a:ext cx="233172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Karşılaştırma</a:t>
            </a:r>
            <a:endParaRPr lang="en-US" sz="2000" dirty="0"/>
          </a:p>
        </p:txBody>
      </p:sp>
      <p:sp>
        <p:nvSpPr>
          <p:cNvPr id="13" name="Shape 10"/>
          <p:cNvSpPr/>
          <p:nvPr/>
        </p:nvSpPr>
        <p:spPr>
          <a:xfrm>
            <a:off x="4663440" y="1828800"/>
            <a:ext cx="2331720" cy="457200"/>
          </a:xfrm>
          <a:prstGeom prst="roundRect">
            <a:avLst>
              <a:gd name="adj" fmla="val 50000"/>
            </a:avLst>
          </a:prstGeom>
          <a:solidFill>
            <a:srgbClr val="254B78"/>
          </a:solidFill>
          <a:ln/>
        </p:spPr>
      </p:sp>
      <p:sp>
        <p:nvSpPr>
          <p:cNvPr id="14" name="Text 11"/>
          <p:cNvSpPr/>
          <p:nvPr/>
        </p:nvSpPr>
        <p:spPr>
          <a:xfrm>
            <a:off x="4663440" y="1828800"/>
            <a:ext cx="233172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Değerlendirme</a:t>
            </a:r>
            <a:endParaRPr lang="en-US" sz="2000" dirty="0"/>
          </a:p>
        </p:txBody>
      </p:sp>
      <p:sp>
        <p:nvSpPr>
          <p:cNvPr id="15" name="Shape 12"/>
          <p:cNvSpPr/>
          <p:nvPr/>
        </p:nvSpPr>
        <p:spPr>
          <a:xfrm>
            <a:off x="7178040" y="1828800"/>
            <a:ext cx="3566160" cy="457200"/>
          </a:xfrm>
          <a:prstGeom prst="roundRect">
            <a:avLst>
              <a:gd name="adj" fmla="val 50000"/>
            </a:avLst>
          </a:prstGeom>
          <a:solidFill>
            <a:srgbClr val="254B78"/>
          </a:solidFill>
          <a:ln/>
        </p:spPr>
      </p:sp>
      <p:sp>
        <p:nvSpPr>
          <p:cNvPr id="16" name="Text 13"/>
          <p:cNvSpPr/>
          <p:nvPr/>
        </p:nvSpPr>
        <p:spPr>
          <a:xfrm>
            <a:off x="7178040" y="1828800"/>
            <a:ext cx="356616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Kesin Yargı / Varsayım</a:t>
            </a:r>
            <a:endParaRPr lang="en-US" sz="2000" dirty="0"/>
          </a:p>
        </p:txBody>
      </p:sp>
      <p:sp>
        <p:nvSpPr>
          <p:cNvPr id="17" name="Shape 14"/>
          <p:cNvSpPr/>
          <p:nvPr/>
        </p:nvSpPr>
        <p:spPr>
          <a:xfrm>
            <a:off x="4663440" y="2423160"/>
            <a:ext cx="3840480" cy="457200"/>
          </a:xfrm>
          <a:prstGeom prst="roundRect">
            <a:avLst>
              <a:gd name="adj" fmla="val 50000"/>
            </a:avLst>
          </a:prstGeom>
          <a:solidFill>
            <a:srgbClr val="254B78"/>
          </a:solidFill>
          <a:ln/>
        </p:spPr>
      </p:sp>
      <p:sp>
        <p:nvSpPr>
          <p:cNvPr id="18" name="Text 15"/>
          <p:cNvSpPr/>
          <p:nvPr/>
        </p:nvSpPr>
        <p:spPr>
          <a:xfrm>
            <a:off x="4663440" y="2423160"/>
            <a:ext cx="384048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Sebep-Sonuç / Koşul-Amaç</a:t>
            </a:r>
            <a:endParaRPr lang="en-US" sz="2000" dirty="0"/>
          </a:p>
        </p:txBody>
      </p:sp>
      <p:sp>
        <p:nvSpPr>
          <p:cNvPr id="19" name="Shape 16"/>
          <p:cNvSpPr/>
          <p:nvPr/>
        </p:nvSpPr>
        <p:spPr>
          <a:xfrm>
            <a:off x="4663440" y="2606040"/>
            <a:ext cx="6903720" cy="1554480"/>
          </a:xfrm>
          <a:prstGeom prst="roundRect">
            <a:avLst>
              <a:gd name="adj" fmla="val 7059"/>
            </a:avLst>
          </a:prstGeom>
          <a:solidFill>
            <a:srgbClr val="254B78"/>
          </a:solidFill>
          <a:ln/>
        </p:spPr>
      </p:sp>
      <p:sp>
        <p:nvSpPr>
          <p:cNvPr id="20" name="Text 17"/>
          <p:cNvSpPr/>
          <p:nvPr/>
        </p:nvSpPr>
        <p:spPr>
          <a:xfrm>
            <a:off x="4937760" y="2743200"/>
            <a:ext cx="6400800" cy="1280160"/>
          </a:xfrm>
          <a:prstGeom prst="rect">
            <a:avLst/>
          </a:prstGeom>
          <a:noFill/>
          <a:ln/>
        </p:spPr>
        <p:txBody>
          <a:bodyPr wrap="square" lIns="0" tIns="0" rIns="0" bIns="0" rtlCol="0" anchor="ctr"/>
          <a:lstStyle/>
          <a:p>
            <a:pPr indent="0" marL="0">
              <a:buNone/>
            </a:pPr>
            <a:r>
              <a:rPr lang="en-US" sz="1400" b="1" dirty="0">
                <a:solidFill>
                  <a:srgbClr val="D9A441"/>
                </a:solidFill>
                <a:latin typeface="Calibri" pitchFamily="34" charset="0"/>
                <a:ea typeface="Calibri" pitchFamily="34" charset="-122"/>
                <a:cs typeface="Calibri" pitchFamily="34" charset="-120"/>
              </a:rPr>
              <a:t>Bu derste Cümlede Anlam'ın temel yapı taşlarını gördük: </a:t>
            </a:r>
            <a:pPr indent="0" marL="0">
              <a:buNone/>
            </a:pPr>
            <a:r>
              <a:rPr lang="en-US" sz="1400" dirty="0">
                <a:solidFill>
                  <a:srgbClr val="FFFFFF"/>
                </a:solidFill>
                <a:latin typeface="Calibri" pitchFamily="34" charset="0"/>
                <a:ea typeface="Calibri" pitchFamily="34" charset="-122"/>
                <a:cs typeface="Calibri" pitchFamily="34" charset="-120"/>
              </a:rPr>
              <a:t>öznellik-nesnellik, karşılaştırma, değerlendirme, kesin yargı/varsayım ve sebep-sonuç/koşul-amaç kavramları — hepsi gerçek ÖSYM sorularıyla desteklendi. Bu kavramlar sıradaki 3 derste öğreneceğimiz "anlamca eşdeğer cümle bulma" becerisinin temelini oluşturuyor.</a:t>
            </a:r>
            <a:endParaRPr lang="en-US" sz="1400" dirty="0"/>
          </a:p>
        </p:txBody>
      </p:sp>
      <p:sp>
        <p:nvSpPr>
          <p:cNvPr id="21" name="Shape 18"/>
          <p:cNvSpPr/>
          <p:nvPr/>
        </p:nvSpPr>
        <p:spPr>
          <a:xfrm>
            <a:off x="4663440" y="4434840"/>
            <a:ext cx="6903720" cy="1051560"/>
          </a:xfrm>
          <a:prstGeom prst="roundRect">
            <a:avLst>
              <a:gd name="adj" fmla="val 10435"/>
            </a:avLst>
          </a:prstGeom>
          <a:solidFill>
            <a:srgbClr val="D9A441"/>
          </a:solidFill>
          <a:ln/>
        </p:spPr>
      </p:sp>
      <p:sp>
        <p:nvSpPr>
          <p:cNvPr id="22" name="Text 19"/>
          <p:cNvSpPr/>
          <p:nvPr/>
        </p:nvSpPr>
        <p:spPr>
          <a:xfrm>
            <a:off x="4937760" y="4590288"/>
            <a:ext cx="5943600" cy="320040"/>
          </a:xfrm>
          <a:prstGeom prst="rect">
            <a:avLst/>
          </a:prstGeom>
          <a:noFill/>
          <a:ln/>
        </p:spPr>
        <p:txBody>
          <a:bodyPr wrap="square" lIns="0" tIns="0" rIns="0" bIns="0" rtlCol="0" anchor="ctr"/>
          <a:lstStyle/>
          <a:p>
            <a:pPr indent="0" marL="0">
              <a:buNone/>
            </a:pPr>
            <a:r>
              <a:rPr lang="en-US" sz="1600" b="1" spc="200" kern="0" dirty="0">
                <a:solidFill>
                  <a:srgbClr val="142A44"/>
                </a:solidFill>
                <a:latin typeface="Calibri" pitchFamily="34" charset="0"/>
                <a:ea typeface="Calibri" pitchFamily="34" charset="-122"/>
                <a:cs typeface="Calibri" pitchFamily="34" charset="-120"/>
              </a:rPr>
              <a:t>SIRADAKİ DERS</a:t>
            </a:r>
            <a:endParaRPr lang="en-US" sz="1600" dirty="0"/>
          </a:p>
        </p:txBody>
      </p:sp>
      <p:sp>
        <p:nvSpPr>
          <p:cNvPr id="23" name="Text 20"/>
          <p:cNvSpPr/>
          <p:nvPr/>
        </p:nvSpPr>
        <p:spPr>
          <a:xfrm>
            <a:off x="4937760" y="4864608"/>
            <a:ext cx="6309360" cy="502920"/>
          </a:xfrm>
          <a:prstGeom prst="rect">
            <a:avLst/>
          </a:prstGeom>
          <a:noFill/>
          <a:ln/>
        </p:spPr>
        <p:txBody>
          <a:bodyPr wrap="square" lIns="0" tIns="0" rIns="0" bIns="0" rtlCol="0" anchor="ctr"/>
          <a:lstStyle/>
          <a:p>
            <a:pPr indent="0" marL="0">
              <a:buNone/>
            </a:pPr>
            <a:r>
              <a:rPr lang="en-US" sz="2100" b="1" dirty="0">
                <a:solidFill>
                  <a:srgbClr val="142A44"/>
                </a:solidFill>
                <a:latin typeface="Cambria" pitchFamily="34" charset="0"/>
                <a:ea typeface="Cambria" pitchFamily="34" charset="-122"/>
                <a:cs typeface="Cambria" pitchFamily="34" charset="-120"/>
              </a:rPr>
              <a:t>Anlamca Eşdeğer Cümle Bulma (Ders 2/4)  →</a:t>
            </a:r>
            <a:endParaRPr lang="en-US" sz="21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odev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PEKIŞTIRME</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Ödev: Kavramı Belirle</a:t>
            </a:r>
            <a:endParaRPr lang="en-US" sz="2800" dirty="0"/>
          </a:p>
        </p:txBody>
      </p:sp>
      <p:sp>
        <p:nvSpPr>
          <p:cNvPr id="6" name="Text 3"/>
          <p:cNvSpPr/>
          <p:nvPr/>
        </p:nvSpPr>
        <p:spPr>
          <a:xfrm>
            <a:off x="640080" y="1645920"/>
            <a:ext cx="10881360" cy="685292"/>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Sıradaki derse kadar aşağıdaki 8 cümlenin hangi kavramla ilgili olduğunu belirleyip defterinize yazın:</a:t>
            </a:r>
            <a:endParaRPr lang="en-US" sz="1900" dirty="0"/>
          </a:p>
        </p:txBody>
      </p:sp>
      <p:sp>
        <p:nvSpPr>
          <p:cNvPr id="7" name="Shape 4"/>
          <p:cNvSpPr/>
          <p:nvPr/>
        </p:nvSpPr>
        <p:spPr>
          <a:xfrm>
            <a:off x="640080" y="2372360"/>
            <a:ext cx="5349240" cy="776732"/>
          </a:xfrm>
          <a:prstGeom prst="roundRect">
            <a:avLst>
              <a:gd name="adj" fmla="val 50000"/>
            </a:avLst>
          </a:prstGeom>
          <a:solidFill>
            <a:srgbClr val="EEF3F8"/>
          </a:solidFill>
          <a:ln w="12700">
            <a:solidFill>
              <a:srgbClr val="1E3A5F"/>
            </a:solidFill>
            <a:prstDash val="solid"/>
          </a:ln>
        </p:spPr>
      </p:sp>
      <p:sp>
        <p:nvSpPr>
          <p:cNvPr id="8" name="Text 5"/>
          <p:cNvSpPr/>
          <p:nvPr/>
        </p:nvSpPr>
        <p:spPr>
          <a:xfrm>
            <a:off x="822960" y="2372360"/>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1. "Bu şair, kuşağının en özgün sesi kabul edilir." — hangi kavram?</a:t>
            </a:r>
            <a:endParaRPr lang="en-US" sz="1900" dirty="0"/>
          </a:p>
        </p:txBody>
      </p:sp>
      <p:sp>
        <p:nvSpPr>
          <p:cNvPr id="9" name="Shape 6"/>
          <p:cNvSpPr/>
          <p:nvPr/>
        </p:nvSpPr>
        <p:spPr>
          <a:xfrm>
            <a:off x="6172200" y="2372360"/>
            <a:ext cx="5349240" cy="776732"/>
          </a:xfrm>
          <a:prstGeom prst="roundRect">
            <a:avLst>
              <a:gd name="adj" fmla="val 50000"/>
            </a:avLst>
          </a:prstGeom>
          <a:solidFill>
            <a:srgbClr val="EEF3F8"/>
          </a:solidFill>
          <a:ln w="12700">
            <a:solidFill>
              <a:srgbClr val="1E3A5F"/>
            </a:solidFill>
            <a:prstDash val="solid"/>
          </a:ln>
        </p:spPr>
      </p:sp>
      <p:sp>
        <p:nvSpPr>
          <p:cNvPr id="10" name="Text 7"/>
          <p:cNvSpPr/>
          <p:nvPr/>
        </p:nvSpPr>
        <p:spPr>
          <a:xfrm>
            <a:off x="6355080" y="2372360"/>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2. "Kitap, 1968 yılında ilk baskısını yapmıştır." — hangi kavram?</a:t>
            </a:r>
            <a:endParaRPr lang="en-US" sz="1900" dirty="0"/>
          </a:p>
        </p:txBody>
      </p:sp>
      <p:sp>
        <p:nvSpPr>
          <p:cNvPr id="11" name="Shape 8"/>
          <p:cNvSpPr/>
          <p:nvPr/>
        </p:nvSpPr>
        <p:spPr>
          <a:xfrm>
            <a:off x="640080" y="3182010"/>
            <a:ext cx="5349240" cy="776732"/>
          </a:xfrm>
          <a:prstGeom prst="roundRect">
            <a:avLst>
              <a:gd name="adj" fmla="val 50000"/>
            </a:avLst>
          </a:prstGeom>
          <a:solidFill>
            <a:srgbClr val="EEF3F8"/>
          </a:solidFill>
          <a:ln w="12700">
            <a:solidFill>
              <a:srgbClr val="1E3A5F"/>
            </a:solidFill>
            <a:prstDash val="solid"/>
          </a:ln>
        </p:spPr>
      </p:sp>
      <p:sp>
        <p:nvSpPr>
          <p:cNvPr id="12" name="Text 9"/>
          <p:cNvSpPr/>
          <p:nvPr/>
        </p:nvSpPr>
        <p:spPr>
          <a:xfrm>
            <a:off x="822960" y="3182010"/>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3. "Bu öykü, önceki öyküsünden çok daha güçlü kurgulanmış." — hangi kavram?</a:t>
            </a:r>
            <a:endParaRPr lang="en-US" sz="1900" dirty="0"/>
          </a:p>
        </p:txBody>
      </p:sp>
      <p:sp>
        <p:nvSpPr>
          <p:cNvPr id="13" name="Shape 10"/>
          <p:cNvSpPr/>
          <p:nvPr/>
        </p:nvSpPr>
        <p:spPr>
          <a:xfrm>
            <a:off x="6172200" y="3182010"/>
            <a:ext cx="5349240" cy="776732"/>
          </a:xfrm>
          <a:prstGeom prst="roundRect">
            <a:avLst>
              <a:gd name="adj" fmla="val 50000"/>
            </a:avLst>
          </a:prstGeom>
          <a:solidFill>
            <a:srgbClr val="EEF3F8"/>
          </a:solidFill>
          <a:ln w="12700">
            <a:solidFill>
              <a:srgbClr val="1E3A5F"/>
            </a:solidFill>
            <a:prstDash val="solid"/>
          </a:ln>
        </p:spPr>
      </p:sp>
      <p:sp>
        <p:nvSpPr>
          <p:cNvPr id="14" name="Text 11"/>
          <p:cNvSpPr/>
          <p:nvPr/>
        </p:nvSpPr>
        <p:spPr>
          <a:xfrm>
            <a:off x="6355080" y="3182010"/>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4. "Yazarın bu son romanı, kariyerinin zirvesidir." — hangi kavram?</a:t>
            </a:r>
            <a:endParaRPr lang="en-US" sz="1900" dirty="0"/>
          </a:p>
        </p:txBody>
      </p:sp>
      <p:sp>
        <p:nvSpPr>
          <p:cNvPr id="15" name="Shape 12"/>
          <p:cNvSpPr/>
          <p:nvPr/>
        </p:nvSpPr>
        <p:spPr>
          <a:xfrm>
            <a:off x="640080" y="3991661"/>
            <a:ext cx="5349240" cy="776732"/>
          </a:xfrm>
          <a:prstGeom prst="roundRect">
            <a:avLst>
              <a:gd name="adj" fmla="val 50000"/>
            </a:avLst>
          </a:prstGeom>
          <a:solidFill>
            <a:srgbClr val="EEF3F8"/>
          </a:solidFill>
          <a:ln w="12700">
            <a:solidFill>
              <a:srgbClr val="1E3A5F"/>
            </a:solidFill>
            <a:prstDash val="solid"/>
          </a:ln>
        </p:spPr>
      </p:sp>
      <p:sp>
        <p:nvSpPr>
          <p:cNvPr id="16" name="Text 13"/>
          <p:cNvSpPr/>
          <p:nvPr/>
        </p:nvSpPr>
        <p:spPr>
          <a:xfrm>
            <a:off x="822960" y="3991661"/>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5. "Kar yağarsa yollar kapanacağı için okullar tatil edilebilir." — hangi kavram?</a:t>
            </a:r>
            <a:endParaRPr lang="en-US" sz="1900" dirty="0"/>
          </a:p>
        </p:txBody>
      </p:sp>
      <p:sp>
        <p:nvSpPr>
          <p:cNvPr id="17" name="Shape 14"/>
          <p:cNvSpPr/>
          <p:nvPr/>
        </p:nvSpPr>
        <p:spPr>
          <a:xfrm>
            <a:off x="6172200" y="3991661"/>
            <a:ext cx="5349240" cy="776732"/>
          </a:xfrm>
          <a:prstGeom prst="roundRect">
            <a:avLst>
              <a:gd name="adj" fmla="val 50000"/>
            </a:avLst>
          </a:prstGeom>
          <a:solidFill>
            <a:srgbClr val="EEF3F8"/>
          </a:solidFill>
          <a:ln w="12700">
            <a:solidFill>
              <a:srgbClr val="1E3A5F"/>
            </a:solidFill>
            <a:prstDash val="solid"/>
          </a:ln>
        </p:spPr>
      </p:sp>
      <p:sp>
        <p:nvSpPr>
          <p:cNvPr id="18" name="Text 15"/>
          <p:cNvSpPr/>
          <p:nvPr/>
        </p:nvSpPr>
        <p:spPr>
          <a:xfrm>
            <a:off x="6355080" y="3991661"/>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6. "Bu tür eserler asla okurunu yanıltmaz." — hangi kavram?</a:t>
            </a:r>
            <a:endParaRPr lang="en-US" sz="1900" dirty="0"/>
          </a:p>
        </p:txBody>
      </p:sp>
      <p:sp>
        <p:nvSpPr>
          <p:cNvPr id="19" name="Shape 16"/>
          <p:cNvSpPr/>
          <p:nvPr/>
        </p:nvSpPr>
        <p:spPr>
          <a:xfrm>
            <a:off x="640080" y="4801311"/>
            <a:ext cx="5349240" cy="776732"/>
          </a:xfrm>
          <a:prstGeom prst="roundRect">
            <a:avLst>
              <a:gd name="adj" fmla="val 50000"/>
            </a:avLst>
          </a:prstGeom>
          <a:solidFill>
            <a:srgbClr val="EEF3F8"/>
          </a:solidFill>
          <a:ln w="12700">
            <a:solidFill>
              <a:srgbClr val="1E3A5F"/>
            </a:solidFill>
            <a:prstDash val="solid"/>
          </a:ln>
        </p:spPr>
      </p:sp>
      <p:sp>
        <p:nvSpPr>
          <p:cNvPr id="20" name="Text 17"/>
          <p:cNvSpPr/>
          <p:nvPr/>
        </p:nvSpPr>
        <p:spPr>
          <a:xfrm>
            <a:off x="822960" y="4801311"/>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7. "Belki de bu roman, yazarın en kişisel eseriydi." — hangi kavram?</a:t>
            </a:r>
            <a:endParaRPr lang="en-US" sz="1900" dirty="0"/>
          </a:p>
        </p:txBody>
      </p:sp>
      <p:sp>
        <p:nvSpPr>
          <p:cNvPr id="21" name="Shape 18"/>
          <p:cNvSpPr/>
          <p:nvPr/>
        </p:nvSpPr>
        <p:spPr>
          <a:xfrm>
            <a:off x="6172200" y="4801311"/>
            <a:ext cx="5349240" cy="776732"/>
          </a:xfrm>
          <a:prstGeom prst="roundRect">
            <a:avLst>
              <a:gd name="adj" fmla="val 50000"/>
            </a:avLst>
          </a:prstGeom>
          <a:solidFill>
            <a:srgbClr val="EEF3F8"/>
          </a:solidFill>
          <a:ln w="12700">
            <a:solidFill>
              <a:srgbClr val="1E3A5F"/>
            </a:solidFill>
            <a:prstDash val="solid"/>
          </a:ln>
        </p:spPr>
      </p:sp>
      <p:sp>
        <p:nvSpPr>
          <p:cNvPr id="22" name="Text 19"/>
          <p:cNvSpPr/>
          <p:nvPr/>
        </p:nvSpPr>
        <p:spPr>
          <a:xfrm>
            <a:off x="6355080" y="4801311"/>
            <a:ext cx="5029200" cy="685292"/>
          </a:xfrm>
          <a:prstGeom prst="rect">
            <a:avLst/>
          </a:prstGeom>
          <a:noFill/>
          <a:ln/>
        </p:spPr>
        <p:txBody>
          <a:bodyPr wrap="square" lIns="0" tIns="0" rIns="0" bIns="0" rtlCol="0" anchor="ctr"/>
          <a:lstStyle/>
          <a:p>
            <a:pPr indent="0" marL="0">
              <a:buNone/>
            </a:pPr>
            <a:r>
              <a:rPr lang="en-US" sz="1900" b="1" dirty="0">
                <a:solidFill>
                  <a:srgbClr val="1E3A5F"/>
                </a:solidFill>
                <a:latin typeface="Calibri" pitchFamily="34" charset="0"/>
                <a:ea typeface="Calibri" pitchFamily="34" charset="-122"/>
                <a:cs typeface="Calibri" pitchFamily="34" charset="-120"/>
              </a:rPr>
              <a:t>8. "Ödülü kazanmak için özgün bir eser ortaya koymak gerekir." — hangi kavram?</a:t>
            </a:r>
            <a:endParaRPr lang="en-US" sz="1900" dirty="0"/>
          </a:p>
        </p:txBody>
      </p:sp>
      <p:sp>
        <p:nvSpPr>
          <p:cNvPr id="23" name="Shape 20"/>
          <p:cNvSpPr/>
          <p:nvPr/>
        </p:nvSpPr>
        <p:spPr>
          <a:xfrm>
            <a:off x="640080" y="5672684"/>
            <a:ext cx="10881360" cy="776732"/>
          </a:xfrm>
          <a:prstGeom prst="roundRect">
            <a:avLst>
              <a:gd name="adj" fmla="val 15385"/>
            </a:avLst>
          </a:prstGeom>
          <a:solidFill>
            <a:srgbClr val="FBF3E3"/>
          </a:solidFill>
          <a:ln/>
        </p:spPr>
      </p:sp>
      <p:sp>
        <p:nvSpPr>
          <p:cNvPr id="24" name="Text 21"/>
          <p:cNvSpPr/>
          <p:nvPr/>
        </p:nvSpPr>
        <p:spPr>
          <a:xfrm>
            <a:off x="914400" y="5672684"/>
            <a:ext cx="10332720" cy="685292"/>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Not: Bazı cümlelerde birden fazla kavram birlikte bulunabilir (ör. koşul + sebep-sonuç) — hepsini belirtin.</a:t>
            </a:r>
            <a:endParaRPr lang="en-US" sz="190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Ödev</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Slide 22">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142A44"/>
          </a:solidFill>
          <a:ln/>
        </p:spPr>
      </p:sp>
      <p:sp>
        <p:nvSpPr>
          <p:cNvPr id="3" name="Shape 1"/>
          <p:cNvSpPr/>
          <p:nvPr/>
        </p:nvSpPr>
        <p:spPr>
          <a:xfrm>
            <a:off x="640080" y="548640"/>
            <a:ext cx="731520" cy="731520"/>
          </a:xfrm>
          <a:prstGeom prst="ellipse">
            <a:avLst/>
          </a:prstGeom>
          <a:solidFill>
            <a:srgbClr val="254B78"/>
          </a:solidFill>
          <a:ln/>
        </p:spPr>
      </p:sp>
      <p:pic>
        <p:nvPicPr>
          <p:cNvPr id="4" name="Image 0" descr="icons/kapanis_amber.png">    </p:cNvPr>
          <p:cNvPicPr>
            <a:picLocks noChangeAspect="1"/>
          </p:cNvPicPr>
          <p:nvPr/>
        </p:nvPicPr>
        <p:blipFill>
          <a:blip r:embed="rId1"/>
          <a:stretch>
            <a:fillRect/>
          </a:stretch>
        </p:blipFill>
        <p:spPr>
          <a:xfrm>
            <a:off x="804672" y="713232"/>
            <a:ext cx="402336" cy="402336"/>
          </a:xfrm>
          <a:prstGeom prst="rect">
            <a:avLst/>
          </a:prstGeom>
        </p:spPr>
      </p:pic>
      <p:sp>
        <p:nvSpPr>
          <p:cNvPr id="5" name="Text 2"/>
          <p:cNvSpPr/>
          <p:nvPr/>
        </p:nvSpPr>
        <p:spPr>
          <a:xfrm>
            <a:off x="1508760" y="594360"/>
            <a:ext cx="6400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Ders Tamamlandı</a:t>
            </a:r>
            <a:endParaRPr lang="en-US" sz="2800" dirty="0"/>
          </a:p>
        </p:txBody>
      </p:sp>
      <p:sp>
        <p:nvSpPr>
          <p:cNvPr id="6" name="Text 3"/>
          <p:cNvSpPr/>
          <p:nvPr/>
        </p:nvSpPr>
        <p:spPr>
          <a:xfrm>
            <a:off x="640080" y="1371600"/>
            <a:ext cx="7315200" cy="365760"/>
          </a:xfrm>
          <a:prstGeom prst="rect">
            <a:avLst/>
          </a:prstGeom>
          <a:noFill/>
          <a:ln/>
        </p:spPr>
        <p:txBody>
          <a:bodyPr wrap="square" lIns="0" tIns="0" rIns="0" bIns="0" rtlCol="0" anchor="ctr"/>
          <a:lstStyle/>
          <a:p>
            <a:pPr indent="0" marL="0">
              <a:buNone/>
            </a:pPr>
            <a:r>
              <a:rPr lang="en-US" sz="1300" i="1" dirty="0">
                <a:solidFill>
                  <a:srgbClr val="9FB8D6"/>
                </a:solidFill>
                <a:latin typeface="Calibri" pitchFamily="34" charset="0"/>
                <a:ea typeface="Calibri" pitchFamily="34" charset="-122"/>
                <a:cs typeface="Calibri" pitchFamily="34" charset="-120"/>
              </a:rPr>
              <a:t>Cümlede Anlam'a Giriş: Temel Kavramlar — Ders 1/4</a:t>
            </a:r>
            <a:endParaRPr lang="en-US" sz="1300" dirty="0"/>
          </a:p>
        </p:txBody>
      </p:sp>
      <p:sp>
        <p:nvSpPr>
          <p:cNvPr id="7" name="Shape 4"/>
          <p:cNvSpPr/>
          <p:nvPr/>
        </p:nvSpPr>
        <p:spPr>
          <a:xfrm>
            <a:off x="640080" y="2103120"/>
            <a:ext cx="7040880" cy="1828800"/>
          </a:xfrm>
          <a:prstGeom prst="roundRect">
            <a:avLst>
              <a:gd name="adj" fmla="val 6000"/>
            </a:avLst>
          </a:prstGeom>
          <a:solidFill>
            <a:srgbClr val="254B78"/>
          </a:solidFill>
          <a:ln/>
        </p:spPr>
      </p:sp>
      <p:sp>
        <p:nvSpPr>
          <p:cNvPr id="8" name="Text 5"/>
          <p:cNvSpPr/>
          <p:nvPr/>
        </p:nvSpPr>
        <p:spPr>
          <a:xfrm>
            <a:off x="914400" y="2331720"/>
            <a:ext cx="6492240" cy="1371600"/>
          </a:xfrm>
          <a:prstGeom prst="rect">
            <a:avLst/>
          </a:prstGeom>
          <a:noFill/>
          <a:ln/>
        </p:spPr>
        <p:txBody>
          <a:bodyPr wrap="square" lIns="0" tIns="0" rIns="0" bIns="0" rtlCol="0" anchor="t"/>
          <a:lstStyle/>
          <a:p>
            <a:pPr indent="0" marL="0">
              <a:buNone/>
            </a:pPr>
            <a:r>
              <a:rPr lang="en-US" sz="1550" b="1" dirty="0">
                <a:solidFill>
                  <a:srgbClr val="D9A441"/>
                </a:solidFill>
                <a:latin typeface="Calibri" pitchFamily="34" charset="0"/>
                <a:ea typeface="Calibri" pitchFamily="34" charset="-122"/>
                <a:cs typeface="Calibri" pitchFamily="34" charset="-120"/>
              </a:rPr>
              <a:t>Bugün öğrendik:  </a:t>
            </a:r>
            <a:endParaRPr lang="en-US" sz="1550" dirty="0"/>
          </a:p>
          <a:p>
            <a:pPr indent="0" marL="0">
              <a:buNone/>
            </a:pPr>
            <a:r>
              <a:rPr lang="en-US" sz="1550" dirty="0">
                <a:solidFill>
                  <a:srgbClr val="FFFFFF"/>
                </a:solidFill>
                <a:latin typeface="Calibri" pitchFamily="34" charset="0"/>
                <a:ea typeface="Calibri" pitchFamily="34" charset="-122"/>
                <a:cs typeface="Calibri" pitchFamily="34" charset="-120"/>
              </a:rPr>
              <a:t>Öznellik-nesnellik, karşılaştırma, değerlendirme, kesin yargı/varsayım ve sebep-sonuç/koşul-amaç kavramlarını gerçek ÖSYM sorularıyla gördük. Cümlede Anlam konusuna sağlam bir temelle başladık.</a:t>
            </a:r>
            <a:endParaRPr lang="en-US" sz="1550" dirty="0"/>
          </a:p>
        </p:txBody>
      </p:sp>
      <p:sp>
        <p:nvSpPr>
          <p:cNvPr id="9" name="Shape 6"/>
          <p:cNvSpPr/>
          <p:nvPr/>
        </p:nvSpPr>
        <p:spPr>
          <a:xfrm>
            <a:off x="640080" y="4160520"/>
            <a:ext cx="7040880" cy="1051560"/>
          </a:xfrm>
          <a:prstGeom prst="roundRect">
            <a:avLst>
              <a:gd name="adj" fmla="val 10435"/>
            </a:avLst>
          </a:prstGeom>
          <a:solidFill>
            <a:srgbClr val="D9A441"/>
          </a:solidFill>
          <a:ln/>
        </p:spPr>
      </p:sp>
      <p:sp>
        <p:nvSpPr>
          <p:cNvPr id="10" name="Text 7"/>
          <p:cNvSpPr/>
          <p:nvPr/>
        </p:nvSpPr>
        <p:spPr>
          <a:xfrm>
            <a:off x="914400" y="4315968"/>
            <a:ext cx="5943600" cy="320040"/>
          </a:xfrm>
          <a:prstGeom prst="rect">
            <a:avLst/>
          </a:prstGeom>
          <a:noFill/>
          <a:ln/>
        </p:spPr>
        <p:txBody>
          <a:bodyPr wrap="square" lIns="0" tIns="0" rIns="0" bIns="0" rtlCol="0" anchor="ctr"/>
          <a:lstStyle/>
          <a:p>
            <a:pPr indent="0" marL="0">
              <a:buNone/>
            </a:pPr>
            <a:r>
              <a:rPr lang="en-US" sz="1600" b="1" spc="200" kern="0" dirty="0">
                <a:solidFill>
                  <a:srgbClr val="142A44"/>
                </a:solidFill>
                <a:latin typeface="Calibri" pitchFamily="34" charset="0"/>
                <a:ea typeface="Calibri" pitchFamily="34" charset="-122"/>
                <a:cs typeface="Calibri" pitchFamily="34" charset="-120"/>
              </a:rPr>
              <a:t>SIRADAKİ DERS</a:t>
            </a:r>
            <a:endParaRPr lang="en-US" sz="1600" dirty="0"/>
          </a:p>
        </p:txBody>
      </p:sp>
      <p:sp>
        <p:nvSpPr>
          <p:cNvPr id="11" name="Text 8"/>
          <p:cNvSpPr/>
          <p:nvPr/>
        </p:nvSpPr>
        <p:spPr>
          <a:xfrm>
            <a:off x="914400" y="4590288"/>
            <a:ext cx="6309360" cy="502920"/>
          </a:xfrm>
          <a:prstGeom prst="rect">
            <a:avLst/>
          </a:prstGeom>
          <a:noFill/>
          <a:ln/>
        </p:spPr>
        <p:txBody>
          <a:bodyPr wrap="square" lIns="0" tIns="0" rIns="0" bIns="0" rtlCol="0" anchor="ctr"/>
          <a:lstStyle/>
          <a:p>
            <a:pPr indent="0" marL="0">
              <a:buNone/>
            </a:pPr>
            <a:r>
              <a:rPr lang="en-US" sz="2100" b="1" dirty="0">
                <a:solidFill>
                  <a:srgbClr val="142A44"/>
                </a:solidFill>
                <a:latin typeface="Cambria" pitchFamily="34" charset="0"/>
                <a:ea typeface="Cambria" pitchFamily="34" charset="-122"/>
                <a:cs typeface="Cambria" pitchFamily="34" charset="-120"/>
              </a:rPr>
              <a:t>Anlamca Eşdeğer Cümle Bulma (Ders 2/4)  →</a:t>
            </a:r>
            <a:endParaRPr lang="en-US" sz="2100" dirty="0"/>
          </a:p>
        </p:txBody>
      </p:sp>
      <p:sp>
        <p:nvSpPr>
          <p:cNvPr id="12" name="Text 9"/>
          <p:cNvSpPr/>
          <p:nvPr/>
        </p:nvSpPr>
        <p:spPr>
          <a:xfrm>
            <a:off x="640080" y="6309360"/>
            <a:ext cx="5486400" cy="365760"/>
          </a:xfrm>
          <a:prstGeom prst="rect">
            <a:avLst/>
          </a:prstGeom>
          <a:noFill/>
          <a:ln/>
        </p:spPr>
        <p:txBody>
          <a:bodyPr wrap="square" lIns="0" tIns="0" rIns="0" bIns="0" rtlCol="0" anchor="ctr"/>
          <a:lstStyle/>
          <a:p>
            <a:pPr indent="0" marL="0">
              <a:buNone/>
            </a:pPr>
            <a:r>
              <a:rPr lang="en-US" sz="1000" dirty="0">
                <a:solidFill>
                  <a:srgbClr val="6E8CB0"/>
                </a:solidFill>
                <a:latin typeface="Calibri" pitchFamily="34" charset="0"/>
                <a:ea typeface="Calibri" pitchFamily="34" charset="-122"/>
                <a:cs typeface="Calibri" pitchFamily="34" charset="-120"/>
              </a:rPr>
              <a:t>TYT Türkçe Ders Anlatım Projesi  ·  Sedat GÜLER ve Claude Opus 5 tarafından üretilmiştir.</a:t>
            </a:r>
            <a:endParaRPr lang="en-US" sz="10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1/3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(ÖSS - 1995)</a:t>
            </a:r>
            <a:endParaRPr lang="en-US" sz="1050" dirty="0"/>
          </a:p>
        </p:txBody>
      </p:sp>
      <p:sp>
        <p:nvSpPr>
          <p:cNvPr id="15" name="Shape 12"/>
          <p:cNvSpPr/>
          <p:nvPr/>
        </p:nvSpPr>
        <p:spPr>
          <a:xfrm>
            <a:off x="640080" y="1783080"/>
            <a:ext cx="10908792" cy="4434840"/>
          </a:xfrm>
          <a:prstGeom prst="roundRect">
            <a:avLst>
              <a:gd name="adj" fmla="val 2526"/>
            </a:avLst>
          </a:prstGeom>
          <a:solidFill>
            <a:srgbClr val="1E3A5F"/>
          </a:solidFill>
          <a:ln/>
        </p:spPr>
      </p:sp>
      <p:sp>
        <p:nvSpPr>
          <p:cNvPr id="16" name="Text 13"/>
          <p:cNvSpPr/>
          <p:nvPr/>
        </p:nvSpPr>
        <p:spPr>
          <a:xfrm>
            <a:off x="914400" y="1965960"/>
            <a:ext cx="10360152" cy="411480"/>
          </a:xfrm>
          <a:prstGeom prst="rect">
            <a:avLst/>
          </a:prstGeom>
          <a:noFill/>
          <a:ln/>
        </p:spPr>
        <p:txBody>
          <a:bodyPr wrap="square" lIns="0" tIns="0" rIns="0" bIns="0" rtlCol="0" anchor="ctr"/>
          <a:lstStyle/>
          <a:p>
            <a:pPr indent="0" marL="0">
              <a:buNone/>
            </a:pPr>
            <a:r>
              <a:rPr lang="en-US" sz="1600" b="1" spc="200" kern="0" dirty="0">
                <a:solidFill>
                  <a:srgbClr val="D9A441"/>
                </a:solidFill>
                <a:latin typeface="Calibri" pitchFamily="34" charset="0"/>
                <a:ea typeface="Calibri" pitchFamily="34" charset="-122"/>
                <a:cs typeface="Calibri" pitchFamily="34" charset="-120"/>
              </a:rPr>
              <a:t>ÇÖZÜM</a:t>
            </a:r>
            <a:endParaRPr lang="en-US" sz="1600" dirty="0"/>
          </a:p>
        </p:txBody>
      </p:sp>
      <p:sp>
        <p:nvSpPr>
          <p:cNvPr id="17" name="Shape 14"/>
          <p:cNvSpPr/>
          <p:nvPr/>
        </p:nvSpPr>
        <p:spPr>
          <a:xfrm>
            <a:off x="914400" y="2514600"/>
            <a:ext cx="777240" cy="777240"/>
          </a:xfrm>
          <a:prstGeom prst="ellipse">
            <a:avLst/>
          </a:prstGeom>
          <a:solidFill>
            <a:srgbClr val="D9A441"/>
          </a:solidFill>
          <a:ln/>
        </p:spPr>
      </p:sp>
      <p:sp>
        <p:nvSpPr>
          <p:cNvPr id="18" name="Text 15"/>
          <p:cNvSpPr/>
          <p:nvPr/>
        </p:nvSpPr>
        <p:spPr>
          <a:xfrm>
            <a:off x="914400" y="2514600"/>
            <a:ext cx="777240" cy="777240"/>
          </a:xfrm>
          <a:prstGeom prst="rect">
            <a:avLst/>
          </a:prstGeom>
          <a:noFill/>
          <a:ln/>
        </p:spPr>
        <p:txBody>
          <a:bodyPr wrap="square" lIns="0" tIns="0" rIns="0" bIns="0" rtlCol="0" anchor="ctr"/>
          <a:lstStyle/>
          <a:p>
            <a:pPr algn="ctr" indent="0" marL="0">
              <a:buNone/>
            </a:pPr>
            <a:r>
              <a:rPr lang="en-US" sz="2700" b="1" dirty="0">
                <a:solidFill>
                  <a:srgbClr val="1E3A5F"/>
                </a:solidFill>
                <a:latin typeface="Cambria" pitchFamily="34" charset="0"/>
                <a:ea typeface="Cambria" pitchFamily="34" charset="-122"/>
                <a:cs typeface="Cambria" pitchFamily="34" charset="-120"/>
              </a:rPr>
              <a:t>D</a:t>
            </a:r>
            <a:endParaRPr lang="en-US" sz="2700" dirty="0"/>
          </a:p>
        </p:txBody>
      </p:sp>
      <p:sp>
        <p:nvSpPr>
          <p:cNvPr id="19" name="Text 16"/>
          <p:cNvSpPr/>
          <p:nvPr/>
        </p:nvSpPr>
        <p:spPr>
          <a:xfrm>
            <a:off x="1874520" y="2514600"/>
            <a:ext cx="4572000" cy="7772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14400" y="3566160"/>
            <a:ext cx="10360152" cy="2423160"/>
          </a:xfrm>
          <a:prstGeom prst="rect">
            <a:avLst/>
          </a:prstGeom>
          <a:noFill/>
          <a:ln/>
        </p:spPr>
        <p:txBody>
          <a:bodyPr wrap="square" lIns="0" tIns="0" rIns="0" bIns="0" rtlCol="0" anchor="t"/>
          <a:lstStyle/>
          <a:p>
            <a:pPr indent="0" marL="0">
              <a:buNone/>
            </a:pPr>
            <a:r>
              <a:rPr lang="en-US" sz="1850" b="1" dirty="0">
                <a:solidFill>
                  <a:srgbClr val="D9A441"/>
                </a:solidFill>
                <a:latin typeface="Calibri" pitchFamily="34" charset="0"/>
                <a:ea typeface="Calibri" pitchFamily="34" charset="-122"/>
                <a:cs typeface="Calibri" pitchFamily="34" charset="-120"/>
              </a:rPr>
              <a:t>D  </a:t>
            </a:r>
            <a:pPr indent="0" marL="0">
              <a:buNone/>
            </a:pPr>
            <a:r>
              <a:rPr lang="en-US" sz="1850" b="1" dirty="0">
                <a:solidFill>
                  <a:srgbClr val="FFFFFF"/>
                </a:solidFill>
                <a:latin typeface="Calibri" pitchFamily="34" charset="0"/>
                <a:ea typeface="Calibri" pitchFamily="34" charset="-122"/>
                <a:cs typeface="Calibri" pitchFamily="34" charset="-120"/>
              </a:rPr>
              <a:t>→ doğru cevap.
</a:t>
            </a:r>
            <a:pPr indent="0" marL="0">
              <a:buNone/>
            </a:pPr>
            <a:r>
              <a:rPr lang="en-US" sz="1850" dirty="0">
                <a:solidFill>
                  <a:srgbClr val="CADCFC"/>
                </a:solidFill>
                <a:latin typeface="Calibri" pitchFamily="34" charset="0"/>
                <a:ea typeface="Calibri" pitchFamily="34" charset="-122"/>
                <a:cs typeface="Calibri" pitchFamily="34" charset="-120"/>
              </a:rPr>
              <a:t>A, B, C ve E seçenekleri, ilgili şiirlerde kişileştirme yapıldığını GÖZLEMLENEBİLİR/ispatlanabilir bir olgu olarak bildirir — bu nedenle NESNELDİR. D seçeneğinde ise "çok ilgi çekicidir" ifadesi kanıtlanamayan, kişiden kişiye değişen bir yargıdır ("bana göre ilgi çekici" olan "sana göre" olmayabilir) — bu nedenle ÖZNELDİR.</a:t>
            </a:r>
            <a:endParaRPr lang="en-US" sz="185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1 — çözüm — gerçek ÖSYM sorusu (Öznellik)</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2/3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(ÖSS - 2001)</a:t>
            </a:r>
            <a:endParaRPr lang="en-US" sz="1050" dirty="0"/>
          </a:p>
        </p:txBody>
      </p:sp>
      <p:sp>
        <p:nvSpPr>
          <p:cNvPr id="15" name="Shape 12"/>
          <p:cNvSpPr/>
          <p:nvPr/>
        </p:nvSpPr>
        <p:spPr>
          <a:xfrm>
            <a:off x="640080" y="1783080"/>
            <a:ext cx="10908792" cy="4434840"/>
          </a:xfrm>
          <a:prstGeom prst="roundRect">
            <a:avLst>
              <a:gd name="adj" fmla="val 2526"/>
            </a:avLst>
          </a:prstGeom>
          <a:solidFill>
            <a:srgbClr val="1E3A5F"/>
          </a:solidFill>
          <a:ln/>
        </p:spPr>
      </p:sp>
      <p:sp>
        <p:nvSpPr>
          <p:cNvPr id="16" name="Text 13"/>
          <p:cNvSpPr/>
          <p:nvPr/>
        </p:nvSpPr>
        <p:spPr>
          <a:xfrm>
            <a:off x="914400" y="1965960"/>
            <a:ext cx="10360152" cy="411480"/>
          </a:xfrm>
          <a:prstGeom prst="rect">
            <a:avLst/>
          </a:prstGeom>
          <a:noFill/>
          <a:ln/>
        </p:spPr>
        <p:txBody>
          <a:bodyPr wrap="square" lIns="0" tIns="0" rIns="0" bIns="0" rtlCol="0" anchor="ctr"/>
          <a:lstStyle/>
          <a:p>
            <a:pPr indent="0" marL="0">
              <a:buNone/>
            </a:pPr>
            <a:r>
              <a:rPr lang="en-US" sz="1600" b="1" spc="200" kern="0" dirty="0">
                <a:solidFill>
                  <a:srgbClr val="D9A441"/>
                </a:solidFill>
                <a:latin typeface="Calibri" pitchFamily="34" charset="0"/>
                <a:ea typeface="Calibri" pitchFamily="34" charset="-122"/>
                <a:cs typeface="Calibri" pitchFamily="34" charset="-120"/>
              </a:rPr>
              <a:t>ÇÖZÜM</a:t>
            </a:r>
            <a:endParaRPr lang="en-US" sz="1600" dirty="0"/>
          </a:p>
        </p:txBody>
      </p:sp>
      <p:sp>
        <p:nvSpPr>
          <p:cNvPr id="17" name="Shape 14"/>
          <p:cNvSpPr/>
          <p:nvPr/>
        </p:nvSpPr>
        <p:spPr>
          <a:xfrm>
            <a:off x="914400" y="2514600"/>
            <a:ext cx="777240" cy="777240"/>
          </a:xfrm>
          <a:prstGeom prst="ellipse">
            <a:avLst/>
          </a:prstGeom>
          <a:solidFill>
            <a:srgbClr val="D9A441"/>
          </a:solidFill>
          <a:ln/>
        </p:spPr>
      </p:sp>
      <p:sp>
        <p:nvSpPr>
          <p:cNvPr id="18" name="Text 15"/>
          <p:cNvSpPr/>
          <p:nvPr/>
        </p:nvSpPr>
        <p:spPr>
          <a:xfrm>
            <a:off x="914400" y="2514600"/>
            <a:ext cx="777240" cy="777240"/>
          </a:xfrm>
          <a:prstGeom prst="rect">
            <a:avLst/>
          </a:prstGeom>
          <a:noFill/>
          <a:ln/>
        </p:spPr>
        <p:txBody>
          <a:bodyPr wrap="square" lIns="0" tIns="0" rIns="0" bIns="0" rtlCol="0" anchor="ctr"/>
          <a:lstStyle/>
          <a:p>
            <a:pPr algn="ctr" indent="0" marL="0">
              <a:buNone/>
            </a:pPr>
            <a:r>
              <a:rPr lang="en-US" sz="2700" b="1" dirty="0">
                <a:solidFill>
                  <a:srgbClr val="1E3A5F"/>
                </a:solidFill>
                <a:latin typeface="Cambria" pitchFamily="34" charset="0"/>
                <a:ea typeface="Cambria" pitchFamily="34" charset="-122"/>
                <a:cs typeface="Cambria" pitchFamily="34" charset="-120"/>
              </a:rPr>
              <a:t>D</a:t>
            </a:r>
            <a:endParaRPr lang="en-US" sz="2700" dirty="0"/>
          </a:p>
        </p:txBody>
      </p:sp>
      <p:sp>
        <p:nvSpPr>
          <p:cNvPr id="19" name="Text 16"/>
          <p:cNvSpPr/>
          <p:nvPr/>
        </p:nvSpPr>
        <p:spPr>
          <a:xfrm>
            <a:off x="1874520" y="2514600"/>
            <a:ext cx="4572000" cy="7772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14400" y="3566160"/>
            <a:ext cx="10360152" cy="2423160"/>
          </a:xfrm>
          <a:prstGeom prst="rect">
            <a:avLst/>
          </a:prstGeom>
          <a:noFill/>
          <a:ln/>
        </p:spPr>
        <p:txBody>
          <a:bodyPr wrap="square" lIns="0" tIns="0" rIns="0" bIns="0" rtlCol="0" anchor="t"/>
          <a:lstStyle/>
          <a:p>
            <a:pPr indent="0" marL="0">
              <a:buNone/>
            </a:pPr>
            <a:r>
              <a:rPr lang="en-US" sz="1850" b="1" dirty="0">
                <a:solidFill>
                  <a:srgbClr val="D9A441"/>
                </a:solidFill>
                <a:latin typeface="Calibri" pitchFamily="34" charset="0"/>
                <a:ea typeface="Calibri" pitchFamily="34" charset="-122"/>
                <a:cs typeface="Calibri" pitchFamily="34" charset="-120"/>
              </a:rPr>
              <a:t>D  </a:t>
            </a:r>
            <a:pPr indent="0" marL="0">
              <a:buNone/>
            </a:pPr>
            <a:r>
              <a:rPr lang="en-US" sz="1850" b="1" dirty="0">
                <a:solidFill>
                  <a:srgbClr val="FFFFFF"/>
                </a:solidFill>
                <a:latin typeface="Calibri" pitchFamily="34" charset="0"/>
                <a:ea typeface="Calibri" pitchFamily="34" charset="-122"/>
                <a:cs typeface="Calibri" pitchFamily="34" charset="-120"/>
              </a:rPr>
              <a:t>→ doğru cevap.
</a:t>
            </a:r>
            <a:pPr indent="0" marL="0">
              <a:buNone/>
            </a:pPr>
            <a:r>
              <a:rPr lang="en-US" sz="1850" dirty="0">
                <a:solidFill>
                  <a:srgbClr val="CADCFC"/>
                </a:solidFill>
                <a:latin typeface="Calibri" pitchFamily="34" charset="0"/>
                <a:ea typeface="Calibri" pitchFamily="34" charset="-122"/>
                <a:cs typeface="Calibri" pitchFamily="34" charset="-120"/>
              </a:rPr>
              <a:t>IV. cümlede "İki satırlık bir konuşma, bir karakteri on sayfalık bir betimlemeden DAHA BAŞARILI bir biçimde çizebilir." yargısında İKİ AYRI ÖGE (iki satırlık konuşma – on sayfalık betimleme) "daha" belirteciyle başarılı olma yönüyle birbiriyle KIYASLANMIŞTIR. Diğer cümlelerde böyle bir ikili kıyas yoktur.</a:t>
            </a:r>
            <a:endParaRPr lang="en-US" sz="185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2 — çözüm — gerçek ÖSYM sorusu (Karşılaştırma)</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r>
          <p:cNvPicPr>
            <a:picLocks noChangeAspect="1"/>
          </p:cNvPicPr>
          <p:nvPr/>
        </p:nvPicPr>
        <p:blipFill>
          <a:blip r:embed="rId1"/>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ÖRNEK SORU · 3/3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indent="0" marL="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algn="ctr" indent="0" marL="0">
              <a:buNone/>
            </a:pPr>
            <a:r>
              <a:rPr lang="en-US" sz="1050" b="1" dirty="0">
                <a:solidFill>
                  <a:srgbClr val="1E3A5F"/>
                </a:solidFill>
                <a:latin typeface="Calibri" pitchFamily="34" charset="0"/>
                <a:ea typeface="Calibri" pitchFamily="34" charset="-122"/>
                <a:cs typeface="Calibri" pitchFamily="34" charset="-120"/>
              </a:rPr>
              <a:t>ÖSYM (YGS - 2011)</a:t>
            </a:r>
            <a:endParaRPr lang="en-US" sz="1050" dirty="0"/>
          </a:p>
        </p:txBody>
      </p:sp>
      <p:sp>
        <p:nvSpPr>
          <p:cNvPr id="15" name="Shape 12"/>
          <p:cNvSpPr/>
          <p:nvPr/>
        </p:nvSpPr>
        <p:spPr>
          <a:xfrm>
            <a:off x="640080" y="1783080"/>
            <a:ext cx="10908792" cy="4434840"/>
          </a:xfrm>
          <a:prstGeom prst="roundRect">
            <a:avLst>
              <a:gd name="adj" fmla="val 2526"/>
            </a:avLst>
          </a:prstGeom>
          <a:solidFill>
            <a:srgbClr val="1E3A5F"/>
          </a:solidFill>
          <a:ln/>
        </p:spPr>
      </p:sp>
      <p:sp>
        <p:nvSpPr>
          <p:cNvPr id="16" name="Text 13"/>
          <p:cNvSpPr/>
          <p:nvPr/>
        </p:nvSpPr>
        <p:spPr>
          <a:xfrm>
            <a:off x="914400" y="1965960"/>
            <a:ext cx="10360152" cy="411480"/>
          </a:xfrm>
          <a:prstGeom prst="rect">
            <a:avLst/>
          </a:prstGeom>
          <a:noFill/>
          <a:ln/>
        </p:spPr>
        <p:txBody>
          <a:bodyPr wrap="square" lIns="0" tIns="0" rIns="0" bIns="0" rtlCol="0" anchor="ctr"/>
          <a:lstStyle/>
          <a:p>
            <a:pPr indent="0" marL="0">
              <a:buNone/>
            </a:pPr>
            <a:r>
              <a:rPr lang="en-US" sz="1600" b="1" spc="200" kern="0" dirty="0">
                <a:solidFill>
                  <a:srgbClr val="D9A441"/>
                </a:solidFill>
                <a:latin typeface="Calibri" pitchFamily="34" charset="0"/>
                <a:ea typeface="Calibri" pitchFamily="34" charset="-122"/>
                <a:cs typeface="Calibri" pitchFamily="34" charset="-120"/>
              </a:rPr>
              <a:t>ÇÖZÜM</a:t>
            </a:r>
            <a:endParaRPr lang="en-US" sz="1600" dirty="0"/>
          </a:p>
        </p:txBody>
      </p:sp>
      <p:sp>
        <p:nvSpPr>
          <p:cNvPr id="17" name="Shape 14"/>
          <p:cNvSpPr/>
          <p:nvPr/>
        </p:nvSpPr>
        <p:spPr>
          <a:xfrm>
            <a:off x="914400" y="2514600"/>
            <a:ext cx="777240" cy="777240"/>
          </a:xfrm>
          <a:prstGeom prst="ellipse">
            <a:avLst/>
          </a:prstGeom>
          <a:solidFill>
            <a:srgbClr val="D9A441"/>
          </a:solidFill>
          <a:ln/>
        </p:spPr>
      </p:sp>
      <p:sp>
        <p:nvSpPr>
          <p:cNvPr id="18" name="Text 15"/>
          <p:cNvSpPr/>
          <p:nvPr/>
        </p:nvSpPr>
        <p:spPr>
          <a:xfrm>
            <a:off x="914400" y="2514600"/>
            <a:ext cx="777240" cy="777240"/>
          </a:xfrm>
          <a:prstGeom prst="rect">
            <a:avLst/>
          </a:prstGeom>
          <a:noFill/>
          <a:ln/>
        </p:spPr>
        <p:txBody>
          <a:bodyPr wrap="square" lIns="0" tIns="0" rIns="0" bIns="0" rtlCol="0" anchor="ctr"/>
          <a:lstStyle/>
          <a:p>
            <a:pPr algn="ctr" indent="0" marL="0">
              <a:buNone/>
            </a:pPr>
            <a:r>
              <a:rPr lang="en-US" sz="2700" b="1" dirty="0">
                <a:solidFill>
                  <a:srgbClr val="1E3A5F"/>
                </a:solidFill>
                <a:latin typeface="Cambria" pitchFamily="34" charset="0"/>
                <a:ea typeface="Cambria" pitchFamily="34" charset="-122"/>
                <a:cs typeface="Cambria" pitchFamily="34" charset="-120"/>
              </a:rPr>
              <a:t>B</a:t>
            </a:r>
            <a:endParaRPr lang="en-US" sz="2700" dirty="0"/>
          </a:p>
        </p:txBody>
      </p:sp>
      <p:sp>
        <p:nvSpPr>
          <p:cNvPr id="19" name="Text 16"/>
          <p:cNvSpPr/>
          <p:nvPr/>
        </p:nvSpPr>
        <p:spPr>
          <a:xfrm>
            <a:off x="1874520" y="2514600"/>
            <a:ext cx="4572000" cy="7772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14400" y="3566160"/>
            <a:ext cx="10360152" cy="2423160"/>
          </a:xfrm>
          <a:prstGeom prst="rect">
            <a:avLst/>
          </a:prstGeom>
          <a:noFill/>
          <a:ln/>
        </p:spPr>
        <p:txBody>
          <a:bodyPr wrap="square" lIns="0" tIns="0" rIns="0" bIns="0" rtlCol="0" anchor="t"/>
          <a:lstStyle/>
          <a:p>
            <a:pPr indent="0" marL="0">
              <a:buNone/>
            </a:pPr>
            <a:r>
              <a:rPr lang="en-US" sz="1850" b="1" dirty="0">
                <a:solidFill>
                  <a:srgbClr val="D9A441"/>
                </a:solidFill>
                <a:latin typeface="Calibri" pitchFamily="34" charset="0"/>
                <a:ea typeface="Calibri" pitchFamily="34" charset="-122"/>
                <a:cs typeface="Calibri" pitchFamily="34" charset="-120"/>
              </a:rPr>
              <a:t>B  </a:t>
            </a:r>
            <a:pPr indent="0" marL="0">
              <a:buNone/>
            </a:pPr>
            <a:r>
              <a:rPr lang="en-US" sz="1850" b="1" dirty="0">
                <a:solidFill>
                  <a:srgbClr val="FFFFFF"/>
                </a:solidFill>
                <a:latin typeface="Calibri" pitchFamily="34" charset="0"/>
                <a:ea typeface="Calibri" pitchFamily="34" charset="-122"/>
                <a:cs typeface="Calibri" pitchFamily="34" charset="-120"/>
              </a:rPr>
              <a:t>→ doğru cevap.
</a:t>
            </a:r>
            <a:pPr indent="0" marL="0">
              <a:buNone/>
            </a:pPr>
            <a:r>
              <a:rPr lang="en-US" sz="1850" dirty="0">
                <a:solidFill>
                  <a:srgbClr val="CADCFC"/>
                </a:solidFill>
                <a:latin typeface="Calibri" pitchFamily="34" charset="0"/>
                <a:ea typeface="Calibri" pitchFamily="34" charset="-122"/>
                <a:cs typeface="Calibri" pitchFamily="34" charset="-120"/>
              </a:rPr>
              <a:t>II. cümle, romanın olay örgüsünü NESNEL biçimde aktarır ("bir ağustos günü başlar... bir anonsla biter") — herhangi bir kişisel yorum/yargı içermez. Diğer cümlelerde (I, III, IV, V) eleştirmen görüşleri, karşılaştırmalar ve kişisel değerlendirmeler yer alır.</a:t>
            </a:r>
            <a:endParaRPr lang="en-US" sz="185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TYT TÜRKÇE  ·  CÜMLEDE ANLAM  ·  Örnek Soru 3 — çözüm — gerçek ÖSYM sorusu (Değerlendirme)</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Ders 1 / 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2026-09-12T19:53:56Z</dcterms:created>
  <dcterms:modified xsi:type="dcterms:W3CDTF">2026-09-12T19:53:56Z</dcterms:modified>
</cp:coreProperties>
</file>